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3"/>
    <p:sldId id="283" r:id="rId4"/>
    <p:sldId id="258" r:id="rId5"/>
    <p:sldId id="257" r:id="rId6"/>
    <p:sldId id="259" r:id="rId7"/>
    <p:sldId id="260" r:id="rId8"/>
    <p:sldId id="280" r:id="rId9"/>
    <p:sldId id="281" r:id="rId10"/>
    <p:sldId id="282" r:id="rId11"/>
    <p:sldId id="262" r:id="rId12"/>
    <p:sldId id="263" r:id="rId13"/>
    <p:sldId id="265" r:id="rId14"/>
    <p:sldId id="267" r:id="rId15"/>
    <p:sldId id="268" r:id="rId16"/>
    <p:sldId id="269" r:id="rId17"/>
    <p:sldId id="270" r:id="rId18"/>
    <p:sldId id="271" r:id="rId19"/>
    <p:sldId id="272" r:id="rId20"/>
    <p:sldId id="273" r:id="rId21"/>
    <p:sldId id="274" r:id="rId22"/>
    <p:sldId id="275" r:id="rId24"/>
    <p:sldId id="276" r:id="rId25"/>
    <p:sldId id="264" r:id="rId26"/>
    <p:sldId id="277" r:id="rId27"/>
    <p:sldId id="278"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15" autoAdjust="0"/>
    <p:restoredTop sz="86347" autoAdjust="0"/>
  </p:normalViewPr>
  <p:slideViewPr>
    <p:cSldViewPr snapToGrid="0">
      <p:cViewPr varScale="1">
        <p:scale>
          <a:sx n="76" d="100"/>
          <a:sy n="76" d="100"/>
        </p:scale>
        <p:origin x="801"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notesMaster" Target="notesMasters/notesMaster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E993-7C9B-4F76-A5D2-51F22BFA1A2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6ADBE2-52C4-423E-AEC4-CA623BCE1D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6ADBE2-52C4-423E-AEC4-CA623BCE1D4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defRPr>
                <a:latin typeface="微软雅黑" panose="020B0503020204020204" pitchFamily="34" charset="-122"/>
                <a:ea typeface="微软雅黑" panose="020B0503020204020204" pitchFamily="34" charset="-122"/>
              </a:defRPr>
            </a:lvl1p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B058512A-BF6F-43D0-855A-BBBF14572BD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atin typeface="微软雅黑" panose="020B0503020204020204" pitchFamily="34" charset="-122"/>
                <a:ea typeface="微软雅黑" panose="020B0503020204020204" pitchFamily="34" charset="-122"/>
              </a:defRPr>
            </a:lvl1p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B058512A-BF6F-43D0-855A-BBBF14572BD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3BE4FF-4FD3-4C1E-8C0A-F7315B6A3FD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58512A-BF6F-43D0-855A-BBBF14572BD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9" Type="http://schemas.openxmlformats.org/officeDocument/2006/relationships/tags" Target="../tags/tag17.xml"/><Relationship Id="rId8" Type="http://schemas.openxmlformats.org/officeDocument/2006/relationships/tags" Target="../tags/tag16.xml"/><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5" Type="http://schemas.openxmlformats.org/officeDocument/2006/relationships/slideLayout" Target="../slideLayouts/slideLayout2.xml"/><Relationship Id="rId24" Type="http://schemas.openxmlformats.org/officeDocument/2006/relationships/tags" Target="../tags/tag32.xml"/><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tags" Target="../tags/tag28.xml"/><Relationship Id="rId2" Type="http://schemas.openxmlformats.org/officeDocument/2006/relationships/tags" Target="../tags/tag10.xml"/><Relationship Id="rId19" Type="http://schemas.openxmlformats.org/officeDocument/2006/relationships/tags" Target="../tags/tag27.xml"/><Relationship Id="rId18" Type="http://schemas.openxmlformats.org/officeDocument/2006/relationships/tags" Target="../tags/tag26.xml"/><Relationship Id="rId17" Type="http://schemas.openxmlformats.org/officeDocument/2006/relationships/tags" Target="../tags/tag25.xml"/><Relationship Id="rId16" Type="http://schemas.openxmlformats.org/officeDocument/2006/relationships/tags" Target="../tags/tag24.xml"/><Relationship Id="rId15" Type="http://schemas.openxmlformats.org/officeDocument/2006/relationships/tags" Target="../tags/tag23.xml"/><Relationship Id="rId14" Type="http://schemas.openxmlformats.org/officeDocument/2006/relationships/tags" Target="../tags/tag22.xml"/><Relationship Id="rId13" Type="http://schemas.openxmlformats.org/officeDocument/2006/relationships/tags" Target="../tags/tag21.xml"/><Relationship Id="rId12" Type="http://schemas.openxmlformats.org/officeDocument/2006/relationships/tags" Target="../tags/tag20.xml"/><Relationship Id="rId11" Type="http://schemas.openxmlformats.org/officeDocument/2006/relationships/tags" Target="../tags/tag19.xml"/><Relationship Id="rId10" Type="http://schemas.openxmlformats.org/officeDocument/2006/relationships/tags" Target="../tags/tag18.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s>
</file>

<file path=ppt/slides/_rels/slide6.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tags" Target="../tags/tag46.xml"/><Relationship Id="rId7" Type="http://schemas.openxmlformats.org/officeDocument/2006/relationships/tags" Target="../tags/tag45.xml"/><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3" Type="http://schemas.openxmlformats.org/officeDocument/2006/relationships/slideLayout" Target="../slideLayouts/slideLayout2.xml"/><Relationship Id="rId12" Type="http://schemas.openxmlformats.org/officeDocument/2006/relationships/tags" Target="../tags/tag50.xml"/><Relationship Id="rId11" Type="http://schemas.openxmlformats.org/officeDocument/2006/relationships/tags" Target="../tags/tag49.xml"/><Relationship Id="rId10" Type="http://schemas.openxmlformats.org/officeDocument/2006/relationships/tags" Target="../tags/tag48.xml"/><Relationship Id="rId1" Type="http://schemas.openxmlformats.org/officeDocument/2006/relationships/tags" Target="../tags/tag3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10.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6" Type="http://schemas.openxmlformats.org/officeDocument/2006/relationships/slideLayout" Target="../slideLayouts/slideLayout2.xml"/><Relationship Id="rId25" Type="http://schemas.openxmlformats.org/officeDocument/2006/relationships/tags" Target="../tags/tag75.xml"/><Relationship Id="rId24" Type="http://schemas.openxmlformats.org/officeDocument/2006/relationships/tags" Target="../tags/tag74.xml"/><Relationship Id="rId23" Type="http://schemas.openxmlformats.org/officeDocument/2006/relationships/tags" Target="../tags/tag73.xml"/><Relationship Id="rId22" Type="http://schemas.openxmlformats.org/officeDocument/2006/relationships/tags" Target="../tags/tag72.xml"/><Relationship Id="rId21" Type="http://schemas.openxmlformats.org/officeDocument/2006/relationships/tags" Target="../tags/tag71.xml"/><Relationship Id="rId20" Type="http://schemas.openxmlformats.org/officeDocument/2006/relationships/tags" Target="../tags/tag70.xml"/><Relationship Id="rId2" Type="http://schemas.openxmlformats.org/officeDocument/2006/relationships/tags" Target="../tags/tag52.xml"/><Relationship Id="rId19" Type="http://schemas.openxmlformats.org/officeDocument/2006/relationships/tags" Target="../tags/tag69.xml"/><Relationship Id="rId18" Type="http://schemas.openxmlformats.org/officeDocument/2006/relationships/tags" Target="../tags/tag68.xml"/><Relationship Id="rId17" Type="http://schemas.openxmlformats.org/officeDocument/2006/relationships/tags" Target="../tags/tag67.xml"/><Relationship Id="rId16" Type="http://schemas.openxmlformats.org/officeDocument/2006/relationships/tags" Target="../tags/tag66.xml"/><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tags" Target="../tags/tag62.xml"/><Relationship Id="rId11" Type="http://schemas.openxmlformats.org/officeDocument/2006/relationships/tags" Target="../tags/tag61.xml"/><Relationship Id="rId10" Type="http://schemas.openxmlformats.org/officeDocument/2006/relationships/tags" Target="../tags/tag60.xml"/><Relationship Id="rId1" Type="http://schemas.openxmlformats.org/officeDocument/2006/relationships/tags" Target="../tags/tag5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9" Type="http://schemas.openxmlformats.org/officeDocument/2006/relationships/tags" Target="../tags/tag92.xml"/><Relationship Id="rId8" Type="http://schemas.openxmlformats.org/officeDocument/2006/relationships/tags" Target="../tags/tag91.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5" Type="http://schemas.openxmlformats.org/officeDocument/2006/relationships/slideLayout" Target="../slideLayouts/slideLayout2.xml"/><Relationship Id="rId34" Type="http://schemas.openxmlformats.org/officeDocument/2006/relationships/tags" Target="../tags/tag117.xml"/><Relationship Id="rId33" Type="http://schemas.openxmlformats.org/officeDocument/2006/relationships/tags" Target="../tags/tag116.xml"/><Relationship Id="rId32" Type="http://schemas.openxmlformats.org/officeDocument/2006/relationships/tags" Target="../tags/tag115.xml"/><Relationship Id="rId31" Type="http://schemas.openxmlformats.org/officeDocument/2006/relationships/tags" Target="../tags/tag114.xml"/><Relationship Id="rId30" Type="http://schemas.openxmlformats.org/officeDocument/2006/relationships/tags" Target="../tags/tag113.xml"/><Relationship Id="rId3" Type="http://schemas.openxmlformats.org/officeDocument/2006/relationships/tags" Target="../tags/tag86.xml"/><Relationship Id="rId29" Type="http://schemas.openxmlformats.org/officeDocument/2006/relationships/tags" Target="../tags/tag112.xml"/><Relationship Id="rId28" Type="http://schemas.openxmlformats.org/officeDocument/2006/relationships/tags" Target="../tags/tag111.xml"/><Relationship Id="rId27" Type="http://schemas.openxmlformats.org/officeDocument/2006/relationships/tags" Target="../tags/tag110.xml"/><Relationship Id="rId26" Type="http://schemas.openxmlformats.org/officeDocument/2006/relationships/tags" Target="../tags/tag109.xml"/><Relationship Id="rId25" Type="http://schemas.openxmlformats.org/officeDocument/2006/relationships/tags" Target="../tags/tag108.xml"/><Relationship Id="rId24" Type="http://schemas.openxmlformats.org/officeDocument/2006/relationships/tags" Target="../tags/tag107.xml"/><Relationship Id="rId23" Type="http://schemas.openxmlformats.org/officeDocument/2006/relationships/tags" Target="../tags/tag106.xml"/><Relationship Id="rId22" Type="http://schemas.openxmlformats.org/officeDocument/2006/relationships/tags" Target="../tags/tag105.xml"/><Relationship Id="rId21" Type="http://schemas.openxmlformats.org/officeDocument/2006/relationships/tags" Target="../tags/tag104.xml"/><Relationship Id="rId20" Type="http://schemas.openxmlformats.org/officeDocument/2006/relationships/tags" Target="../tags/tag103.xml"/><Relationship Id="rId2" Type="http://schemas.openxmlformats.org/officeDocument/2006/relationships/tags" Target="../tags/tag85.xml"/><Relationship Id="rId19" Type="http://schemas.openxmlformats.org/officeDocument/2006/relationships/tags" Target="../tags/tag102.xml"/><Relationship Id="rId18" Type="http://schemas.openxmlformats.org/officeDocument/2006/relationships/tags" Target="../tags/tag101.xml"/><Relationship Id="rId17" Type="http://schemas.openxmlformats.org/officeDocument/2006/relationships/tags" Target="../tags/tag100.xml"/><Relationship Id="rId16" Type="http://schemas.openxmlformats.org/officeDocument/2006/relationships/tags" Target="../tags/tag99.xml"/><Relationship Id="rId15" Type="http://schemas.openxmlformats.org/officeDocument/2006/relationships/tags" Target="../tags/tag98.xml"/><Relationship Id="rId14" Type="http://schemas.openxmlformats.org/officeDocument/2006/relationships/tags" Target="../tags/tag97.xml"/><Relationship Id="rId13" Type="http://schemas.openxmlformats.org/officeDocument/2006/relationships/tags" Target="../tags/tag96.xml"/><Relationship Id="rId12" Type="http://schemas.openxmlformats.org/officeDocument/2006/relationships/tags" Target="../tags/tag95.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2413415"/>
            <a:ext cx="4307174" cy="1096547"/>
          </a:xfrm>
        </p:spPr>
        <p:txBody>
          <a:bodyPr/>
          <a:lstStyle/>
          <a:p>
            <a:pPr algn="l"/>
            <a:r>
              <a:rPr lang="en-US" altLang="zh-CN" b="1" dirty="0"/>
              <a:t>C</a:t>
            </a:r>
            <a:r>
              <a:rPr lang="zh-CN" altLang="en-US" b="1" dirty="0"/>
              <a:t>程序设计</a:t>
            </a:r>
            <a:endParaRPr lang="zh-CN" altLang="en-US" b="1" dirty="0"/>
          </a:p>
        </p:txBody>
      </p:sp>
      <p:sp>
        <p:nvSpPr>
          <p:cNvPr id="3" name="副标题 2"/>
          <p:cNvSpPr>
            <a:spLocks noGrp="1"/>
          </p:cNvSpPr>
          <p:nvPr>
            <p:ph type="subTitle" idx="1"/>
          </p:nvPr>
        </p:nvSpPr>
        <p:spPr>
          <a:xfrm>
            <a:off x="1524000" y="2123526"/>
            <a:ext cx="6275882" cy="399531"/>
          </a:xfrm>
        </p:spPr>
        <p:txBody>
          <a:bodyPr>
            <a:normAutofit fontScale="92500"/>
          </a:bodyPr>
          <a:lstStyle/>
          <a:p>
            <a:pPr algn="l"/>
            <a:r>
              <a:rPr lang="zh-CN" altLang="en-US" dirty="0">
                <a:solidFill>
                  <a:schemeClr val="bg1">
                    <a:lumMod val="50000"/>
                  </a:schemeClr>
                </a:solidFill>
              </a:rPr>
              <a:t>中国高等院校计算机基础教育课程体系规划教材</a:t>
            </a:r>
            <a:endParaRPr lang="zh-CN" altLang="en-US" dirty="0">
              <a:solidFill>
                <a:schemeClr val="bg1">
                  <a:lumMod val="50000"/>
                </a:schemeClr>
              </a:solidFill>
            </a:endParaRPr>
          </a:p>
        </p:txBody>
      </p:sp>
      <p:cxnSp>
        <p:nvCxnSpPr>
          <p:cNvPr id="5" name="直接连接符 4"/>
          <p:cNvCxnSpPr/>
          <p:nvPr/>
        </p:nvCxnSpPr>
        <p:spPr>
          <a:xfrm>
            <a:off x="1524000" y="2523057"/>
            <a:ext cx="5951095" cy="0"/>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8" name="直接连接符 7"/>
          <p:cNvCxnSpPr/>
          <p:nvPr/>
        </p:nvCxnSpPr>
        <p:spPr>
          <a:xfrm>
            <a:off x="1524000" y="3509962"/>
            <a:ext cx="3610132" cy="0"/>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cxnSp>
        <p:nvCxnSpPr>
          <p:cNvPr id="9" name="直接连接符 8"/>
          <p:cNvCxnSpPr/>
          <p:nvPr/>
        </p:nvCxnSpPr>
        <p:spPr>
          <a:xfrm>
            <a:off x="1524000" y="4896397"/>
            <a:ext cx="1504013" cy="0"/>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sp>
        <p:nvSpPr>
          <p:cNvPr id="10" name="副标题 2"/>
          <p:cNvSpPr txBox="1"/>
          <p:nvPr/>
        </p:nvSpPr>
        <p:spPr>
          <a:xfrm>
            <a:off x="1524000" y="4496866"/>
            <a:ext cx="2113614" cy="399531"/>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zh-CN" altLang="en-US" dirty="0">
                <a:solidFill>
                  <a:schemeClr val="bg1">
                    <a:lumMod val="50000"/>
                  </a:schemeClr>
                </a:solidFill>
              </a:rPr>
              <a:t>谭浩强  著</a:t>
            </a:r>
            <a:endParaRPr lang="zh-CN" altLang="en-US" dirty="0">
              <a:solidFill>
                <a:schemeClr val="bg1">
                  <a:lumMod val="50000"/>
                </a:schemeClr>
              </a:solidFill>
            </a:endParaRPr>
          </a:p>
        </p:txBody>
      </p:sp>
      <p:sp>
        <p:nvSpPr>
          <p:cNvPr id="16" name="文本框 15"/>
          <p:cNvSpPr txBox="1"/>
          <p:nvPr/>
        </p:nvSpPr>
        <p:spPr>
          <a:xfrm>
            <a:off x="1648918" y="3447321"/>
            <a:ext cx="3578690" cy="646331"/>
          </a:xfrm>
          <a:prstGeom prst="rect">
            <a:avLst/>
          </a:prstGeom>
          <a:noFill/>
        </p:spPr>
        <p:txBody>
          <a:bodyPr wrap="square" rtlCol="0">
            <a:spAutoFit/>
          </a:bodyPr>
          <a:lstStyle/>
          <a:p>
            <a:pPr algn="dist"/>
            <a:r>
              <a:rPr lang="en-US" altLang="zh-CN" sz="3600" b="1" dirty="0">
                <a:solidFill>
                  <a:schemeClr val="bg1">
                    <a:lumMod val="50000"/>
                  </a:schemeClr>
                </a:solidFill>
              </a:rPr>
              <a:t>C Programming</a:t>
            </a:r>
            <a:endParaRPr lang="zh-CN" altLang="en-US" sz="3600" b="1" dirty="0">
              <a:solidFill>
                <a:schemeClr val="bg1">
                  <a:lumMod val="50000"/>
                </a:schemeClr>
              </a:solidFill>
            </a:endParaRPr>
          </a:p>
        </p:txBody>
      </p:sp>
      <p:cxnSp>
        <p:nvCxnSpPr>
          <p:cNvPr id="19" name="直接连接符 18"/>
          <p:cNvCxnSpPr/>
          <p:nvPr/>
        </p:nvCxnSpPr>
        <p:spPr>
          <a:xfrm>
            <a:off x="1524000" y="4089788"/>
            <a:ext cx="3610132" cy="0"/>
          </a:xfrm>
          <a:prstGeom prst="line">
            <a:avLst/>
          </a:prstGeom>
          <a:ln>
            <a:solidFill>
              <a:schemeClr val="bg1">
                <a:lumMod val="50000"/>
              </a:schemeClr>
            </a:solidFill>
          </a:ln>
        </p:spPr>
        <p:style>
          <a:lnRef idx="1">
            <a:schemeClr val="dk1"/>
          </a:lnRef>
          <a:fillRef idx="0">
            <a:schemeClr val="dk1"/>
          </a:fillRef>
          <a:effectRef idx="0">
            <a:schemeClr val="dk1"/>
          </a:effectRef>
          <a:fontRef idx="minor">
            <a:schemeClr val="tx1"/>
          </a:fontRef>
        </p:style>
      </p:cxnSp>
      <p:pic>
        <p:nvPicPr>
          <p:cNvPr id="20" name="图片 19"/>
          <p:cNvPicPr>
            <a:picLocks noChangeAspect="1"/>
          </p:cNvPicPr>
          <p:nvPr/>
        </p:nvPicPr>
        <p:blipFill>
          <a:blip r:embed="rId1"/>
          <a:stretch>
            <a:fillRect/>
          </a:stretch>
        </p:blipFill>
        <p:spPr>
          <a:xfrm>
            <a:off x="7600013" y="1690687"/>
            <a:ext cx="3390900" cy="3638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zh-CN" altLang="en-US"/>
              <a:t>课前介绍</a:t>
            </a:r>
            <a:endParaRPr lang="zh-CN" altLang="en-US"/>
          </a:p>
        </p:txBody>
      </p:sp>
      <p:sp>
        <p:nvSpPr>
          <p:cNvPr id="3" name="内容占位符 2"/>
          <p:cNvSpPr>
            <a:spLocks noGrp="1"/>
          </p:cNvSpPr>
          <p:nvPr>
            <p:ph idx="1"/>
          </p:nvPr>
        </p:nvSpPr>
        <p:spPr/>
        <p:txBody>
          <a:bodyPr/>
          <a:p>
            <a:pPr marL="0" indent="0">
              <a:buNone/>
            </a:pPr>
            <a:r>
              <a:rPr lang="en-US" altLang="zh-CN" sz="2400"/>
              <a:t>1.</a:t>
            </a:r>
            <a:r>
              <a:rPr lang="zh-CN" altLang="en-US" sz="2400"/>
              <a:t>自我介绍</a:t>
            </a:r>
            <a:endParaRPr lang="zh-CN" altLang="en-US" sz="2400"/>
          </a:p>
          <a:p>
            <a:pPr marL="0" indent="0">
              <a:buNone/>
            </a:pPr>
            <a:r>
              <a:rPr lang="en-US" altLang="zh-CN" sz="2400"/>
              <a:t>2.</a:t>
            </a:r>
            <a:r>
              <a:rPr lang="zh-CN" altLang="en-US" sz="2400"/>
              <a:t>希翼网站</a:t>
            </a:r>
            <a:endParaRPr lang="zh-CN" altLang="en-US" sz="2400"/>
          </a:p>
          <a:p>
            <a:pPr marL="457200" lvl="1" indent="0">
              <a:buNone/>
            </a:pPr>
            <a:r>
              <a:rPr lang="zh-CN" altLang="en-US"/>
              <a:t>内网</a:t>
            </a:r>
            <a:r>
              <a:rPr lang="en-US" altLang="zh-CN"/>
              <a:t>http://10.131.3.20/</a:t>
            </a:r>
            <a:endParaRPr lang="en-US" altLang="zh-CN"/>
          </a:p>
          <a:p>
            <a:pPr marL="457200" lvl="1" indent="0">
              <a:buNone/>
            </a:pPr>
            <a:r>
              <a:rPr lang="zh-CN" altLang="en-US"/>
              <a:t>外网</a:t>
            </a:r>
            <a:r>
              <a:rPr lang="en-US" altLang="zh-CN"/>
              <a:t> https://course.educg.net/</a:t>
            </a:r>
            <a:endParaRPr lang="en-US" altLang="zh-CN"/>
          </a:p>
          <a:p>
            <a:pPr marL="457200" lvl="1" indent="0">
              <a:buNone/>
            </a:pPr>
            <a:r>
              <a:rPr lang="en-US" altLang="zh-CN"/>
              <a:t> </a:t>
            </a:r>
            <a:r>
              <a:rPr lang="zh-CN" altLang="en-US"/>
              <a:t>账号是学号，密码是</a:t>
            </a:r>
            <a:r>
              <a:rPr lang="en-US" altLang="zh-CN"/>
              <a:t>123456.</a:t>
            </a:r>
            <a:r>
              <a:rPr lang="zh-CN" altLang="en-US"/>
              <a:t>大家可以改成自己的，但是不要忘了。</a:t>
            </a:r>
            <a:endParaRPr lang="zh-CN" altLang="en-US"/>
          </a:p>
          <a:p>
            <a:pPr marL="0" indent="0">
              <a:buNone/>
            </a:pPr>
            <a:r>
              <a:rPr lang="en-US" altLang="zh-CN" sz="2400"/>
              <a:t>3.</a:t>
            </a:r>
            <a:r>
              <a:rPr lang="zh-CN" altLang="en-US" sz="2400"/>
              <a:t>班级群</a:t>
            </a:r>
            <a:r>
              <a:rPr lang="en-US" altLang="zh-CN" sz="2400"/>
              <a:t>815334603</a:t>
            </a:r>
            <a:endParaRPr lang="en-US" altLang="zh-CN" sz="2400"/>
          </a:p>
          <a:p>
            <a:pPr marL="0" indent="0">
              <a:buNone/>
            </a:pPr>
            <a:r>
              <a:rPr lang="en-US" altLang="zh-CN" sz="2400"/>
              <a:t>4.</a:t>
            </a:r>
            <a:r>
              <a:rPr lang="zh-CN" altLang="en-US" sz="2400"/>
              <a:t>考勤是学习通</a:t>
            </a:r>
            <a:r>
              <a:rPr lang="en-US" altLang="zh-CN" sz="2400"/>
              <a:t>app</a:t>
            </a:r>
            <a:endParaRPr lang="en-US" altLang="zh-CN" sz="2400"/>
          </a:p>
          <a:p>
            <a:pPr marL="0" indent="0">
              <a:buNone/>
            </a:pPr>
            <a:r>
              <a:rPr lang="en-US" altLang="zh-CN" sz="2400"/>
              <a:t>5.</a:t>
            </a:r>
            <a:r>
              <a:rPr lang="zh-CN" altLang="en-US" sz="2400"/>
              <a:t>关于考试的几点说明</a:t>
            </a:r>
            <a:endParaRPr lang="zh-CN" altLang="en-US" sz="2400"/>
          </a:p>
          <a:p>
            <a:pPr marL="0" indent="0">
              <a:buNone/>
            </a:pPr>
            <a:r>
              <a:rPr lang="en-US" altLang="zh-CN" sz="2400"/>
              <a:t>6.</a:t>
            </a:r>
            <a:r>
              <a:rPr lang="zh-CN" altLang="en-US" sz="2400"/>
              <a:t>关于学习的几点要求</a:t>
            </a:r>
            <a:endParaRPr lang="zh-CN" altLang="en-US" sz="2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任意多边形 21"/>
          <p:cNvSpPr/>
          <p:nvPr>
            <p:custDataLst>
              <p:tags r:id="rId1"/>
            </p:custDataLst>
          </p:nvPr>
        </p:nvSpPr>
        <p:spPr>
          <a:xfrm>
            <a:off x="3673476" y="2312988"/>
            <a:ext cx="4900613" cy="1801812"/>
          </a:xfrm>
          <a:custGeom>
            <a:avLst/>
            <a:gdLst>
              <a:gd name="connsiteX0" fmla="*/ 1112071 w 4901184"/>
              <a:gd name="connsiteY0" fmla="*/ 0 h 1801368"/>
              <a:gd name="connsiteX1" fmla="*/ 4901184 w 4901184"/>
              <a:gd name="connsiteY1" fmla="*/ 0 h 1801368"/>
              <a:gd name="connsiteX2" fmla="*/ 4901184 w 4901184"/>
              <a:gd name="connsiteY2" fmla="*/ 1008251 h 1801368"/>
              <a:gd name="connsiteX3" fmla="*/ 3799357 w 4901184"/>
              <a:gd name="connsiteY3" fmla="*/ 1801368 h 1801368"/>
              <a:gd name="connsiteX4" fmla="*/ 0 w 4901184"/>
              <a:gd name="connsiteY4" fmla="*/ 1801368 h 1801368"/>
              <a:gd name="connsiteX5" fmla="*/ 0 w 4901184"/>
              <a:gd name="connsiteY5" fmla="*/ 800490 h 1801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184" h="1801368">
                <a:moveTo>
                  <a:pt x="1112071" y="0"/>
                </a:moveTo>
                <a:lnTo>
                  <a:pt x="4901184" y="0"/>
                </a:lnTo>
                <a:lnTo>
                  <a:pt x="4901184" y="1008251"/>
                </a:lnTo>
                <a:lnTo>
                  <a:pt x="3799357" y="1801368"/>
                </a:lnTo>
                <a:lnTo>
                  <a:pt x="0" y="1801368"/>
                </a:lnTo>
                <a:lnTo>
                  <a:pt x="0" y="800490"/>
                </a:lnTo>
                <a:close/>
              </a:path>
            </a:pathLst>
          </a:custGeom>
          <a:solidFill>
            <a:schemeClr val="accent1"/>
          </a:solidFill>
          <a:ln w="12700" cap="flat" cmpd="sng" algn="ctr">
            <a:noFill/>
            <a:prstDash val="solid"/>
            <a:miter lim="800000"/>
          </a:ln>
          <a:effectLst/>
        </p:spPr>
        <p:txBody>
          <a:bodyPr anchor="ctr"/>
          <a:lstStyle/>
          <a:p>
            <a:pPr algn="ctr">
              <a:defRPr/>
            </a:pPr>
            <a:endParaRPr lang="zh-CN" altLang="en-US" kern="0">
              <a:solidFill>
                <a:prstClr val="white"/>
              </a:solidFill>
            </a:endParaRPr>
          </a:p>
        </p:txBody>
      </p:sp>
      <p:cxnSp>
        <p:nvCxnSpPr>
          <p:cNvPr id="23" name="直接连接符 22"/>
          <p:cNvCxnSpPr/>
          <p:nvPr>
            <p:custDataLst>
              <p:tags r:id="rId2"/>
            </p:custDataLst>
          </p:nvPr>
        </p:nvCxnSpPr>
        <p:spPr>
          <a:xfrm flipH="1">
            <a:off x="3170239" y="1947863"/>
            <a:ext cx="2103437" cy="1517650"/>
          </a:xfrm>
          <a:prstGeom prst="line">
            <a:avLst/>
          </a:prstGeom>
          <a:noFill/>
          <a:ln w="12700" cap="flat" cmpd="sng" algn="ctr">
            <a:solidFill>
              <a:schemeClr val="accent1">
                <a:lumMod val="75000"/>
              </a:schemeClr>
            </a:solidFill>
            <a:prstDash val="solid"/>
            <a:miter lim="800000"/>
          </a:ln>
          <a:effectLst/>
        </p:spPr>
      </p:cxnSp>
      <p:cxnSp>
        <p:nvCxnSpPr>
          <p:cNvPr id="24" name="直接连接符 23"/>
          <p:cNvCxnSpPr/>
          <p:nvPr>
            <p:custDataLst>
              <p:tags r:id="rId3"/>
            </p:custDataLst>
          </p:nvPr>
        </p:nvCxnSpPr>
        <p:spPr>
          <a:xfrm flipH="1">
            <a:off x="6927850" y="2981325"/>
            <a:ext cx="2103438" cy="1517650"/>
          </a:xfrm>
          <a:prstGeom prst="line">
            <a:avLst/>
          </a:prstGeom>
          <a:noFill/>
          <a:ln w="12700" cap="flat" cmpd="sng" algn="ctr">
            <a:solidFill>
              <a:schemeClr val="accent1">
                <a:lumMod val="75000"/>
              </a:schemeClr>
            </a:solidFill>
            <a:prstDash val="solid"/>
            <a:miter lim="800000"/>
          </a:ln>
          <a:effectLst/>
        </p:spPr>
      </p:cxnSp>
      <p:sp>
        <p:nvSpPr>
          <p:cNvPr id="25" name="文本框 24"/>
          <p:cNvSpPr txBox="1"/>
          <p:nvPr>
            <p:custDataLst>
              <p:tags r:id="rId4"/>
            </p:custDataLst>
          </p:nvPr>
        </p:nvSpPr>
        <p:spPr>
          <a:xfrm>
            <a:off x="7104063" y="2312988"/>
            <a:ext cx="614362" cy="1016000"/>
          </a:xfrm>
          <a:prstGeom prst="rect">
            <a:avLst/>
          </a:prstGeom>
          <a:noFill/>
        </p:spPr>
        <p:txBody>
          <a:bodyPr wrap="none"/>
          <a:lstStyle/>
          <a:p>
            <a:pPr>
              <a:defRPr/>
            </a:pPr>
            <a:r>
              <a:rPr lang="en-US" altLang="zh-CN" sz="6000" b="1" spc="400" dirty="0">
                <a:solidFill>
                  <a:prstClr val="white"/>
                </a:solidFill>
                <a:effectLst>
                  <a:outerShdw dist="25400" dir="2700000" algn="tl" rotWithShape="0">
                    <a:prstClr val="black">
                      <a:alpha val="29000"/>
                    </a:prstClr>
                  </a:outerShdw>
                </a:effectLst>
                <a:latin typeface="Baskerville Old Face" panose="02020602080505020303" pitchFamily="18" charset="0"/>
                <a:ea typeface="华文隶书" panose="02010800040101010101" pitchFamily="2" charset="-122"/>
                <a:cs typeface="Microsoft New Tai Lue" panose="020B0502040204020203" pitchFamily="34" charset="0"/>
              </a:rPr>
              <a:t>1</a:t>
            </a:r>
            <a:endParaRPr lang="zh-CN" altLang="en-US" sz="6000" b="1" spc="400" dirty="0">
              <a:solidFill>
                <a:prstClr val="white"/>
              </a:solidFill>
              <a:effectLst>
                <a:outerShdw dist="25400" dir="2700000" algn="tl" rotWithShape="0">
                  <a:prstClr val="black">
                    <a:alpha val="29000"/>
                  </a:prstClr>
                </a:outerShdw>
              </a:effectLst>
              <a:latin typeface="Baskerville Old Face" panose="02020602080505020303" pitchFamily="18" charset="0"/>
              <a:ea typeface="华文隶书" panose="02010800040101010101" pitchFamily="2" charset="-122"/>
              <a:cs typeface="Microsoft New Tai Lue" panose="020B0502040204020203" pitchFamily="34" charset="0"/>
            </a:endParaRPr>
          </a:p>
        </p:txBody>
      </p:sp>
      <p:sp>
        <p:nvSpPr>
          <p:cNvPr id="2054" name="文本框 25"/>
          <p:cNvSpPr txBox="1">
            <a:spLocks noChangeArrowheads="1"/>
          </p:cNvSpPr>
          <p:nvPr>
            <p:custDataLst>
              <p:tags r:id="rId5"/>
            </p:custDataLst>
          </p:nvPr>
        </p:nvSpPr>
        <p:spPr bwMode="auto">
          <a:xfrm>
            <a:off x="4002090" y="3171826"/>
            <a:ext cx="272670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dist" eaLnBrk="1" hangingPunct="1">
              <a:lnSpc>
                <a:spcPct val="150000"/>
              </a:lnSpc>
            </a:pPr>
            <a:r>
              <a:rPr lang="zh-CN" altLang="en-US" sz="2400" dirty="0">
                <a:solidFill>
                  <a:srgbClr val="FFFFFF"/>
                </a:solidFill>
                <a:latin typeface="微软雅黑" panose="020B0503020204020204" pitchFamily="34" charset="-122"/>
                <a:ea typeface="微软雅黑" panose="020B0503020204020204" pitchFamily="34" charset="-122"/>
              </a:rPr>
              <a:t>程序设计和</a:t>
            </a:r>
            <a:r>
              <a:rPr lang="en-US" altLang="zh-CN" sz="2400" dirty="0">
                <a:solidFill>
                  <a:srgbClr val="FFFFFF"/>
                </a:solidFill>
                <a:latin typeface="微软雅黑" panose="020B0503020204020204" pitchFamily="34" charset="-122"/>
                <a:ea typeface="微软雅黑" panose="020B0503020204020204" pitchFamily="34" charset="-122"/>
              </a:rPr>
              <a:t>C</a:t>
            </a:r>
            <a:r>
              <a:rPr lang="zh-CN" altLang="en-US" sz="2400" dirty="0">
                <a:solidFill>
                  <a:srgbClr val="FFFFFF"/>
                </a:solidFill>
                <a:latin typeface="微软雅黑" panose="020B0503020204020204" pitchFamily="34" charset="-122"/>
                <a:ea typeface="微软雅黑" panose="020B0503020204020204" pitchFamily="34" charset="-122"/>
              </a:rPr>
              <a:t>语言</a:t>
            </a: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27" name="文本框 26"/>
          <p:cNvSpPr txBox="1"/>
          <p:nvPr>
            <p:custDataLst>
              <p:tags r:id="rId6"/>
            </p:custDataLst>
          </p:nvPr>
        </p:nvSpPr>
        <p:spPr>
          <a:xfrm>
            <a:off x="6535738" y="2570164"/>
            <a:ext cx="647700" cy="585787"/>
          </a:xfrm>
          <a:prstGeom prst="rect">
            <a:avLst/>
          </a:prstGeom>
          <a:noFill/>
        </p:spPr>
        <p:txBody>
          <a:bodyPr wrap="none"/>
          <a:lstStyle/>
          <a:p>
            <a:pPr>
              <a:defRPr/>
            </a:pPr>
            <a:r>
              <a:rPr lang="zh-CN" altLang="en-US" sz="3200" b="1" spc="400" dirty="0">
                <a:solidFill>
                  <a:prstClr val="white"/>
                </a:solidFill>
                <a:effectLst>
                  <a:outerShdw dist="25400" dir="2700000" algn="tl" rotWithShape="0">
                    <a:prstClr val="black">
                      <a:alpha val="29000"/>
                    </a:prstClr>
                  </a:outerShdw>
                </a:effectLst>
                <a:latin typeface="华文中宋" panose="02010600040101010101" pitchFamily="2" charset="-122"/>
                <a:ea typeface="华文中宋" panose="02010600040101010101" pitchFamily="2" charset="-122"/>
                <a:cs typeface="Microsoft New Tai Lue" panose="020B0502040204020203" pitchFamily="34" charset="0"/>
              </a:rPr>
              <a:t>第</a:t>
            </a:r>
            <a:endParaRPr lang="zh-CN" altLang="en-US" sz="4400" b="1" spc="400" dirty="0">
              <a:solidFill>
                <a:prstClr val="white"/>
              </a:solidFill>
              <a:effectLst>
                <a:outerShdw dist="25400" dir="2700000" algn="tl" rotWithShape="0">
                  <a:prstClr val="black">
                    <a:alpha val="29000"/>
                  </a:prstClr>
                </a:outerShdw>
              </a:effectLst>
              <a:latin typeface="华文中宋" panose="02010600040101010101" pitchFamily="2" charset="-122"/>
              <a:ea typeface="华文中宋" panose="02010600040101010101" pitchFamily="2" charset="-122"/>
              <a:cs typeface="Microsoft New Tai Lue" panose="020B0502040204020203" pitchFamily="34" charset="0"/>
            </a:endParaRPr>
          </a:p>
        </p:txBody>
      </p:sp>
      <p:sp>
        <p:nvSpPr>
          <p:cNvPr id="28" name="文本框 27"/>
          <p:cNvSpPr txBox="1"/>
          <p:nvPr>
            <p:custDataLst>
              <p:tags r:id="rId7"/>
            </p:custDataLst>
          </p:nvPr>
        </p:nvSpPr>
        <p:spPr>
          <a:xfrm>
            <a:off x="7581901" y="2570164"/>
            <a:ext cx="646113" cy="585787"/>
          </a:xfrm>
          <a:prstGeom prst="rect">
            <a:avLst/>
          </a:prstGeom>
          <a:noFill/>
        </p:spPr>
        <p:txBody>
          <a:bodyPr wrap="none"/>
          <a:lstStyle>
            <a:defPPr>
              <a:defRPr lang="zh-CN"/>
            </a:defPPr>
            <a:lvl1pPr>
              <a:defRPr sz="3200" b="1" spc="400">
                <a:solidFill>
                  <a:schemeClr val="bg1"/>
                </a:solidFill>
                <a:effectLst>
                  <a:outerShdw dist="25400" dir="2700000" algn="tl" rotWithShape="0">
                    <a:prstClr val="black">
                      <a:alpha val="29000"/>
                    </a:prstClr>
                  </a:outerShdw>
                </a:effectLst>
                <a:latin typeface="华文中宋" panose="02010600040101010101" pitchFamily="2" charset="-122"/>
                <a:ea typeface="华文中宋" panose="02010600040101010101" pitchFamily="2" charset="-122"/>
                <a:cs typeface="Microsoft New Tai Lue" panose="020B0502040204020203" pitchFamily="34" charset="0"/>
              </a:defRPr>
            </a:lvl1pPr>
          </a:lstStyle>
          <a:p>
            <a:pPr>
              <a:defRPr/>
            </a:pPr>
            <a:r>
              <a:rPr lang="zh-CN" altLang="en-US" kern="0" dirty="0">
                <a:solidFill>
                  <a:prstClr val="white"/>
                </a:solidFill>
              </a:rPr>
              <a:t>章</a:t>
            </a:r>
            <a:endParaRPr lang="zh-CN" altLang="en-US" kern="0" dirty="0">
              <a:solidFill>
                <a:prstClr val="white"/>
              </a:solidFill>
            </a:endParaRPr>
          </a:p>
        </p:txBody>
      </p:sp>
    </p:spTree>
    <p:custDataLst>
      <p:tags r:id="rId8"/>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计算机程序</a:t>
            </a:r>
            <a:endParaRPr lang="zh-CN" altLang="en-US" dirty="0"/>
          </a:p>
        </p:txBody>
      </p:sp>
      <p:grpSp>
        <p:nvGrpSpPr>
          <p:cNvPr id="25" name="组合 24"/>
          <p:cNvGrpSpPr/>
          <p:nvPr>
            <p:custDataLst>
              <p:tags r:id="rId1"/>
            </p:custDataLst>
          </p:nvPr>
        </p:nvGrpSpPr>
        <p:grpSpPr>
          <a:xfrm>
            <a:off x="2371725" y="1671638"/>
            <a:ext cx="4478339" cy="1531937"/>
            <a:chOff x="2371725" y="1671638"/>
            <a:chExt cx="4478339" cy="1531937"/>
          </a:xfrm>
        </p:grpSpPr>
        <p:sp>
          <p:nvSpPr>
            <p:cNvPr id="4" name="MH_Other_1"/>
            <p:cNvSpPr/>
            <p:nvPr>
              <p:custDataLst>
                <p:tags r:id="rId2"/>
              </p:custDataLst>
            </p:nvPr>
          </p:nvSpPr>
          <p:spPr>
            <a:xfrm>
              <a:off x="2784475" y="1800225"/>
              <a:ext cx="357188" cy="355600"/>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5" name="MH_Other_2"/>
            <p:cNvSpPr/>
            <p:nvPr>
              <p:custDataLst>
                <p:tags r:id="rId3"/>
              </p:custDataLst>
            </p:nvPr>
          </p:nvSpPr>
          <p:spPr>
            <a:xfrm>
              <a:off x="2784475" y="2205039"/>
              <a:ext cx="357188" cy="357187"/>
            </a:xfrm>
            <a:prstGeom prst="diamond">
              <a:avLst/>
            </a:prstGeom>
            <a:solidFill>
              <a:schemeClr val="accent1">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6" name="MH_Other_3"/>
            <p:cNvSpPr/>
            <p:nvPr>
              <p:custDataLst>
                <p:tags r:id="rId4"/>
              </p:custDataLst>
            </p:nvPr>
          </p:nvSpPr>
          <p:spPr>
            <a:xfrm>
              <a:off x="2990850" y="2003425"/>
              <a:ext cx="355600" cy="355600"/>
            </a:xfrm>
            <a:prstGeom prst="diamond">
              <a:avLst/>
            </a:prstGeom>
            <a:solidFill>
              <a:schemeClr val="accent1">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7" name="MH_Other_4"/>
            <p:cNvSpPr/>
            <p:nvPr>
              <p:custDataLst>
                <p:tags r:id="rId5"/>
              </p:custDataLst>
            </p:nvPr>
          </p:nvSpPr>
          <p:spPr>
            <a:xfrm>
              <a:off x="2400300" y="1671639"/>
              <a:ext cx="534988" cy="101917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8" name="MH_Other_5"/>
            <p:cNvSpPr/>
            <p:nvPr>
              <p:custDataLst>
                <p:tags r:id="rId6"/>
              </p:custDataLst>
            </p:nvPr>
          </p:nvSpPr>
          <p:spPr bwMode="auto">
            <a:xfrm>
              <a:off x="2371725" y="1671639"/>
              <a:ext cx="509588" cy="101917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400" b="1" dirty="0">
                <a:solidFill>
                  <a:srgbClr val="FFFFFF"/>
                </a:solidFill>
              </a:endParaRPr>
            </a:p>
          </p:txBody>
        </p:sp>
        <p:sp>
          <p:nvSpPr>
            <p:cNvPr id="9" name="MH_Text_1"/>
            <p:cNvSpPr/>
            <p:nvPr>
              <p:custDataLst>
                <p:tags r:id="rId7"/>
              </p:custDataLst>
            </p:nvPr>
          </p:nvSpPr>
          <p:spPr>
            <a:xfrm>
              <a:off x="3346451" y="2155825"/>
              <a:ext cx="3503613" cy="1047750"/>
            </a:xfrm>
            <a:prstGeom prst="rect">
              <a:avLst/>
            </a:prstGeom>
          </p:spPr>
          <p:txBody>
            <a:bodyPr>
              <a:normAutofit/>
            </a:bodyPr>
            <a:lstStyle/>
            <a:p>
              <a:pPr>
                <a:lnSpc>
                  <a:spcPct val="120000"/>
                </a:lnSpc>
                <a:defRPr/>
              </a:pPr>
              <a:r>
                <a:rPr lang="zh-CN" altLang="en-US" dirty="0">
                  <a:solidFill>
                    <a:schemeClr val="tx1">
                      <a:lumMod val="65000"/>
                      <a:lumOff val="35000"/>
                    </a:schemeClr>
                  </a:solidFill>
                </a:rPr>
                <a:t>可以被计算机理解并执行的基本操作命令。</a:t>
              </a:r>
              <a:endParaRPr lang="zh-CN" altLang="en-US" dirty="0">
                <a:solidFill>
                  <a:schemeClr val="tx1">
                    <a:lumMod val="65000"/>
                    <a:lumOff val="35000"/>
                  </a:schemeClr>
                </a:solidFill>
              </a:endParaRPr>
            </a:p>
          </p:txBody>
        </p:sp>
        <p:sp>
          <p:nvSpPr>
            <p:cNvPr id="10" name="MH_SubTitle_1"/>
            <p:cNvSpPr/>
            <p:nvPr>
              <p:custDataLst>
                <p:tags r:id="rId8"/>
              </p:custDataLst>
            </p:nvPr>
          </p:nvSpPr>
          <p:spPr>
            <a:xfrm>
              <a:off x="3346451" y="1671638"/>
              <a:ext cx="3503613" cy="538162"/>
            </a:xfrm>
            <a:prstGeom prst="rect">
              <a:avLst/>
            </a:prstGeom>
          </p:spPr>
          <p:txBody>
            <a:bodyPr anchor="b">
              <a:normAutofit/>
            </a:bodyPr>
            <a:lstStyle/>
            <a:p>
              <a:pPr>
                <a:defRPr/>
              </a:pPr>
              <a:r>
                <a:rPr lang="zh-CN" altLang="en-US" sz="2400" b="1" kern="0" dirty="0">
                  <a:solidFill>
                    <a:schemeClr val="accent1"/>
                  </a:solidFill>
                  <a:cs typeface="宋体" panose="02010600030101010101" pitchFamily="2" charset="-122"/>
                </a:rPr>
                <a:t>指令</a:t>
              </a:r>
              <a:endParaRPr lang="zh-CN" altLang="en-US" sz="2400" b="1" dirty="0">
                <a:solidFill>
                  <a:schemeClr val="accent1"/>
                </a:solidFill>
              </a:endParaRPr>
            </a:p>
          </p:txBody>
        </p:sp>
      </p:grpSp>
      <p:grpSp>
        <p:nvGrpSpPr>
          <p:cNvPr id="26" name="组合 25"/>
          <p:cNvGrpSpPr/>
          <p:nvPr>
            <p:custDataLst>
              <p:tags r:id="rId9"/>
            </p:custDataLst>
          </p:nvPr>
        </p:nvGrpSpPr>
        <p:grpSpPr>
          <a:xfrm>
            <a:off x="5561014" y="4864100"/>
            <a:ext cx="4478336" cy="1531938"/>
            <a:chOff x="5561014" y="4864100"/>
            <a:chExt cx="4478336" cy="1531938"/>
          </a:xfrm>
        </p:grpSpPr>
        <p:sp>
          <p:nvSpPr>
            <p:cNvPr id="11" name="MH_Other_6"/>
            <p:cNvSpPr/>
            <p:nvPr>
              <p:custDataLst>
                <p:tags r:id="rId10"/>
              </p:custDataLst>
            </p:nvPr>
          </p:nvSpPr>
          <p:spPr>
            <a:xfrm>
              <a:off x="5973763" y="4991100"/>
              <a:ext cx="355600" cy="355600"/>
            </a:xfrm>
            <a:prstGeom prst="diamond">
              <a:avLst/>
            </a:pr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2" name="MH_Other_7"/>
            <p:cNvSpPr/>
            <p:nvPr>
              <p:custDataLst>
                <p:tags r:id="rId11"/>
              </p:custDataLst>
            </p:nvPr>
          </p:nvSpPr>
          <p:spPr>
            <a:xfrm>
              <a:off x="5973763" y="5397500"/>
              <a:ext cx="355600" cy="355600"/>
            </a:xfrm>
            <a:prstGeom prst="diamond">
              <a:avLst/>
            </a:pr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3" name="MH_Other_8"/>
            <p:cNvSpPr/>
            <p:nvPr>
              <p:custDataLst>
                <p:tags r:id="rId12"/>
              </p:custDataLst>
            </p:nvPr>
          </p:nvSpPr>
          <p:spPr>
            <a:xfrm>
              <a:off x="6178550" y="5194300"/>
              <a:ext cx="355600" cy="355600"/>
            </a:xfrm>
            <a:prstGeom prst="diamond">
              <a:avLst/>
            </a:prstGeom>
            <a:solidFill>
              <a:schemeClr val="accent3">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14" name="MH_Other_9"/>
            <p:cNvSpPr/>
            <p:nvPr>
              <p:custDataLst>
                <p:tags r:id="rId13"/>
              </p:custDataLst>
            </p:nvPr>
          </p:nvSpPr>
          <p:spPr>
            <a:xfrm>
              <a:off x="5588001" y="4864100"/>
              <a:ext cx="536575" cy="1017588"/>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5" name="MH_Other_10"/>
            <p:cNvSpPr/>
            <p:nvPr>
              <p:custDataLst>
                <p:tags r:id="rId14"/>
              </p:custDataLst>
            </p:nvPr>
          </p:nvSpPr>
          <p:spPr>
            <a:xfrm>
              <a:off x="5561014" y="4864100"/>
              <a:ext cx="509587" cy="1017588"/>
            </a:xfrm>
            <a:custGeom>
              <a:avLst/>
              <a:gdLst>
                <a:gd name="connsiteX0" fmla="*/ 451 w 1806862"/>
                <a:gd name="connsiteY0" fmla="*/ 0 h 3612822"/>
                <a:gd name="connsiteX1" fmla="*/ 1806862 w 1806862"/>
                <a:gd name="connsiteY1" fmla="*/ 1806411 h 3612822"/>
                <a:gd name="connsiteX2" fmla="*/ 451 w 1806862"/>
                <a:gd name="connsiteY2" fmla="*/ 3612822 h 3612822"/>
                <a:gd name="connsiteX3" fmla="*/ 0 w 1806862"/>
                <a:gd name="connsiteY3" fmla="*/ 3612371 h 3612822"/>
                <a:gd name="connsiteX4" fmla="*/ 0 w 1806862"/>
                <a:gd name="connsiteY4" fmla="*/ 451 h 36128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06862" h="3612822">
                  <a:moveTo>
                    <a:pt x="451" y="0"/>
                  </a:moveTo>
                  <a:lnTo>
                    <a:pt x="1806862" y="1806411"/>
                  </a:lnTo>
                  <a:lnTo>
                    <a:pt x="451" y="3612822"/>
                  </a:lnTo>
                  <a:lnTo>
                    <a:pt x="0" y="3612371"/>
                  </a:lnTo>
                  <a:lnTo>
                    <a:pt x="0" y="451"/>
                  </a:lnTo>
                  <a:close/>
                </a:path>
              </a:pathLst>
            </a:custGeom>
            <a:solidFill>
              <a:schemeClr val="accent3"/>
            </a:solidFill>
          </p:spPr>
          <p:txBody>
            <a:bodyPr lIns="0" tIns="0" rIns="144000" bIns="0" anchor="ctr">
              <a:normAutofit/>
            </a:bodyPr>
            <a:lstStyle/>
            <a:p>
              <a:pPr algn="ctr">
                <a:defRPr/>
              </a:pPr>
              <a:endParaRPr lang="zh-CN" altLang="en-US" sz="2400" b="1" dirty="0" err="1">
                <a:solidFill>
                  <a:srgbClr val="FFFFFF"/>
                </a:solidFill>
              </a:endParaRPr>
            </a:p>
          </p:txBody>
        </p:sp>
        <p:sp>
          <p:nvSpPr>
            <p:cNvPr id="16" name="MH_Text_3"/>
            <p:cNvSpPr/>
            <p:nvPr>
              <p:custDataLst>
                <p:tags r:id="rId15"/>
              </p:custDataLst>
            </p:nvPr>
          </p:nvSpPr>
          <p:spPr>
            <a:xfrm>
              <a:off x="6534150" y="5346700"/>
              <a:ext cx="3505200" cy="1049338"/>
            </a:xfrm>
            <a:prstGeom prst="rect">
              <a:avLst/>
            </a:prstGeom>
          </p:spPr>
          <p:txBody>
            <a:bodyPr>
              <a:normAutofit lnSpcReduction="10000"/>
            </a:bodyPr>
            <a:lstStyle/>
            <a:p>
              <a:pPr>
                <a:lnSpc>
                  <a:spcPct val="120000"/>
                </a:lnSpc>
                <a:defRPr/>
              </a:pPr>
              <a:r>
                <a:rPr lang="zh-CN" altLang="en-US" dirty="0">
                  <a:solidFill>
                    <a:schemeClr val="tx1">
                      <a:lumMod val="65000"/>
                      <a:lumOff val="35000"/>
                    </a:schemeClr>
                  </a:solidFill>
                </a:rPr>
                <a:t>与计算机系统操作有关的计算机程序、规程、规则，以及可能有的文件、文档及数据。</a:t>
              </a:r>
              <a:endParaRPr lang="zh-CN" altLang="en-US" dirty="0">
                <a:solidFill>
                  <a:schemeClr val="tx1">
                    <a:lumMod val="65000"/>
                    <a:lumOff val="35000"/>
                  </a:schemeClr>
                </a:solidFill>
              </a:endParaRPr>
            </a:p>
          </p:txBody>
        </p:sp>
        <p:sp>
          <p:nvSpPr>
            <p:cNvPr id="17" name="MH_SubTitle_3"/>
            <p:cNvSpPr/>
            <p:nvPr>
              <p:custDataLst>
                <p:tags r:id="rId16"/>
              </p:custDataLst>
            </p:nvPr>
          </p:nvSpPr>
          <p:spPr>
            <a:xfrm>
              <a:off x="6534150" y="4864101"/>
              <a:ext cx="3505200" cy="536575"/>
            </a:xfrm>
            <a:prstGeom prst="rect">
              <a:avLst/>
            </a:prstGeom>
          </p:spPr>
          <p:txBody>
            <a:bodyPr anchor="b">
              <a:normAutofit/>
            </a:bodyPr>
            <a:lstStyle/>
            <a:p>
              <a:pPr>
                <a:defRPr/>
              </a:pPr>
              <a:r>
                <a:rPr lang="zh-CN" altLang="en-US" sz="2400" b="1" kern="0" dirty="0">
                  <a:solidFill>
                    <a:schemeClr val="accent3"/>
                  </a:solidFill>
                  <a:cs typeface="宋体" panose="02010600030101010101" pitchFamily="2" charset="-122"/>
                </a:rPr>
                <a:t>软件</a:t>
              </a:r>
              <a:endParaRPr lang="zh-CN" altLang="en-US" sz="2400" b="1" dirty="0">
                <a:solidFill>
                  <a:schemeClr val="accent3"/>
                </a:solidFill>
              </a:endParaRPr>
            </a:p>
          </p:txBody>
        </p:sp>
      </p:grpSp>
      <p:grpSp>
        <p:nvGrpSpPr>
          <p:cNvPr id="3" name="组合 2"/>
          <p:cNvGrpSpPr/>
          <p:nvPr>
            <p:custDataLst>
              <p:tags r:id="rId17"/>
            </p:custDataLst>
          </p:nvPr>
        </p:nvGrpSpPr>
        <p:grpSpPr>
          <a:xfrm>
            <a:off x="3939381" y="3121820"/>
            <a:ext cx="4478337" cy="1500187"/>
            <a:chOff x="3967163" y="3287714"/>
            <a:chExt cx="4478337" cy="1500187"/>
          </a:xfrm>
        </p:grpSpPr>
        <p:sp>
          <p:nvSpPr>
            <p:cNvPr id="18" name="MH_Other_11"/>
            <p:cNvSpPr/>
            <p:nvPr>
              <p:custDataLst>
                <p:tags r:id="rId18"/>
              </p:custDataLst>
            </p:nvPr>
          </p:nvSpPr>
          <p:spPr>
            <a:xfrm>
              <a:off x="4379913" y="3414713"/>
              <a:ext cx="355600" cy="355600"/>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19" name="MH_Other_12"/>
            <p:cNvSpPr/>
            <p:nvPr>
              <p:custDataLst>
                <p:tags r:id="rId19"/>
              </p:custDataLst>
            </p:nvPr>
          </p:nvSpPr>
          <p:spPr>
            <a:xfrm>
              <a:off x="4379913" y="3821113"/>
              <a:ext cx="355600" cy="355600"/>
            </a:xfrm>
            <a:prstGeom prst="diamond">
              <a:avLst/>
            </a:pr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20" name="MH_Other_13"/>
            <p:cNvSpPr/>
            <p:nvPr>
              <p:custDataLst>
                <p:tags r:id="rId20"/>
              </p:custDataLst>
            </p:nvPr>
          </p:nvSpPr>
          <p:spPr>
            <a:xfrm>
              <a:off x="4584700" y="3617913"/>
              <a:ext cx="355600" cy="355600"/>
            </a:xfrm>
            <a:prstGeom prst="diamond">
              <a:avLst/>
            </a:prstGeom>
            <a:solidFill>
              <a:schemeClr val="accent2">
                <a:lumMod val="60000"/>
                <a:lumOff val="40000"/>
              </a:schemeClr>
            </a:solidFill>
          </p:spPr>
          <p:txBody>
            <a:bodyPr anchor="ctr"/>
            <a:lstStyle/>
            <a:p>
              <a:pPr algn="just">
                <a:lnSpc>
                  <a:spcPct val="130000"/>
                </a:lnSpc>
                <a:defRPr/>
              </a:pPr>
              <a:endParaRPr lang="zh-CN" altLang="en-US" dirty="0" err="1">
                <a:solidFill>
                  <a:srgbClr val="FFFFFF"/>
                </a:solidFill>
              </a:endParaRPr>
            </a:p>
          </p:txBody>
        </p:sp>
        <p:sp>
          <p:nvSpPr>
            <p:cNvPr id="21" name="MH_Other_14"/>
            <p:cNvSpPr/>
            <p:nvPr>
              <p:custDataLst>
                <p:tags r:id="rId21"/>
              </p:custDataLst>
            </p:nvPr>
          </p:nvSpPr>
          <p:spPr>
            <a:xfrm>
              <a:off x="3994151" y="3287714"/>
              <a:ext cx="536575" cy="1017587"/>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a:lnSpc>
                  <a:spcPct val="130000"/>
                </a:lnSpc>
                <a:defRPr/>
              </a:pPr>
              <a:endParaRPr lang="zh-CN" altLang="en-US" dirty="0" err="1">
                <a:solidFill>
                  <a:srgbClr val="FFFFFF"/>
                </a:solidFill>
              </a:endParaRPr>
            </a:p>
          </p:txBody>
        </p:sp>
        <p:sp>
          <p:nvSpPr>
            <p:cNvPr id="22" name="MH_Other_15"/>
            <p:cNvSpPr/>
            <p:nvPr>
              <p:custDataLst>
                <p:tags r:id="rId22"/>
              </p:custDataLst>
            </p:nvPr>
          </p:nvSpPr>
          <p:spPr bwMode="auto">
            <a:xfrm>
              <a:off x="3967163" y="3287714"/>
              <a:ext cx="508000" cy="1017587"/>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144000" bIns="0"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en-US" sz="2400" b="1" dirty="0">
                <a:solidFill>
                  <a:srgbClr val="FFFFFF"/>
                </a:solidFill>
              </a:endParaRPr>
            </a:p>
          </p:txBody>
        </p:sp>
        <p:sp>
          <p:nvSpPr>
            <p:cNvPr id="23" name="MH_Text_2"/>
            <p:cNvSpPr/>
            <p:nvPr>
              <p:custDataLst>
                <p:tags r:id="rId23"/>
              </p:custDataLst>
            </p:nvPr>
          </p:nvSpPr>
          <p:spPr>
            <a:xfrm>
              <a:off x="4940300" y="3770314"/>
              <a:ext cx="3505200" cy="1017587"/>
            </a:xfrm>
            <a:prstGeom prst="rect">
              <a:avLst/>
            </a:prstGeom>
          </p:spPr>
          <p:txBody>
            <a:bodyPr>
              <a:normAutofit lnSpcReduction="10000"/>
            </a:bodyPr>
            <a:lstStyle/>
            <a:p>
              <a:pPr>
                <a:lnSpc>
                  <a:spcPct val="120000"/>
                </a:lnSpc>
                <a:defRPr/>
              </a:pPr>
              <a:r>
                <a:rPr lang="zh-CN" altLang="en-US" dirty="0">
                  <a:solidFill>
                    <a:schemeClr val="tx1">
                      <a:lumMod val="65000"/>
                      <a:lumOff val="35000"/>
                    </a:schemeClr>
                  </a:solidFill>
                </a:rPr>
                <a:t>一组计算机能识别和执行的指令。</a:t>
              </a:r>
              <a:endParaRPr lang="en-US" altLang="zh-CN" dirty="0">
                <a:solidFill>
                  <a:schemeClr val="tx1">
                    <a:lumMod val="65000"/>
                    <a:lumOff val="35000"/>
                  </a:schemeClr>
                </a:solidFill>
              </a:endParaRPr>
            </a:p>
            <a:p>
              <a:pPr>
                <a:lnSpc>
                  <a:spcPct val="120000"/>
                </a:lnSpc>
                <a:defRPr/>
              </a:pPr>
              <a:r>
                <a:rPr lang="zh-CN" altLang="en-US" dirty="0">
                  <a:solidFill>
                    <a:schemeClr val="tx1">
                      <a:lumMod val="65000"/>
                      <a:lumOff val="35000"/>
                    </a:schemeClr>
                  </a:solidFill>
                </a:rPr>
                <a:t>一个特定的指令序列用来完成一定的功能。</a:t>
              </a:r>
              <a:endParaRPr lang="zh-CN" altLang="en-US" dirty="0">
                <a:solidFill>
                  <a:schemeClr val="tx1">
                    <a:lumMod val="65000"/>
                    <a:lumOff val="35000"/>
                  </a:schemeClr>
                </a:solidFill>
              </a:endParaRPr>
            </a:p>
          </p:txBody>
        </p:sp>
        <p:sp>
          <p:nvSpPr>
            <p:cNvPr id="24" name="MH_SubTitle_2"/>
            <p:cNvSpPr/>
            <p:nvPr>
              <p:custDataLst>
                <p:tags r:id="rId24"/>
              </p:custDataLst>
            </p:nvPr>
          </p:nvSpPr>
          <p:spPr>
            <a:xfrm>
              <a:off x="4940300" y="3287714"/>
              <a:ext cx="3505200" cy="536575"/>
            </a:xfrm>
            <a:prstGeom prst="rect">
              <a:avLst/>
            </a:prstGeom>
          </p:spPr>
          <p:txBody>
            <a:bodyPr anchor="b">
              <a:normAutofit/>
            </a:bodyPr>
            <a:lstStyle/>
            <a:p>
              <a:pPr>
                <a:defRPr/>
              </a:pPr>
              <a:r>
                <a:rPr lang="zh-CN" altLang="en-US" sz="2400" b="1" kern="0" dirty="0">
                  <a:solidFill>
                    <a:schemeClr val="accent2"/>
                  </a:solidFill>
                  <a:cs typeface="宋体" panose="02010600030101010101" pitchFamily="2" charset="-122"/>
                </a:rPr>
                <a:t>程序</a:t>
              </a:r>
              <a:endParaRPr lang="zh-CN" altLang="en-US" sz="2400" b="1" dirty="0">
                <a:solidFill>
                  <a:schemeClr val="accent2"/>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计算机语言</a:t>
            </a:r>
            <a:endParaRPr lang="zh-CN" altLang="en-US" dirty="0"/>
          </a:p>
        </p:txBody>
      </p:sp>
      <p:sp>
        <p:nvSpPr>
          <p:cNvPr id="25" name="MH_SubTitle_1"/>
          <p:cNvSpPr txBox="1">
            <a:spLocks noChangeArrowheads="1"/>
          </p:cNvSpPr>
          <p:nvPr>
            <p:custDataLst>
              <p:tags r:id="rId1"/>
            </p:custDataLst>
          </p:nvPr>
        </p:nvSpPr>
        <p:spPr bwMode="auto">
          <a:xfrm>
            <a:off x="1797436" y="1299152"/>
            <a:ext cx="2160000" cy="432000"/>
          </a:xfrm>
          <a:prstGeom prst="rect">
            <a:avLst/>
          </a:prstGeom>
          <a:noFill/>
          <a:ln>
            <a:noFill/>
          </a:ln>
        </p:spPr>
        <p:txBody>
          <a:bodyPr anchor="b">
            <a:normAutofit lnSpcReduction="1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zh-CN" altLang="en-US" sz="2400" b="1" dirty="0">
                <a:solidFill>
                  <a:schemeClr val="accent1"/>
                </a:solidFill>
                <a:latin typeface="微软雅黑" panose="020B0503020204020204" pitchFamily="34" charset="-122"/>
                <a:ea typeface="微软雅黑" panose="020B0503020204020204" pitchFamily="34" charset="-122"/>
              </a:rPr>
              <a:t>机器语言</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26" name="MH_Text_1"/>
          <p:cNvSpPr txBox="1">
            <a:spLocks noChangeArrowheads="1"/>
          </p:cNvSpPr>
          <p:nvPr>
            <p:custDataLst>
              <p:tags r:id="rId2"/>
            </p:custDataLst>
          </p:nvPr>
        </p:nvSpPr>
        <p:spPr bwMode="auto">
          <a:xfrm>
            <a:off x="1796166" y="1850651"/>
            <a:ext cx="2159000" cy="2452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just" eaLnBrk="1" hangingPunct="1">
              <a:lnSpc>
                <a:spcPct val="130000"/>
              </a:lnSpc>
              <a:defRPr/>
            </a:pPr>
            <a:r>
              <a:rPr lang="zh-CN" altLang="en-US" sz="1600" b="1" dirty="0">
                <a:solidFill>
                  <a:schemeClr val="tx1">
                    <a:lumMod val="75000"/>
                    <a:lumOff val="25000"/>
                  </a:schemeClr>
                </a:solidFill>
                <a:latin typeface="+mn-lt"/>
                <a:ea typeface="+mn-ea"/>
              </a:rPr>
              <a:t>计算机能直接识别和接受的二进制代码称为机器指令。机器指令的集合就是该计算机的机器语言。</a:t>
            </a:r>
            <a:endParaRPr lang="en-US" altLang="zh-CN" sz="1600" b="1" dirty="0">
              <a:solidFill>
                <a:schemeClr val="tx1">
                  <a:lumMod val="75000"/>
                  <a:lumOff val="25000"/>
                </a:schemeClr>
              </a:solidFill>
              <a:latin typeface="+mn-lt"/>
              <a:ea typeface="+mn-ea"/>
            </a:endParaRPr>
          </a:p>
          <a:p>
            <a:pPr algn="just" eaLnBrk="1" hangingPunct="1">
              <a:lnSpc>
                <a:spcPct val="130000"/>
              </a:lnSpc>
              <a:defRPr/>
            </a:pPr>
            <a:r>
              <a:rPr lang="zh-CN" altLang="en-US" sz="1600" b="1">
                <a:solidFill>
                  <a:schemeClr val="tx1">
                    <a:lumMod val="75000"/>
                    <a:lumOff val="25000"/>
                  </a:schemeClr>
                </a:solidFill>
                <a:latin typeface="+mn-lt"/>
                <a:ea typeface="+mn-ea"/>
              </a:rPr>
              <a:t>特点：难</a:t>
            </a:r>
            <a:r>
              <a:rPr lang="zh-CN" altLang="en-US" sz="1600" b="1" dirty="0">
                <a:solidFill>
                  <a:schemeClr val="tx1">
                    <a:lumMod val="75000"/>
                    <a:lumOff val="25000"/>
                  </a:schemeClr>
                </a:solidFill>
                <a:latin typeface="+mn-lt"/>
                <a:ea typeface="+mn-ea"/>
              </a:rPr>
              <a:t>学，难记，难检查，难修改，难以推广使用。依赖具体机器难以移植。</a:t>
            </a:r>
            <a:endParaRPr lang="zh-CN" altLang="en-US" sz="1600" b="1" dirty="0">
              <a:solidFill>
                <a:schemeClr val="tx1">
                  <a:lumMod val="75000"/>
                  <a:lumOff val="25000"/>
                </a:schemeClr>
              </a:solidFill>
              <a:latin typeface="+mn-lt"/>
              <a:ea typeface="+mn-ea"/>
            </a:endParaRPr>
          </a:p>
        </p:txBody>
      </p:sp>
      <p:sp>
        <p:nvSpPr>
          <p:cNvPr id="27" name="MH_SubTitle_2"/>
          <p:cNvSpPr txBox="1">
            <a:spLocks noChangeArrowheads="1"/>
          </p:cNvSpPr>
          <p:nvPr>
            <p:custDataLst>
              <p:tags r:id="rId3"/>
            </p:custDataLst>
          </p:nvPr>
        </p:nvSpPr>
        <p:spPr bwMode="auto">
          <a:xfrm>
            <a:off x="4877329" y="1259147"/>
            <a:ext cx="2160000" cy="432000"/>
          </a:xfrm>
          <a:prstGeom prst="rect">
            <a:avLst/>
          </a:prstGeom>
          <a:noFill/>
          <a:ln>
            <a:noFill/>
          </a:ln>
        </p:spPr>
        <p:txBody>
          <a:bodyPr anchor="b">
            <a:normAutofit lnSpcReduction="1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zh-CN" altLang="en-US" sz="2400" b="1" dirty="0">
                <a:solidFill>
                  <a:schemeClr val="accent1"/>
                </a:solidFill>
                <a:latin typeface="微软雅黑" panose="020B0503020204020204" pitchFamily="34" charset="-122"/>
                <a:ea typeface="微软雅黑" panose="020B0503020204020204" pitchFamily="34" charset="-122"/>
              </a:rPr>
              <a:t>汇编语言</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28" name="MH_Text_2"/>
          <p:cNvSpPr txBox="1">
            <a:spLocks noChangeArrowheads="1"/>
          </p:cNvSpPr>
          <p:nvPr>
            <p:custDataLst>
              <p:tags r:id="rId4"/>
            </p:custDataLst>
          </p:nvPr>
        </p:nvSpPr>
        <p:spPr bwMode="auto">
          <a:xfrm>
            <a:off x="4878705" y="1739265"/>
            <a:ext cx="2159000" cy="3058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lgn="just" eaLnBrk="1" hangingPunct="1">
              <a:lnSpc>
                <a:spcPct val="130000"/>
              </a:lnSpc>
              <a:defRPr sz="1400">
                <a:latin typeface="幼圆" panose="02010509060101010101" pitchFamily="49" charset="-122"/>
                <a:ea typeface="幼圆" panose="02010509060101010101" pitchFamily="49"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zh-CN" altLang="en-US" sz="1600" b="1" dirty="0">
                <a:solidFill>
                  <a:schemeClr val="tx1">
                    <a:lumMod val="75000"/>
                    <a:lumOff val="25000"/>
                  </a:schemeClr>
                </a:solidFill>
                <a:latin typeface="+mn-lt"/>
                <a:ea typeface="+mn-ea"/>
              </a:rPr>
              <a:t>机器语言的符号化。用英文字母和数字表示指令的符号语言。</a:t>
            </a:r>
            <a:endParaRPr lang="en-US" altLang="zh-CN" sz="1600" b="1" dirty="0">
              <a:solidFill>
                <a:schemeClr val="tx1">
                  <a:lumMod val="75000"/>
                  <a:lumOff val="25000"/>
                </a:schemeClr>
              </a:solidFill>
              <a:latin typeface="+mn-lt"/>
              <a:ea typeface="+mn-ea"/>
            </a:endParaRPr>
          </a:p>
          <a:p>
            <a:pPr>
              <a:defRPr/>
            </a:pPr>
            <a:r>
              <a:rPr lang="zh-CN" altLang="en-US" sz="1600" b="1" dirty="0">
                <a:solidFill>
                  <a:schemeClr val="tx1">
                    <a:lumMod val="75000"/>
                    <a:lumOff val="25000"/>
                  </a:schemeClr>
                </a:solidFill>
                <a:latin typeface="+mn-lt"/>
                <a:ea typeface="+mn-ea"/>
              </a:rPr>
              <a:t>特点：相比机器语言简单好记，但仍然难以普及。汇编指令需通过汇编程序转换为机器指令才能被计算机执行。依赖具体机器难以移植。</a:t>
            </a:r>
            <a:endParaRPr lang="zh-CN" altLang="en-US" sz="1600" b="1" dirty="0">
              <a:solidFill>
                <a:schemeClr val="tx1">
                  <a:lumMod val="75000"/>
                  <a:lumOff val="25000"/>
                </a:schemeClr>
              </a:solidFill>
              <a:latin typeface="+mn-lt"/>
              <a:ea typeface="+mn-ea"/>
            </a:endParaRPr>
          </a:p>
        </p:txBody>
      </p:sp>
      <p:sp>
        <p:nvSpPr>
          <p:cNvPr id="29" name="MH_SubTitle_3"/>
          <p:cNvSpPr txBox="1">
            <a:spLocks noChangeArrowheads="1"/>
          </p:cNvSpPr>
          <p:nvPr>
            <p:custDataLst>
              <p:tags r:id="rId5"/>
            </p:custDataLst>
          </p:nvPr>
        </p:nvSpPr>
        <p:spPr bwMode="auto">
          <a:xfrm>
            <a:off x="7857468" y="1259147"/>
            <a:ext cx="2160000" cy="432000"/>
          </a:xfrm>
          <a:prstGeom prst="rect">
            <a:avLst/>
          </a:prstGeom>
          <a:noFill/>
          <a:ln>
            <a:noFill/>
          </a:ln>
        </p:spPr>
        <p:txBody>
          <a:bodyPr anchor="b">
            <a:normAutofit lnSpcReduction="10000"/>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defRPr/>
            </a:pPr>
            <a:r>
              <a:rPr lang="zh-CN" altLang="en-US" sz="2400" b="1" dirty="0">
                <a:solidFill>
                  <a:schemeClr val="accent1"/>
                </a:solidFill>
                <a:latin typeface="微软雅黑" panose="020B0503020204020204" pitchFamily="34" charset="-122"/>
                <a:ea typeface="微软雅黑" panose="020B0503020204020204" pitchFamily="34" charset="-122"/>
              </a:rPr>
              <a:t>高级语言</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30" name="MH_Text_3"/>
          <p:cNvSpPr txBox="1">
            <a:spLocks noChangeArrowheads="1"/>
          </p:cNvSpPr>
          <p:nvPr>
            <p:custDataLst>
              <p:tags r:id="rId6"/>
            </p:custDataLst>
          </p:nvPr>
        </p:nvSpPr>
        <p:spPr bwMode="auto">
          <a:xfrm>
            <a:off x="7955915" y="1850390"/>
            <a:ext cx="2159000" cy="2948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lgn="just" eaLnBrk="1" hangingPunct="1">
              <a:lnSpc>
                <a:spcPct val="130000"/>
              </a:lnSpc>
              <a:defRPr sz="1400">
                <a:latin typeface="幼圆" panose="02010509060101010101" pitchFamily="49" charset="-122"/>
                <a:ea typeface="幼圆" panose="02010509060101010101" pitchFamily="49"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zh-CN" altLang="en-US" sz="1600" b="1" dirty="0">
                <a:solidFill>
                  <a:schemeClr val="tx1">
                    <a:lumMod val="75000"/>
                    <a:lumOff val="25000"/>
                  </a:schemeClr>
                </a:solidFill>
                <a:latin typeface="+mn-lt"/>
                <a:ea typeface="+mn-ea"/>
              </a:rPr>
              <a:t>高级语言更接近于人们习惯使用的自然语言和数学语言。</a:t>
            </a:r>
            <a:endParaRPr lang="en-US" altLang="zh-CN" sz="1600" b="1" dirty="0">
              <a:solidFill>
                <a:schemeClr val="tx1">
                  <a:lumMod val="75000"/>
                  <a:lumOff val="25000"/>
                </a:schemeClr>
              </a:solidFill>
              <a:latin typeface="+mn-lt"/>
              <a:ea typeface="+mn-ea"/>
            </a:endParaRPr>
          </a:p>
          <a:p>
            <a:pPr>
              <a:defRPr/>
            </a:pPr>
            <a:r>
              <a:rPr lang="zh-CN" altLang="en-US" sz="1600" b="1" dirty="0">
                <a:solidFill>
                  <a:schemeClr val="tx1">
                    <a:lumMod val="75000"/>
                    <a:lumOff val="25000"/>
                  </a:schemeClr>
                </a:solidFill>
                <a:latin typeface="+mn-lt"/>
                <a:ea typeface="+mn-ea"/>
              </a:rPr>
              <a:t>特点：功能强大，不依赖于具体机器。用高级语言编写的源程序需要通过编译程序转换为机器指令的目标程序。</a:t>
            </a:r>
            <a:endParaRPr lang="zh-CN" altLang="en-US" sz="1600" b="1" dirty="0">
              <a:solidFill>
                <a:schemeClr val="tx1">
                  <a:lumMod val="75000"/>
                  <a:lumOff val="25000"/>
                </a:schemeClr>
              </a:solidFill>
              <a:latin typeface="+mn-lt"/>
              <a:ea typeface="+mn-ea"/>
            </a:endParaRPr>
          </a:p>
        </p:txBody>
      </p:sp>
      <p:sp>
        <p:nvSpPr>
          <p:cNvPr id="31" name="Rectangle 8"/>
          <p:cNvSpPr>
            <a:spLocks noChangeArrowheads="1"/>
          </p:cNvSpPr>
          <p:nvPr/>
        </p:nvSpPr>
        <p:spPr bwMode="auto">
          <a:xfrm>
            <a:off x="1795145" y="4798695"/>
            <a:ext cx="2160270" cy="1468755"/>
          </a:xfrm>
          <a:prstGeom prst="rect">
            <a:avLst/>
          </a:prstGeom>
          <a:solidFill>
            <a:schemeClr val="accent4">
              <a:lumMod val="40000"/>
              <a:lumOff val="60000"/>
            </a:schemeClr>
          </a:solidFill>
          <a:ln w="9525">
            <a:noFill/>
            <a:miter lim="800000"/>
          </a:ln>
        </p:spPr>
        <p:txBody>
          <a:bodyPr anchor="ctr"/>
          <a:lstStyle>
            <a:lvl1pPr defTabSz="717550">
              <a:defRPr kumimoji="1" sz="2400">
                <a:solidFill>
                  <a:schemeClr val="tx1"/>
                </a:solidFill>
                <a:latin typeface="Times New Roman" panose="02020603050405020304" pitchFamily="18" charset="0"/>
                <a:ea typeface="宋体" panose="02010600030101010101" pitchFamily="2" charset="-122"/>
              </a:defRPr>
            </a:lvl1pPr>
            <a:lvl2pPr defTabSz="717550">
              <a:defRPr kumimoji="1" sz="2400">
                <a:solidFill>
                  <a:schemeClr val="tx1"/>
                </a:solidFill>
                <a:latin typeface="Times New Roman" panose="02020603050405020304" pitchFamily="18" charset="0"/>
                <a:ea typeface="宋体" panose="02010600030101010101" pitchFamily="2" charset="-122"/>
              </a:defRPr>
            </a:lvl2pPr>
            <a:lvl3pPr defTabSz="717550">
              <a:defRPr kumimoji="1" sz="2400">
                <a:solidFill>
                  <a:schemeClr val="tx1"/>
                </a:solidFill>
                <a:latin typeface="Times New Roman" panose="02020603050405020304" pitchFamily="18" charset="0"/>
                <a:ea typeface="宋体" panose="02010600030101010101" pitchFamily="2" charset="-122"/>
              </a:defRPr>
            </a:lvl3pPr>
            <a:lvl4pPr defTabSz="717550">
              <a:defRPr kumimoji="1" sz="2400">
                <a:solidFill>
                  <a:schemeClr val="tx1"/>
                </a:solidFill>
                <a:latin typeface="Times New Roman" panose="02020603050405020304" pitchFamily="18" charset="0"/>
                <a:ea typeface="宋体" panose="02010600030101010101" pitchFamily="2" charset="-122"/>
              </a:defRPr>
            </a:lvl4pPr>
            <a:lvl5pPr defTabSz="717550">
              <a:defRPr kumimoji="1" sz="2400">
                <a:solidFill>
                  <a:schemeClr val="tx1"/>
                </a:solidFill>
                <a:latin typeface="Times New Roman" panose="02020603050405020304" pitchFamily="18" charset="0"/>
                <a:ea typeface="宋体" panose="02010600030101010101" pitchFamily="2" charset="-122"/>
              </a:defRPr>
            </a:lvl5pPr>
            <a:lvl6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en-US" altLang="zh-CN" sz="1400" b="1" dirty="0">
                <a:solidFill>
                  <a:schemeClr val="accent6"/>
                </a:solidFill>
                <a:latin typeface="Arial" panose="020B0604020202020204" pitchFamily="34" charset="0"/>
                <a:cs typeface="Arial" panose="020B0604020202020204" pitchFamily="34" charset="0"/>
              </a:rPr>
              <a:t>B8  7F 01</a:t>
            </a:r>
            <a:endParaRPr lang="en-US" altLang="zh-CN" sz="1400" b="1" dirty="0">
              <a:solidFill>
                <a:schemeClr val="accent6"/>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6"/>
                </a:solidFill>
                <a:latin typeface="Arial" panose="020B0604020202020204" pitchFamily="34" charset="0"/>
                <a:cs typeface="Arial" panose="020B0604020202020204" pitchFamily="34" charset="0"/>
              </a:rPr>
              <a:t>BB  21 02</a:t>
            </a:r>
            <a:endParaRPr lang="en-US" altLang="zh-CN" sz="1400" b="1" dirty="0">
              <a:solidFill>
                <a:schemeClr val="accent6"/>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6"/>
                </a:solidFill>
                <a:latin typeface="Arial" panose="020B0604020202020204" pitchFamily="34" charset="0"/>
                <a:cs typeface="Arial" panose="020B0604020202020204" pitchFamily="34" charset="0"/>
              </a:rPr>
              <a:t>03   D8</a:t>
            </a:r>
            <a:endParaRPr lang="en-US" altLang="zh-CN" sz="1400" b="1" dirty="0">
              <a:solidFill>
                <a:schemeClr val="accent6"/>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6"/>
                </a:solidFill>
                <a:latin typeface="Arial" panose="020B0604020202020204" pitchFamily="34" charset="0"/>
                <a:cs typeface="Arial" panose="020B0604020202020204" pitchFamily="34" charset="0"/>
              </a:rPr>
              <a:t>B8  1F 04</a:t>
            </a:r>
            <a:endParaRPr lang="en-US" altLang="zh-CN" sz="1400" b="1" dirty="0">
              <a:solidFill>
                <a:schemeClr val="accent6"/>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6"/>
                </a:solidFill>
                <a:latin typeface="Arial" panose="020B0604020202020204" pitchFamily="34" charset="0"/>
                <a:cs typeface="Arial" panose="020B0604020202020204" pitchFamily="34" charset="0"/>
              </a:rPr>
              <a:t>2B  C3</a:t>
            </a:r>
            <a:endParaRPr lang="en-US" altLang="zh-CN" sz="1400" b="1" dirty="0">
              <a:solidFill>
                <a:schemeClr val="accent6"/>
              </a:solidFill>
              <a:latin typeface="Arial" panose="020B0604020202020204" pitchFamily="34" charset="0"/>
              <a:cs typeface="Arial" panose="020B0604020202020204" pitchFamily="34" charset="0"/>
            </a:endParaRPr>
          </a:p>
        </p:txBody>
      </p:sp>
      <p:sp>
        <p:nvSpPr>
          <p:cNvPr id="32" name="Rectangle 14"/>
          <p:cNvSpPr>
            <a:spLocks noChangeArrowheads="1"/>
          </p:cNvSpPr>
          <p:nvPr/>
        </p:nvSpPr>
        <p:spPr bwMode="auto">
          <a:xfrm>
            <a:off x="4878705" y="5106670"/>
            <a:ext cx="2160270" cy="1358900"/>
          </a:xfrm>
          <a:prstGeom prst="rect">
            <a:avLst/>
          </a:prstGeom>
          <a:solidFill>
            <a:schemeClr val="accent4">
              <a:lumMod val="40000"/>
              <a:lumOff val="60000"/>
            </a:schemeClr>
          </a:solidFill>
          <a:ln w="9525">
            <a:noFill/>
            <a:miter lim="800000"/>
          </a:ln>
        </p:spPr>
        <p:txBody>
          <a:bodyPr anchor="ctr"/>
          <a:lstStyle>
            <a:lvl1pPr defTabSz="717550">
              <a:defRPr kumimoji="1" sz="2400">
                <a:solidFill>
                  <a:schemeClr val="tx1"/>
                </a:solidFill>
                <a:latin typeface="Times New Roman" panose="02020603050405020304" pitchFamily="18" charset="0"/>
                <a:ea typeface="宋体" panose="02010600030101010101" pitchFamily="2" charset="-122"/>
              </a:defRPr>
            </a:lvl1pPr>
            <a:lvl2pPr defTabSz="717550">
              <a:defRPr kumimoji="1" sz="2400">
                <a:solidFill>
                  <a:schemeClr val="tx1"/>
                </a:solidFill>
                <a:latin typeface="Times New Roman" panose="02020603050405020304" pitchFamily="18" charset="0"/>
                <a:ea typeface="宋体" panose="02010600030101010101" pitchFamily="2" charset="-122"/>
              </a:defRPr>
            </a:lvl2pPr>
            <a:lvl3pPr defTabSz="717550">
              <a:defRPr kumimoji="1" sz="2400">
                <a:solidFill>
                  <a:schemeClr val="tx1"/>
                </a:solidFill>
                <a:latin typeface="Times New Roman" panose="02020603050405020304" pitchFamily="18" charset="0"/>
                <a:ea typeface="宋体" panose="02010600030101010101" pitchFamily="2" charset="-122"/>
              </a:defRPr>
            </a:lvl3pPr>
            <a:lvl4pPr defTabSz="717550">
              <a:defRPr kumimoji="1" sz="2400">
                <a:solidFill>
                  <a:schemeClr val="tx1"/>
                </a:solidFill>
                <a:latin typeface="Times New Roman" panose="02020603050405020304" pitchFamily="18" charset="0"/>
                <a:ea typeface="宋体" panose="02010600030101010101" pitchFamily="2" charset="-122"/>
              </a:defRPr>
            </a:lvl4pPr>
            <a:lvl5pPr defTabSz="717550">
              <a:defRPr kumimoji="1" sz="2400">
                <a:solidFill>
                  <a:schemeClr val="tx1"/>
                </a:solidFill>
                <a:latin typeface="Times New Roman" panose="02020603050405020304" pitchFamily="18" charset="0"/>
                <a:ea typeface="宋体" panose="02010600030101010101" pitchFamily="2" charset="-122"/>
              </a:defRPr>
            </a:lvl5pPr>
            <a:lvl6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en-US" altLang="zh-CN" sz="1400" b="1" dirty="0">
                <a:solidFill>
                  <a:schemeClr val="accent1"/>
                </a:solidFill>
                <a:latin typeface="Arial" panose="020B0604020202020204" pitchFamily="34" charset="0"/>
                <a:cs typeface="Arial" panose="020B0604020202020204" pitchFamily="34" charset="0"/>
              </a:rPr>
              <a:t>MOV  AX  383</a:t>
            </a:r>
            <a:endParaRPr lang="en-US" altLang="zh-CN" sz="1400" b="1" dirty="0">
              <a:solidFill>
                <a:schemeClr val="accent1"/>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1"/>
                </a:solidFill>
                <a:latin typeface="Arial" panose="020B0604020202020204" pitchFamily="34" charset="0"/>
                <a:cs typeface="Arial" panose="020B0604020202020204" pitchFamily="34" charset="0"/>
              </a:rPr>
              <a:t>MOV  BX  545</a:t>
            </a:r>
            <a:endParaRPr lang="en-US" altLang="zh-CN" sz="1400" b="1" dirty="0">
              <a:solidFill>
                <a:schemeClr val="accent1"/>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1"/>
                </a:solidFill>
                <a:latin typeface="Arial" panose="020B0604020202020204" pitchFamily="34" charset="0"/>
                <a:cs typeface="Arial" panose="020B0604020202020204" pitchFamily="34" charset="0"/>
              </a:rPr>
              <a:t>ADD   BX  AX</a:t>
            </a:r>
            <a:endParaRPr lang="en-US" altLang="zh-CN" sz="1400" b="1" dirty="0">
              <a:solidFill>
                <a:schemeClr val="accent1"/>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1"/>
                </a:solidFill>
                <a:latin typeface="Arial" panose="020B0604020202020204" pitchFamily="34" charset="0"/>
                <a:cs typeface="Arial" panose="020B0604020202020204" pitchFamily="34" charset="0"/>
              </a:rPr>
              <a:t>MOV  AX  1055</a:t>
            </a:r>
            <a:endParaRPr lang="en-US" altLang="zh-CN" sz="1400" b="1" dirty="0">
              <a:solidFill>
                <a:schemeClr val="accent1"/>
              </a:solidFill>
              <a:latin typeface="Arial" panose="020B0604020202020204" pitchFamily="34" charset="0"/>
              <a:cs typeface="Arial" panose="020B0604020202020204" pitchFamily="34" charset="0"/>
            </a:endParaRPr>
          </a:p>
          <a:p>
            <a:pPr algn="just">
              <a:lnSpc>
                <a:spcPct val="110000"/>
              </a:lnSpc>
            </a:pPr>
            <a:r>
              <a:rPr lang="en-US" altLang="zh-CN" sz="1400" b="1" dirty="0">
                <a:solidFill>
                  <a:schemeClr val="accent1"/>
                </a:solidFill>
                <a:latin typeface="Arial" panose="020B0604020202020204" pitchFamily="34" charset="0"/>
                <a:cs typeface="Arial" panose="020B0604020202020204" pitchFamily="34" charset="0"/>
              </a:rPr>
              <a:t>SUB    AX  BX</a:t>
            </a:r>
            <a:endParaRPr lang="en-US" altLang="zh-CN" sz="1400" b="1" dirty="0">
              <a:solidFill>
                <a:schemeClr val="accent1"/>
              </a:solidFill>
              <a:latin typeface="Arial" panose="020B0604020202020204" pitchFamily="34" charset="0"/>
              <a:cs typeface="Arial" panose="020B0604020202020204" pitchFamily="34" charset="0"/>
            </a:endParaRPr>
          </a:p>
        </p:txBody>
      </p:sp>
      <p:sp>
        <p:nvSpPr>
          <p:cNvPr id="33" name="Rectangle 14"/>
          <p:cNvSpPr>
            <a:spLocks noChangeArrowheads="1"/>
          </p:cNvSpPr>
          <p:nvPr/>
        </p:nvSpPr>
        <p:spPr bwMode="auto">
          <a:xfrm>
            <a:off x="7857490" y="4966335"/>
            <a:ext cx="2160270" cy="1301115"/>
          </a:xfrm>
          <a:prstGeom prst="rect">
            <a:avLst/>
          </a:prstGeom>
          <a:solidFill>
            <a:schemeClr val="accent4">
              <a:lumMod val="40000"/>
              <a:lumOff val="60000"/>
            </a:schemeClr>
          </a:solidFill>
          <a:ln w="9525">
            <a:noFill/>
            <a:miter lim="800000"/>
          </a:ln>
        </p:spPr>
        <p:txBody>
          <a:bodyPr anchor="ctr"/>
          <a:lstStyle>
            <a:lvl1pPr defTabSz="717550">
              <a:defRPr kumimoji="1" sz="2400">
                <a:solidFill>
                  <a:schemeClr val="tx1"/>
                </a:solidFill>
                <a:latin typeface="Times New Roman" panose="02020603050405020304" pitchFamily="18" charset="0"/>
                <a:ea typeface="宋体" panose="02010600030101010101" pitchFamily="2" charset="-122"/>
              </a:defRPr>
            </a:lvl1pPr>
            <a:lvl2pPr defTabSz="717550">
              <a:defRPr kumimoji="1" sz="2400">
                <a:solidFill>
                  <a:schemeClr val="tx1"/>
                </a:solidFill>
                <a:latin typeface="Times New Roman" panose="02020603050405020304" pitchFamily="18" charset="0"/>
                <a:ea typeface="宋体" panose="02010600030101010101" pitchFamily="2" charset="-122"/>
              </a:defRPr>
            </a:lvl2pPr>
            <a:lvl3pPr defTabSz="717550">
              <a:defRPr kumimoji="1" sz="2400">
                <a:solidFill>
                  <a:schemeClr val="tx1"/>
                </a:solidFill>
                <a:latin typeface="Times New Roman" panose="02020603050405020304" pitchFamily="18" charset="0"/>
                <a:ea typeface="宋体" panose="02010600030101010101" pitchFamily="2" charset="-122"/>
              </a:defRPr>
            </a:lvl3pPr>
            <a:lvl4pPr defTabSz="717550">
              <a:defRPr kumimoji="1" sz="2400">
                <a:solidFill>
                  <a:schemeClr val="tx1"/>
                </a:solidFill>
                <a:latin typeface="Times New Roman" panose="02020603050405020304" pitchFamily="18" charset="0"/>
                <a:ea typeface="宋体" panose="02010600030101010101" pitchFamily="2" charset="-122"/>
              </a:defRPr>
            </a:lvl4pPr>
            <a:lvl5pPr defTabSz="717550">
              <a:defRPr kumimoji="1" sz="2400">
                <a:solidFill>
                  <a:schemeClr val="tx1"/>
                </a:solidFill>
                <a:latin typeface="Times New Roman" panose="02020603050405020304" pitchFamily="18" charset="0"/>
                <a:ea typeface="宋体" panose="02010600030101010101" pitchFamily="2" charset="-122"/>
              </a:defRPr>
            </a:lvl5pPr>
            <a:lvl6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10000"/>
              </a:lnSpc>
            </a:pPr>
            <a:r>
              <a:rPr lang="en-US" altLang="zh-CN" sz="1600" b="1" dirty="0">
                <a:solidFill>
                  <a:schemeClr val="accent1"/>
                </a:solidFill>
                <a:latin typeface="Arial" panose="020B0604020202020204" pitchFamily="34" charset="0"/>
                <a:cs typeface="Arial" panose="020B0604020202020204" pitchFamily="34" charset="0"/>
              </a:rPr>
              <a:t>S=1055-(383+545)</a:t>
            </a:r>
            <a:endParaRPr lang="en-US" altLang="zh-CN" sz="1600" b="1" dirty="0">
              <a:solidFill>
                <a:schemeClr val="accent1"/>
              </a:solidFill>
              <a:latin typeface="Arial" panose="020B0604020202020204" pitchFamily="34" charset="0"/>
              <a:cs typeface="Arial" panose="020B0604020202020204" pitchFamily="34" charset="0"/>
            </a:endParaRPr>
          </a:p>
        </p:txBody>
      </p:sp>
      <p:grpSp>
        <p:nvGrpSpPr>
          <p:cNvPr id="36" name="组合 35"/>
          <p:cNvGrpSpPr/>
          <p:nvPr/>
        </p:nvGrpSpPr>
        <p:grpSpPr>
          <a:xfrm>
            <a:off x="1881891" y="1642887"/>
            <a:ext cx="2160000" cy="96639"/>
            <a:chOff x="1797436" y="2162952"/>
            <a:chExt cx="2160000" cy="96639"/>
          </a:xfrm>
        </p:grpSpPr>
        <p:sp>
          <p:nvSpPr>
            <p:cNvPr id="35" name="矩形 34"/>
            <p:cNvSpPr/>
            <p:nvPr/>
          </p:nvSpPr>
          <p:spPr>
            <a:xfrm>
              <a:off x="1797436" y="2162952"/>
              <a:ext cx="1313512" cy="966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连接符 33"/>
            <p:cNvCxnSpPr/>
            <p:nvPr/>
          </p:nvCxnSpPr>
          <p:spPr>
            <a:xfrm>
              <a:off x="1797436" y="2162952"/>
              <a:ext cx="216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5015759" y="1594774"/>
            <a:ext cx="2160000" cy="96639"/>
            <a:chOff x="1797436" y="2162952"/>
            <a:chExt cx="2160000" cy="96639"/>
          </a:xfrm>
        </p:grpSpPr>
        <p:sp>
          <p:nvSpPr>
            <p:cNvPr id="38" name="矩形 37"/>
            <p:cNvSpPr/>
            <p:nvPr/>
          </p:nvSpPr>
          <p:spPr>
            <a:xfrm>
              <a:off x="1797436" y="2162952"/>
              <a:ext cx="1313512" cy="966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p:nvPr/>
          </p:nvCxnSpPr>
          <p:spPr>
            <a:xfrm>
              <a:off x="1797436" y="2162952"/>
              <a:ext cx="216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40" name="组合 39"/>
          <p:cNvGrpSpPr/>
          <p:nvPr/>
        </p:nvGrpSpPr>
        <p:grpSpPr>
          <a:xfrm>
            <a:off x="7955893" y="1594627"/>
            <a:ext cx="2160000" cy="96639"/>
            <a:chOff x="1797436" y="2162952"/>
            <a:chExt cx="2160000" cy="96639"/>
          </a:xfrm>
        </p:grpSpPr>
        <p:sp>
          <p:nvSpPr>
            <p:cNvPr id="41" name="矩形 40"/>
            <p:cNvSpPr/>
            <p:nvPr/>
          </p:nvSpPr>
          <p:spPr>
            <a:xfrm>
              <a:off x="1797436" y="2162952"/>
              <a:ext cx="1313512" cy="966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2" name="直接连接符 41"/>
            <p:cNvCxnSpPr/>
            <p:nvPr/>
          </p:nvCxnSpPr>
          <p:spPr>
            <a:xfrm>
              <a:off x="1797436" y="2162952"/>
              <a:ext cx="2160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left)">
                                      <p:cBhvr>
                                        <p:cTn id="7" dur="750"/>
                                        <p:tgtEl>
                                          <p:spTgt spid="25"/>
                                        </p:tgtEl>
                                      </p:cBhvr>
                                    </p:animEffect>
                                  </p:childTnLst>
                                </p:cTn>
                              </p:par>
                              <p:par>
                                <p:cTn id="8" presetID="22" presetClass="entr" presetSubtype="8" fill="hold" nodeType="withEffect">
                                  <p:stCondLst>
                                    <p:cond delay="25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1000"/>
                                        <p:tgtEl>
                                          <p:spTgt spid="36"/>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27"/>
                                        </p:tgtEl>
                                        <p:attrNameLst>
                                          <p:attrName>style.visibility</p:attrName>
                                        </p:attrNameLst>
                                      </p:cBhvr>
                                      <p:to>
                                        <p:strVal val="visible"/>
                                      </p:to>
                                    </p:set>
                                    <p:animEffect transition="in" filter="wipe(left)">
                                      <p:cBhvr>
                                        <p:cTn id="14" dur="750"/>
                                        <p:tgtEl>
                                          <p:spTgt spid="27"/>
                                        </p:tgtEl>
                                      </p:cBhvr>
                                    </p:animEffect>
                                  </p:childTnLst>
                                </p:cTn>
                              </p:par>
                              <p:par>
                                <p:cTn id="15" presetID="22" presetClass="entr" presetSubtype="8" fill="hold" nodeType="withEffect">
                                  <p:stCondLst>
                                    <p:cond delay="250"/>
                                  </p:stCondLst>
                                  <p:childTnLst>
                                    <p:set>
                                      <p:cBhvr>
                                        <p:cTn id="16" dur="1" fill="hold">
                                          <p:stCondLst>
                                            <p:cond delay="0"/>
                                          </p:stCondLst>
                                        </p:cTn>
                                        <p:tgtEl>
                                          <p:spTgt spid="37"/>
                                        </p:tgtEl>
                                        <p:attrNameLst>
                                          <p:attrName>style.visibility</p:attrName>
                                        </p:attrNameLst>
                                      </p:cBhvr>
                                      <p:to>
                                        <p:strVal val="visible"/>
                                      </p:to>
                                    </p:set>
                                    <p:animEffect transition="in" filter="wipe(left)">
                                      <p:cBhvr>
                                        <p:cTn id="17" dur="1000"/>
                                        <p:tgtEl>
                                          <p:spTgt spid="37"/>
                                        </p:tgtEl>
                                      </p:cBhvr>
                                    </p:animEffect>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29"/>
                                        </p:tgtEl>
                                        <p:attrNameLst>
                                          <p:attrName>style.visibility</p:attrName>
                                        </p:attrNameLst>
                                      </p:cBhvr>
                                      <p:to>
                                        <p:strVal val="visible"/>
                                      </p:to>
                                    </p:set>
                                    <p:animEffect transition="in" filter="wipe(left)">
                                      <p:cBhvr>
                                        <p:cTn id="21" dur="750"/>
                                        <p:tgtEl>
                                          <p:spTgt spid="29"/>
                                        </p:tgtEl>
                                      </p:cBhvr>
                                    </p:animEffect>
                                  </p:childTnLst>
                                </p:cTn>
                              </p:par>
                              <p:par>
                                <p:cTn id="22" presetID="22" presetClass="entr" presetSubtype="8" fill="hold" nodeType="withEffect">
                                  <p:stCondLst>
                                    <p:cond delay="250"/>
                                  </p:stCondLst>
                                  <p:childTnLst>
                                    <p:set>
                                      <p:cBhvr>
                                        <p:cTn id="23" dur="1" fill="hold">
                                          <p:stCondLst>
                                            <p:cond delay="0"/>
                                          </p:stCondLst>
                                        </p:cTn>
                                        <p:tgtEl>
                                          <p:spTgt spid="40"/>
                                        </p:tgtEl>
                                        <p:attrNameLst>
                                          <p:attrName>style.visibility</p:attrName>
                                        </p:attrNameLst>
                                      </p:cBhvr>
                                      <p:to>
                                        <p:strVal val="visible"/>
                                      </p:to>
                                    </p:set>
                                    <p:animEffect transition="in" filter="wipe(left)">
                                      <p:cBhvr>
                                        <p:cTn id="24" dur="1000"/>
                                        <p:tgtEl>
                                          <p:spTgt spid="4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wipe(up)">
                                      <p:cBhvr>
                                        <p:cTn id="29" dur="1000"/>
                                        <p:tgtEl>
                                          <p:spTgt spid="26"/>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anim calcmode="lin" valueType="num">
                                      <p:cBhvr>
                                        <p:cTn id="35" dur="500" fill="hold"/>
                                        <p:tgtEl>
                                          <p:spTgt spid="31"/>
                                        </p:tgtEl>
                                        <p:attrNameLst>
                                          <p:attrName>ppt_x</p:attrName>
                                        </p:attrNameLst>
                                      </p:cBhvr>
                                      <p:tavLst>
                                        <p:tav tm="0">
                                          <p:val>
                                            <p:strVal val="#ppt_x"/>
                                          </p:val>
                                        </p:tav>
                                        <p:tav tm="100000">
                                          <p:val>
                                            <p:strVal val="#ppt_x"/>
                                          </p:val>
                                        </p:tav>
                                      </p:tavLst>
                                    </p:anim>
                                    <p:anim calcmode="lin" valueType="num">
                                      <p:cBhvr>
                                        <p:cTn id="36" dur="5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up)">
                                      <p:cBhvr>
                                        <p:cTn id="41" dur="10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anim calcmode="lin" valueType="num">
                                      <p:cBhvr>
                                        <p:cTn id="47" dur="500" fill="hold"/>
                                        <p:tgtEl>
                                          <p:spTgt spid="32"/>
                                        </p:tgtEl>
                                        <p:attrNameLst>
                                          <p:attrName>ppt_x</p:attrName>
                                        </p:attrNameLst>
                                      </p:cBhvr>
                                      <p:tavLst>
                                        <p:tav tm="0">
                                          <p:val>
                                            <p:strVal val="#ppt_x"/>
                                          </p:val>
                                        </p:tav>
                                        <p:tav tm="100000">
                                          <p:val>
                                            <p:strVal val="#ppt_x"/>
                                          </p:val>
                                        </p:tav>
                                      </p:tavLst>
                                    </p:anim>
                                    <p:anim calcmode="lin" valueType="num">
                                      <p:cBhvr>
                                        <p:cTn id="48" dur="5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wipe(up)">
                                      <p:cBhvr>
                                        <p:cTn id="53" dur="1000"/>
                                        <p:tgtEl>
                                          <p:spTgt spid="30"/>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500"/>
                                        <p:tgtEl>
                                          <p:spTgt spid="33"/>
                                        </p:tgtEl>
                                      </p:cBhvr>
                                    </p:animEffect>
                                    <p:anim calcmode="lin" valueType="num">
                                      <p:cBhvr>
                                        <p:cTn id="59" dur="500" fill="hold"/>
                                        <p:tgtEl>
                                          <p:spTgt spid="33"/>
                                        </p:tgtEl>
                                        <p:attrNameLst>
                                          <p:attrName>ppt_x</p:attrName>
                                        </p:attrNameLst>
                                      </p:cBhvr>
                                      <p:tavLst>
                                        <p:tav tm="0">
                                          <p:val>
                                            <p:strVal val="#ppt_x"/>
                                          </p:val>
                                        </p:tav>
                                        <p:tav tm="100000">
                                          <p:val>
                                            <p:strVal val="#ppt_x"/>
                                          </p:val>
                                        </p:tav>
                                      </p:tavLst>
                                    </p:anim>
                                    <p:anim calcmode="lin" valueType="num">
                                      <p:cBhvr>
                                        <p:cTn id="60" dur="5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29" grpId="0"/>
      <p:bldP spid="30" grpId="0"/>
      <p:bldP spid="31" grpId="0" bldLvl="0" animBg="1"/>
      <p:bldP spid="32" grpId="0" bldLvl="0" animBg="1"/>
      <p:bldP spid="3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000" b="1" dirty="0"/>
              <a:t>高级语言的发展</a:t>
            </a:r>
            <a:endParaRPr lang="zh-CN" altLang="en-US" sz="4000" b="1" dirty="0"/>
          </a:p>
        </p:txBody>
      </p:sp>
      <p:sp>
        <p:nvSpPr>
          <p:cNvPr id="5" name="MH_Other_1"/>
          <p:cNvSpPr/>
          <p:nvPr>
            <p:custDataLst>
              <p:tags r:id="rId1"/>
            </p:custDataLst>
          </p:nvPr>
        </p:nvSpPr>
        <p:spPr>
          <a:xfrm flipH="1" flipV="1">
            <a:off x="4525273" y="3786532"/>
            <a:ext cx="1262062" cy="579438"/>
          </a:xfrm>
          <a:prstGeom prst="bentArrow">
            <a:avLst>
              <a:gd name="adj1" fmla="val 14574"/>
              <a:gd name="adj2" fmla="val 17832"/>
              <a:gd name="adj3" fmla="val 22629"/>
              <a:gd name="adj4" fmla="val 43750"/>
            </a:avLst>
          </a:prstGeom>
          <a:solidFill>
            <a:srgbClr val="FFFFFF"/>
          </a:solidFill>
          <a:ln w="3175">
            <a:solidFill>
              <a:srgbClr val="EAEAEA"/>
            </a:solid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49" charset="-122"/>
            </a:endParaRPr>
          </a:p>
        </p:txBody>
      </p:sp>
      <p:sp>
        <p:nvSpPr>
          <p:cNvPr id="6" name="MH_Other_2"/>
          <p:cNvSpPr/>
          <p:nvPr>
            <p:custDataLst>
              <p:tags r:id="rId2"/>
            </p:custDataLst>
          </p:nvPr>
        </p:nvSpPr>
        <p:spPr>
          <a:xfrm flipV="1">
            <a:off x="3941073" y="2841970"/>
            <a:ext cx="1262062" cy="577850"/>
          </a:xfrm>
          <a:prstGeom prst="bentArrow">
            <a:avLst>
              <a:gd name="adj1" fmla="val 14574"/>
              <a:gd name="adj2" fmla="val 17832"/>
              <a:gd name="adj3" fmla="val 22629"/>
              <a:gd name="adj4" fmla="val 43750"/>
            </a:avLst>
          </a:prstGeom>
          <a:solidFill>
            <a:srgbClr val="FFFFFF"/>
          </a:solidFill>
          <a:ln w="3175">
            <a:solidFill>
              <a:srgbClr val="EAEAEA"/>
            </a:solidFill>
          </a:ln>
          <a:effectLst>
            <a:outerShdw dist="381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49" charset="-122"/>
            </a:endParaRPr>
          </a:p>
        </p:txBody>
      </p:sp>
      <p:grpSp>
        <p:nvGrpSpPr>
          <p:cNvPr id="3" name="组合 2"/>
          <p:cNvGrpSpPr/>
          <p:nvPr/>
        </p:nvGrpSpPr>
        <p:grpSpPr>
          <a:xfrm>
            <a:off x="3452123" y="1805333"/>
            <a:ext cx="1065212" cy="1065213"/>
            <a:chOff x="3452123" y="1805333"/>
            <a:chExt cx="1065212" cy="1065213"/>
          </a:xfrm>
        </p:grpSpPr>
        <p:sp>
          <p:nvSpPr>
            <p:cNvPr id="4" name="MH_Other_5"/>
            <p:cNvSpPr/>
            <p:nvPr>
              <p:custDataLst>
                <p:tags r:id="rId3"/>
              </p:custDataLst>
            </p:nvPr>
          </p:nvSpPr>
          <p:spPr>
            <a:xfrm>
              <a:off x="3452123" y="1805333"/>
              <a:ext cx="1065212" cy="1065213"/>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49" charset="-122"/>
              </a:endParaRPr>
            </a:p>
          </p:txBody>
        </p:sp>
        <p:sp>
          <p:nvSpPr>
            <p:cNvPr id="8" name="MH_Other_4"/>
            <p:cNvSpPr/>
            <p:nvPr>
              <p:custDataLst>
                <p:tags r:id="rId4"/>
              </p:custDataLst>
            </p:nvPr>
          </p:nvSpPr>
          <p:spPr>
            <a:xfrm>
              <a:off x="3546255" y="1902488"/>
              <a:ext cx="877670" cy="877671"/>
            </a:xfrm>
            <a:prstGeom prst="ellipse">
              <a:avLst/>
            </a:prstGeom>
            <a:solidFill>
              <a:schemeClr val="accent2"/>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dirty="0">
                  <a:solidFill>
                    <a:srgbClr val="FFFFFF"/>
                  </a:solidFill>
                  <a:latin typeface="Agency FB" panose="020B0503020202020204" pitchFamily="34" charset="0"/>
                  <a:ea typeface="黑体" panose="02010609060101010101" pitchFamily="49" charset="-122"/>
                </a:rPr>
                <a:t>01</a:t>
              </a:r>
              <a:endParaRPr lang="zh-CN" altLang="en-US" sz="3600" b="1" dirty="0">
                <a:solidFill>
                  <a:srgbClr val="FFFFFF"/>
                </a:solidFill>
                <a:latin typeface="Agency FB" panose="020B0503020202020204" pitchFamily="34" charset="0"/>
                <a:ea typeface="黑体" panose="02010609060101010101" pitchFamily="49" charset="-122"/>
              </a:endParaRPr>
            </a:p>
          </p:txBody>
        </p:sp>
      </p:grpSp>
      <p:grpSp>
        <p:nvGrpSpPr>
          <p:cNvPr id="16" name="组合 15"/>
          <p:cNvGrpSpPr/>
          <p:nvPr/>
        </p:nvGrpSpPr>
        <p:grpSpPr>
          <a:xfrm>
            <a:off x="5203135" y="2759420"/>
            <a:ext cx="1066800" cy="1066800"/>
            <a:chOff x="5203135" y="2759420"/>
            <a:chExt cx="1066800" cy="1066800"/>
          </a:xfrm>
        </p:grpSpPr>
        <p:sp>
          <p:nvSpPr>
            <p:cNvPr id="7" name="MH_Other_3"/>
            <p:cNvSpPr/>
            <p:nvPr>
              <p:custDataLst>
                <p:tags r:id="rId5"/>
              </p:custDataLst>
            </p:nvPr>
          </p:nvSpPr>
          <p:spPr>
            <a:xfrm>
              <a:off x="5203135" y="2759420"/>
              <a:ext cx="1066800" cy="1066800"/>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49" charset="-122"/>
              </a:endParaRPr>
            </a:p>
          </p:txBody>
        </p:sp>
        <p:sp>
          <p:nvSpPr>
            <p:cNvPr id="9" name="MH_Other_6"/>
            <p:cNvSpPr/>
            <p:nvPr>
              <p:custDataLst>
                <p:tags r:id="rId6"/>
              </p:custDataLst>
            </p:nvPr>
          </p:nvSpPr>
          <p:spPr>
            <a:xfrm>
              <a:off x="5308128" y="2870546"/>
              <a:ext cx="877670" cy="877671"/>
            </a:xfrm>
            <a:prstGeom prst="ellipse">
              <a:avLst/>
            </a:prstGeom>
            <a:solidFill>
              <a:schemeClr val="accent1"/>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dirty="0">
                  <a:solidFill>
                    <a:srgbClr val="FFFFFF"/>
                  </a:solidFill>
                  <a:latin typeface="Agency FB" panose="020B0503020202020204" pitchFamily="34" charset="0"/>
                  <a:ea typeface="黑体" panose="02010609060101010101" pitchFamily="49" charset="-122"/>
                </a:rPr>
                <a:t>02</a:t>
              </a:r>
              <a:endParaRPr lang="zh-CN" altLang="en-US" sz="3600" b="1" dirty="0">
                <a:solidFill>
                  <a:srgbClr val="FFFFFF"/>
                </a:solidFill>
                <a:latin typeface="Agency FB" panose="020B0503020202020204" pitchFamily="34" charset="0"/>
                <a:ea typeface="黑体" panose="02010609060101010101" pitchFamily="49" charset="-122"/>
              </a:endParaRPr>
            </a:p>
          </p:txBody>
        </p:sp>
      </p:grpSp>
      <p:grpSp>
        <p:nvGrpSpPr>
          <p:cNvPr id="17" name="组合 16"/>
          <p:cNvGrpSpPr/>
          <p:nvPr/>
        </p:nvGrpSpPr>
        <p:grpSpPr>
          <a:xfrm>
            <a:off x="3458473" y="3715095"/>
            <a:ext cx="1066800" cy="1066800"/>
            <a:chOff x="3458473" y="3715095"/>
            <a:chExt cx="1066800" cy="1066800"/>
          </a:xfrm>
        </p:grpSpPr>
        <p:sp>
          <p:nvSpPr>
            <p:cNvPr id="10" name="MH_Other_7"/>
            <p:cNvSpPr/>
            <p:nvPr>
              <p:custDataLst>
                <p:tags r:id="rId7"/>
              </p:custDataLst>
            </p:nvPr>
          </p:nvSpPr>
          <p:spPr>
            <a:xfrm flipH="1">
              <a:off x="3458473" y="3715095"/>
              <a:ext cx="1066800" cy="1066800"/>
            </a:xfrm>
            <a:prstGeom prst="ellipse">
              <a:avLst/>
            </a:prstGeom>
            <a:solidFill>
              <a:srgbClr val="FFFFFF"/>
            </a:solidFill>
            <a:ln w="3175">
              <a:solidFill>
                <a:srgbClr val="DDDDDD"/>
              </a:solidFill>
            </a:ln>
            <a:effectLst>
              <a:outerShdw dist="381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Arial" panose="020B0604020202020204" pitchFamily="34" charset="0"/>
                <a:ea typeface="黑体" panose="02010609060101010101" pitchFamily="49" charset="-122"/>
              </a:endParaRPr>
            </a:p>
          </p:txBody>
        </p:sp>
        <p:sp>
          <p:nvSpPr>
            <p:cNvPr id="11" name="MH_Other_8"/>
            <p:cNvSpPr/>
            <p:nvPr>
              <p:custDataLst>
                <p:tags r:id="rId8"/>
              </p:custDataLst>
            </p:nvPr>
          </p:nvSpPr>
          <p:spPr>
            <a:xfrm>
              <a:off x="3553402" y="3809622"/>
              <a:ext cx="877670" cy="877671"/>
            </a:xfrm>
            <a:prstGeom prst="ellipse">
              <a:avLst/>
            </a:prstGeom>
            <a:solidFill>
              <a:schemeClr val="accent3"/>
            </a:solidFill>
            <a:ln>
              <a:noFill/>
            </a:ln>
            <a:effectLst>
              <a:innerShdw dist="76200" dir="13500000">
                <a:prstClr val="black">
                  <a:alpha val="12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sz="3600" b="1">
                  <a:solidFill>
                    <a:srgbClr val="FFFFFF"/>
                  </a:solidFill>
                  <a:latin typeface="Agency FB" panose="020B0503020202020204" pitchFamily="34" charset="0"/>
                  <a:ea typeface="黑体" panose="02010609060101010101" pitchFamily="49" charset="-122"/>
                </a:rPr>
                <a:t>03</a:t>
              </a:r>
              <a:endParaRPr lang="zh-CN" altLang="en-US" sz="3600" b="1">
                <a:solidFill>
                  <a:srgbClr val="FFFFFF"/>
                </a:solidFill>
                <a:latin typeface="Agency FB" panose="020B0503020202020204" pitchFamily="34" charset="0"/>
                <a:ea typeface="黑体" panose="02010609060101010101" pitchFamily="49" charset="-122"/>
              </a:endParaRPr>
            </a:p>
          </p:txBody>
        </p:sp>
      </p:grpSp>
      <p:sp>
        <p:nvSpPr>
          <p:cNvPr id="12" name="MH_SubTitle_1"/>
          <p:cNvSpPr>
            <a:spLocks noChangeArrowheads="1"/>
          </p:cNvSpPr>
          <p:nvPr>
            <p:custDataLst>
              <p:tags r:id="rId9"/>
            </p:custDataLst>
          </p:nvPr>
        </p:nvSpPr>
        <p:spPr bwMode="auto">
          <a:xfrm flipH="1">
            <a:off x="573985" y="2165696"/>
            <a:ext cx="2782888"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zh-CN" altLang="en-US" sz="2400" b="1" dirty="0">
                <a:solidFill>
                  <a:schemeClr val="accent1"/>
                </a:solidFill>
                <a:latin typeface="微软雅黑" panose="020B0503020204020204" pitchFamily="34" charset="-122"/>
                <a:ea typeface="微软雅黑" panose="020B0503020204020204" pitchFamily="34" charset="-122"/>
              </a:rPr>
              <a:t>非结构化的语言</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3" name="MH_Text_2"/>
          <p:cNvSpPr/>
          <p:nvPr>
            <p:custDataLst>
              <p:tags r:id="rId10"/>
            </p:custDataLst>
          </p:nvPr>
        </p:nvSpPr>
        <p:spPr>
          <a:xfrm>
            <a:off x="6426835" y="3521710"/>
            <a:ext cx="4813935" cy="2686050"/>
          </a:xfrm>
          <a:prstGeom prst="rect">
            <a:avLst/>
          </a:prstGeom>
        </p:spPr>
        <p:txBody>
          <a:bodyPr/>
          <a:lstStyle/>
          <a:p>
            <a:pPr>
              <a:lnSpc>
                <a:spcPct val="130000"/>
              </a:lnSpc>
              <a:defRPr/>
            </a:pPr>
            <a:r>
              <a:rPr lang="zh-CN" altLang="en-US" b="1" dirty="0">
                <a:solidFill>
                  <a:schemeClr val="tx1">
                    <a:lumMod val="65000"/>
                    <a:lumOff val="35000"/>
                  </a:schemeClr>
                </a:solidFill>
              </a:rPr>
              <a:t>规定：</a:t>
            </a:r>
            <a:endParaRPr lang="en-US" altLang="zh-CN" b="1" dirty="0">
              <a:solidFill>
                <a:schemeClr val="tx1">
                  <a:lumMod val="65000"/>
                  <a:lumOff val="35000"/>
                </a:schemeClr>
              </a:solidFill>
            </a:endParaRPr>
          </a:p>
          <a:p>
            <a:pPr>
              <a:lnSpc>
                <a:spcPct val="130000"/>
              </a:lnSpc>
              <a:defRPr/>
            </a:pPr>
            <a:r>
              <a:rPr lang="zh-CN" altLang="en-US" b="1" dirty="0">
                <a:solidFill>
                  <a:schemeClr val="tx1">
                    <a:lumMod val="65000"/>
                    <a:lumOff val="35000"/>
                  </a:schemeClr>
                </a:solidFill>
              </a:rPr>
              <a:t>程序必须由具有良好特性的基本结构</a:t>
            </a:r>
            <a:r>
              <a:rPr lang="en-US" altLang="zh-CN" b="1" dirty="0">
                <a:solidFill>
                  <a:schemeClr val="tx1">
                    <a:lumMod val="65000"/>
                    <a:lumOff val="35000"/>
                  </a:schemeClr>
                </a:solidFill>
              </a:rPr>
              <a:t>(</a:t>
            </a:r>
            <a:r>
              <a:rPr lang="zh-CN" altLang="en-US" b="1" dirty="0">
                <a:solidFill>
                  <a:schemeClr val="tx1">
                    <a:lumMod val="65000"/>
                    <a:lumOff val="35000"/>
                  </a:schemeClr>
                </a:solidFill>
              </a:rPr>
              <a:t>顺序结构、选择结构、循环结构</a:t>
            </a:r>
            <a:r>
              <a:rPr lang="en-US" altLang="zh-CN" b="1" dirty="0">
                <a:solidFill>
                  <a:schemeClr val="tx1">
                    <a:lumMod val="65000"/>
                    <a:lumOff val="35000"/>
                  </a:schemeClr>
                </a:solidFill>
              </a:rPr>
              <a:t>)</a:t>
            </a:r>
            <a:r>
              <a:rPr lang="zh-CN" altLang="en-US" b="1" dirty="0">
                <a:solidFill>
                  <a:schemeClr val="tx1">
                    <a:lumMod val="65000"/>
                    <a:lumOff val="35000"/>
                  </a:schemeClr>
                </a:solidFill>
              </a:rPr>
              <a:t>构成，程序中的流程不允许随意跳转，程序总是由上而下顺序执行各个基本结构。</a:t>
            </a:r>
            <a:endParaRPr lang="en-US" altLang="zh-CN" b="1" dirty="0">
              <a:solidFill>
                <a:schemeClr val="tx1">
                  <a:lumMod val="65000"/>
                  <a:lumOff val="35000"/>
                </a:schemeClr>
              </a:solidFill>
            </a:endParaRPr>
          </a:p>
          <a:p>
            <a:pPr>
              <a:lnSpc>
                <a:spcPct val="130000"/>
              </a:lnSpc>
              <a:defRPr/>
            </a:pPr>
            <a:r>
              <a:rPr lang="zh-CN" altLang="en-US" b="1" dirty="0">
                <a:solidFill>
                  <a:schemeClr val="tx1">
                    <a:lumMod val="65000"/>
                    <a:lumOff val="35000"/>
                  </a:schemeClr>
                </a:solidFill>
              </a:rPr>
              <a:t>特点：</a:t>
            </a:r>
            <a:endParaRPr lang="en-US" altLang="zh-CN" b="1" dirty="0">
              <a:solidFill>
                <a:schemeClr val="tx1">
                  <a:lumMod val="65000"/>
                  <a:lumOff val="35000"/>
                </a:schemeClr>
              </a:solidFill>
            </a:endParaRPr>
          </a:p>
          <a:p>
            <a:pPr>
              <a:lnSpc>
                <a:spcPct val="130000"/>
              </a:lnSpc>
              <a:defRPr/>
            </a:pPr>
            <a:r>
              <a:rPr lang="zh-CN" altLang="en-US" b="1" dirty="0">
                <a:solidFill>
                  <a:schemeClr val="tx1">
                    <a:lumMod val="65000"/>
                    <a:lumOff val="35000"/>
                  </a:schemeClr>
                </a:solidFill>
              </a:rPr>
              <a:t>程序结构清晰，易于编写、阅读和维护。</a:t>
            </a:r>
            <a:endParaRPr lang="zh-CN" altLang="en-US" b="1" dirty="0">
              <a:solidFill>
                <a:schemeClr val="tx1">
                  <a:lumMod val="65000"/>
                  <a:lumOff val="35000"/>
                </a:schemeClr>
              </a:solidFill>
            </a:endParaRPr>
          </a:p>
        </p:txBody>
      </p:sp>
      <p:sp>
        <p:nvSpPr>
          <p:cNvPr id="14" name="MH_SubTitle_3"/>
          <p:cNvSpPr>
            <a:spLocks noChangeArrowheads="1"/>
          </p:cNvSpPr>
          <p:nvPr>
            <p:custDataLst>
              <p:tags r:id="rId11"/>
            </p:custDataLst>
          </p:nvPr>
        </p:nvSpPr>
        <p:spPr bwMode="auto">
          <a:xfrm flipH="1">
            <a:off x="615261" y="4040533"/>
            <a:ext cx="27844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r" eaLnBrk="1" hangingPunct="1"/>
            <a:r>
              <a:rPr lang="zh-CN" altLang="en-US" sz="2400" b="1" dirty="0">
                <a:solidFill>
                  <a:schemeClr val="accent1"/>
                </a:solidFill>
                <a:latin typeface="微软雅黑" panose="020B0503020204020204" pitchFamily="34" charset="-122"/>
                <a:ea typeface="微软雅黑" panose="020B0503020204020204" pitchFamily="34" charset="-122"/>
              </a:rPr>
              <a:t>面向对象的语言</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5" name="MH_SubTitle_2"/>
          <p:cNvSpPr>
            <a:spLocks noChangeArrowheads="1"/>
          </p:cNvSpPr>
          <p:nvPr>
            <p:custDataLst>
              <p:tags r:id="rId12"/>
            </p:custDataLst>
          </p:nvPr>
        </p:nvSpPr>
        <p:spPr bwMode="auto">
          <a:xfrm>
            <a:off x="6427098" y="3095971"/>
            <a:ext cx="2781300"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chemeClr val="accent1"/>
                </a:solidFill>
                <a:latin typeface="微软雅黑" panose="020B0503020204020204" pitchFamily="34" charset="-122"/>
                <a:ea typeface="微软雅黑" panose="020B0503020204020204" pitchFamily="34" charset="-122"/>
              </a:rPr>
              <a:t>结构化语言</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par>
                                <p:cTn id="8" presetID="50" presetClass="entr" presetSubtype="0" decel="10000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 calcmode="lin" valueType="num">
                                      <p:cBhvr>
                                        <p:cTn id="10" dur="500" fill="hold"/>
                                        <p:tgtEl>
                                          <p:spTgt spid="12"/>
                                        </p:tgtEl>
                                        <p:attrNameLst>
                                          <p:attrName>ppt_w</p:attrName>
                                        </p:attrNameLst>
                                      </p:cBhvr>
                                      <p:tavLst>
                                        <p:tav tm="0">
                                          <p:val>
                                            <p:strVal val="#ppt_w+.3"/>
                                          </p:val>
                                        </p:tav>
                                        <p:tav tm="100000">
                                          <p:val>
                                            <p:strVal val="#ppt_w"/>
                                          </p:val>
                                        </p:tav>
                                      </p:tavLst>
                                    </p:anim>
                                    <p:anim calcmode="lin" valueType="num">
                                      <p:cBhvr>
                                        <p:cTn id="11" dur="500" fill="hold"/>
                                        <p:tgtEl>
                                          <p:spTgt spid="12"/>
                                        </p:tgtEl>
                                        <p:attrNameLst>
                                          <p:attrName>ppt_h</p:attrName>
                                        </p:attrNameLst>
                                      </p:cBhvr>
                                      <p:tavLst>
                                        <p:tav tm="0">
                                          <p:val>
                                            <p:strVal val="#ppt_h"/>
                                          </p:val>
                                        </p:tav>
                                        <p:tav tm="100000">
                                          <p:val>
                                            <p:strVal val="#ppt_h"/>
                                          </p:val>
                                        </p:tav>
                                      </p:tavLst>
                                    </p:anim>
                                    <p:animEffect transition="in" filter="fade">
                                      <p:cBhvr>
                                        <p:cTn id="12" dur="500"/>
                                        <p:tgtEl>
                                          <p:spTgt spid="12"/>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750"/>
                                        <p:tgtEl>
                                          <p:spTgt spid="6"/>
                                        </p:tgtEl>
                                      </p:cBhvr>
                                    </p:animEffect>
                                  </p:childTnLst>
                                </p:cTn>
                              </p:par>
                            </p:childTnLst>
                          </p:cTn>
                        </p:par>
                        <p:par>
                          <p:cTn id="17" fill="hold">
                            <p:stCondLst>
                              <p:cond delay="1500"/>
                            </p:stCondLst>
                            <p:childTnLst>
                              <p:par>
                                <p:cTn id="18" presetID="10" presetClass="entr" presetSubtype="0" fill="hold"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fade">
                                      <p:cBhvr>
                                        <p:cTn id="20" dur="250"/>
                                        <p:tgtEl>
                                          <p:spTgt spid="16"/>
                                        </p:tgtEl>
                                      </p:cBhvr>
                                    </p:animEffect>
                                  </p:childTnLst>
                                </p:cTn>
                              </p:par>
                              <p:par>
                                <p:cTn id="21" presetID="50" presetClass="entr" presetSubtype="0" decel="10000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p:cTn id="23" dur="500" fill="hold"/>
                                        <p:tgtEl>
                                          <p:spTgt spid="15"/>
                                        </p:tgtEl>
                                        <p:attrNameLst>
                                          <p:attrName>ppt_w</p:attrName>
                                        </p:attrNameLst>
                                      </p:cBhvr>
                                      <p:tavLst>
                                        <p:tav tm="0">
                                          <p:val>
                                            <p:strVal val="#ppt_w+.3"/>
                                          </p:val>
                                        </p:tav>
                                        <p:tav tm="100000">
                                          <p:val>
                                            <p:strVal val="#ppt_w"/>
                                          </p:val>
                                        </p:tav>
                                      </p:tavLst>
                                    </p:anim>
                                    <p:anim calcmode="lin" valueType="num">
                                      <p:cBhvr>
                                        <p:cTn id="24" dur="500" fill="hold"/>
                                        <p:tgtEl>
                                          <p:spTgt spid="15"/>
                                        </p:tgtEl>
                                        <p:attrNameLst>
                                          <p:attrName>ppt_h</p:attrName>
                                        </p:attrNameLst>
                                      </p:cBhvr>
                                      <p:tavLst>
                                        <p:tav tm="0">
                                          <p:val>
                                            <p:strVal val="#ppt_h"/>
                                          </p:val>
                                        </p:tav>
                                        <p:tav tm="100000">
                                          <p:val>
                                            <p:strVal val="#ppt_h"/>
                                          </p:val>
                                        </p:tav>
                                      </p:tavLst>
                                    </p:anim>
                                    <p:animEffect transition="in" filter="fade">
                                      <p:cBhvr>
                                        <p:cTn id="25" dur="500"/>
                                        <p:tgtEl>
                                          <p:spTgt spid="15"/>
                                        </p:tgtEl>
                                      </p:cBhvr>
                                    </p:animEffect>
                                  </p:childTnLst>
                                </p:cTn>
                              </p:par>
                            </p:childTnLst>
                          </p:cTn>
                        </p:par>
                        <p:par>
                          <p:cTn id="26" fill="hold">
                            <p:stCondLst>
                              <p:cond delay="2000"/>
                            </p:stCondLst>
                            <p:childTnLst>
                              <p:par>
                                <p:cTn id="27" presetID="22" presetClass="entr" presetSubtype="2" fill="hold" grpId="0"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right)">
                                      <p:cBhvr>
                                        <p:cTn id="29" dur="750"/>
                                        <p:tgtEl>
                                          <p:spTgt spid="5"/>
                                        </p:tgtEl>
                                      </p:cBhvr>
                                    </p:animEffect>
                                  </p:childTnLst>
                                </p:cTn>
                              </p:par>
                            </p:childTnLst>
                          </p:cTn>
                        </p:par>
                        <p:par>
                          <p:cTn id="30" fill="hold">
                            <p:stCondLst>
                              <p:cond delay="3000"/>
                            </p:stCondLst>
                            <p:childTnLst>
                              <p:par>
                                <p:cTn id="31" presetID="10" presetClass="entr" presetSubtype="0" fill="hold" nodeType="after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250"/>
                                        <p:tgtEl>
                                          <p:spTgt spid="17"/>
                                        </p:tgtEl>
                                      </p:cBhvr>
                                    </p:animEffect>
                                  </p:childTnLst>
                                </p:cTn>
                              </p:par>
                              <p:par>
                                <p:cTn id="34" presetID="50" presetClass="entr" presetSubtype="0" decel="10000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strVal val="#ppt_w+.3"/>
                                          </p:val>
                                        </p:tav>
                                        <p:tav tm="100000">
                                          <p:val>
                                            <p:strVal val="#ppt_w"/>
                                          </p:val>
                                        </p:tav>
                                      </p:tavLst>
                                    </p:anim>
                                    <p:anim calcmode="lin" valueType="num">
                                      <p:cBhvr>
                                        <p:cTn id="37" dur="500" fill="hold"/>
                                        <p:tgtEl>
                                          <p:spTgt spid="14"/>
                                        </p:tgtEl>
                                        <p:attrNameLst>
                                          <p:attrName>ppt_h</p:attrName>
                                        </p:attrNameLst>
                                      </p:cBhvr>
                                      <p:tavLst>
                                        <p:tav tm="0">
                                          <p:val>
                                            <p:strVal val="#ppt_h"/>
                                          </p:val>
                                        </p:tav>
                                        <p:tav tm="100000">
                                          <p:val>
                                            <p:strVal val="#ppt_h"/>
                                          </p:val>
                                        </p:tav>
                                      </p:tavLst>
                                    </p:anim>
                                    <p:animEffect transition="in" filter="fade">
                                      <p:cBhvr>
                                        <p:cTn id="38" dur="500"/>
                                        <p:tgtEl>
                                          <p:spTgt spid="14"/>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1000"/>
                                        <p:tgtEl>
                                          <p:spTgt spid="13"/>
                                        </p:tgtEl>
                                      </p:cBhvr>
                                    </p:animEffect>
                                    <p:anim calcmode="lin" valueType="num">
                                      <p:cBhvr>
                                        <p:cTn id="44" dur="1000" fill="hold"/>
                                        <p:tgtEl>
                                          <p:spTgt spid="13"/>
                                        </p:tgtEl>
                                        <p:attrNameLst>
                                          <p:attrName>ppt_x</p:attrName>
                                        </p:attrNameLst>
                                      </p:cBhvr>
                                      <p:tavLst>
                                        <p:tav tm="0">
                                          <p:val>
                                            <p:strVal val="#ppt_x"/>
                                          </p:val>
                                        </p:tav>
                                        <p:tav tm="100000">
                                          <p:val>
                                            <p:strVal val="#ppt_x"/>
                                          </p:val>
                                        </p:tav>
                                      </p:tavLst>
                                    </p:anim>
                                    <p:anim calcmode="lin" valueType="num">
                                      <p:cBhvr>
                                        <p:cTn id="4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p:bldP spid="13" grpId="0"/>
      <p:bldP spid="14" grpId="0"/>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2"/>
          <p:cNvSpPr>
            <a:spLocks noGrp="1"/>
          </p:cNvSpPr>
          <p:nvPr>
            <p:ph type="title" idx="4294967295"/>
          </p:nvPr>
        </p:nvSpPr>
        <p:spPr>
          <a:xfrm>
            <a:off x="1866900" y="228600"/>
            <a:ext cx="9487535" cy="1143000"/>
          </a:xfrm>
        </p:spPr>
        <p:txBody>
          <a:bodyPr vert="horz" wrap="square" lIns="91440" tIns="45720" rIns="91440" bIns="45720" anchor="ctr">
            <a:normAutofit/>
          </a:bodyPr>
          <a:p>
            <a:r>
              <a:rPr lang="en-US" altLang="zh-CN" dirty="0">
                <a:solidFill>
                  <a:schemeClr val="tx1"/>
                </a:solidFill>
              </a:rPr>
              <a:t>C</a:t>
            </a:r>
            <a:r>
              <a:rPr lang="zh-CN" altLang="en-US" dirty="0">
                <a:solidFill>
                  <a:schemeClr val="tx1"/>
                </a:solidFill>
              </a:rPr>
              <a:t>语言的设计者   </a:t>
            </a:r>
            <a:r>
              <a:rPr lang="en-US" altLang="zh-CN">
                <a:solidFill>
                  <a:schemeClr val="tx1"/>
                </a:solidFill>
              </a:rPr>
              <a:t>Dennis M. Ritchie</a:t>
            </a:r>
            <a:endParaRPr lang="en-US" altLang="zh-CN">
              <a:solidFill>
                <a:schemeClr val="tx1"/>
              </a:solidFill>
            </a:endParaRPr>
          </a:p>
        </p:txBody>
      </p:sp>
      <p:pic>
        <p:nvPicPr>
          <p:cNvPr id="59395" name="Picture 3" descr="ritchie"/>
          <p:cNvPicPr>
            <a:picLocks noChangeAspect="1"/>
          </p:cNvPicPr>
          <p:nvPr/>
        </p:nvPicPr>
        <p:blipFill>
          <a:blip r:embed="rId1"/>
          <a:stretch>
            <a:fillRect/>
          </a:stretch>
        </p:blipFill>
        <p:spPr>
          <a:xfrm>
            <a:off x="2027238" y="1231900"/>
            <a:ext cx="3048000" cy="4229100"/>
          </a:xfrm>
          <a:prstGeom prst="rect">
            <a:avLst/>
          </a:prstGeom>
          <a:noFill/>
          <a:ln w="9525">
            <a:noFill/>
          </a:ln>
        </p:spPr>
      </p:pic>
      <p:sp>
        <p:nvSpPr>
          <p:cNvPr id="93188" name="Text Box 4"/>
          <p:cNvSpPr txBox="1"/>
          <p:nvPr/>
        </p:nvSpPr>
        <p:spPr>
          <a:xfrm>
            <a:off x="5867400" y="1441450"/>
            <a:ext cx="4541838" cy="3969385"/>
          </a:xfrm>
          <a:prstGeom prst="rect">
            <a:avLst/>
          </a:prstGeom>
          <a:noFill/>
          <a:ln w="12700">
            <a:noFill/>
          </a:ln>
        </p:spPr>
        <p:txBody>
          <a:bodyPr>
            <a:spAutoFit/>
          </a:bodyPr>
          <a:p>
            <a:pPr algn="ctr">
              <a:spcBef>
                <a:spcPct val="50000"/>
              </a:spcBef>
            </a:pPr>
            <a:r>
              <a:rPr lang="en-US" altLang="zh-CN" sz="2400" b="1" dirty="0">
                <a:latin typeface="Times New Roman" panose="02020603050405020304" pitchFamily="18" charset="0"/>
              </a:rPr>
              <a:t>1974</a:t>
            </a:r>
            <a:r>
              <a:rPr lang="zh-CN" altLang="en-US" sz="2400" b="1" dirty="0">
                <a:latin typeface="Times New Roman" panose="02020603050405020304" pitchFamily="18" charset="0"/>
              </a:rPr>
              <a:t>年因系统和语言方面的杰出论文获得</a:t>
            </a:r>
            <a:r>
              <a:rPr lang="en-US" altLang="zh-CN" sz="2400" b="1" dirty="0">
                <a:latin typeface="Times New Roman" panose="02020603050405020304" pitchFamily="18" charset="0"/>
              </a:rPr>
              <a:t>ACM</a:t>
            </a:r>
            <a:r>
              <a:rPr lang="zh-CN" altLang="en-US" sz="2400" b="1" dirty="0">
                <a:latin typeface="Times New Roman" panose="02020603050405020304" pitchFamily="18" charset="0"/>
              </a:rPr>
              <a:t>奖章；</a:t>
            </a:r>
            <a:endParaRPr lang="zh-CN" altLang="en-US" sz="2400" b="1" dirty="0">
              <a:latin typeface="Times New Roman" panose="02020603050405020304" pitchFamily="18" charset="0"/>
            </a:endParaRPr>
          </a:p>
          <a:p>
            <a:pPr algn="ctr">
              <a:spcBef>
                <a:spcPct val="50000"/>
              </a:spcBef>
            </a:pPr>
            <a:r>
              <a:rPr lang="en-US" altLang="zh-CN" sz="2400" b="1" err="1">
                <a:latin typeface="Times New Roman" panose="02020603050405020304" pitchFamily="18" charset="0"/>
              </a:rPr>
              <a:t>IEEE Emmanuel Piore</a:t>
            </a:r>
            <a:r>
              <a:rPr lang="zh-CN" altLang="en-US" sz="2400" b="1" dirty="0">
                <a:latin typeface="Times New Roman" panose="02020603050405020304" pitchFamily="18" charset="0"/>
              </a:rPr>
              <a:t>奖章</a:t>
            </a:r>
            <a:r>
              <a:rPr lang="en-US" altLang="zh-CN" sz="2400" b="1">
                <a:latin typeface="Times New Roman" panose="02020603050405020304" pitchFamily="18" charset="0"/>
              </a:rPr>
              <a:t>(1982);</a:t>
            </a:r>
            <a:endParaRPr lang="en-US" altLang="zh-CN" sz="2400" b="1">
              <a:latin typeface="Times New Roman" panose="02020603050405020304" pitchFamily="18" charset="0"/>
            </a:endParaRPr>
          </a:p>
          <a:p>
            <a:pPr algn="ctr">
              <a:spcBef>
                <a:spcPct val="50000"/>
              </a:spcBef>
            </a:pPr>
            <a:r>
              <a:rPr lang="en-US" altLang="zh-CN" sz="2400" b="1" dirty="0">
                <a:latin typeface="Times New Roman" panose="02020603050405020304" pitchFamily="18" charset="0"/>
              </a:rPr>
              <a:t>Bell</a:t>
            </a:r>
            <a:r>
              <a:rPr lang="zh-CN" altLang="en-US" sz="2400" b="1" dirty="0">
                <a:latin typeface="Times New Roman" panose="02020603050405020304" pitchFamily="18" charset="0"/>
              </a:rPr>
              <a:t>实验室高级成员</a:t>
            </a:r>
            <a:r>
              <a:rPr lang="en-US" altLang="zh-CN" sz="2400" b="1" dirty="0">
                <a:latin typeface="Times New Roman" panose="02020603050405020304" pitchFamily="18" charset="0"/>
              </a:rPr>
              <a:t>(1983)</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algn="ctr">
              <a:spcBef>
                <a:spcPct val="50000"/>
              </a:spcBef>
            </a:pPr>
            <a:r>
              <a:rPr lang="en-US" altLang="zh-CN" sz="2400" b="1" dirty="0">
                <a:latin typeface="Times New Roman" panose="02020603050405020304" pitchFamily="18" charset="0"/>
              </a:rPr>
              <a:t>ACM</a:t>
            </a:r>
            <a:r>
              <a:rPr lang="zh-CN" altLang="en-US" sz="2400" b="1" dirty="0">
                <a:latin typeface="Times New Roman" panose="02020603050405020304" pitchFamily="18" charset="0"/>
              </a:rPr>
              <a:t>图灵奖</a:t>
            </a:r>
            <a:r>
              <a:rPr lang="en-US" altLang="zh-CN" sz="2400" b="1" dirty="0">
                <a:latin typeface="Times New Roman" panose="02020603050405020304" pitchFamily="18" charset="0"/>
              </a:rPr>
              <a:t>(1983)</a:t>
            </a:r>
            <a:r>
              <a:rPr lang="zh-CN" altLang="en-US" sz="2400" b="1" dirty="0">
                <a:latin typeface="Times New Roman" panose="02020603050405020304" pitchFamily="18" charset="0"/>
              </a:rPr>
              <a:t>；</a:t>
            </a:r>
            <a:endParaRPr lang="zh-CN" altLang="en-US" sz="2400" b="1" dirty="0">
              <a:latin typeface="Times New Roman" panose="02020603050405020304" pitchFamily="18" charset="0"/>
            </a:endParaRPr>
          </a:p>
          <a:p>
            <a:pPr algn="ctr">
              <a:spcBef>
                <a:spcPct val="50000"/>
              </a:spcBef>
            </a:pPr>
            <a:r>
              <a:rPr lang="en-US" altLang="zh-CN" sz="2400" b="1" dirty="0">
                <a:latin typeface="Times New Roman" panose="02020603050405020304" pitchFamily="18" charset="0"/>
              </a:rPr>
              <a:t>NEC C&amp;C</a:t>
            </a:r>
            <a:r>
              <a:rPr lang="zh-CN" altLang="en-US" sz="2400" b="1" dirty="0">
                <a:latin typeface="Times New Roman" panose="02020603050405020304" pitchFamily="18" charset="0"/>
              </a:rPr>
              <a:t>基金奖</a:t>
            </a:r>
            <a:r>
              <a:rPr lang="en-US" altLang="zh-CN" sz="2400" b="1" dirty="0">
                <a:latin typeface="Times New Roman" panose="02020603050405020304" pitchFamily="18" charset="0"/>
              </a:rPr>
              <a:t>(1989)</a:t>
            </a:r>
            <a:r>
              <a:rPr lang="zh-CN" altLang="en-US" sz="2400" b="1" dirty="0">
                <a:latin typeface="Times New Roman" panose="02020603050405020304" pitchFamily="18" charset="0"/>
              </a:rPr>
              <a:t>； </a:t>
            </a:r>
            <a:endParaRPr lang="zh-CN" altLang="en-US" sz="2400" b="1" dirty="0">
              <a:latin typeface="Times New Roman" panose="02020603050405020304" pitchFamily="18" charset="0"/>
            </a:endParaRPr>
          </a:p>
          <a:p>
            <a:pPr algn="ctr">
              <a:spcBef>
                <a:spcPct val="50000"/>
              </a:spcBef>
            </a:pPr>
            <a:r>
              <a:rPr lang="en-US" altLang="zh-CN" sz="2400" b="1" dirty="0">
                <a:latin typeface="Times New Roman" panose="02020603050405020304" pitchFamily="18" charset="0"/>
              </a:rPr>
              <a:t>IEEE Hamming</a:t>
            </a:r>
            <a:r>
              <a:rPr lang="zh-CN" altLang="en-US" sz="2400" b="1" dirty="0">
                <a:latin typeface="Times New Roman" panose="02020603050405020304" pitchFamily="18" charset="0"/>
              </a:rPr>
              <a:t>奖章</a:t>
            </a:r>
            <a:r>
              <a:rPr lang="en-US" altLang="zh-CN" sz="2400" b="1" dirty="0">
                <a:latin typeface="Times New Roman" panose="02020603050405020304" pitchFamily="18" charset="0"/>
              </a:rPr>
              <a:t>(1990)</a:t>
            </a:r>
            <a:r>
              <a:rPr lang="zh-CN" altLang="en-US" sz="2400" b="1" dirty="0">
                <a:latin typeface="Times New Roman" panose="02020603050405020304" pitchFamily="18" charset="0"/>
              </a:rPr>
              <a:t>等等 </a:t>
            </a:r>
            <a:endParaRPr lang="zh-CN" altLang="en-US" sz="2400" b="1" dirty="0">
              <a:latin typeface="Times New Roman" panose="02020603050405020304" pitchFamily="18" charset="0"/>
            </a:endParaRPr>
          </a:p>
        </p:txBody>
      </p:sp>
      <p:sp>
        <p:nvSpPr>
          <p:cNvPr id="93189" name="Text Box 5"/>
          <p:cNvSpPr txBox="1"/>
          <p:nvPr/>
        </p:nvSpPr>
        <p:spPr>
          <a:xfrm>
            <a:off x="2239963" y="5849938"/>
            <a:ext cx="7670800" cy="460375"/>
          </a:xfrm>
          <a:prstGeom prst="rect">
            <a:avLst/>
          </a:prstGeom>
          <a:noFill/>
          <a:ln w="12700">
            <a:noFill/>
          </a:ln>
        </p:spPr>
        <p:txBody>
          <a:bodyPr>
            <a:spAutoFit/>
          </a:bodyPr>
          <a:p>
            <a:pPr algn="ctr">
              <a:spcBef>
                <a:spcPct val="50000"/>
              </a:spcBef>
            </a:pPr>
            <a:r>
              <a:rPr lang="zh-CN" altLang="en-US" sz="2400" b="1" dirty="0">
                <a:solidFill>
                  <a:srgbClr val="3333FF"/>
                </a:solidFill>
                <a:latin typeface="Times New Roman" panose="02020603050405020304" pitchFamily="18" charset="0"/>
                <a:ea typeface="华文细黑" panose="02010600040101010101" pitchFamily="2" charset="-122"/>
              </a:rPr>
              <a:t>有的人因为改变历史而出名，也有的人是因为创造历史。</a:t>
            </a:r>
            <a:endParaRPr lang="zh-CN" altLang="en-US" sz="2400" b="1" dirty="0">
              <a:solidFill>
                <a:srgbClr val="3333FF"/>
              </a:solidFill>
              <a:latin typeface="Times New Roman" panose="02020603050405020304" pitchFamily="18" charset="0"/>
              <a:ea typeface="华文细黑"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3188"/>
                                        </p:tgtEl>
                                        <p:attrNameLst>
                                          <p:attrName>style.visibility</p:attrName>
                                        </p:attrNameLst>
                                      </p:cBhvr>
                                      <p:to>
                                        <p:strVal val="visible"/>
                                      </p:to>
                                    </p:set>
                                    <p:animEffect transition="in" filter="box(in)">
                                      <p:cBhvr>
                                        <p:cTn id="7" dur="500"/>
                                        <p:tgtEl>
                                          <p:spTgt spid="9318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3189"/>
                                        </p:tgtEl>
                                        <p:attrNameLst>
                                          <p:attrName>style.visibility</p:attrName>
                                        </p:attrNameLst>
                                      </p:cBhvr>
                                      <p:to>
                                        <p:strVal val="visible"/>
                                      </p:to>
                                    </p:set>
                                    <p:animEffect transition="in" filter="diamond(in)">
                                      <p:cBhvr>
                                        <p:cTn id="12" dur="1000"/>
                                        <p:tgtEl>
                                          <p:spTgt spid="93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8" grpId="0"/>
      <p:bldP spid="9318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2"/>
          <p:cNvSpPr>
            <a:spLocks noGrp="1"/>
          </p:cNvSpPr>
          <p:nvPr>
            <p:ph type="title" idx="4294967295"/>
          </p:nvPr>
        </p:nvSpPr>
        <p:spPr/>
        <p:txBody>
          <a:bodyPr vert="horz" wrap="square" lIns="91440" tIns="45720" rIns="91440" bIns="45720" anchor="ctr"/>
          <a:p>
            <a:r>
              <a:rPr lang="en-US" altLang="zh-CN" sz="4000" dirty="0">
                <a:solidFill>
                  <a:schemeClr val="tx1"/>
                </a:solidFill>
              </a:rPr>
              <a:t>Ritchie</a:t>
            </a:r>
            <a:r>
              <a:rPr lang="zh-CN" altLang="en-US" sz="4000" dirty="0">
                <a:solidFill>
                  <a:schemeClr val="tx1"/>
                </a:solidFill>
              </a:rPr>
              <a:t>和</a:t>
            </a:r>
            <a:r>
              <a:rPr lang="en-US" altLang="zh-CN" sz="4000" dirty="0">
                <a:solidFill>
                  <a:schemeClr val="tx1"/>
                </a:solidFill>
              </a:rPr>
              <a:t>Thompson</a:t>
            </a:r>
            <a:r>
              <a:rPr lang="zh-CN" altLang="en-US" sz="4000" dirty="0">
                <a:solidFill>
                  <a:schemeClr val="tx1"/>
                </a:solidFill>
              </a:rPr>
              <a:t>在开发</a:t>
            </a:r>
            <a:r>
              <a:rPr lang="en-US" altLang="zh-CN" sz="4000">
                <a:solidFill>
                  <a:schemeClr val="tx1"/>
                </a:solidFill>
              </a:rPr>
              <a:t>UNIX</a:t>
            </a:r>
            <a:endParaRPr lang="en-US" altLang="zh-CN" sz="4000">
              <a:solidFill>
                <a:schemeClr val="tx1"/>
              </a:solidFill>
            </a:endParaRPr>
          </a:p>
        </p:txBody>
      </p:sp>
      <p:pic>
        <p:nvPicPr>
          <p:cNvPr id="62467" name="Picture 3" descr="9786_2"/>
          <p:cNvPicPr>
            <a:picLocks noChangeAspect="1"/>
          </p:cNvPicPr>
          <p:nvPr/>
        </p:nvPicPr>
        <p:blipFill>
          <a:blip r:embed="rId1"/>
          <a:stretch>
            <a:fillRect/>
          </a:stretch>
        </p:blipFill>
        <p:spPr>
          <a:xfrm>
            <a:off x="3667125" y="1844675"/>
            <a:ext cx="4857750" cy="388620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2"/>
          <p:cNvSpPr>
            <a:spLocks noGrp="1"/>
          </p:cNvSpPr>
          <p:nvPr>
            <p:ph type="title" idx="4294967295"/>
          </p:nvPr>
        </p:nvSpPr>
        <p:spPr/>
        <p:txBody>
          <a:bodyPr vert="horz" wrap="square" lIns="91440" tIns="45720" rIns="91440" bIns="45720" anchor="ctr"/>
          <a:p>
            <a:r>
              <a:rPr lang="zh-CN" altLang="en-US" sz="4000" dirty="0">
                <a:solidFill>
                  <a:schemeClr val="tx1"/>
                </a:solidFill>
              </a:rPr>
              <a:t>和</a:t>
            </a:r>
            <a:r>
              <a:rPr lang="en-US" altLang="zh-CN" sz="4000" dirty="0">
                <a:solidFill>
                  <a:schemeClr val="tx1"/>
                </a:solidFill>
              </a:rPr>
              <a:t>Unix</a:t>
            </a:r>
            <a:r>
              <a:rPr lang="zh-CN" altLang="en-US" sz="4000" dirty="0">
                <a:solidFill>
                  <a:schemeClr val="tx1"/>
                </a:solidFill>
              </a:rPr>
              <a:t>的设计者</a:t>
            </a:r>
            <a:r>
              <a:rPr lang="en-US" altLang="zh-CN" sz="4000" dirty="0">
                <a:solidFill>
                  <a:schemeClr val="tx1"/>
                </a:solidFill>
              </a:rPr>
              <a:t>Ken Thompson</a:t>
            </a:r>
            <a:br>
              <a:rPr lang="en-US" altLang="zh-CN" sz="4000" dirty="0">
                <a:solidFill>
                  <a:schemeClr val="tx1"/>
                </a:solidFill>
              </a:rPr>
            </a:br>
            <a:r>
              <a:rPr lang="zh-CN" altLang="en-US" sz="4000" dirty="0">
                <a:solidFill>
                  <a:schemeClr val="tx1"/>
                </a:solidFill>
              </a:rPr>
              <a:t>接受美国国家技术勋章</a:t>
            </a:r>
            <a:endParaRPr lang="zh-CN" altLang="en-US" sz="4000" dirty="0">
              <a:solidFill>
                <a:schemeClr val="tx1"/>
              </a:solidFill>
            </a:endParaRPr>
          </a:p>
        </p:txBody>
      </p:sp>
      <p:pic>
        <p:nvPicPr>
          <p:cNvPr id="60419" name="Picture 3" descr="medal_lg"/>
          <p:cNvPicPr>
            <a:picLocks noChangeAspect="1"/>
          </p:cNvPicPr>
          <p:nvPr/>
        </p:nvPicPr>
        <p:blipFill>
          <a:blip r:embed="rId1"/>
          <a:stretch>
            <a:fillRect/>
          </a:stretch>
        </p:blipFill>
        <p:spPr>
          <a:xfrm>
            <a:off x="2076450" y="1722438"/>
            <a:ext cx="6408738" cy="4640262"/>
          </a:xfrm>
          <a:prstGeom prst="rect">
            <a:avLst/>
          </a:prstGeom>
          <a:noFill/>
          <a:ln w="9525">
            <a:noFill/>
          </a:ln>
        </p:spPr>
      </p:pic>
      <p:sp>
        <p:nvSpPr>
          <p:cNvPr id="60420" name="Text Box 4"/>
          <p:cNvSpPr txBox="1"/>
          <p:nvPr/>
        </p:nvSpPr>
        <p:spPr>
          <a:xfrm>
            <a:off x="9152255" y="2295525"/>
            <a:ext cx="2531745" cy="1076325"/>
          </a:xfrm>
          <a:prstGeom prst="rect">
            <a:avLst/>
          </a:prstGeom>
          <a:noFill/>
          <a:ln w="12700">
            <a:noFill/>
          </a:ln>
        </p:spPr>
        <p:txBody>
          <a:bodyPr wrap="square">
            <a:spAutoFit/>
          </a:bodyPr>
          <a:p>
            <a:pPr algn="ctr">
              <a:spcBef>
                <a:spcPct val="50000"/>
              </a:spcBef>
            </a:pPr>
            <a:r>
              <a:rPr lang="zh-CN" altLang="en-US" sz="3200" b="1" dirty="0">
                <a:latin typeface="Times New Roman" panose="02020603050405020304" pitchFamily="18" charset="0"/>
              </a:rPr>
              <a:t>两人</a:t>
            </a:r>
            <a:r>
              <a:rPr lang="en-US" altLang="zh-CN" sz="3200" b="1" dirty="0">
                <a:latin typeface="Times New Roman" panose="02020603050405020304" pitchFamily="18" charset="0"/>
              </a:rPr>
              <a:t>1983</a:t>
            </a:r>
            <a:r>
              <a:rPr lang="zh-CN" altLang="en-US" sz="3200" b="1" dirty="0">
                <a:latin typeface="Times New Roman" panose="02020603050405020304" pitchFamily="18" charset="0"/>
              </a:rPr>
              <a:t>年分享 图灵奖 </a:t>
            </a:r>
            <a:endParaRPr lang="zh-CN" altLang="en-US" sz="3200" b="1"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语言的特点</a:t>
            </a:r>
            <a:endParaRPr lang="zh-CN" altLang="en-US" dirty="0"/>
          </a:p>
        </p:txBody>
      </p:sp>
      <p:sp>
        <p:nvSpPr>
          <p:cNvPr id="4" name="MH_SubTitle_1"/>
          <p:cNvSpPr/>
          <p:nvPr>
            <p:custDataLst>
              <p:tags r:id="rId1"/>
            </p:custDataLst>
          </p:nvPr>
        </p:nvSpPr>
        <p:spPr>
          <a:xfrm>
            <a:off x="5584190" y="1465580"/>
            <a:ext cx="3973830" cy="368300"/>
          </a:xfrm>
          <a:prstGeom prst="rect">
            <a:avLst/>
          </a:prstGeom>
        </p:spPr>
        <p:txBody>
          <a:bodyPr anchor="b">
            <a:noAutofit/>
          </a:bodyPr>
          <a:lstStyle/>
          <a:p>
            <a:pPr algn="ctr">
              <a:lnSpc>
                <a:spcPct val="120000"/>
              </a:lnSpc>
              <a:defRPr/>
            </a:pPr>
            <a:r>
              <a:rPr lang="zh-CN" altLang="en-US" b="1" dirty="0"/>
              <a:t> 语言简洁、紧凑，使用方便、灵活</a:t>
            </a:r>
            <a:endParaRPr lang="zh-CN" altLang="en-US" b="1" dirty="0"/>
          </a:p>
        </p:txBody>
      </p:sp>
      <p:grpSp>
        <p:nvGrpSpPr>
          <p:cNvPr id="3" name="组合 2"/>
          <p:cNvGrpSpPr/>
          <p:nvPr/>
        </p:nvGrpSpPr>
        <p:grpSpPr>
          <a:xfrm>
            <a:off x="4049746" y="1916114"/>
            <a:ext cx="3419475" cy="3419475"/>
            <a:chOff x="4049746" y="1916114"/>
            <a:chExt cx="3419475" cy="3419475"/>
          </a:xfrm>
        </p:grpSpPr>
        <p:sp>
          <p:nvSpPr>
            <p:cNvPr id="5" name="MH_Other_1"/>
            <p:cNvSpPr/>
            <p:nvPr>
              <p:custDataLst>
                <p:tags r:id="rId2"/>
              </p:custDataLst>
            </p:nvPr>
          </p:nvSpPr>
          <p:spPr>
            <a:xfrm rot="18900000" flipV="1">
              <a:off x="4995102" y="2520158"/>
              <a:ext cx="576263" cy="1260475"/>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6" name="MH_Other_2"/>
            <p:cNvSpPr/>
            <p:nvPr>
              <p:custDataLst>
                <p:tags r:id="rId3"/>
              </p:custDataLst>
            </p:nvPr>
          </p:nvSpPr>
          <p:spPr>
            <a:xfrm rot="16200000" flipV="1">
              <a:off x="4797458" y="2995614"/>
              <a:ext cx="577850" cy="1260475"/>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7" name="MH_Other_3"/>
            <p:cNvSpPr/>
            <p:nvPr>
              <p:custDataLst>
                <p:tags r:id="rId4"/>
              </p:custDataLst>
            </p:nvPr>
          </p:nvSpPr>
          <p:spPr>
            <a:xfrm rot="13500000" flipV="1">
              <a:off x="4994308" y="3471864"/>
              <a:ext cx="577850" cy="1260475"/>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8" name="MH_Other_4"/>
            <p:cNvSpPr/>
            <p:nvPr>
              <p:custDataLst>
                <p:tags r:id="rId5"/>
              </p:custDataLst>
            </p:nvPr>
          </p:nvSpPr>
          <p:spPr>
            <a:xfrm rot="10800000" flipV="1">
              <a:off x="5470558" y="3668714"/>
              <a:ext cx="577850" cy="1262063"/>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9" name="MH_Other_5"/>
            <p:cNvSpPr/>
            <p:nvPr>
              <p:custDataLst>
                <p:tags r:id="rId6"/>
              </p:custDataLst>
            </p:nvPr>
          </p:nvSpPr>
          <p:spPr>
            <a:xfrm rot="8100000" flipV="1">
              <a:off x="5946014" y="3471070"/>
              <a:ext cx="577850" cy="1262062"/>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10" name="MH_Other_6"/>
            <p:cNvSpPr/>
            <p:nvPr>
              <p:custDataLst>
                <p:tags r:id="rId7"/>
              </p:custDataLst>
            </p:nvPr>
          </p:nvSpPr>
          <p:spPr>
            <a:xfrm rot="5400000" flipV="1">
              <a:off x="6143658" y="2995614"/>
              <a:ext cx="577850" cy="1260475"/>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11" name="MH_Other_7"/>
            <p:cNvSpPr/>
            <p:nvPr>
              <p:custDataLst>
                <p:tags r:id="rId8"/>
              </p:custDataLst>
            </p:nvPr>
          </p:nvSpPr>
          <p:spPr>
            <a:xfrm rot="2700000" flipV="1">
              <a:off x="5946808" y="2519364"/>
              <a:ext cx="576262" cy="1262063"/>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12" name="MH_Other_8"/>
            <p:cNvSpPr/>
            <p:nvPr>
              <p:custDataLst>
                <p:tags r:id="rId9"/>
              </p:custDataLst>
            </p:nvPr>
          </p:nvSpPr>
          <p:spPr>
            <a:xfrm flipV="1">
              <a:off x="5470558" y="2322514"/>
              <a:ext cx="577850" cy="1262063"/>
            </a:xfrm>
            <a:prstGeom prst="triangle">
              <a:avLst/>
            </a:prstGeom>
            <a:gradFill flip="none" rotWithShape="1">
              <a:gsLst>
                <a:gs pos="0">
                  <a:schemeClr val="accent1">
                    <a:lumMod val="60000"/>
                    <a:lumOff val="40000"/>
                  </a:schemeClr>
                </a:gs>
                <a:gs pos="98844">
                  <a:schemeClr val="accent1">
                    <a:lumMod val="20000"/>
                    <a:lumOff val="80000"/>
                  </a:schemeClr>
                </a:gs>
              </a:gsLst>
              <a:lin ang="2700000" scaled="1"/>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algn="ctr">
                <a:defRPr/>
              </a:pPr>
              <a:endParaRPr lang="zh-CN" altLang="en-US" sz="3600" dirty="0">
                <a:latin typeface="微软雅黑" panose="020B0503020204020204" pitchFamily="34" charset="-122"/>
              </a:endParaRPr>
            </a:p>
          </p:txBody>
        </p:sp>
        <p:sp>
          <p:nvSpPr>
            <p:cNvPr id="13" name="MH_Other_9"/>
            <p:cNvSpPr/>
            <p:nvPr>
              <p:custDataLst>
                <p:tags r:id="rId10"/>
              </p:custDataLst>
            </p:nvPr>
          </p:nvSpPr>
          <p:spPr>
            <a:xfrm>
              <a:off x="5446746" y="1916114"/>
              <a:ext cx="625475" cy="625475"/>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01</a:t>
              </a:r>
              <a:endParaRPr lang="zh-CN" altLang="en-US" dirty="0">
                <a:solidFill>
                  <a:srgbClr val="FFFFFF"/>
                </a:solidFill>
                <a:latin typeface="微软雅黑" panose="020B0503020204020204" pitchFamily="34" charset="-122"/>
              </a:endParaRPr>
            </a:p>
          </p:txBody>
        </p:sp>
        <p:sp>
          <p:nvSpPr>
            <p:cNvPr id="14" name="MH_Other_10"/>
            <p:cNvSpPr/>
            <p:nvPr>
              <p:custDataLst>
                <p:tags r:id="rId11"/>
              </p:custDataLst>
            </p:nvPr>
          </p:nvSpPr>
          <p:spPr>
            <a:xfrm>
              <a:off x="6434171" y="2325689"/>
              <a:ext cx="625475" cy="625475"/>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02</a:t>
              </a:r>
              <a:endParaRPr lang="zh-CN" altLang="en-US" dirty="0">
                <a:solidFill>
                  <a:srgbClr val="FFFFFF"/>
                </a:solidFill>
                <a:latin typeface="微软雅黑" panose="020B0503020204020204" pitchFamily="34" charset="-122"/>
              </a:endParaRPr>
            </a:p>
          </p:txBody>
        </p:sp>
        <p:sp>
          <p:nvSpPr>
            <p:cNvPr id="15" name="MH_Other_11"/>
            <p:cNvSpPr/>
            <p:nvPr>
              <p:custDataLst>
                <p:tags r:id="rId12"/>
              </p:custDataLst>
            </p:nvPr>
          </p:nvSpPr>
          <p:spPr>
            <a:xfrm>
              <a:off x="6843746" y="3313114"/>
              <a:ext cx="625475" cy="625475"/>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03</a:t>
              </a:r>
              <a:endParaRPr lang="zh-CN" altLang="en-US" dirty="0">
                <a:solidFill>
                  <a:srgbClr val="FFFFFF"/>
                </a:solidFill>
                <a:latin typeface="微软雅黑" panose="020B0503020204020204" pitchFamily="34" charset="-122"/>
              </a:endParaRPr>
            </a:p>
          </p:txBody>
        </p:sp>
        <p:sp>
          <p:nvSpPr>
            <p:cNvPr id="16" name="MH_Other_12"/>
            <p:cNvSpPr/>
            <p:nvPr>
              <p:custDataLst>
                <p:tags r:id="rId13"/>
              </p:custDataLst>
            </p:nvPr>
          </p:nvSpPr>
          <p:spPr>
            <a:xfrm>
              <a:off x="6434171" y="4302127"/>
              <a:ext cx="625475" cy="623887"/>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04</a:t>
              </a:r>
              <a:endParaRPr lang="zh-CN" altLang="en-US" dirty="0">
                <a:solidFill>
                  <a:srgbClr val="FFFFFF"/>
                </a:solidFill>
                <a:latin typeface="微软雅黑" panose="020B0503020204020204" pitchFamily="34" charset="-122"/>
              </a:endParaRPr>
            </a:p>
          </p:txBody>
        </p:sp>
        <p:sp>
          <p:nvSpPr>
            <p:cNvPr id="17" name="MH_Other_13"/>
            <p:cNvSpPr/>
            <p:nvPr>
              <p:custDataLst>
                <p:tags r:id="rId14"/>
              </p:custDataLst>
            </p:nvPr>
          </p:nvSpPr>
          <p:spPr>
            <a:xfrm>
              <a:off x="5446746" y="4710114"/>
              <a:ext cx="625475" cy="625475"/>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05</a:t>
              </a:r>
              <a:endParaRPr lang="zh-CN" altLang="en-US" dirty="0">
                <a:solidFill>
                  <a:srgbClr val="FFFFFF"/>
                </a:solidFill>
                <a:latin typeface="微软雅黑" panose="020B0503020204020204" pitchFamily="34" charset="-122"/>
              </a:endParaRPr>
            </a:p>
          </p:txBody>
        </p:sp>
        <p:sp>
          <p:nvSpPr>
            <p:cNvPr id="18" name="MH_Other_14"/>
            <p:cNvSpPr/>
            <p:nvPr>
              <p:custDataLst>
                <p:tags r:id="rId15"/>
              </p:custDataLst>
            </p:nvPr>
          </p:nvSpPr>
          <p:spPr>
            <a:xfrm>
              <a:off x="4459321" y="4302127"/>
              <a:ext cx="625475" cy="623887"/>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06</a:t>
              </a:r>
              <a:endParaRPr lang="zh-CN" altLang="en-US" dirty="0">
                <a:solidFill>
                  <a:srgbClr val="FFFFFF"/>
                </a:solidFill>
                <a:latin typeface="微软雅黑" panose="020B0503020204020204" pitchFamily="34" charset="-122"/>
              </a:endParaRPr>
            </a:p>
          </p:txBody>
        </p:sp>
        <p:sp>
          <p:nvSpPr>
            <p:cNvPr id="19" name="MH_Other_15"/>
            <p:cNvSpPr/>
            <p:nvPr>
              <p:custDataLst>
                <p:tags r:id="rId16"/>
              </p:custDataLst>
            </p:nvPr>
          </p:nvSpPr>
          <p:spPr>
            <a:xfrm>
              <a:off x="4049746" y="3313114"/>
              <a:ext cx="625475" cy="625475"/>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07</a:t>
              </a:r>
              <a:endParaRPr lang="zh-CN" altLang="en-US" dirty="0">
                <a:solidFill>
                  <a:srgbClr val="FFFFFF"/>
                </a:solidFill>
                <a:latin typeface="微软雅黑" panose="020B0503020204020204" pitchFamily="34" charset="-122"/>
              </a:endParaRPr>
            </a:p>
          </p:txBody>
        </p:sp>
        <p:sp>
          <p:nvSpPr>
            <p:cNvPr id="20" name="MH_Other_16"/>
            <p:cNvSpPr/>
            <p:nvPr>
              <p:custDataLst>
                <p:tags r:id="rId17"/>
              </p:custDataLst>
            </p:nvPr>
          </p:nvSpPr>
          <p:spPr>
            <a:xfrm>
              <a:off x="4459321" y="2325689"/>
              <a:ext cx="625475" cy="625475"/>
            </a:xfrm>
            <a:prstGeom prst="ellipse">
              <a:avLst/>
            </a:prstGeom>
            <a:gradFill flip="none" rotWithShape="1">
              <a:gsLst>
                <a:gs pos="0">
                  <a:schemeClr val="accent1">
                    <a:lumMod val="60000"/>
                    <a:lumOff val="40000"/>
                  </a:schemeClr>
                </a:gs>
                <a:gs pos="98844">
                  <a:schemeClr val="accent1"/>
                </a:gs>
              </a:gsLst>
              <a:path path="shape">
                <a:fillToRect l="50000" t="50000" r="50000" b="50000"/>
              </a:path>
              <a:tileRect/>
            </a:gradFill>
            <a:ln w="127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zh-CN" dirty="0">
                  <a:solidFill>
                    <a:srgbClr val="FFFFFF"/>
                  </a:solidFill>
                  <a:latin typeface="微软雅黑" panose="020B0503020204020204" pitchFamily="34" charset="-122"/>
                </a:rPr>
                <a:t>08</a:t>
              </a:r>
              <a:endParaRPr lang="zh-CN" altLang="en-US" dirty="0">
                <a:solidFill>
                  <a:srgbClr val="FFFFFF"/>
                </a:solidFill>
                <a:latin typeface="微软雅黑" panose="020B0503020204020204" pitchFamily="34" charset="-122"/>
              </a:endParaRPr>
            </a:p>
          </p:txBody>
        </p:sp>
      </p:grpSp>
      <p:sp>
        <p:nvSpPr>
          <p:cNvPr id="21" name="MH_Title_1"/>
          <p:cNvSpPr/>
          <p:nvPr>
            <p:custDataLst>
              <p:tags r:id="rId18"/>
            </p:custDataLst>
          </p:nvPr>
        </p:nvSpPr>
        <p:spPr>
          <a:xfrm>
            <a:off x="5283233" y="3149601"/>
            <a:ext cx="952500" cy="952500"/>
          </a:xfrm>
          <a:prstGeom prst="ellipse">
            <a:avLst/>
          </a:prstGeom>
          <a:solidFill>
            <a:schemeClr val="accent1">
              <a:lumMod val="75000"/>
            </a:schemeClr>
          </a:solidFill>
          <a:ln w="25400" cmpd="sng">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en-US" altLang="zh-CN" sz="6000" b="1" dirty="0">
                <a:solidFill>
                  <a:srgbClr val="FFFFFF"/>
                </a:solidFill>
              </a:rPr>
              <a:t>C</a:t>
            </a:r>
            <a:endParaRPr lang="zh-CN" altLang="en-US" sz="6000" b="1" dirty="0">
              <a:solidFill>
                <a:srgbClr val="FFFFFF"/>
              </a:solidFill>
            </a:endParaRPr>
          </a:p>
        </p:txBody>
      </p:sp>
      <p:sp>
        <p:nvSpPr>
          <p:cNvPr id="22" name="MH_SubTitle_5"/>
          <p:cNvSpPr/>
          <p:nvPr>
            <p:custDataLst>
              <p:tags r:id="rId19"/>
            </p:custDataLst>
          </p:nvPr>
        </p:nvSpPr>
        <p:spPr>
          <a:xfrm>
            <a:off x="6235700" y="6013450"/>
            <a:ext cx="4662805" cy="368300"/>
          </a:xfrm>
          <a:prstGeom prst="rect">
            <a:avLst/>
          </a:prstGeom>
        </p:spPr>
        <p:txBody>
          <a:bodyPr>
            <a:noAutofit/>
          </a:bodyPr>
          <a:lstStyle/>
          <a:p>
            <a:pPr algn="ctr">
              <a:lnSpc>
                <a:spcPct val="120000"/>
              </a:lnSpc>
              <a:defRPr/>
            </a:pPr>
            <a:r>
              <a:rPr lang="zh-CN" altLang="en-US" b="1" dirty="0"/>
              <a:t>语法限制不太严格，程序设计自由度大</a:t>
            </a:r>
            <a:endParaRPr lang="zh-CN" altLang="en-US" b="1" dirty="0"/>
          </a:p>
        </p:txBody>
      </p:sp>
      <p:sp>
        <p:nvSpPr>
          <p:cNvPr id="23" name="MH_SubTitle_2"/>
          <p:cNvSpPr/>
          <p:nvPr>
            <p:custDataLst>
              <p:tags r:id="rId20"/>
            </p:custDataLst>
          </p:nvPr>
        </p:nvSpPr>
        <p:spPr>
          <a:xfrm>
            <a:off x="7350125" y="2326005"/>
            <a:ext cx="1959610" cy="368300"/>
          </a:xfrm>
          <a:prstGeom prst="rect">
            <a:avLst/>
          </a:prstGeom>
        </p:spPr>
        <p:txBody>
          <a:bodyPr anchor="ctr">
            <a:noAutofit/>
          </a:bodyPr>
          <a:lstStyle/>
          <a:p>
            <a:pPr>
              <a:lnSpc>
                <a:spcPct val="120000"/>
              </a:lnSpc>
              <a:defRPr/>
            </a:pPr>
            <a:r>
              <a:rPr lang="zh-CN" altLang="en-US" b="1" dirty="0"/>
              <a:t>运算符丰富</a:t>
            </a:r>
            <a:endParaRPr lang="zh-CN" altLang="en-US" b="1" dirty="0"/>
          </a:p>
        </p:txBody>
      </p:sp>
      <p:sp>
        <p:nvSpPr>
          <p:cNvPr id="24" name="MH_SubTitle_3"/>
          <p:cNvSpPr/>
          <p:nvPr>
            <p:custDataLst>
              <p:tags r:id="rId21"/>
            </p:custDataLst>
          </p:nvPr>
        </p:nvSpPr>
        <p:spPr>
          <a:xfrm>
            <a:off x="7775575" y="2966720"/>
            <a:ext cx="2054225" cy="367030"/>
          </a:xfrm>
          <a:prstGeom prst="rect">
            <a:avLst/>
          </a:prstGeom>
        </p:spPr>
        <p:txBody>
          <a:bodyPr anchor="ctr">
            <a:noAutofit/>
          </a:bodyPr>
          <a:lstStyle/>
          <a:p>
            <a:pPr>
              <a:lnSpc>
                <a:spcPct val="120000"/>
              </a:lnSpc>
              <a:defRPr/>
            </a:pPr>
            <a:r>
              <a:rPr lang="zh-CN" altLang="en-US" b="1" dirty="0"/>
              <a:t> 数据类型丰富</a:t>
            </a:r>
            <a:endParaRPr lang="zh-CN" altLang="en-US" b="1" dirty="0"/>
          </a:p>
        </p:txBody>
      </p:sp>
      <p:sp>
        <p:nvSpPr>
          <p:cNvPr id="25" name="MH_SubTitle_4"/>
          <p:cNvSpPr/>
          <p:nvPr>
            <p:custDataLst>
              <p:tags r:id="rId22"/>
            </p:custDataLst>
          </p:nvPr>
        </p:nvSpPr>
        <p:spPr>
          <a:xfrm>
            <a:off x="7469538" y="4429763"/>
            <a:ext cx="4683126" cy="368300"/>
          </a:xfrm>
          <a:prstGeom prst="rect">
            <a:avLst/>
          </a:prstGeom>
        </p:spPr>
        <p:txBody>
          <a:bodyPr anchor="ctr">
            <a:noAutofit/>
          </a:bodyPr>
          <a:lstStyle/>
          <a:p>
            <a:pPr fontAlgn="auto">
              <a:lnSpc>
                <a:spcPct val="150000"/>
              </a:lnSpc>
              <a:defRPr/>
            </a:pPr>
            <a:r>
              <a:rPr lang="zh-CN" altLang="en-US" b="1" dirty="0"/>
              <a:t>具有结构化的控制语句</a:t>
            </a:r>
            <a:endParaRPr lang="en-US" altLang="zh-CN" b="1" dirty="0"/>
          </a:p>
          <a:p>
            <a:pPr fontAlgn="auto">
              <a:lnSpc>
                <a:spcPct val="150000"/>
              </a:lnSpc>
              <a:defRPr/>
            </a:pPr>
            <a:r>
              <a:rPr lang="zh-CN" altLang="en-US" b="1" dirty="0"/>
              <a:t>用函数作为程序的模块单位，便于实现程序的模块化</a:t>
            </a:r>
            <a:endParaRPr lang="en-US" altLang="zh-CN" b="1" dirty="0"/>
          </a:p>
          <a:p>
            <a:pPr fontAlgn="auto">
              <a:lnSpc>
                <a:spcPct val="150000"/>
              </a:lnSpc>
              <a:defRPr/>
            </a:pPr>
            <a:r>
              <a:rPr lang="en-US" altLang="zh-CN" b="1" dirty="0"/>
              <a:t>C</a:t>
            </a:r>
            <a:r>
              <a:rPr lang="zh-CN" altLang="en-US" b="1" dirty="0"/>
              <a:t>语言是完全模块化和结构化的语言</a:t>
            </a:r>
            <a:endParaRPr lang="en-US" altLang="zh-CN" b="1" dirty="0"/>
          </a:p>
        </p:txBody>
      </p:sp>
      <p:sp>
        <p:nvSpPr>
          <p:cNvPr id="26" name="MH_SubTitle_8"/>
          <p:cNvSpPr/>
          <p:nvPr>
            <p:custDataLst>
              <p:tags r:id="rId23"/>
            </p:custDataLst>
          </p:nvPr>
        </p:nvSpPr>
        <p:spPr>
          <a:xfrm>
            <a:off x="238125" y="2136140"/>
            <a:ext cx="4175125" cy="608965"/>
          </a:xfrm>
          <a:prstGeom prst="rect">
            <a:avLst/>
          </a:prstGeom>
        </p:spPr>
        <p:txBody>
          <a:bodyPr anchor="ctr">
            <a:noAutofit/>
          </a:bodyPr>
          <a:lstStyle/>
          <a:p>
            <a:pPr algn="l">
              <a:lnSpc>
                <a:spcPct val="120000"/>
              </a:lnSpc>
              <a:defRPr/>
            </a:pPr>
            <a:r>
              <a:rPr lang="zh-CN" altLang="en-US" b="1" dirty="0"/>
              <a:t>生成目标代码质量高，程序执行效率高</a:t>
            </a:r>
            <a:endParaRPr lang="zh-CN" altLang="en-US" b="1" dirty="0"/>
          </a:p>
        </p:txBody>
      </p:sp>
      <p:sp>
        <p:nvSpPr>
          <p:cNvPr id="27" name="MH_SubTitle_7"/>
          <p:cNvSpPr/>
          <p:nvPr>
            <p:custDataLst>
              <p:tags r:id="rId24"/>
            </p:custDataLst>
          </p:nvPr>
        </p:nvSpPr>
        <p:spPr>
          <a:xfrm>
            <a:off x="1696085" y="3218180"/>
            <a:ext cx="2353945" cy="367030"/>
          </a:xfrm>
          <a:prstGeom prst="rect">
            <a:avLst/>
          </a:prstGeom>
        </p:spPr>
        <p:txBody>
          <a:bodyPr anchor="ctr">
            <a:noAutofit/>
          </a:bodyPr>
          <a:lstStyle/>
          <a:p>
            <a:pPr algn="r">
              <a:lnSpc>
                <a:spcPct val="120000"/>
              </a:lnSpc>
              <a:defRPr/>
            </a:pPr>
            <a:r>
              <a:rPr lang="zh-CN" altLang="en-US" b="1" dirty="0"/>
              <a:t>程序可移植性好</a:t>
            </a:r>
            <a:endParaRPr lang="zh-CN" altLang="en-US" b="1" dirty="0"/>
          </a:p>
        </p:txBody>
      </p:sp>
      <p:sp>
        <p:nvSpPr>
          <p:cNvPr id="28" name="MH_SubTitle_6"/>
          <p:cNvSpPr/>
          <p:nvPr>
            <p:custDataLst>
              <p:tags r:id="rId25"/>
            </p:custDataLst>
          </p:nvPr>
        </p:nvSpPr>
        <p:spPr>
          <a:xfrm>
            <a:off x="427990" y="4302125"/>
            <a:ext cx="3795395" cy="1868805"/>
          </a:xfrm>
          <a:prstGeom prst="rect">
            <a:avLst/>
          </a:prstGeom>
        </p:spPr>
        <p:txBody>
          <a:bodyPr anchor="ctr">
            <a:noAutofit/>
          </a:bodyPr>
          <a:lstStyle/>
          <a:p>
            <a:pPr algn="r" fontAlgn="auto">
              <a:lnSpc>
                <a:spcPct val="220000"/>
              </a:lnSpc>
              <a:defRPr/>
            </a:pPr>
            <a:r>
              <a:rPr lang="zh-CN" altLang="en-US" b="1" dirty="0"/>
              <a:t>允许直接访问物理地址</a:t>
            </a:r>
            <a:endParaRPr lang="en-US" altLang="zh-CN" b="1" dirty="0"/>
          </a:p>
          <a:p>
            <a:pPr algn="r" fontAlgn="auto">
              <a:lnSpc>
                <a:spcPct val="220000"/>
              </a:lnSpc>
              <a:defRPr/>
            </a:pPr>
            <a:r>
              <a:rPr lang="zh-CN" altLang="en-US" b="1" dirty="0"/>
              <a:t>能进行位</a:t>
            </a:r>
            <a:r>
              <a:rPr lang="en-US" altLang="zh-CN" b="1" dirty="0"/>
              <a:t>(bit)</a:t>
            </a:r>
            <a:r>
              <a:rPr lang="zh-CN" altLang="en-US" b="1" dirty="0"/>
              <a:t>操作</a:t>
            </a:r>
            <a:endParaRPr lang="en-US" altLang="zh-CN" b="1" dirty="0"/>
          </a:p>
          <a:p>
            <a:pPr algn="r" fontAlgn="auto">
              <a:lnSpc>
                <a:spcPct val="220000"/>
              </a:lnSpc>
              <a:defRPr/>
            </a:pPr>
            <a:r>
              <a:rPr lang="zh-CN" altLang="en-US" b="1" dirty="0"/>
              <a:t>能实现汇编语言的大部分功能</a:t>
            </a:r>
            <a:endParaRPr lang="en-US" altLang="zh-CN" b="1" dirty="0"/>
          </a:p>
          <a:p>
            <a:pPr algn="r" fontAlgn="auto">
              <a:lnSpc>
                <a:spcPct val="220000"/>
              </a:lnSpc>
              <a:defRPr/>
            </a:pPr>
            <a:r>
              <a:rPr lang="zh-CN" altLang="en-US" b="1" dirty="0"/>
              <a:t>可以直接对硬件进行操作</a:t>
            </a:r>
            <a:endParaRPr lang="en-US" altLang="zh-CN" b="1" dirty="0"/>
          </a:p>
          <a:p>
            <a:pPr algn="r" fontAlgn="auto">
              <a:lnSpc>
                <a:spcPct val="220000"/>
              </a:lnSpc>
              <a:defRPr/>
            </a:pPr>
            <a:r>
              <a:rPr lang="zh-CN" altLang="en-US" b="1" dirty="0"/>
              <a:t>可用来编写系统软件</a:t>
            </a:r>
            <a:endParaRPr lang="zh-C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heel(1)">
                                      <p:cBhvr>
                                        <p:cTn id="7" dur="1000"/>
                                        <p:tgtEl>
                                          <p:spTgt spid="21"/>
                                        </p:tgtEl>
                                      </p:cBhvr>
                                    </p:animEffect>
                                  </p:childTnLst>
                                </p:cTn>
                              </p:par>
                              <p:par>
                                <p:cTn id="8" presetID="53"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p:cTn id="10" dur="1000" fill="hold"/>
                                        <p:tgtEl>
                                          <p:spTgt spid="3"/>
                                        </p:tgtEl>
                                        <p:attrNameLst>
                                          <p:attrName>ppt_w</p:attrName>
                                        </p:attrNameLst>
                                      </p:cBhvr>
                                      <p:tavLst>
                                        <p:tav tm="0">
                                          <p:val>
                                            <p:fltVal val="0"/>
                                          </p:val>
                                        </p:tav>
                                        <p:tav tm="100000">
                                          <p:val>
                                            <p:strVal val="#ppt_w"/>
                                          </p:val>
                                        </p:tav>
                                      </p:tavLst>
                                    </p:anim>
                                    <p:anim calcmode="lin" valueType="num">
                                      <p:cBhvr>
                                        <p:cTn id="11" dur="1000" fill="hold"/>
                                        <p:tgtEl>
                                          <p:spTgt spid="3"/>
                                        </p:tgtEl>
                                        <p:attrNameLst>
                                          <p:attrName>ppt_h</p:attrName>
                                        </p:attrNameLst>
                                      </p:cBhvr>
                                      <p:tavLst>
                                        <p:tav tm="0">
                                          <p:val>
                                            <p:fltVal val="0"/>
                                          </p:val>
                                        </p:tav>
                                        <p:tav tm="100000">
                                          <p:val>
                                            <p:strVal val="#ppt_h"/>
                                          </p:val>
                                        </p:tav>
                                      </p:tavLst>
                                    </p:anim>
                                    <p:animEffect transition="in" filter="fade">
                                      <p:cBhvr>
                                        <p:cTn id="12" dur="1000"/>
                                        <p:tgtEl>
                                          <p:spTgt spid="3"/>
                                        </p:tgtEl>
                                      </p:cBhvr>
                                    </p:animEffect>
                                  </p:childTnLst>
                                </p:cTn>
                              </p:par>
                              <p:par>
                                <p:cTn id="13" presetID="22" presetClass="entr" presetSubtype="8" fill="hold" grpId="0" nodeType="withEffect">
                                  <p:stCondLst>
                                    <p:cond delay="25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1500"/>
                                        <p:tgtEl>
                                          <p:spTgt spid="4"/>
                                        </p:tgtEl>
                                      </p:cBhvr>
                                    </p:animEffect>
                                  </p:childTnLst>
                                </p:cTn>
                              </p:par>
                              <p:par>
                                <p:cTn id="16" presetID="22" presetClass="entr" presetSubtype="8" fill="hold" grpId="0" nodeType="withEffect">
                                  <p:stCondLst>
                                    <p:cond delay="25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1500"/>
                                        <p:tgtEl>
                                          <p:spTgt spid="23"/>
                                        </p:tgtEl>
                                      </p:cBhvr>
                                    </p:animEffect>
                                  </p:childTnLst>
                                </p:cTn>
                              </p:par>
                              <p:par>
                                <p:cTn id="19" presetID="22" presetClass="entr" presetSubtype="8" fill="hold" grpId="0" nodeType="withEffect">
                                  <p:stCondLst>
                                    <p:cond delay="250"/>
                                  </p:stCondLst>
                                  <p:childTnLst>
                                    <p:set>
                                      <p:cBhvr>
                                        <p:cTn id="20" dur="1" fill="hold">
                                          <p:stCondLst>
                                            <p:cond delay="0"/>
                                          </p:stCondLst>
                                        </p:cTn>
                                        <p:tgtEl>
                                          <p:spTgt spid="24"/>
                                        </p:tgtEl>
                                        <p:attrNameLst>
                                          <p:attrName>style.visibility</p:attrName>
                                        </p:attrNameLst>
                                      </p:cBhvr>
                                      <p:to>
                                        <p:strVal val="visible"/>
                                      </p:to>
                                    </p:set>
                                    <p:animEffect transition="in" filter="wipe(left)">
                                      <p:cBhvr>
                                        <p:cTn id="21" dur="1500"/>
                                        <p:tgtEl>
                                          <p:spTgt spid="24"/>
                                        </p:tgtEl>
                                      </p:cBhvr>
                                    </p:animEffect>
                                  </p:childTnLst>
                                </p:cTn>
                              </p:par>
                              <p:par>
                                <p:cTn id="22" presetID="22" presetClass="entr" presetSubtype="8" fill="hold" grpId="0" nodeType="withEffect">
                                  <p:stCondLst>
                                    <p:cond delay="250"/>
                                  </p:stCondLst>
                                  <p:childTnLst>
                                    <p:set>
                                      <p:cBhvr>
                                        <p:cTn id="23" dur="1" fill="hold">
                                          <p:stCondLst>
                                            <p:cond delay="0"/>
                                          </p:stCondLst>
                                        </p:cTn>
                                        <p:tgtEl>
                                          <p:spTgt spid="25"/>
                                        </p:tgtEl>
                                        <p:attrNameLst>
                                          <p:attrName>style.visibility</p:attrName>
                                        </p:attrNameLst>
                                      </p:cBhvr>
                                      <p:to>
                                        <p:strVal val="visible"/>
                                      </p:to>
                                    </p:set>
                                    <p:animEffect transition="in" filter="wipe(left)">
                                      <p:cBhvr>
                                        <p:cTn id="24" dur="1500"/>
                                        <p:tgtEl>
                                          <p:spTgt spid="25"/>
                                        </p:tgtEl>
                                      </p:cBhvr>
                                    </p:animEffect>
                                  </p:childTnLst>
                                </p:cTn>
                              </p:par>
                              <p:par>
                                <p:cTn id="25" presetID="22" presetClass="entr" presetSubtype="8" fill="hold" grpId="0" nodeType="withEffect">
                                  <p:stCondLst>
                                    <p:cond delay="25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1500"/>
                                        <p:tgtEl>
                                          <p:spTgt spid="22"/>
                                        </p:tgtEl>
                                      </p:cBhvr>
                                    </p:animEffect>
                                  </p:childTnLst>
                                </p:cTn>
                              </p:par>
                              <p:par>
                                <p:cTn id="28" presetID="22" presetClass="entr" presetSubtype="2" fill="hold" grpId="0" nodeType="withEffect">
                                  <p:stCondLst>
                                    <p:cond delay="250"/>
                                  </p:stCondLst>
                                  <p:childTnLst>
                                    <p:set>
                                      <p:cBhvr>
                                        <p:cTn id="29" dur="1" fill="hold">
                                          <p:stCondLst>
                                            <p:cond delay="0"/>
                                          </p:stCondLst>
                                        </p:cTn>
                                        <p:tgtEl>
                                          <p:spTgt spid="28"/>
                                        </p:tgtEl>
                                        <p:attrNameLst>
                                          <p:attrName>style.visibility</p:attrName>
                                        </p:attrNameLst>
                                      </p:cBhvr>
                                      <p:to>
                                        <p:strVal val="visible"/>
                                      </p:to>
                                    </p:set>
                                    <p:animEffect transition="in" filter="wipe(right)">
                                      <p:cBhvr>
                                        <p:cTn id="30" dur="1500"/>
                                        <p:tgtEl>
                                          <p:spTgt spid="28"/>
                                        </p:tgtEl>
                                      </p:cBhvr>
                                    </p:animEffect>
                                  </p:childTnLst>
                                </p:cTn>
                              </p:par>
                              <p:par>
                                <p:cTn id="31" presetID="22" presetClass="entr" presetSubtype="2" fill="hold" grpId="0" nodeType="withEffect">
                                  <p:stCondLst>
                                    <p:cond delay="250"/>
                                  </p:stCondLst>
                                  <p:childTnLst>
                                    <p:set>
                                      <p:cBhvr>
                                        <p:cTn id="32" dur="1" fill="hold">
                                          <p:stCondLst>
                                            <p:cond delay="0"/>
                                          </p:stCondLst>
                                        </p:cTn>
                                        <p:tgtEl>
                                          <p:spTgt spid="27"/>
                                        </p:tgtEl>
                                        <p:attrNameLst>
                                          <p:attrName>style.visibility</p:attrName>
                                        </p:attrNameLst>
                                      </p:cBhvr>
                                      <p:to>
                                        <p:strVal val="visible"/>
                                      </p:to>
                                    </p:set>
                                    <p:animEffect transition="in" filter="wipe(right)">
                                      <p:cBhvr>
                                        <p:cTn id="33" dur="1500"/>
                                        <p:tgtEl>
                                          <p:spTgt spid="27"/>
                                        </p:tgtEl>
                                      </p:cBhvr>
                                    </p:animEffect>
                                  </p:childTnLst>
                                </p:cTn>
                              </p:par>
                              <p:par>
                                <p:cTn id="34" presetID="22" presetClass="entr" presetSubtype="2" fill="hold" grpId="0" nodeType="withEffect">
                                  <p:stCondLst>
                                    <p:cond delay="250"/>
                                  </p:stCondLst>
                                  <p:childTnLst>
                                    <p:set>
                                      <p:cBhvr>
                                        <p:cTn id="35" dur="1" fill="hold">
                                          <p:stCondLst>
                                            <p:cond delay="0"/>
                                          </p:stCondLst>
                                        </p:cTn>
                                        <p:tgtEl>
                                          <p:spTgt spid="26"/>
                                        </p:tgtEl>
                                        <p:attrNameLst>
                                          <p:attrName>style.visibility</p:attrName>
                                        </p:attrNameLst>
                                      </p:cBhvr>
                                      <p:to>
                                        <p:strVal val="visible"/>
                                      </p:to>
                                    </p:set>
                                    <p:animEffect transition="in" filter="wipe(right)">
                                      <p:cBhvr>
                                        <p:cTn id="36" dur="1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1" grpId="0" animBg="1"/>
      <p:bldP spid="22" grpId="0"/>
      <p:bldP spid="23" grpId="0"/>
      <p:bldP spid="24" grpId="0"/>
      <p:bldP spid="25" grpId="0"/>
      <p:bldP spid="26" grpId="0"/>
      <p:bldP spid="27"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3" name="内容占位符 2"/>
          <p:cNvSpPr>
            <a:spLocks noGrp="1"/>
          </p:cNvSpPr>
          <p:nvPr>
            <p:ph idx="1"/>
          </p:nvPr>
        </p:nvSpPr>
        <p:spPr>
          <a:xfrm>
            <a:off x="838200" y="1765877"/>
            <a:ext cx="7232374" cy="589584"/>
          </a:xfrm>
        </p:spPr>
        <p:txBody>
          <a:bodyPr>
            <a:normAutofit fontScale="90000"/>
          </a:bodyPr>
          <a:lstStyle/>
          <a:p>
            <a:pPr marL="0" indent="0">
              <a:lnSpc>
                <a:spcPct val="120000"/>
              </a:lnSpc>
              <a:buNone/>
            </a:pPr>
            <a:r>
              <a:rPr lang="en-US" altLang="zh-CN" sz="2400" dirty="0">
                <a:solidFill>
                  <a:schemeClr val="accent1"/>
                </a:solidFill>
              </a:rPr>
              <a:t>【</a:t>
            </a:r>
            <a:r>
              <a:rPr lang="zh-CN" altLang="en-US" sz="2400" b="1" dirty="0">
                <a:solidFill>
                  <a:schemeClr val="accent6"/>
                </a:solidFill>
              </a:rPr>
              <a:t>例</a:t>
            </a:r>
            <a:r>
              <a:rPr lang="en-US" altLang="zh-CN" sz="2400" b="1" dirty="0">
                <a:solidFill>
                  <a:schemeClr val="accent6"/>
                </a:solidFill>
              </a:rPr>
              <a:t>1.1】</a:t>
            </a:r>
            <a:r>
              <a:rPr lang="zh-CN" altLang="en-US" sz="2400" b="1" dirty="0">
                <a:solidFill>
                  <a:schemeClr val="accent6"/>
                </a:solidFill>
              </a:rPr>
              <a:t>要求在屏幕上输出：</a:t>
            </a:r>
            <a:r>
              <a:rPr lang="en-US" altLang="zh-CN" sz="2400" b="1" dirty="0">
                <a:solidFill>
                  <a:schemeClr val="accent6"/>
                </a:solidFill>
              </a:rPr>
              <a:t>This is a C program.</a:t>
            </a:r>
            <a:endParaRPr lang="en-US" altLang="zh-CN" sz="2400" b="1" dirty="0">
              <a:solidFill>
                <a:schemeClr val="accent6"/>
              </a:solidFill>
            </a:endParaRPr>
          </a:p>
        </p:txBody>
      </p:sp>
      <p:sp>
        <p:nvSpPr>
          <p:cNvPr id="4" name="矩形 3"/>
          <p:cNvSpPr/>
          <p:nvPr/>
        </p:nvSpPr>
        <p:spPr>
          <a:xfrm>
            <a:off x="1060173" y="2355461"/>
            <a:ext cx="6771861" cy="398780"/>
          </a:xfrm>
          <a:prstGeom prst="rect">
            <a:avLst/>
          </a:prstGeom>
        </p:spPr>
        <p:txBody>
          <a:bodyPr wrap="square">
            <a:spAutoFit/>
          </a:bodyPr>
          <a:lstStyle/>
          <a:p>
            <a:r>
              <a:rPr lang="zh-CN" altLang="en-US" sz="2000" b="1" dirty="0"/>
              <a:t>解题思路</a:t>
            </a:r>
            <a:r>
              <a:rPr lang="en-US" altLang="zh-CN" sz="2000" b="1" dirty="0"/>
              <a:t>: </a:t>
            </a:r>
            <a:r>
              <a:rPr lang="zh-CN" altLang="en-US" sz="2000" b="1" dirty="0"/>
              <a:t>在主函数中用</a:t>
            </a:r>
            <a:r>
              <a:rPr lang="en-US" altLang="zh-CN" sz="2000" b="1" dirty="0" err="1"/>
              <a:t>printf</a:t>
            </a:r>
            <a:r>
              <a:rPr lang="zh-CN" altLang="en-US" sz="2000" b="1" dirty="0"/>
              <a:t>函数原样输出以上文字。</a:t>
            </a:r>
            <a:endParaRPr lang="zh-CN" altLang="en-US" sz="2000" b="1" dirty="0"/>
          </a:p>
        </p:txBody>
      </p:sp>
      <p:sp>
        <p:nvSpPr>
          <p:cNvPr id="7" name="圆角矩形 6"/>
          <p:cNvSpPr/>
          <p:nvPr/>
        </p:nvSpPr>
        <p:spPr>
          <a:xfrm>
            <a:off x="487045" y="2945130"/>
            <a:ext cx="7583805" cy="2853055"/>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pPr fontAlgn="auto">
              <a:lnSpc>
                <a:spcPct val="150000"/>
              </a:lnSpc>
            </a:pPr>
            <a:r>
              <a:rPr lang="zh-CN" altLang="en-US" b="1" dirty="0"/>
              <a:t>#include &lt;stdio.</a:t>
            </a:r>
            <a:r>
              <a:rPr lang="zh-CN" altLang="en-US" b="1"/>
              <a:t>h&gt;	</a:t>
            </a:r>
            <a:r>
              <a:rPr lang="en-US" altLang="zh-CN" b="1"/>
              <a:t>		</a:t>
            </a:r>
            <a:r>
              <a:rPr lang="zh-CN" altLang="en-US" b="1">
                <a:solidFill>
                  <a:srgbClr val="008000"/>
                </a:solidFill>
              </a:rPr>
              <a:t>//</a:t>
            </a:r>
            <a:r>
              <a:rPr lang="zh-CN" altLang="en-US" b="1" dirty="0">
                <a:solidFill>
                  <a:srgbClr val="008000"/>
                </a:solidFill>
              </a:rPr>
              <a:t>这是编译预处理指令</a:t>
            </a:r>
            <a:endParaRPr lang="zh-CN" altLang="en-US" b="1" dirty="0">
              <a:solidFill>
                <a:srgbClr val="008000"/>
              </a:solidFill>
            </a:endParaRPr>
          </a:p>
          <a:p>
            <a:pPr fontAlgn="auto">
              <a:lnSpc>
                <a:spcPct val="150000"/>
              </a:lnSpc>
            </a:pPr>
            <a:r>
              <a:rPr lang="zh-CN" altLang="en-US" b="1" dirty="0"/>
              <a:t>int </a:t>
            </a:r>
            <a:r>
              <a:rPr lang="zh-CN" altLang="en-US" b="1"/>
              <a:t>main()			</a:t>
            </a:r>
            <a:r>
              <a:rPr lang="en-US" altLang="zh-CN" b="1"/>
              <a:t>	</a:t>
            </a:r>
            <a:r>
              <a:rPr lang="zh-CN" altLang="en-US" b="1">
                <a:solidFill>
                  <a:srgbClr val="008000"/>
                </a:solidFill>
              </a:rPr>
              <a:t>//</a:t>
            </a:r>
            <a:r>
              <a:rPr lang="zh-CN" altLang="en-US" b="1" dirty="0">
                <a:solidFill>
                  <a:srgbClr val="008000"/>
                </a:solidFill>
              </a:rPr>
              <a:t>定义主函数 </a:t>
            </a:r>
            <a:endParaRPr lang="zh-CN" altLang="en-US" b="1" dirty="0">
              <a:solidFill>
                <a:srgbClr val="008000"/>
              </a:solidFill>
            </a:endParaRPr>
          </a:p>
          <a:p>
            <a:pPr fontAlgn="auto">
              <a:lnSpc>
                <a:spcPct val="150000"/>
              </a:lnSpc>
            </a:pPr>
            <a:r>
              <a:rPr lang="zh-CN" altLang="en-US" b="1"/>
              <a:t>{			</a:t>
            </a:r>
            <a:r>
              <a:rPr lang="en-US" altLang="zh-CN" b="1"/>
              <a:t>	</a:t>
            </a:r>
            <a:r>
              <a:rPr lang="zh-CN" altLang="en-US" b="1">
                <a:solidFill>
                  <a:srgbClr val="008000"/>
                </a:solidFill>
              </a:rPr>
              <a:t>//</a:t>
            </a:r>
            <a:r>
              <a:rPr lang="zh-CN" altLang="en-US" b="1" dirty="0">
                <a:solidFill>
                  <a:srgbClr val="008000"/>
                </a:solidFill>
              </a:rPr>
              <a:t>函数开始的标志 </a:t>
            </a:r>
            <a:endParaRPr lang="zh-CN" altLang="en-US" b="1" dirty="0">
              <a:solidFill>
                <a:srgbClr val="008000"/>
              </a:solidFill>
            </a:endParaRPr>
          </a:p>
          <a:p>
            <a:pPr fontAlgn="auto">
              <a:lnSpc>
                <a:spcPct val="150000"/>
              </a:lnSpc>
            </a:pPr>
            <a:r>
              <a:rPr lang="zh-CN" altLang="en-US" b="1" dirty="0"/>
              <a:t>    </a:t>
            </a:r>
            <a:r>
              <a:rPr lang="en-US" altLang="zh-CN" b="1" dirty="0" err="1"/>
              <a:t>printf</a:t>
            </a:r>
            <a:r>
              <a:rPr lang="en-US" altLang="zh-CN" b="1" dirty="0"/>
              <a:t>("This is a C program.\n</a:t>
            </a:r>
            <a:r>
              <a:rPr lang="en-US" altLang="zh-CN" b="1"/>
              <a:t>")</a:t>
            </a:r>
            <a:r>
              <a:rPr lang="zh-CN" altLang="en-US" b="1"/>
              <a:t>;	</a:t>
            </a:r>
            <a:r>
              <a:rPr lang="zh-CN" altLang="en-US" b="1">
                <a:solidFill>
                  <a:srgbClr val="008000"/>
                </a:solidFill>
              </a:rPr>
              <a:t>//</a:t>
            </a:r>
            <a:r>
              <a:rPr lang="zh-CN" altLang="en-US" b="1" dirty="0">
                <a:solidFill>
                  <a:srgbClr val="008000"/>
                </a:solidFill>
              </a:rPr>
              <a:t>输出所指定的一行信息</a:t>
            </a:r>
            <a:r>
              <a:rPr lang="zh-CN" altLang="en-US" b="1" dirty="0">
                <a:solidFill>
                  <a:srgbClr val="0070C0"/>
                </a:solidFill>
              </a:rPr>
              <a:t> </a:t>
            </a:r>
            <a:endParaRPr lang="zh-CN" altLang="en-US" b="1" dirty="0">
              <a:solidFill>
                <a:srgbClr val="0070C0"/>
              </a:solidFill>
            </a:endParaRPr>
          </a:p>
          <a:p>
            <a:pPr fontAlgn="auto">
              <a:lnSpc>
                <a:spcPct val="150000"/>
              </a:lnSpc>
            </a:pPr>
            <a:r>
              <a:rPr lang="zh-CN" altLang="en-US" b="1" dirty="0"/>
              <a:t>    return </a:t>
            </a:r>
            <a:r>
              <a:rPr lang="zh-CN" altLang="en-US" b="1"/>
              <a:t>0;			</a:t>
            </a:r>
            <a:r>
              <a:rPr lang="zh-CN" altLang="en-US" b="1">
                <a:solidFill>
                  <a:srgbClr val="008000"/>
                </a:solidFill>
              </a:rPr>
              <a:t>//</a:t>
            </a:r>
            <a:r>
              <a:rPr lang="zh-CN" altLang="en-US" b="1" dirty="0">
                <a:solidFill>
                  <a:srgbClr val="008000"/>
                </a:solidFill>
              </a:rPr>
              <a:t>函数执行完毕时返回函数值0</a:t>
            </a:r>
            <a:endParaRPr lang="zh-CN" altLang="en-US" b="1" dirty="0">
              <a:solidFill>
                <a:srgbClr val="008000"/>
              </a:solidFill>
            </a:endParaRPr>
          </a:p>
          <a:p>
            <a:pPr fontAlgn="auto">
              <a:lnSpc>
                <a:spcPct val="150000"/>
              </a:lnSpc>
            </a:pPr>
            <a:r>
              <a:rPr lang="zh-CN" altLang="en-US" b="1"/>
              <a:t>}			</a:t>
            </a:r>
            <a:r>
              <a:rPr lang="en-US" altLang="zh-CN" b="1"/>
              <a:t>	</a:t>
            </a:r>
            <a:r>
              <a:rPr lang="zh-CN" altLang="en-US" b="1">
                <a:solidFill>
                  <a:srgbClr val="008000"/>
                </a:solidFill>
              </a:rPr>
              <a:t>//</a:t>
            </a:r>
            <a:r>
              <a:rPr lang="zh-CN" altLang="en-US" b="1" dirty="0">
                <a:solidFill>
                  <a:srgbClr val="008000"/>
                </a:solidFill>
              </a:rPr>
              <a:t>函数结束的标志</a:t>
            </a:r>
            <a:endParaRPr lang="zh-CN" altLang="en-US" b="1" dirty="0">
              <a:solidFill>
                <a:srgbClr val="008000"/>
              </a:solidFill>
            </a:endParaRPr>
          </a:p>
        </p:txBody>
      </p:sp>
      <p:pic>
        <p:nvPicPr>
          <p:cNvPr id="8" name="图片 7"/>
          <p:cNvPicPr>
            <a:picLocks noChangeAspect="1"/>
          </p:cNvPicPr>
          <p:nvPr/>
        </p:nvPicPr>
        <p:blipFill>
          <a:blip r:embed="rId1"/>
          <a:stretch>
            <a:fillRect/>
          </a:stretch>
        </p:blipFill>
        <p:spPr>
          <a:xfrm>
            <a:off x="6501130" y="5289550"/>
            <a:ext cx="5137150" cy="11506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750"/>
                                        <p:tgtEl>
                                          <p:spTgt spid="8"/>
                                        </p:tgtEl>
                                      </p:cBhvr>
                                    </p:animEffect>
                                    <p:anim calcmode="lin" valueType="num">
                                      <p:cBhvr>
                                        <p:cTn id="25" dur="750" fill="hold"/>
                                        <p:tgtEl>
                                          <p:spTgt spid="8"/>
                                        </p:tgtEl>
                                        <p:attrNameLst>
                                          <p:attrName>ppt_x</p:attrName>
                                        </p:attrNameLst>
                                      </p:cBhvr>
                                      <p:tavLst>
                                        <p:tav tm="0">
                                          <p:val>
                                            <p:strVal val="#ppt_x"/>
                                          </p:val>
                                        </p:tav>
                                        <p:tav tm="100000">
                                          <p:val>
                                            <p:strVal val="#ppt_x"/>
                                          </p:val>
                                        </p:tav>
                                      </p:tavLst>
                                    </p:anim>
                                    <p:anim calcmode="lin" valueType="num">
                                      <p:cBhvr>
                                        <p:cTn id="26" dur="75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1022350" y="1299210"/>
            <a:ext cx="7010400" cy="2279650"/>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pPr fontAlgn="auto">
              <a:lnSpc>
                <a:spcPct val="100000"/>
              </a:lnSpc>
            </a:pPr>
            <a:r>
              <a:rPr lang="zh-CN" altLang="en-US" b="1" dirty="0"/>
              <a:t>#include &lt;stdio.</a:t>
            </a:r>
            <a:r>
              <a:rPr lang="zh-CN" altLang="en-US" b="1"/>
              <a:t>h&gt;	</a:t>
            </a:r>
            <a:r>
              <a:rPr lang="en-US" altLang="zh-CN" b="1"/>
              <a:t>		</a:t>
            </a:r>
            <a:r>
              <a:rPr lang="zh-CN" altLang="en-US" b="1">
                <a:solidFill>
                  <a:srgbClr val="008000"/>
                </a:solidFill>
              </a:rPr>
              <a:t>//</a:t>
            </a:r>
            <a:r>
              <a:rPr lang="zh-CN" altLang="en-US" b="1" dirty="0">
                <a:solidFill>
                  <a:srgbClr val="008000"/>
                </a:solidFill>
              </a:rPr>
              <a:t>这是编译预处理指令</a:t>
            </a:r>
            <a:endParaRPr lang="zh-CN" altLang="en-US" b="1" dirty="0">
              <a:solidFill>
                <a:srgbClr val="008000"/>
              </a:solidFill>
            </a:endParaRPr>
          </a:p>
          <a:p>
            <a:pPr fontAlgn="auto">
              <a:lnSpc>
                <a:spcPct val="100000"/>
              </a:lnSpc>
            </a:pPr>
            <a:r>
              <a:rPr lang="zh-CN" altLang="en-US" b="1" dirty="0"/>
              <a:t>int </a:t>
            </a:r>
            <a:r>
              <a:rPr lang="zh-CN" altLang="en-US" b="1"/>
              <a:t>main()			</a:t>
            </a:r>
            <a:r>
              <a:rPr lang="en-US" altLang="zh-CN" b="1"/>
              <a:t>	</a:t>
            </a:r>
            <a:r>
              <a:rPr lang="zh-CN" altLang="en-US" b="1">
                <a:solidFill>
                  <a:srgbClr val="008000"/>
                </a:solidFill>
              </a:rPr>
              <a:t>//</a:t>
            </a:r>
            <a:r>
              <a:rPr lang="zh-CN" altLang="en-US" b="1" dirty="0">
                <a:solidFill>
                  <a:srgbClr val="008000"/>
                </a:solidFill>
              </a:rPr>
              <a:t>定义主函数 </a:t>
            </a:r>
            <a:endParaRPr lang="zh-CN" altLang="en-US" b="1" dirty="0">
              <a:solidFill>
                <a:srgbClr val="008000"/>
              </a:solidFill>
            </a:endParaRPr>
          </a:p>
          <a:p>
            <a:pPr fontAlgn="auto">
              <a:lnSpc>
                <a:spcPct val="100000"/>
              </a:lnSpc>
            </a:pPr>
            <a:r>
              <a:rPr lang="zh-CN" altLang="en-US" b="1"/>
              <a:t>{			</a:t>
            </a:r>
            <a:r>
              <a:rPr lang="en-US" altLang="zh-CN" b="1"/>
              <a:t>	</a:t>
            </a:r>
            <a:r>
              <a:rPr lang="zh-CN" altLang="en-US" b="1">
                <a:solidFill>
                  <a:srgbClr val="008000"/>
                </a:solidFill>
              </a:rPr>
              <a:t>//</a:t>
            </a:r>
            <a:r>
              <a:rPr lang="zh-CN" altLang="en-US" b="1" dirty="0">
                <a:solidFill>
                  <a:srgbClr val="008000"/>
                </a:solidFill>
              </a:rPr>
              <a:t>函数开始的标志 </a:t>
            </a:r>
            <a:endParaRPr lang="zh-CN" altLang="en-US" b="1" dirty="0">
              <a:solidFill>
                <a:srgbClr val="008000"/>
              </a:solidFill>
            </a:endParaRPr>
          </a:p>
          <a:p>
            <a:pPr fontAlgn="auto">
              <a:lnSpc>
                <a:spcPct val="100000"/>
              </a:lnSpc>
            </a:pPr>
            <a:r>
              <a:rPr lang="zh-CN" altLang="en-US" b="1" dirty="0"/>
              <a:t>    </a:t>
            </a:r>
            <a:r>
              <a:rPr lang="en-US" altLang="zh-CN" b="1" dirty="0" err="1"/>
              <a:t>printf</a:t>
            </a:r>
            <a:r>
              <a:rPr lang="en-US" altLang="zh-CN" b="1" dirty="0"/>
              <a:t>("This is a C program.\n</a:t>
            </a:r>
            <a:r>
              <a:rPr lang="en-US" altLang="zh-CN" b="1"/>
              <a:t>")</a:t>
            </a:r>
            <a:r>
              <a:rPr lang="zh-CN" altLang="en-US" b="1"/>
              <a:t>;	</a:t>
            </a:r>
            <a:r>
              <a:rPr lang="zh-CN" altLang="en-US" b="1">
                <a:solidFill>
                  <a:srgbClr val="008000"/>
                </a:solidFill>
              </a:rPr>
              <a:t>//</a:t>
            </a:r>
            <a:r>
              <a:rPr lang="zh-CN" altLang="en-US" b="1" dirty="0">
                <a:solidFill>
                  <a:srgbClr val="008000"/>
                </a:solidFill>
              </a:rPr>
              <a:t>输出所指定的一行信息</a:t>
            </a:r>
            <a:r>
              <a:rPr lang="zh-CN" altLang="en-US" b="1" dirty="0">
                <a:solidFill>
                  <a:srgbClr val="0070C0"/>
                </a:solidFill>
              </a:rPr>
              <a:t> </a:t>
            </a:r>
            <a:endParaRPr lang="zh-CN" altLang="en-US" b="1" dirty="0">
              <a:solidFill>
                <a:srgbClr val="0070C0"/>
              </a:solidFill>
            </a:endParaRPr>
          </a:p>
          <a:p>
            <a:pPr fontAlgn="auto">
              <a:lnSpc>
                <a:spcPct val="100000"/>
              </a:lnSpc>
            </a:pPr>
            <a:r>
              <a:rPr lang="zh-CN" altLang="en-US" b="1" dirty="0"/>
              <a:t>    return </a:t>
            </a:r>
            <a:r>
              <a:rPr lang="zh-CN" altLang="en-US" b="1"/>
              <a:t>0;			</a:t>
            </a:r>
            <a:r>
              <a:rPr lang="zh-CN" altLang="en-US" b="1">
                <a:solidFill>
                  <a:srgbClr val="008000"/>
                </a:solidFill>
              </a:rPr>
              <a:t>//</a:t>
            </a:r>
            <a:r>
              <a:rPr lang="zh-CN" altLang="en-US" b="1" dirty="0">
                <a:solidFill>
                  <a:srgbClr val="008000"/>
                </a:solidFill>
              </a:rPr>
              <a:t>函数执行完毕时返回函数值0</a:t>
            </a:r>
            <a:endParaRPr lang="zh-CN" altLang="en-US" b="1" dirty="0">
              <a:solidFill>
                <a:srgbClr val="008000"/>
              </a:solidFill>
            </a:endParaRPr>
          </a:p>
          <a:p>
            <a:pPr fontAlgn="auto">
              <a:lnSpc>
                <a:spcPct val="100000"/>
              </a:lnSpc>
            </a:pPr>
            <a:r>
              <a:rPr lang="zh-CN" altLang="en-US" b="1"/>
              <a:t>}			</a:t>
            </a:r>
            <a:r>
              <a:rPr lang="en-US" altLang="zh-CN" b="1"/>
              <a:t>	</a:t>
            </a:r>
            <a:r>
              <a:rPr lang="zh-CN" altLang="en-US" b="1">
                <a:solidFill>
                  <a:srgbClr val="008000"/>
                </a:solidFill>
              </a:rPr>
              <a:t>//</a:t>
            </a:r>
            <a:r>
              <a:rPr lang="zh-CN" altLang="en-US" b="1" dirty="0">
                <a:solidFill>
                  <a:srgbClr val="008000"/>
                </a:solidFill>
              </a:rPr>
              <a:t>函数结束的标志</a:t>
            </a:r>
            <a:endParaRPr lang="zh-CN" altLang="en-US" b="1" dirty="0">
              <a:solidFill>
                <a:srgbClr val="008000"/>
              </a:solidFill>
            </a:endParaRPr>
          </a:p>
        </p:txBody>
      </p:sp>
      <p:sp>
        <p:nvSpPr>
          <p:cNvPr id="9" name="折角形 8"/>
          <p:cNvSpPr/>
          <p:nvPr/>
        </p:nvSpPr>
        <p:spPr>
          <a:xfrm>
            <a:off x="838200" y="3579495"/>
            <a:ext cx="10454005" cy="3089275"/>
          </a:xfrm>
          <a:prstGeom prst="foldedCorner">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18" name="组合 17"/>
          <p:cNvGrpSpPr/>
          <p:nvPr/>
        </p:nvGrpSpPr>
        <p:grpSpPr>
          <a:xfrm>
            <a:off x="1633220" y="3435279"/>
            <a:ext cx="2593340" cy="604520"/>
            <a:chOff x="8656983" y="1203671"/>
            <a:chExt cx="2593340" cy="536369"/>
          </a:xfrm>
        </p:grpSpPr>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56983" y="1203671"/>
              <a:ext cx="487017" cy="487017"/>
            </a:xfrm>
            <a:prstGeom prst="rect">
              <a:avLst/>
            </a:prstGeom>
          </p:spPr>
        </p:pic>
        <p:sp>
          <p:nvSpPr>
            <p:cNvPr id="13" name="文本框 12"/>
            <p:cNvSpPr txBox="1"/>
            <p:nvPr/>
          </p:nvSpPr>
          <p:spPr>
            <a:xfrm>
              <a:off x="9253248" y="1331566"/>
              <a:ext cx="1997075" cy="408474"/>
            </a:xfrm>
            <a:prstGeom prst="rect">
              <a:avLst/>
            </a:prstGeom>
            <a:noFill/>
          </p:spPr>
          <p:txBody>
            <a:bodyPr wrap="square" rtlCol="0">
              <a:spAutoFit/>
            </a:bodyPr>
            <a:lstStyle/>
            <a:p>
              <a:pPr algn="dist"/>
              <a:r>
                <a:rPr lang="zh-CN" altLang="en-US" sz="2400" b="1" dirty="0">
                  <a:solidFill>
                    <a:schemeClr val="bg1"/>
                  </a:solidFill>
                  <a:latin typeface="微软雅黑" panose="020B0503020204020204" pitchFamily="34" charset="-122"/>
                  <a:ea typeface="微软雅黑" panose="020B0503020204020204" pitchFamily="34" charset="-122"/>
                </a:rPr>
                <a:t>程序分析</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8656983" y="1690688"/>
              <a:ext cx="183874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022073" y="4091463"/>
            <a:ext cx="10139570" cy="2168525"/>
          </a:xfrm>
          <a:prstGeom prst="rect">
            <a:avLst/>
          </a:prstGeom>
          <a:noFill/>
        </p:spPr>
        <p:txBody>
          <a:bodyPr wrap="square" rtlCol="0">
            <a:spAutoFit/>
          </a:bodyPr>
          <a:lstStyle/>
          <a:p>
            <a:pPr marL="285750" indent="-285750">
              <a:lnSpc>
                <a:spcPct val="150000"/>
              </a:lnSpc>
              <a:buClr>
                <a:schemeClr val="bg1"/>
              </a:buClr>
              <a:buFont typeface="Arial" panose="020B0604020202020204" pitchFamily="34" charset="0"/>
              <a:buChar char="•"/>
            </a:pPr>
            <a:r>
              <a:rPr lang="en-US" altLang="zh-CN" b="1" dirty="0">
                <a:solidFill>
                  <a:srgbClr val="FFFF00"/>
                </a:solidFill>
              </a:rPr>
              <a:t>main</a:t>
            </a:r>
            <a:r>
              <a:rPr lang="zh-CN" altLang="en-US" b="1" dirty="0">
                <a:solidFill>
                  <a:schemeClr val="bg1"/>
                </a:solidFill>
              </a:rPr>
              <a:t>是函数的名字，表示“主函数”；每一个</a:t>
            </a:r>
            <a:r>
              <a:rPr lang="en-US" altLang="zh-CN" b="1" dirty="0">
                <a:solidFill>
                  <a:schemeClr val="bg1"/>
                </a:solidFill>
              </a:rPr>
              <a:t>C</a:t>
            </a:r>
            <a:r>
              <a:rPr lang="zh-CN" altLang="en-US" b="1" dirty="0">
                <a:solidFill>
                  <a:schemeClr val="bg1"/>
                </a:solidFill>
              </a:rPr>
              <a:t>语言程序都必须有一个 </a:t>
            </a:r>
            <a:r>
              <a:rPr lang="en-US" altLang="zh-CN" b="1" dirty="0">
                <a:solidFill>
                  <a:schemeClr val="bg1"/>
                </a:solidFill>
              </a:rPr>
              <a:t>main </a:t>
            </a:r>
            <a:r>
              <a:rPr lang="zh-CN" altLang="en-US" b="1" dirty="0">
                <a:solidFill>
                  <a:schemeClr val="bg1"/>
                </a:solidFill>
              </a:rPr>
              <a:t>函数。</a:t>
            </a:r>
            <a:endParaRPr lang="en-US" altLang="zh-CN" b="1" dirty="0">
              <a:solidFill>
                <a:schemeClr val="bg1"/>
              </a:solidFill>
            </a:endParaRPr>
          </a:p>
          <a:p>
            <a:pPr marL="285750" indent="-285750">
              <a:lnSpc>
                <a:spcPct val="150000"/>
              </a:lnSpc>
              <a:buClr>
                <a:schemeClr val="bg1"/>
              </a:buClr>
              <a:buFont typeface="Arial" panose="020B0604020202020204" pitchFamily="34" charset="0"/>
              <a:buChar char="•"/>
            </a:pPr>
            <a:r>
              <a:rPr lang="en-US" altLang="zh-CN" b="1" dirty="0">
                <a:solidFill>
                  <a:schemeClr val="bg1"/>
                </a:solidFill>
              </a:rPr>
              <a:t>main</a:t>
            </a:r>
            <a:r>
              <a:rPr lang="zh-CN" altLang="en-US" b="1" dirty="0">
                <a:solidFill>
                  <a:schemeClr val="bg1"/>
                </a:solidFill>
              </a:rPr>
              <a:t>前面的</a:t>
            </a:r>
            <a:r>
              <a:rPr lang="en-US" altLang="zh-CN" b="1" dirty="0" err="1">
                <a:solidFill>
                  <a:srgbClr val="FFFF00"/>
                </a:solidFill>
              </a:rPr>
              <a:t>int</a:t>
            </a:r>
            <a:r>
              <a:rPr lang="zh-CN" altLang="en-US" b="1" dirty="0">
                <a:solidFill>
                  <a:schemeClr val="bg1"/>
                </a:solidFill>
              </a:rPr>
              <a:t>表示此函数的类型是</a:t>
            </a:r>
            <a:r>
              <a:rPr lang="en-US" altLang="zh-CN" b="1" dirty="0" err="1">
                <a:solidFill>
                  <a:schemeClr val="bg1"/>
                </a:solidFill>
              </a:rPr>
              <a:t>int</a:t>
            </a:r>
            <a:r>
              <a:rPr lang="zh-CN" altLang="en-US" b="1" dirty="0">
                <a:solidFill>
                  <a:schemeClr val="bg1"/>
                </a:solidFill>
              </a:rPr>
              <a:t>类型</a:t>
            </a:r>
            <a:r>
              <a:rPr lang="en-US" altLang="zh-CN" b="1" dirty="0">
                <a:solidFill>
                  <a:schemeClr val="bg1"/>
                </a:solidFill>
              </a:rPr>
              <a:t>(</a:t>
            </a:r>
            <a:r>
              <a:rPr lang="zh-CN" altLang="en-US" b="1" dirty="0">
                <a:solidFill>
                  <a:schemeClr val="bg1"/>
                </a:solidFill>
              </a:rPr>
              <a:t>整型</a:t>
            </a:r>
            <a:r>
              <a:rPr lang="en-US" altLang="zh-CN" b="1" dirty="0">
                <a:solidFill>
                  <a:schemeClr val="bg1"/>
                </a:solidFill>
              </a:rPr>
              <a:t>)</a:t>
            </a:r>
            <a:r>
              <a:rPr lang="zh-CN" altLang="en-US" b="1" dirty="0">
                <a:solidFill>
                  <a:schemeClr val="bg1"/>
                </a:solidFill>
              </a:rPr>
              <a:t>，即在执行主函数后会得到一个值</a:t>
            </a:r>
            <a:r>
              <a:rPr lang="en-US" altLang="zh-CN" b="1" dirty="0">
                <a:solidFill>
                  <a:schemeClr val="bg1"/>
                </a:solidFill>
              </a:rPr>
              <a:t>(</a:t>
            </a:r>
            <a:r>
              <a:rPr lang="zh-CN" altLang="en-US" b="1" dirty="0">
                <a:solidFill>
                  <a:schemeClr val="bg1"/>
                </a:solidFill>
              </a:rPr>
              <a:t>即函数值</a:t>
            </a:r>
            <a:r>
              <a:rPr lang="en-US" altLang="zh-CN" b="1" dirty="0">
                <a:solidFill>
                  <a:schemeClr val="bg1"/>
                </a:solidFill>
              </a:rPr>
              <a:t>)</a:t>
            </a:r>
            <a:r>
              <a:rPr lang="zh-CN" altLang="en-US" b="1" dirty="0">
                <a:solidFill>
                  <a:schemeClr val="bg1"/>
                </a:solidFill>
              </a:rPr>
              <a:t>，其值为整型。</a:t>
            </a:r>
            <a:endParaRPr lang="en-US" altLang="zh-CN" b="1" dirty="0">
              <a:solidFill>
                <a:schemeClr val="bg1"/>
              </a:solidFill>
            </a:endParaRPr>
          </a:p>
          <a:p>
            <a:pPr marL="285750" indent="-285750">
              <a:lnSpc>
                <a:spcPct val="150000"/>
              </a:lnSpc>
              <a:buClr>
                <a:schemeClr val="bg1"/>
              </a:buClr>
              <a:buFont typeface="Arial" panose="020B0604020202020204" pitchFamily="34" charset="0"/>
              <a:buChar char="•"/>
            </a:pPr>
            <a:r>
              <a:rPr lang="en-US" altLang="zh-CN" b="1" dirty="0">
                <a:solidFill>
                  <a:srgbClr val="FFFF00"/>
                </a:solidFill>
              </a:rPr>
              <a:t>return 0;</a:t>
            </a:r>
            <a:r>
              <a:rPr lang="zh-CN" altLang="en-US" b="1" dirty="0">
                <a:solidFill>
                  <a:schemeClr val="bg1"/>
                </a:solidFill>
              </a:rPr>
              <a:t>的作用是当</a:t>
            </a:r>
            <a:r>
              <a:rPr lang="en-US" altLang="zh-CN" b="1" dirty="0">
                <a:solidFill>
                  <a:schemeClr val="bg1"/>
                </a:solidFill>
              </a:rPr>
              <a:t>main</a:t>
            </a:r>
            <a:r>
              <a:rPr lang="zh-CN" altLang="en-US" b="1" dirty="0">
                <a:solidFill>
                  <a:schemeClr val="bg1"/>
                </a:solidFill>
              </a:rPr>
              <a:t>函数执行结束前将整数</a:t>
            </a:r>
            <a:r>
              <a:rPr lang="en-US" altLang="zh-CN" b="1" dirty="0">
                <a:solidFill>
                  <a:schemeClr val="bg1"/>
                </a:solidFill>
              </a:rPr>
              <a:t>0</a:t>
            </a:r>
            <a:r>
              <a:rPr lang="zh-CN" altLang="en-US" b="1" dirty="0">
                <a:solidFill>
                  <a:schemeClr val="bg1"/>
                </a:solidFill>
              </a:rPr>
              <a:t>作为函数值，返回到调用函数处。</a:t>
            </a:r>
            <a:endParaRPr lang="en-US" altLang="zh-CN" b="1" dirty="0">
              <a:solidFill>
                <a:schemeClr val="bg1"/>
              </a:solidFill>
            </a:endParaRPr>
          </a:p>
          <a:p>
            <a:pPr marL="285750" indent="-285750">
              <a:lnSpc>
                <a:spcPct val="150000"/>
              </a:lnSpc>
              <a:buClr>
                <a:schemeClr val="bg1"/>
              </a:buClr>
              <a:buFont typeface="Arial" panose="020B0604020202020204" pitchFamily="34" charset="0"/>
              <a:buChar char="•"/>
            </a:pPr>
            <a:r>
              <a:rPr lang="zh-CN" altLang="en-US" b="1" dirty="0">
                <a:solidFill>
                  <a:schemeClr val="bg1"/>
                </a:solidFill>
              </a:rPr>
              <a:t>函数体由花括号</a:t>
            </a:r>
            <a:r>
              <a:rPr lang="en-US" altLang="zh-CN" b="1" dirty="0">
                <a:solidFill>
                  <a:srgbClr val="FFFF00"/>
                </a:solidFill>
              </a:rPr>
              <a:t>{}</a:t>
            </a:r>
            <a:r>
              <a:rPr lang="zh-CN" altLang="en-US" b="1" dirty="0">
                <a:solidFill>
                  <a:schemeClr val="bg1"/>
                </a:solidFill>
              </a:rPr>
              <a:t>括起来。</a:t>
            </a:r>
            <a:endParaRPr lang="zh-CN" altLang="en-US"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7">
                                            <p:txEl>
                                              <p:pRg st="0" end="0"/>
                                            </p:txEl>
                                          </p:spTgt>
                                        </p:tgtEl>
                                        <p:attrNameLst>
                                          <p:attrName>style.visibility</p:attrName>
                                        </p:attrNameLst>
                                      </p:cBhvr>
                                      <p:to>
                                        <p:strVal val="visible"/>
                                      </p:to>
                                    </p:set>
                                    <p:animEffect transition="in" filter="wipe(up)">
                                      <p:cBhvr>
                                        <p:cTn id="16" dur="500"/>
                                        <p:tgtEl>
                                          <p:spTgt spid="17">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7">
                                            <p:txEl>
                                              <p:pRg st="1" end="1"/>
                                            </p:txEl>
                                          </p:spTgt>
                                        </p:tgtEl>
                                        <p:attrNameLst>
                                          <p:attrName>style.visibility</p:attrName>
                                        </p:attrNameLst>
                                      </p:cBhvr>
                                      <p:to>
                                        <p:strVal val="visible"/>
                                      </p:to>
                                    </p:set>
                                    <p:animEffect transition="in" filter="wipe(up)">
                                      <p:cBhvr>
                                        <p:cTn id="21" dur="500"/>
                                        <p:tgtEl>
                                          <p:spTgt spid="17">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7">
                                            <p:txEl>
                                              <p:pRg st="2" end="2"/>
                                            </p:txEl>
                                          </p:spTgt>
                                        </p:tgtEl>
                                        <p:attrNameLst>
                                          <p:attrName>style.visibility</p:attrName>
                                        </p:attrNameLst>
                                      </p:cBhvr>
                                      <p:to>
                                        <p:strVal val="visible"/>
                                      </p:to>
                                    </p:set>
                                    <p:animEffect transition="in" filter="wipe(up)">
                                      <p:cBhvr>
                                        <p:cTn id="26" dur="500"/>
                                        <p:tgtEl>
                                          <p:spTgt spid="1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7">
                                            <p:txEl>
                                              <p:pRg st="3" end="3"/>
                                            </p:txEl>
                                          </p:spTgt>
                                        </p:tgtEl>
                                        <p:attrNameLst>
                                          <p:attrName>style.visibility</p:attrName>
                                        </p:attrNameLst>
                                      </p:cBhvr>
                                      <p:to>
                                        <p:strVal val="visible"/>
                                      </p:to>
                                    </p:set>
                                    <p:animEffect transition="in" filter="wipe(up)">
                                      <p:cBhvr>
                                        <p:cTn id="31" dur="500"/>
                                        <p:tgtEl>
                                          <p:spTgt spid="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899795" y="1475105"/>
            <a:ext cx="7010400" cy="2242185"/>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zh-CN" altLang="en-US" b="1" dirty="0"/>
              <a:t>#include &lt;stdio.</a:t>
            </a:r>
            <a:r>
              <a:rPr lang="zh-CN" altLang="en-US" b="1"/>
              <a:t>h&gt;	</a:t>
            </a:r>
            <a:r>
              <a:rPr lang="en-US" altLang="zh-CN" b="1"/>
              <a:t>		</a:t>
            </a:r>
            <a:r>
              <a:rPr lang="zh-CN" altLang="en-US" b="1">
                <a:solidFill>
                  <a:srgbClr val="008000"/>
                </a:solidFill>
              </a:rPr>
              <a:t>//</a:t>
            </a:r>
            <a:r>
              <a:rPr lang="zh-CN" altLang="en-US" b="1" dirty="0">
                <a:solidFill>
                  <a:srgbClr val="008000"/>
                </a:solidFill>
              </a:rPr>
              <a:t>这是编译预处理指令</a:t>
            </a:r>
            <a:endParaRPr lang="zh-CN" altLang="en-US" b="1" dirty="0">
              <a:solidFill>
                <a:srgbClr val="008000"/>
              </a:solidFill>
            </a:endParaRPr>
          </a:p>
          <a:p>
            <a:r>
              <a:rPr lang="zh-CN" altLang="en-US" b="1" dirty="0"/>
              <a:t>int </a:t>
            </a:r>
            <a:r>
              <a:rPr lang="zh-CN" altLang="en-US" b="1"/>
              <a:t>main()			</a:t>
            </a:r>
            <a:r>
              <a:rPr lang="en-US" altLang="zh-CN" b="1"/>
              <a:t>	</a:t>
            </a:r>
            <a:r>
              <a:rPr lang="zh-CN" altLang="en-US" b="1">
                <a:solidFill>
                  <a:srgbClr val="008000"/>
                </a:solidFill>
              </a:rPr>
              <a:t>//</a:t>
            </a:r>
            <a:r>
              <a:rPr lang="zh-CN" altLang="en-US" b="1" dirty="0">
                <a:solidFill>
                  <a:srgbClr val="008000"/>
                </a:solidFill>
              </a:rPr>
              <a:t>定义主函数 </a:t>
            </a:r>
            <a:endParaRPr lang="zh-CN" altLang="en-US" b="1" dirty="0">
              <a:solidFill>
                <a:srgbClr val="008000"/>
              </a:solidFill>
            </a:endParaRPr>
          </a:p>
          <a:p>
            <a:r>
              <a:rPr lang="zh-CN" altLang="en-US" b="1"/>
              <a:t>{			</a:t>
            </a:r>
            <a:r>
              <a:rPr lang="en-US" altLang="zh-CN" b="1"/>
              <a:t>	</a:t>
            </a:r>
            <a:r>
              <a:rPr lang="zh-CN" altLang="en-US" b="1">
                <a:solidFill>
                  <a:srgbClr val="008000"/>
                </a:solidFill>
              </a:rPr>
              <a:t>//</a:t>
            </a:r>
            <a:r>
              <a:rPr lang="zh-CN" altLang="en-US" b="1" dirty="0">
                <a:solidFill>
                  <a:srgbClr val="008000"/>
                </a:solidFill>
              </a:rPr>
              <a:t>函数开始的标志 </a:t>
            </a:r>
            <a:endParaRPr lang="zh-CN" altLang="en-US" b="1" dirty="0">
              <a:solidFill>
                <a:srgbClr val="008000"/>
              </a:solidFill>
            </a:endParaRPr>
          </a:p>
          <a:p>
            <a:r>
              <a:rPr lang="zh-CN" altLang="en-US" b="1" dirty="0"/>
              <a:t>    </a:t>
            </a:r>
            <a:r>
              <a:rPr lang="en-US" altLang="zh-CN" b="1" dirty="0" err="1"/>
              <a:t>printf</a:t>
            </a:r>
            <a:r>
              <a:rPr lang="en-US" altLang="zh-CN" b="1" dirty="0"/>
              <a:t>("This is a C program.\n</a:t>
            </a:r>
            <a:r>
              <a:rPr lang="en-US" altLang="zh-CN" b="1"/>
              <a:t>")</a:t>
            </a:r>
            <a:r>
              <a:rPr lang="zh-CN" altLang="en-US" b="1"/>
              <a:t>;	</a:t>
            </a:r>
            <a:r>
              <a:rPr lang="zh-CN" altLang="en-US" b="1">
                <a:solidFill>
                  <a:srgbClr val="008000"/>
                </a:solidFill>
              </a:rPr>
              <a:t>//</a:t>
            </a:r>
            <a:r>
              <a:rPr lang="zh-CN" altLang="en-US" b="1" dirty="0">
                <a:solidFill>
                  <a:srgbClr val="008000"/>
                </a:solidFill>
              </a:rPr>
              <a:t>输出所指定的一行信息</a:t>
            </a:r>
            <a:r>
              <a:rPr lang="zh-CN" altLang="en-US" b="1" dirty="0">
                <a:solidFill>
                  <a:srgbClr val="0070C0"/>
                </a:solidFill>
              </a:rPr>
              <a:t> </a:t>
            </a:r>
            <a:endParaRPr lang="zh-CN" altLang="en-US" b="1" dirty="0">
              <a:solidFill>
                <a:srgbClr val="0070C0"/>
              </a:solidFill>
            </a:endParaRPr>
          </a:p>
          <a:p>
            <a:r>
              <a:rPr lang="zh-CN" altLang="en-US" b="1" dirty="0"/>
              <a:t>    return </a:t>
            </a:r>
            <a:r>
              <a:rPr lang="zh-CN" altLang="en-US" b="1"/>
              <a:t>0;			</a:t>
            </a:r>
            <a:r>
              <a:rPr lang="zh-CN" altLang="en-US" b="1">
                <a:solidFill>
                  <a:srgbClr val="008000"/>
                </a:solidFill>
              </a:rPr>
              <a:t>//</a:t>
            </a:r>
            <a:r>
              <a:rPr lang="zh-CN" altLang="en-US" b="1" dirty="0">
                <a:solidFill>
                  <a:srgbClr val="008000"/>
                </a:solidFill>
              </a:rPr>
              <a:t>函数执行完毕时返回函数值0</a:t>
            </a:r>
            <a:endParaRPr lang="zh-CN" altLang="en-US" b="1" dirty="0">
              <a:solidFill>
                <a:srgbClr val="008000"/>
              </a:solidFill>
            </a:endParaRPr>
          </a:p>
          <a:p>
            <a:r>
              <a:rPr lang="zh-CN" altLang="en-US" b="1"/>
              <a:t>}			</a:t>
            </a:r>
            <a:r>
              <a:rPr lang="en-US" altLang="zh-CN" b="1"/>
              <a:t>	</a:t>
            </a:r>
            <a:r>
              <a:rPr lang="zh-CN" altLang="en-US" b="1">
                <a:solidFill>
                  <a:srgbClr val="008000"/>
                </a:solidFill>
              </a:rPr>
              <a:t>//</a:t>
            </a:r>
            <a:r>
              <a:rPr lang="zh-CN" altLang="en-US" b="1" dirty="0">
                <a:solidFill>
                  <a:srgbClr val="008000"/>
                </a:solidFill>
              </a:rPr>
              <a:t>函数结束的标志</a:t>
            </a:r>
            <a:endParaRPr lang="zh-CN" altLang="en-US" b="1" dirty="0">
              <a:solidFill>
                <a:srgbClr val="008000"/>
              </a:solidFill>
            </a:endParaRPr>
          </a:p>
        </p:txBody>
      </p:sp>
      <p:sp>
        <p:nvSpPr>
          <p:cNvPr id="9" name="折角形 8"/>
          <p:cNvSpPr/>
          <p:nvPr/>
        </p:nvSpPr>
        <p:spPr>
          <a:xfrm>
            <a:off x="864565" y="3983515"/>
            <a:ext cx="10454310" cy="2536085"/>
          </a:xfrm>
          <a:prstGeom prst="foldedCorner">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18" name="组合 17"/>
          <p:cNvGrpSpPr/>
          <p:nvPr/>
        </p:nvGrpSpPr>
        <p:grpSpPr>
          <a:xfrm>
            <a:off x="1195070" y="4119174"/>
            <a:ext cx="1838740" cy="548898"/>
            <a:chOff x="8656983" y="1203671"/>
            <a:chExt cx="1838740" cy="487017"/>
          </a:xfrm>
        </p:grpSpPr>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56983" y="1203671"/>
              <a:ext cx="487017" cy="487017"/>
            </a:xfrm>
            <a:prstGeom prst="rect">
              <a:avLst/>
            </a:prstGeom>
          </p:spPr>
        </p:pic>
        <p:sp>
          <p:nvSpPr>
            <p:cNvPr id="13" name="文本框 12"/>
            <p:cNvSpPr txBox="1"/>
            <p:nvPr/>
          </p:nvSpPr>
          <p:spPr>
            <a:xfrm>
              <a:off x="9253331" y="1331843"/>
              <a:ext cx="1242392" cy="353823"/>
            </a:xfrm>
            <a:prstGeom prst="rect">
              <a:avLst/>
            </a:prstGeom>
            <a:noFill/>
          </p:spPr>
          <p:txBody>
            <a:bodyPr wrap="square" rtlCol="0">
              <a:spAutoFit/>
            </a:bodyPr>
            <a:lstStyle/>
            <a:p>
              <a:pPr algn="dist"/>
              <a:r>
                <a:rPr lang="zh-CN" altLang="en-US" sz="2000" b="1" dirty="0">
                  <a:solidFill>
                    <a:schemeClr val="bg1"/>
                  </a:solidFill>
                  <a:latin typeface="微软雅黑" panose="020B0503020204020204" pitchFamily="34" charset="-122"/>
                  <a:ea typeface="微软雅黑" panose="020B0503020204020204" pitchFamily="34" charset="-122"/>
                </a:rPr>
                <a:t>程序分析</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8656983" y="1690688"/>
              <a:ext cx="183874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021438" y="4680108"/>
            <a:ext cx="10139570" cy="1476375"/>
          </a:xfrm>
          <a:prstGeom prst="rect">
            <a:avLst/>
          </a:prstGeom>
          <a:noFill/>
        </p:spPr>
        <p:txBody>
          <a:bodyPr wrap="square" rtlCol="0">
            <a:spAutoFit/>
          </a:bodyPr>
          <a:lstStyle/>
          <a:p>
            <a:pPr marL="285750" indent="-285750">
              <a:lnSpc>
                <a:spcPct val="150000"/>
              </a:lnSpc>
              <a:buClr>
                <a:schemeClr val="bg1"/>
              </a:buClr>
              <a:buFont typeface="Arial" panose="020B0604020202020204" pitchFamily="34" charset="0"/>
              <a:buChar char="•"/>
            </a:pPr>
            <a:r>
              <a:rPr lang="en-US" altLang="zh-CN" sz="2000" b="1" dirty="0" err="1">
                <a:solidFill>
                  <a:srgbClr val="FFFF00"/>
                </a:solidFill>
              </a:rPr>
              <a:t>printf</a:t>
            </a:r>
            <a:r>
              <a:rPr lang="zh-CN" altLang="en-US" sz="2000" b="1" dirty="0">
                <a:solidFill>
                  <a:schemeClr val="bg1"/>
                </a:solidFill>
              </a:rPr>
              <a:t>是</a:t>
            </a:r>
            <a:r>
              <a:rPr lang="en-US" altLang="zh-CN" sz="2000" b="1" dirty="0">
                <a:solidFill>
                  <a:schemeClr val="bg1"/>
                </a:solidFill>
              </a:rPr>
              <a:t>C</a:t>
            </a:r>
            <a:r>
              <a:rPr lang="zh-CN" altLang="en-US" sz="2000" b="1" dirty="0">
                <a:solidFill>
                  <a:schemeClr val="bg1"/>
                </a:solidFill>
              </a:rPr>
              <a:t>编译系统提供的函数库中的输出函数</a:t>
            </a:r>
            <a:r>
              <a:rPr lang="zh-CN" sz="2000" b="1" dirty="0">
                <a:solidFill>
                  <a:schemeClr val="bg1"/>
                </a:solidFill>
              </a:rPr>
              <a:t>。</a:t>
            </a:r>
            <a:r>
              <a:rPr lang="zh-CN" altLang="en-US" sz="2000" b="1" dirty="0">
                <a:solidFill>
                  <a:schemeClr val="bg1"/>
                </a:solidFill>
              </a:rPr>
              <a:t>函数中</a:t>
            </a:r>
            <a:r>
              <a:rPr lang="zh-CN" altLang="en-US" sz="2000" b="1" dirty="0">
                <a:solidFill>
                  <a:srgbClr val="FFFF00"/>
                </a:solidFill>
              </a:rPr>
              <a:t>双引号</a:t>
            </a:r>
            <a:r>
              <a:rPr lang="zh-CN" altLang="en-US" sz="2000" b="1" dirty="0">
                <a:solidFill>
                  <a:schemeClr val="bg1"/>
                </a:solidFill>
              </a:rPr>
              <a:t>内的字符串按原样输出。</a:t>
            </a:r>
            <a:endParaRPr lang="zh-CN" altLang="en-US" sz="2000" b="1" dirty="0">
              <a:solidFill>
                <a:schemeClr val="bg1"/>
              </a:solidFill>
            </a:endParaRPr>
          </a:p>
          <a:p>
            <a:pPr marL="285750" indent="-285750">
              <a:lnSpc>
                <a:spcPct val="150000"/>
              </a:lnSpc>
              <a:buClr>
                <a:schemeClr val="bg1"/>
              </a:buClr>
              <a:buFont typeface="Arial" panose="020B0604020202020204" pitchFamily="34" charset="0"/>
              <a:buChar char="•"/>
            </a:pPr>
            <a:r>
              <a:rPr lang="en-US" altLang="zh-CN" sz="2000" b="1" dirty="0">
                <a:solidFill>
                  <a:srgbClr val="FFFF00"/>
                </a:solidFill>
              </a:rPr>
              <a:t>\n</a:t>
            </a:r>
            <a:r>
              <a:rPr lang="zh-CN" altLang="en-US" sz="2000" b="1" dirty="0">
                <a:solidFill>
                  <a:schemeClr val="bg1"/>
                </a:solidFill>
              </a:rPr>
              <a:t>是换行符</a:t>
            </a:r>
            <a:endParaRPr lang="en-US" altLang="zh-CN" sz="2000" b="1" dirty="0">
              <a:solidFill>
                <a:schemeClr val="bg1"/>
              </a:solidFill>
            </a:endParaRPr>
          </a:p>
          <a:p>
            <a:pPr marL="285750" indent="-285750">
              <a:lnSpc>
                <a:spcPct val="150000"/>
              </a:lnSpc>
              <a:buClr>
                <a:schemeClr val="bg1"/>
              </a:buClr>
              <a:buFont typeface="Arial" panose="020B0604020202020204" pitchFamily="34" charset="0"/>
              <a:buChar char="•"/>
            </a:pPr>
            <a:r>
              <a:rPr lang="zh-CN" altLang="en-US" sz="2000" b="1" dirty="0">
                <a:solidFill>
                  <a:schemeClr val="bg1"/>
                </a:solidFill>
              </a:rPr>
              <a:t>每个语句最后都有一个</a:t>
            </a:r>
            <a:r>
              <a:rPr lang="zh-CN" altLang="en-US" sz="2000" b="1" dirty="0">
                <a:solidFill>
                  <a:srgbClr val="FFFF00"/>
                </a:solidFill>
              </a:rPr>
              <a:t>分号</a:t>
            </a:r>
            <a:r>
              <a:rPr lang="zh-CN" altLang="en-US" sz="2000" b="1" dirty="0">
                <a:solidFill>
                  <a:schemeClr val="bg1"/>
                </a:solidFill>
              </a:rPr>
              <a:t>，表示语句结束。</a:t>
            </a:r>
            <a:endParaRPr lang="zh-CN" altLang="en-US" sz="2000" b="1"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up)">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up)">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up)">
                                      <p:cBhvr>
                                        <p:cTn id="17" dur="500"/>
                                        <p:tgtEl>
                                          <p:spTgt spid="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899490" y="1474827"/>
            <a:ext cx="7010401" cy="1680814"/>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zh-CN" altLang="en-US" sz="1600" dirty="0"/>
              <a:t>#include &lt;stdio.</a:t>
            </a:r>
            <a:r>
              <a:rPr lang="zh-CN" altLang="en-US" sz="1600"/>
              <a:t>h&gt;	</a:t>
            </a:r>
            <a:r>
              <a:rPr lang="en-US" altLang="zh-CN" sz="1600"/>
              <a:t>		</a:t>
            </a:r>
            <a:r>
              <a:rPr lang="zh-CN" altLang="en-US" sz="1600">
                <a:solidFill>
                  <a:srgbClr val="008000"/>
                </a:solidFill>
              </a:rPr>
              <a:t>//</a:t>
            </a:r>
            <a:r>
              <a:rPr lang="zh-CN" altLang="en-US" sz="1600" dirty="0">
                <a:solidFill>
                  <a:srgbClr val="008000"/>
                </a:solidFill>
              </a:rPr>
              <a:t>这是编译预处理指令</a:t>
            </a:r>
            <a:endParaRPr lang="zh-CN" altLang="en-US" sz="1600" dirty="0">
              <a:solidFill>
                <a:srgbClr val="008000"/>
              </a:solidFill>
            </a:endParaRPr>
          </a:p>
          <a:p>
            <a:r>
              <a:rPr lang="zh-CN" altLang="en-US" sz="1600" dirty="0"/>
              <a:t>int </a:t>
            </a:r>
            <a:r>
              <a:rPr lang="zh-CN" altLang="en-US" sz="1600"/>
              <a:t>main()			</a:t>
            </a:r>
            <a:r>
              <a:rPr lang="en-US" altLang="zh-CN" sz="1600"/>
              <a:t>	</a:t>
            </a:r>
            <a:r>
              <a:rPr lang="zh-CN" altLang="en-US" sz="1600">
                <a:solidFill>
                  <a:srgbClr val="008000"/>
                </a:solidFill>
              </a:rPr>
              <a:t>//</a:t>
            </a:r>
            <a:r>
              <a:rPr lang="zh-CN" altLang="en-US" sz="1600" dirty="0">
                <a:solidFill>
                  <a:srgbClr val="008000"/>
                </a:solidFill>
              </a:rPr>
              <a:t>定义主函数 </a:t>
            </a:r>
            <a:endParaRPr lang="zh-CN" altLang="en-US" sz="1600" dirty="0">
              <a:solidFill>
                <a:srgbClr val="008000"/>
              </a:solidFill>
            </a:endParaRPr>
          </a:p>
          <a:p>
            <a:r>
              <a:rPr lang="zh-CN" altLang="en-US" sz="1600"/>
              <a:t>{			</a:t>
            </a:r>
            <a:r>
              <a:rPr lang="en-US" altLang="zh-CN" sz="1600"/>
              <a:t>	</a:t>
            </a:r>
            <a:r>
              <a:rPr lang="zh-CN" altLang="en-US" sz="1600">
                <a:solidFill>
                  <a:srgbClr val="008000"/>
                </a:solidFill>
              </a:rPr>
              <a:t>//</a:t>
            </a:r>
            <a:r>
              <a:rPr lang="zh-CN" altLang="en-US" sz="1600" dirty="0">
                <a:solidFill>
                  <a:srgbClr val="008000"/>
                </a:solidFill>
              </a:rPr>
              <a:t>函数开始的标志 </a:t>
            </a:r>
            <a:endParaRPr lang="zh-CN" altLang="en-US" sz="1600" dirty="0">
              <a:solidFill>
                <a:srgbClr val="008000"/>
              </a:solidFill>
            </a:endParaRPr>
          </a:p>
          <a:p>
            <a:r>
              <a:rPr lang="zh-CN" altLang="en-US" sz="1600" dirty="0"/>
              <a:t>    </a:t>
            </a:r>
            <a:r>
              <a:rPr lang="en-US" altLang="zh-CN" sz="1600" dirty="0" err="1"/>
              <a:t>printf</a:t>
            </a:r>
            <a:r>
              <a:rPr lang="en-US" altLang="zh-CN" sz="1600" dirty="0"/>
              <a:t>("This is a C program.\n</a:t>
            </a:r>
            <a:r>
              <a:rPr lang="en-US" altLang="zh-CN" sz="1600"/>
              <a:t>")</a:t>
            </a:r>
            <a:r>
              <a:rPr lang="zh-CN" altLang="en-US" sz="1600"/>
              <a:t>;	</a:t>
            </a:r>
            <a:r>
              <a:rPr lang="zh-CN" altLang="en-US" sz="1600">
                <a:solidFill>
                  <a:srgbClr val="008000"/>
                </a:solidFill>
              </a:rPr>
              <a:t>//</a:t>
            </a:r>
            <a:r>
              <a:rPr lang="zh-CN" altLang="en-US" sz="1600" dirty="0">
                <a:solidFill>
                  <a:srgbClr val="008000"/>
                </a:solidFill>
              </a:rPr>
              <a:t>输出所指定的一行信息</a:t>
            </a:r>
            <a:r>
              <a:rPr lang="zh-CN" altLang="en-US" sz="1600" dirty="0">
                <a:solidFill>
                  <a:srgbClr val="0070C0"/>
                </a:solidFill>
              </a:rPr>
              <a:t> </a:t>
            </a:r>
            <a:endParaRPr lang="zh-CN" altLang="en-US" sz="1600" dirty="0">
              <a:solidFill>
                <a:srgbClr val="0070C0"/>
              </a:solidFill>
            </a:endParaRPr>
          </a:p>
          <a:p>
            <a:r>
              <a:rPr lang="zh-CN" altLang="en-US" sz="1600" dirty="0"/>
              <a:t>    return </a:t>
            </a:r>
            <a:r>
              <a:rPr lang="zh-CN" altLang="en-US" sz="1600"/>
              <a:t>0;			</a:t>
            </a:r>
            <a:r>
              <a:rPr lang="zh-CN" altLang="en-US" sz="1600">
                <a:solidFill>
                  <a:srgbClr val="008000"/>
                </a:solidFill>
              </a:rPr>
              <a:t>//</a:t>
            </a:r>
            <a:r>
              <a:rPr lang="zh-CN" altLang="en-US" sz="1600" dirty="0">
                <a:solidFill>
                  <a:srgbClr val="008000"/>
                </a:solidFill>
              </a:rPr>
              <a:t>函数执行完毕时返回函数值0</a:t>
            </a:r>
            <a:endParaRPr lang="zh-CN" altLang="en-US" sz="1600" dirty="0">
              <a:solidFill>
                <a:srgbClr val="008000"/>
              </a:solidFill>
            </a:endParaRPr>
          </a:p>
          <a:p>
            <a:r>
              <a:rPr lang="zh-CN" altLang="en-US" sz="1600"/>
              <a:t>}			</a:t>
            </a:r>
            <a:r>
              <a:rPr lang="en-US" altLang="zh-CN" sz="1600"/>
              <a:t>	</a:t>
            </a:r>
            <a:r>
              <a:rPr lang="zh-CN" altLang="en-US" sz="1600">
                <a:solidFill>
                  <a:srgbClr val="008000"/>
                </a:solidFill>
              </a:rPr>
              <a:t>//</a:t>
            </a:r>
            <a:r>
              <a:rPr lang="zh-CN" altLang="en-US" sz="1600" dirty="0">
                <a:solidFill>
                  <a:srgbClr val="008000"/>
                </a:solidFill>
              </a:rPr>
              <a:t>函数结束的标志</a:t>
            </a:r>
            <a:endParaRPr lang="zh-CN" altLang="en-US" sz="1600" dirty="0">
              <a:solidFill>
                <a:srgbClr val="008000"/>
              </a:solidFill>
            </a:endParaRPr>
          </a:p>
        </p:txBody>
      </p:sp>
      <p:sp>
        <p:nvSpPr>
          <p:cNvPr id="9" name="折角形 8"/>
          <p:cNvSpPr/>
          <p:nvPr/>
        </p:nvSpPr>
        <p:spPr>
          <a:xfrm>
            <a:off x="899795" y="3434715"/>
            <a:ext cx="10454005" cy="2818765"/>
          </a:xfrm>
          <a:prstGeom prst="foldedCorner">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18" name="组合 17"/>
          <p:cNvGrpSpPr/>
          <p:nvPr/>
        </p:nvGrpSpPr>
        <p:grpSpPr>
          <a:xfrm>
            <a:off x="1104900" y="3434644"/>
            <a:ext cx="1838740" cy="560717"/>
            <a:chOff x="8656983" y="1203671"/>
            <a:chExt cx="1838740" cy="497504"/>
          </a:xfrm>
        </p:grpSpPr>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56983" y="1203671"/>
              <a:ext cx="487017" cy="487017"/>
            </a:xfrm>
            <a:prstGeom prst="rect">
              <a:avLst/>
            </a:prstGeom>
          </p:spPr>
        </p:pic>
        <p:sp>
          <p:nvSpPr>
            <p:cNvPr id="13" name="文本框 12"/>
            <p:cNvSpPr txBox="1"/>
            <p:nvPr/>
          </p:nvSpPr>
          <p:spPr>
            <a:xfrm>
              <a:off x="9253331" y="1331843"/>
              <a:ext cx="1242392" cy="369332"/>
            </a:xfrm>
            <a:prstGeom prst="rect">
              <a:avLst/>
            </a:prstGeom>
            <a:noFill/>
          </p:spPr>
          <p:txBody>
            <a:bodyPr wrap="square" rtlCol="0">
              <a:spAutoFit/>
            </a:bodyPr>
            <a:lstStyle/>
            <a:p>
              <a:pPr algn="dist"/>
              <a:r>
                <a:rPr lang="zh-CN" altLang="en-US" b="1" dirty="0">
                  <a:solidFill>
                    <a:schemeClr val="bg1"/>
                  </a:solidFill>
                  <a:latin typeface="微软雅黑" panose="020B0503020204020204" pitchFamily="34" charset="-122"/>
                  <a:ea typeface="微软雅黑" panose="020B0503020204020204" pitchFamily="34" charset="-122"/>
                </a:rPr>
                <a:t>程序分析</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8656983" y="1690688"/>
              <a:ext cx="183874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022073" y="4091463"/>
            <a:ext cx="9751015" cy="1708160"/>
          </a:xfrm>
          <a:prstGeom prst="rect">
            <a:avLst/>
          </a:prstGeom>
          <a:noFill/>
        </p:spPr>
        <p:txBody>
          <a:bodyPr wrap="square" rtlCol="0">
            <a:spAutoFit/>
          </a:bodyPr>
          <a:lstStyle/>
          <a:p>
            <a:pPr marL="285750" indent="-285750">
              <a:lnSpc>
                <a:spcPct val="150000"/>
              </a:lnSpc>
              <a:buClr>
                <a:schemeClr val="bg1"/>
              </a:buClr>
              <a:buFont typeface="Arial" panose="020B0604020202020204" pitchFamily="34" charset="0"/>
              <a:buChar char="•"/>
            </a:pPr>
            <a:r>
              <a:rPr lang="zh-CN" altLang="en-US" sz="1600" dirty="0">
                <a:solidFill>
                  <a:schemeClr val="bg1"/>
                </a:solidFill>
              </a:rPr>
              <a:t>在使用函数库中的输入输出函数时，编译系统要求程序提供有关此函数的信息，程序第</a:t>
            </a:r>
            <a:r>
              <a:rPr lang="en-US" altLang="zh-CN" sz="1600" dirty="0">
                <a:solidFill>
                  <a:schemeClr val="bg1"/>
                </a:solidFill>
              </a:rPr>
              <a:t>1</a:t>
            </a:r>
            <a:r>
              <a:rPr lang="zh-CN" altLang="en-US" sz="1600" dirty="0">
                <a:solidFill>
                  <a:schemeClr val="bg1"/>
                </a:solidFill>
              </a:rPr>
              <a:t>行“</a:t>
            </a:r>
            <a:r>
              <a:rPr lang="en-US" altLang="zh-CN" b="1" dirty="0">
                <a:solidFill>
                  <a:srgbClr val="FFFF00"/>
                </a:solidFill>
              </a:rPr>
              <a:t>#include &lt;</a:t>
            </a:r>
            <a:r>
              <a:rPr lang="en-US" altLang="zh-CN" b="1" dirty="0" err="1">
                <a:solidFill>
                  <a:srgbClr val="FFFF00"/>
                </a:solidFill>
              </a:rPr>
              <a:t>stdio.h</a:t>
            </a:r>
            <a:r>
              <a:rPr lang="en-US" altLang="zh-CN" b="1" dirty="0">
                <a:solidFill>
                  <a:srgbClr val="FFFF00"/>
                </a:solidFill>
              </a:rPr>
              <a:t>&gt;</a:t>
            </a:r>
            <a:r>
              <a:rPr lang="en-US" altLang="zh-CN" sz="1600" dirty="0">
                <a:solidFill>
                  <a:schemeClr val="bg1"/>
                </a:solidFill>
              </a:rPr>
              <a:t>”</a:t>
            </a:r>
            <a:r>
              <a:rPr lang="zh-CN" altLang="en-US" sz="1600" dirty="0">
                <a:solidFill>
                  <a:schemeClr val="bg1"/>
                </a:solidFill>
              </a:rPr>
              <a:t>的作用就是用来提供这些信息的。</a:t>
            </a:r>
            <a:r>
              <a:rPr lang="en-US" altLang="zh-CN" b="1" dirty="0" err="1">
                <a:solidFill>
                  <a:srgbClr val="FFFF00"/>
                </a:solidFill>
              </a:rPr>
              <a:t>stdio.h</a:t>
            </a:r>
            <a:r>
              <a:rPr lang="zh-CN" altLang="en-US" sz="1600" dirty="0">
                <a:solidFill>
                  <a:schemeClr val="bg1"/>
                </a:solidFill>
              </a:rPr>
              <a:t>是系统提供的一个文件名，</a:t>
            </a:r>
            <a:r>
              <a:rPr lang="en-US" altLang="zh-CN" b="1" dirty="0" err="1">
                <a:solidFill>
                  <a:srgbClr val="FFFF00"/>
                </a:solidFill>
              </a:rPr>
              <a:t>stdio</a:t>
            </a:r>
            <a:r>
              <a:rPr lang="zh-CN" altLang="en-US" sz="1600" dirty="0">
                <a:solidFill>
                  <a:schemeClr val="bg1"/>
                </a:solidFill>
              </a:rPr>
              <a:t>是</a:t>
            </a:r>
            <a:r>
              <a:rPr lang="en-US" altLang="zh-CN" sz="1600" dirty="0">
                <a:solidFill>
                  <a:schemeClr val="bg1"/>
                </a:solidFill>
              </a:rPr>
              <a:t>standard input &amp; output</a:t>
            </a:r>
            <a:r>
              <a:rPr lang="zh-CN" altLang="en-US" sz="1600" dirty="0">
                <a:solidFill>
                  <a:schemeClr val="bg1"/>
                </a:solidFill>
              </a:rPr>
              <a:t>的缩写，文件后缀</a:t>
            </a:r>
            <a:r>
              <a:rPr lang="en-US" altLang="zh-CN" b="1" dirty="0">
                <a:solidFill>
                  <a:srgbClr val="FFFF00"/>
                </a:solidFill>
              </a:rPr>
              <a:t>.h</a:t>
            </a:r>
            <a:r>
              <a:rPr lang="zh-CN" altLang="en-US" sz="1600" dirty="0">
                <a:solidFill>
                  <a:schemeClr val="bg1"/>
                </a:solidFill>
              </a:rPr>
              <a:t>的意思是头文件</a:t>
            </a:r>
            <a:r>
              <a:rPr lang="en-US" altLang="zh-CN" sz="1600" dirty="0">
                <a:solidFill>
                  <a:schemeClr val="bg1"/>
                </a:solidFill>
              </a:rPr>
              <a:t>(header file)</a:t>
            </a:r>
            <a:r>
              <a:rPr lang="zh-CN" altLang="en-US" sz="1600" dirty="0">
                <a:solidFill>
                  <a:schemeClr val="bg1"/>
                </a:solidFill>
              </a:rPr>
              <a:t>，因为这些文件都是放在程序各文件模块的开头的。输入输出函数的相关信息已事先放在</a:t>
            </a:r>
            <a:r>
              <a:rPr lang="en-US" altLang="zh-CN" sz="1600" dirty="0" err="1">
                <a:solidFill>
                  <a:schemeClr val="bg1"/>
                </a:solidFill>
              </a:rPr>
              <a:t>stdio.h</a:t>
            </a:r>
            <a:r>
              <a:rPr lang="zh-CN" altLang="en-US" sz="1600" dirty="0">
                <a:solidFill>
                  <a:schemeClr val="bg1"/>
                </a:solidFill>
              </a:rPr>
              <a:t>文件中。</a:t>
            </a:r>
            <a:endParaRPr lang="en-US" altLang="zh-CN" sz="1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up)">
                                      <p:cBhvr>
                                        <p:cTn id="7"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899490" y="1474827"/>
            <a:ext cx="7010401" cy="1680814"/>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zh-CN" altLang="en-US" sz="1600" dirty="0"/>
              <a:t>#include &lt;stdio.</a:t>
            </a:r>
            <a:r>
              <a:rPr lang="zh-CN" altLang="en-US" sz="1600"/>
              <a:t>h&gt;	</a:t>
            </a:r>
            <a:r>
              <a:rPr lang="en-US" altLang="zh-CN" sz="1600"/>
              <a:t>		</a:t>
            </a:r>
            <a:r>
              <a:rPr lang="zh-CN" altLang="en-US" sz="1600">
                <a:solidFill>
                  <a:srgbClr val="008000"/>
                </a:solidFill>
              </a:rPr>
              <a:t>//</a:t>
            </a:r>
            <a:r>
              <a:rPr lang="zh-CN" altLang="en-US" sz="1600" dirty="0">
                <a:solidFill>
                  <a:srgbClr val="008000"/>
                </a:solidFill>
              </a:rPr>
              <a:t>这是编译预处理指令</a:t>
            </a:r>
            <a:endParaRPr lang="zh-CN" altLang="en-US" sz="1600" dirty="0">
              <a:solidFill>
                <a:srgbClr val="008000"/>
              </a:solidFill>
            </a:endParaRPr>
          </a:p>
          <a:p>
            <a:r>
              <a:rPr lang="zh-CN" altLang="en-US" sz="1600" dirty="0"/>
              <a:t>int </a:t>
            </a:r>
            <a:r>
              <a:rPr lang="zh-CN" altLang="en-US" sz="1600"/>
              <a:t>main()			</a:t>
            </a:r>
            <a:r>
              <a:rPr lang="en-US" altLang="zh-CN" sz="1600"/>
              <a:t>	</a:t>
            </a:r>
            <a:r>
              <a:rPr lang="zh-CN" altLang="en-US" sz="1600">
                <a:solidFill>
                  <a:srgbClr val="008000"/>
                </a:solidFill>
              </a:rPr>
              <a:t>//</a:t>
            </a:r>
            <a:r>
              <a:rPr lang="zh-CN" altLang="en-US" sz="1600" dirty="0">
                <a:solidFill>
                  <a:srgbClr val="008000"/>
                </a:solidFill>
              </a:rPr>
              <a:t>定义主函数 </a:t>
            </a:r>
            <a:endParaRPr lang="zh-CN" altLang="en-US" sz="1600" dirty="0">
              <a:solidFill>
                <a:srgbClr val="008000"/>
              </a:solidFill>
            </a:endParaRPr>
          </a:p>
          <a:p>
            <a:r>
              <a:rPr lang="zh-CN" altLang="en-US" sz="1600"/>
              <a:t>{			</a:t>
            </a:r>
            <a:r>
              <a:rPr lang="en-US" altLang="zh-CN" sz="1600"/>
              <a:t>	</a:t>
            </a:r>
            <a:r>
              <a:rPr lang="zh-CN" altLang="en-US" sz="1600">
                <a:solidFill>
                  <a:srgbClr val="008000"/>
                </a:solidFill>
              </a:rPr>
              <a:t>//</a:t>
            </a:r>
            <a:r>
              <a:rPr lang="zh-CN" altLang="en-US" sz="1600" dirty="0">
                <a:solidFill>
                  <a:srgbClr val="008000"/>
                </a:solidFill>
              </a:rPr>
              <a:t>函数开始的标志 </a:t>
            </a:r>
            <a:endParaRPr lang="zh-CN" altLang="en-US" sz="1600" dirty="0">
              <a:solidFill>
                <a:srgbClr val="008000"/>
              </a:solidFill>
            </a:endParaRPr>
          </a:p>
          <a:p>
            <a:r>
              <a:rPr lang="zh-CN" altLang="en-US" sz="1600" dirty="0"/>
              <a:t>    </a:t>
            </a:r>
            <a:r>
              <a:rPr lang="en-US" altLang="zh-CN" sz="1600" dirty="0" err="1"/>
              <a:t>printf</a:t>
            </a:r>
            <a:r>
              <a:rPr lang="en-US" altLang="zh-CN" sz="1600" dirty="0"/>
              <a:t>("This is a C program.\n</a:t>
            </a:r>
            <a:r>
              <a:rPr lang="en-US" altLang="zh-CN" sz="1600"/>
              <a:t>")</a:t>
            </a:r>
            <a:r>
              <a:rPr lang="zh-CN" altLang="en-US" sz="1600"/>
              <a:t>;	</a:t>
            </a:r>
            <a:r>
              <a:rPr lang="zh-CN" altLang="en-US" sz="1600">
                <a:solidFill>
                  <a:srgbClr val="008000"/>
                </a:solidFill>
              </a:rPr>
              <a:t>//</a:t>
            </a:r>
            <a:r>
              <a:rPr lang="zh-CN" altLang="en-US" sz="1600" dirty="0">
                <a:solidFill>
                  <a:srgbClr val="008000"/>
                </a:solidFill>
              </a:rPr>
              <a:t>输出所指定的一行信息</a:t>
            </a:r>
            <a:r>
              <a:rPr lang="zh-CN" altLang="en-US" sz="1600" dirty="0">
                <a:solidFill>
                  <a:srgbClr val="0070C0"/>
                </a:solidFill>
              </a:rPr>
              <a:t> </a:t>
            </a:r>
            <a:endParaRPr lang="zh-CN" altLang="en-US" sz="1600" dirty="0">
              <a:solidFill>
                <a:srgbClr val="0070C0"/>
              </a:solidFill>
            </a:endParaRPr>
          </a:p>
          <a:p>
            <a:r>
              <a:rPr lang="zh-CN" altLang="en-US" sz="1600" dirty="0"/>
              <a:t>    return </a:t>
            </a:r>
            <a:r>
              <a:rPr lang="zh-CN" altLang="en-US" sz="1600"/>
              <a:t>0;			</a:t>
            </a:r>
            <a:r>
              <a:rPr lang="zh-CN" altLang="en-US" sz="1600">
                <a:solidFill>
                  <a:srgbClr val="008000"/>
                </a:solidFill>
              </a:rPr>
              <a:t>//</a:t>
            </a:r>
            <a:r>
              <a:rPr lang="zh-CN" altLang="en-US" sz="1600" dirty="0">
                <a:solidFill>
                  <a:srgbClr val="008000"/>
                </a:solidFill>
              </a:rPr>
              <a:t>函数执行完毕时返回函数值0</a:t>
            </a:r>
            <a:endParaRPr lang="zh-CN" altLang="en-US" sz="1600" dirty="0">
              <a:solidFill>
                <a:srgbClr val="008000"/>
              </a:solidFill>
            </a:endParaRPr>
          </a:p>
          <a:p>
            <a:r>
              <a:rPr lang="zh-CN" altLang="en-US" sz="1600"/>
              <a:t>}			</a:t>
            </a:r>
            <a:r>
              <a:rPr lang="en-US" altLang="zh-CN" sz="1600"/>
              <a:t>	</a:t>
            </a:r>
            <a:r>
              <a:rPr lang="zh-CN" altLang="en-US" sz="1600">
                <a:solidFill>
                  <a:srgbClr val="008000"/>
                </a:solidFill>
              </a:rPr>
              <a:t>//</a:t>
            </a:r>
            <a:r>
              <a:rPr lang="zh-CN" altLang="en-US" sz="1600" dirty="0">
                <a:solidFill>
                  <a:srgbClr val="008000"/>
                </a:solidFill>
              </a:rPr>
              <a:t>函数结束的标志</a:t>
            </a:r>
            <a:endParaRPr lang="zh-CN" altLang="en-US" sz="1600" dirty="0">
              <a:solidFill>
                <a:srgbClr val="008000"/>
              </a:solidFill>
            </a:endParaRPr>
          </a:p>
        </p:txBody>
      </p:sp>
      <p:sp>
        <p:nvSpPr>
          <p:cNvPr id="9" name="折角形 8"/>
          <p:cNvSpPr/>
          <p:nvPr/>
        </p:nvSpPr>
        <p:spPr>
          <a:xfrm>
            <a:off x="899490" y="3347881"/>
            <a:ext cx="10454310" cy="2188215"/>
          </a:xfrm>
          <a:prstGeom prst="foldedCorner">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18" name="组合 17"/>
          <p:cNvGrpSpPr/>
          <p:nvPr/>
        </p:nvGrpSpPr>
        <p:grpSpPr>
          <a:xfrm>
            <a:off x="1104900" y="3434644"/>
            <a:ext cx="1914345" cy="560717"/>
            <a:chOff x="8656983" y="1203671"/>
            <a:chExt cx="1914345" cy="497504"/>
          </a:xfrm>
        </p:grpSpPr>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56983" y="1203671"/>
              <a:ext cx="487017" cy="487017"/>
            </a:xfrm>
            <a:prstGeom prst="rect">
              <a:avLst/>
            </a:prstGeom>
          </p:spPr>
        </p:pic>
        <p:sp>
          <p:nvSpPr>
            <p:cNvPr id="13" name="文本框 12"/>
            <p:cNvSpPr txBox="1"/>
            <p:nvPr/>
          </p:nvSpPr>
          <p:spPr>
            <a:xfrm>
              <a:off x="9253331" y="1331843"/>
              <a:ext cx="1242392" cy="369332"/>
            </a:xfrm>
            <a:prstGeom prst="rect">
              <a:avLst/>
            </a:prstGeom>
            <a:noFill/>
          </p:spPr>
          <p:txBody>
            <a:bodyPr wrap="square" rtlCol="0">
              <a:spAutoFit/>
            </a:bodyPr>
            <a:lstStyle/>
            <a:p>
              <a:pPr algn="dist"/>
              <a:r>
                <a:rPr lang="zh-CN" altLang="en-US" b="1" dirty="0">
                  <a:solidFill>
                    <a:schemeClr val="bg1"/>
                  </a:solidFill>
                  <a:latin typeface="微软雅黑" panose="020B0503020204020204" pitchFamily="34" charset="-122"/>
                  <a:ea typeface="微软雅黑" panose="020B0503020204020204" pitchFamily="34" charset="-122"/>
                </a:rPr>
                <a:t>程序分析</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8656983" y="1690688"/>
              <a:ext cx="191434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7" name="文本框 16"/>
          <p:cNvSpPr txBox="1"/>
          <p:nvPr/>
        </p:nvSpPr>
        <p:spPr>
          <a:xfrm>
            <a:off x="1022073" y="4091463"/>
            <a:ext cx="9751015" cy="1208985"/>
          </a:xfrm>
          <a:prstGeom prst="rect">
            <a:avLst/>
          </a:prstGeom>
          <a:noFill/>
        </p:spPr>
        <p:txBody>
          <a:bodyPr wrap="square" rtlCol="0">
            <a:spAutoFit/>
          </a:bodyPr>
          <a:lstStyle/>
          <a:p>
            <a:pPr marL="285750" indent="-285750">
              <a:lnSpc>
                <a:spcPct val="150000"/>
              </a:lnSpc>
              <a:buClr>
                <a:schemeClr val="bg1"/>
              </a:buClr>
              <a:buFont typeface="Arial" panose="020B0604020202020204" pitchFamily="34" charset="0"/>
              <a:buChar char="•"/>
            </a:pPr>
            <a:r>
              <a:rPr lang="en-US" altLang="zh-CN" b="1" dirty="0">
                <a:solidFill>
                  <a:srgbClr val="FFFF00"/>
                </a:solidFill>
              </a:rPr>
              <a:t>//</a:t>
            </a:r>
            <a:r>
              <a:rPr lang="zh-CN" altLang="en-US" sz="1600" dirty="0">
                <a:solidFill>
                  <a:schemeClr val="bg1"/>
                </a:solidFill>
              </a:rPr>
              <a:t>表示从此处到本行结束是“注释”，用来对程序有关部分进行必要的说明。在写</a:t>
            </a:r>
            <a:r>
              <a:rPr lang="en-US" altLang="zh-CN" sz="1600" dirty="0">
                <a:solidFill>
                  <a:schemeClr val="bg1"/>
                </a:solidFill>
              </a:rPr>
              <a:t>C</a:t>
            </a:r>
            <a:r>
              <a:rPr lang="zh-CN" altLang="en-US" sz="1600" dirty="0">
                <a:solidFill>
                  <a:schemeClr val="bg1"/>
                </a:solidFill>
              </a:rPr>
              <a:t>程序时应当多用注释，以方便自己和别人理解程序各部分的作用。在程序进行预编译处理时将每个注释替换为一个空格，因此在编译时注释部分不产生目标代码，注释对运行不起作用。注释只是给人看的，而不是让计算机执行的。</a:t>
            </a:r>
            <a:endParaRPr lang="zh-CN" altLang="en-US" sz="1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up)">
                                      <p:cBhvr>
                                        <p:cTn id="7"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注释</a:t>
            </a:r>
            <a:endParaRPr lang="zh-CN" altLang="en-US" dirty="0"/>
          </a:p>
        </p:txBody>
      </p:sp>
      <p:sp>
        <p:nvSpPr>
          <p:cNvPr id="5" name="MH_Other_1"/>
          <p:cNvSpPr/>
          <p:nvPr>
            <p:custDataLst>
              <p:tags r:id="rId1"/>
            </p:custDataLst>
          </p:nvPr>
        </p:nvSpPr>
        <p:spPr>
          <a:xfrm rot="5400000">
            <a:off x="1605757" y="1618457"/>
            <a:ext cx="288925" cy="433387"/>
          </a:xfrm>
          <a:prstGeom prst="corner">
            <a:avLst>
              <a:gd name="adj1" fmla="val 22649"/>
              <a:gd name="adj2" fmla="val 2069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cxnSp>
        <p:nvCxnSpPr>
          <p:cNvPr id="6" name="MH_Other_2"/>
          <p:cNvCxnSpPr/>
          <p:nvPr>
            <p:custDataLst>
              <p:tags r:id="rId2"/>
            </p:custDataLst>
          </p:nvPr>
        </p:nvCxnSpPr>
        <p:spPr>
          <a:xfrm>
            <a:off x="1525587" y="2221601"/>
            <a:ext cx="227226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3"/>
            </p:custDataLst>
          </p:nvPr>
        </p:nvSpPr>
        <p:spPr>
          <a:xfrm rot="5400000">
            <a:off x="7520021" y="1618457"/>
            <a:ext cx="288925" cy="433387"/>
          </a:xfrm>
          <a:prstGeom prst="corner">
            <a:avLst>
              <a:gd name="adj1" fmla="val 22649"/>
              <a:gd name="adj2" fmla="val 20696"/>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p>
        </p:txBody>
      </p:sp>
      <p:cxnSp>
        <p:nvCxnSpPr>
          <p:cNvPr id="8" name="MH_Other_4"/>
          <p:cNvCxnSpPr/>
          <p:nvPr>
            <p:custDataLst>
              <p:tags r:id="rId4"/>
            </p:custDataLst>
          </p:nvPr>
        </p:nvCxnSpPr>
        <p:spPr>
          <a:xfrm>
            <a:off x="7447790" y="2221601"/>
            <a:ext cx="319253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MH_Text_1"/>
          <p:cNvSpPr txBox="1"/>
          <p:nvPr>
            <p:custDataLst>
              <p:tags r:id="rId5"/>
            </p:custDataLst>
          </p:nvPr>
        </p:nvSpPr>
        <p:spPr>
          <a:xfrm>
            <a:off x="1457326" y="2247900"/>
            <a:ext cx="2439917" cy="2130425"/>
          </a:xfrm>
          <a:prstGeom prst="rect">
            <a:avLst/>
          </a:prstGeom>
          <a:noFill/>
        </p:spPr>
        <p:txBody>
          <a:bodyPr>
            <a:noAutofit/>
          </a:bodyPr>
          <a:lstStyle>
            <a:defPPr>
              <a:defRPr lang="zh-CN"/>
            </a:defPPr>
            <a:lvl1pPr marR="0" lvl="0" indent="0" fontAlgn="auto">
              <a:lnSpc>
                <a:spcPct val="130000"/>
              </a:lnSpc>
              <a:spcBef>
                <a:spcPts val="0"/>
              </a:spcBef>
              <a:spcAft>
                <a:spcPts val="0"/>
              </a:spcAft>
              <a:buClrTx/>
              <a:buSzTx/>
              <a:buFontTx/>
              <a:buNone/>
              <a:defRPr kumimoji="0" sz="1200" b="0" i="0" u="none" strike="noStrike" kern="0" cap="none" spc="0" normalizeH="0" baseline="0">
                <a:ln>
                  <a:noFill/>
                </a:ln>
                <a:solidFill>
                  <a:sysClr val="window" lastClr="FFFFFF">
                    <a:lumMod val="50000"/>
                  </a:sysClr>
                </a:solidFill>
                <a:effectLst/>
                <a:uLnTx/>
                <a:uFillTx/>
                <a:latin typeface="微软雅黑" panose="020B0503020204020204" pitchFamily="34" charset="-122"/>
                <a:ea typeface="微软雅黑" panose="020B0503020204020204" pitchFamily="34" charset="-122"/>
              </a:defRPr>
            </a:lvl1pPr>
          </a:lstStyle>
          <a:p>
            <a:pPr algn="just">
              <a:lnSpc>
                <a:spcPct val="150000"/>
              </a:lnSpc>
              <a:spcAft>
                <a:spcPts val="600"/>
              </a:spcAft>
              <a:defRPr/>
            </a:pPr>
            <a:r>
              <a:rPr lang="zh-CN" altLang="en-US" sz="1600" kern="1200" dirty="0">
                <a:solidFill>
                  <a:schemeClr val="tx1">
                    <a:lumMod val="75000"/>
                    <a:lumOff val="25000"/>
                  </a:schemeClr>
                </a:solidFill>
                <a:latin typeface="+mn-lt"/>
                <a:ea typeface="+mn-ea"/>
              </a:rPr>
              <a:t>这种注释可以单独占一行，也可以出现在一行中其他内容的右侧。此种注释的范围从</a:t>
            </a:r>
            <a:r>
              <a:rPr lang="en-US" altLang="zh-CN" sz="1600" kern="1200" dirty="0">
                <a:solidFill>
                  <a:schemeClr val="tx1">
                    <a:lumMod val="75000"/>
                    <a:lumOff val="25000"/>
                  </a:schemeClr>
                </a:solidFill>
                <a:latin typeface="+mn-lt"/>
                <a:ea typeface="+mn-ea"/>
              </a:rPr>
              <a:t>//</a:t>
            </a:r>
            <a:r>
              <a:rPr lang="zh-CN" altLang="en-US" sz="1600" kern="1200" dirty="0">
                <a:solidFill>
                  <a:schemeClr val="tx1">
                    <a:lumMod val="75000"/>
                    <a:lumOff val="25000"/>
                  </a:schemeClr>
                </a:solidFill>
                <a:latin typeface="+mn-lt"/>
                <a:ea typeface="+mn-ea"/>
              </a:rPr>
              <a:t>开始，以换行符结束。如果注释内容一行内写不下，可以用多个单行注释。</a:t>
            </a:r>
            <a:endParaRPr lang="zh-CN" altLang="en-US" sz="1600" kern="1200" dirty="0">
              <a:solidFill>
                <a:schemeClr val="tx1">
                  <a:lumMod val="75000"/>
                  <a:lumOff val="25000"/>
                </a:schemeClr>
              </a:solidFill>
              <a:latin typeface="+mn-lt"/>
              <a:ea typeface="+mn-ea"/>
            </a:endParaRPr>
          </a:p>
        </p:txBody>
      </p:sp>
      <p:sp>
        <p:nvSpPr>
          <p:cNvPr id="11" name="MH_Text_2"/>
          <p:cNvSpPr txBox="1">
            <a:spLocks noChangeArrowheads="1"/>
          </p:cNvSpPr>
          <p:nvPr>
            <p:custDataLst>
              <p:tags r:id="rId6"/>
            </p:custDataLst>
          </p:nvPr>
        </p:nvSpPr>
        <p:spPr bwMode="auto">
          <a:xfrm>
            <a:off x="7374765" y="2320923"/>
            <a:ext cx="3370538" cy="2128838"/>
          </a:xfrm>
          <a:prstGeom prst="rect">
            <a:avLst/>
          </a:prstGeom>
          <a:noFill/>
        </p:spPr>
        <p:txBody>
          <a:bodyPr>
            <a:noAutofit/>
          </a:bodyPr>
          <a:lstStyle>
            <a:defPPr>
              <a:defRPr lang="zh-CN"/>
            </a:defPPr>
            <a:lvl1pPr marR="0" lvl="0" indent="0" algn="just" fontAlgn="auto">
              <a:lnSpc>
                <a:spcPct val="150000"/>
              </a:lnSpc>
              <a:spcBef>
                <a:spcPts val="0"/>
              </a:spcBef>
              <a:spcAft>
                <a:spcPts val="600"/>
              </a:spcAft>
              <a:buClrTx/>
              <a:buSzTx/>
              <a:buFontTx/>
              <a:buNone/>
              <a:defRPr kumimoji="0" sz="1600" b="0" i="0" u="none" strike="noStrike" cap="none" spc="0" normalizeH="0" baseline="0">
                <a:ln>
                  <a:noFill/>
                </a:ln>
                <a:solidFill>
                  <a:schemeClr val="tx1">
                    <a:lumMod val="75000"/>
                    <a:lumOff val="25000"/>
                  </a:schemeClr>
                </a:solidFill>
                <a:effectLst/>
                <a:uLnTx/>
                <a:uFillTx/>
              </a:defRPr>
            </a:lvl1pPr>
          </a:lstStyle>
          <a:p>
            <a:r>
              <a:rPr lang="zh-CN" altLang="en-US" dirty="0"/>
              <a:t>这种注释可以包含多行内容。它可以单独占一行</a:t>
            </a:r>
            <a:r>
              <a:rPr lang="en-US" altLang="zh-CN" dirty="0"/>
              <a:t>(</a:t>
            </a:r>
            <a:r>
              <a:rPr lang="zh-CN" altLang="en-US" dirty="0"/>
              <a:t>在行开头以</a:t>
            </a:r>
            <a:r>
              <a:rPr lang="en-US" altLang="zh-CN" dirty="0"/>
              <a:t>/</a:t>
            </a:r>
            <a:r>
              <a:rPr lang="zh-CN" altLang="en-US" dirty="0"/>
              <a:t>*开始，行末以*</a:t>
            </a:r>
            <a:r>
              <a:rPr lang="en-US" altLang="zh-CN" dirty="0"/>
              <a:t>/</a:t>
            </a:r>
            <a:r>
              <a:rPr lang="zh-CN" altLang="en-US" dirty="0"/>
              <a:t>结束），也可以包含多行。编译系统在发现一个</a:t>
            </a:r>
            <a:r>
              <a:rPr lang="en-US" altLang="zh-CN" dirty="0"/>
              <a:t>/</a:t>
            </a:r>
            <a:r>
              <a:rPr lang="zh-CN" altLang="en-US" dirty="0"/>
              <a:t>*后，会开始找注释结束符*</a:t>
            </a:r>
            <a:r>
              <a:rPr lang="en-US" altLang="zh-CN" dirty="0"/>
              <a:t>/</a:t>
            </a:r>
            <a:r>
              <a:rPr lang="zh-CN" altLang="en-US" dirty="0"/>
              <a:t>，把二者间的内容作为注释。</a:t>
            </a:r>
            <a:endParaRPr lang="zh-CN" altLang="en-US" dirty="0"/>
          </a:p>
        </p:txBody>
      </p:sp>
      <p:sp>
        <p:nvSpPr>
          <p:cNvPr id="12" name="MH_SubTitle_1"/>
          <p:cNvSpPr txBox="1">
            <a:spLocks noChangeArrowheads="1"/>
          </p:cNvSpPr>
          <p:nvPr>
            <p:custDataLst>
              <p:tags r:id="rId7"/>
            </p:custDataLst>
          </p:nvPr>
        </p:nvSpPr>
        <p:spPr bwMode="auto">
          <a:xfrm>
            <a:off x="1652587" y="1771649"/>
            <a:ext cx="2065338"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zh-CN" altLang="en-US" dirty="0">
                <a:solidFill>
                  <a:schemeClr val="accent1"/>
                </a:solidFill>
                <a:latin typeface="微软雅黑" panose="020B0503020204020204" pitchFamily="34" charset="-122"/>
                <a:ea typeface="微软雅黑" panose="020B0503020204020204" pitchFamily="34" charset="-122"/>
              </a:rPr>
              <a:t>以</a:t>
            </a:r>
            <a:r>
              <a:rPr lang="en-US" altLang="zh-CN" dirty="0">
                <a:solidFill>
                  <a:schemeClr val="accent1"/>
                </a:solidFill>
                <a:latin typeface="微软雅黑" panose="020B0503020204020204" pitchFamily="34" charset="-122"/>
                <a:ea typeface="微软雅黑" panose="020B0503020204020204" pitchFamily="34" charset="-122"/>
              </a:rPr>
              <a:t>//</a:t>
            </a:r>
            <a:r>
              <a:rPr lang="zh-CN" altLang="en-US" dirty="0">
                <a:solidFill>
                  <a:schemeClr val="accent1"/>
                </a:solidFill>
                <a:latin typeface="微软雅黑" panose="020B0503020204020204" pitchFamily="34" charset="-122"/>
                <a:ea typeface="微软雅黑" panose="020B0503020204020204" pitchFamily="34" charset="-122"/>
              </a:rPr>
              <a:t>开始的单行注释</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3" name="MH_SubTitle_2"/>
          <p:cNvSpPr txBox="1">
            <a:spLocks noChangeArrowheads="1"/>
          </p:cNvSpPr>
          <p:nvPr>
            <p:custDataLst>
              <p:tags r:id="rId8"/>
            </p:custDataLst>
          </p:nvPr>
        </p:nvSpPr>
        <p:spPr bwMode="auto">
          <a:xfrm>
            <a:off x="7577205" y="1771649"/>
            <a:ext cx="3019151"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ormAutofit fontScale="92500"/>
          </a:bodyPr>
          <a:lstStyle>
            <a:defPPr>
              <a:defRPr lang="zh-CN"/>
            </a:defPPr>
            <a:lvl1pPr algn="ctr">
              <a:defRPr>
                <a:solidFill>
                  <a:schemeClr val="accent1"/>
                </a:solidFill>
                <a:latin typeface="微软雅黑" panose="020B0503020204020204" pitchFamily="34" charset="-122"/>
                <a:ea typeface="微软雅黑" panose="020B0503020204020204" pitchFamily="34"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pPr algn="l"/>
            <a:r>
              <a:rPr lang="zh-CN" altLang="en-US" dirty="0"/>
              <a:t>以</a:t>
            </a:r>
            <a:r>
              <a:rPr lang="en-US" altLang="zh-CN" dirty="0"/>
              <a:t>/</a:t>
            </a:r>
            <a:r>
              <a:rPr lang="zh-CN" altLang="en-US" dirty="0"/>
              <a:t>*开始，以*</a:t>
            </a:r>
            <a:r>
              <a:rPr lang="en-US" altLang="zh-CN" dirty="0"/>
              <a:t>/</a:t>
            </a:r>
            <a:r>
              <a:rPr lang="zh-CN" altLang="en-US" dirty="0"/>
              <a:t>结束的块式注释</a:t>
            </a:r>
            <a:endParaRPr lang="zh-CN" altLang="en-US" dirty="0"/>
          </a:p>
        </p:txBody>
      </p:sp>
      <p:sp>
        <p:nvSpPr>
          <p:cNvPr id="14" name="矩形 13"/>
          <p:cNvSpPr/>
          <p:nvPr/>
        </p:nvSpPr>
        <p:spPr>
          <a:xfrm>
            <a:off x="1525588" y="5099392"/>
            <a:ext cx="9219716" cy="369332"/>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lgn="dist"/>
            <a:r>
              <a:rPr lang="zh-CN" altLang="en-US" dirty="0"/>
              <a:t>注意：在字符串中的</a:t>
            </a:r>
            <a:r>
              <a:rPr lang="en-US" altLang="zh-CN" dirty="0"/>
              <a:t>//</a:t>
            </a:r>
            <a:r>
              <a:rPr lang="zh-CN" altLang="en-US" dirty="0"/>
              <a:t>和</a:t>
            </a:r>
            <a:r>
              <a:rPr lang="en-US" altLang="zh-CN" dirty="0"/>
              <a:t>/</a:t>
            </a:r>
            <a:r>
              <a:rPr lang="zh-CN" altLang="en-US" dirty="0"/>
              <a:t>*都不作为注释的开始。而是作为字符串的一部分。</a:t>
            </a:r>
            <a:endParaRPr lang="zh-CN" altLang="en-US" dirty="0"/>
          </a:p>
        </p:txBody>
      </p:sp>
      <p:sp>
        <p:nvSpPr>
          <p:cNvPr id="16" name="Rectangle 8"/>
          <p:cNvSpPr>
            <a:spLocks noChangeArrowheads="1"/>
          </p:cNvSpPr>
          <p:nvPr/>
        </p:nvSpPr>
        <p:spPr bwMode="auto">
          <a:xfrm>
            <a:off x="4931811" y="2319392"/>
            <a:ext cx="1678815" cy="1062175"/>
          </a:xfrm>
          <a:prstGeom prst="rect">
            <a:avLst/>
          </a:prstGeom>
          <a:solidFill>
            <a:schemeClr val="accent4">
              <a:lumMod val="40000"/>
              <a:lumOff val="60000"/>
            </a:schemeClr>
          </a:solidFill>
          <a:ln w="9525">
            <a:noFill/>
            <a:miter lim="800000"/>
          </a:ln>
        </p:spPr>
        <p:txBody>
          <a:bodyPr anchor="ctr"/>
          <a:lstStyle>
            <a:lvl1pPr defTabSz="717550">
              <a:defRPr kumimoji="1" sz="2400">
                <a:solidFill>
                  <a:schemeClr val="tx1"/>
                </a:solidFill>
                <a:latin typeface="Times New Roman" panose="02020603050405020304" pitchFamily="18" charset="0"/>
                <a:ea typeface="宋体" panose="02010600030101010101" pitchFamily="2" charset="-122"/>
              </a:defRPr>
            </a:lvl1pPr>
            <a:lvl2pPr defTabSz="717550">
              <a:defRPr kumimoji="1" sz="2400">
                <a:solidFill>
                  <a:schemeClr val="tx1"/>
                </a:solidFill>
                <a:latin typeface="Times New Roman" panose="02020603050405020304" pitchFamily="18" charset="0"/>
                <a:ea typeface="宋体" panose="02010600030101010101" pitchFamily="2" charset="-122"/>
              </a:defRPr>
            </a:lvl2pPr>
            <a:lvl3pPr defTabSz="717550">
              <a:defRPr kumimoji="1" sz="2400">
                <a:solidFill>
                  <a:schemeClr val="tx1"/>
                </a:solidFill>
                <a:latin typeface="Times New Roman" panose="02020603050405020304" pitchFamily="18" charset="0"/>
                <a:ea typeface="宋体" panose="02010600030101010101" pitchFamily="2" charset="-122"/>
              </a:defRPr>
            </a:lvl3pPr>
            <a:lvl4pPr defTabSz="717550">
              <a:defRPr kumimoji="1" sz="2400">
                <a:solidFill>
                  <a:schemeClr val="tx1"/>
                </a:solidFill>
                <a:latin typeface="Times New Roman" panose="02020603050405020304" pitchFamily="18" charset="0"/>
                <a:ea typeface="宋体" panose="02010600030101010101" pitchFamily="2" charset="-122"/>
              </a:defRPr>
            </a:lvl4pPr>
            <a:lvl5pPr defTabSz="717550">
              <a:defRPr kumimoji="1" sz="2400">
                <a:solidFill>
                  <a:schemeClr val="tx1"/>
                </a:solidFill>
                <a:latin typeface="Times New Roman" panose="02020603050405020304" pitchFamily="18" charset="0"/>
                <a:ea typeface="宋体" panose="02010600030101010101" pitchFamily="2" charset="-122"/>
              </a:defRPr>
            </a:lvl5pPr>
            <a:lvl6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50000"/>
              </a:lnSpc>
            </a:pPr>
            <a:r>
              <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第一行注释</a:t>
            </a:r>
            <a:endPar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algn="just">
              <a:lnSpc>
                <a:spcPct val="150000"/>
              </a:lnSpc>
            </a:pPr>
            <a:r>
              <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继续注释</a:t>
            </a:r>
            <a:endPar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7" name="Rectangle 8"/>
          <p:cNvSpPr>
            <a:spLocks noChangeArrowheads="1"/>
          </p:cNvSpPr>
          <p:nvPr/>
        </p:nvSpPr>
        <p:spPr bwMode="auto">
          <a:xfrm>
            <a:off x="4931811" y="3482339"/>
            <a:ext cx="1678815" cy="1062175"/>
          </a:xfrm>
          <a:prstGeom prst="rect">
            <a:avLst/>
          </a:prstGeom>
          <a:solidFill>
            <a:schemeClr val="accent4">
              <a:lumMod val="40000"/>
              <a:lumOff val="60000"/>
            </a:schemeClr>
          </a:solidFill>
          <a:ln w="9525">
            <a:noFill/>
            <a:miter lim="800000"/>
          </a:ln>
        </p:spPr>
        <p:txBody>
          <a:bodyPr anchor="ctr"/>
          <a:lstStyle>
            <a:lvl1pPr defTabSz="717550">
              <a:defRPr kumimoji="1" sz="2400">
                <a:solidFill>
                  <a:schemeClr val="tx1"/>
                </a:solidFill>
                <a:latin typeface="Times New Roman" panose="02020603050405020304" pitchFamily="18" charset="0"/>
                <a:ea typeface="宋体" panose="02010600030101010101" pitchFamily="2" charset="-122"/>
              </a:defRPr>
            </a:lvl1pPr>
            <a:lvl2pPr defTabSz="717550">
              <a:defRPr kumimoji="1" sz="2400">
                <a:solidFill>
                  <a:schemeClr val="tx1"/>
                </a:solidFill>
                <a:latin typeface="Times New Roman" panose="02020603050405020304" pitchFamily="18" charset="0"/>
                <a:ea typeface="宋体" panose="02010600030101010101" pitchFamily="2" charset="-122"/>
              </a:defRPr>
            </a:lvl2pPr>
            <a:lvl3pPr defTabSz="717550">
              <a:defRPr kumimoji="1" sz="2400">
                <a:solidFill>
                  <a:schemeClr val="tx1"/>
                </a:solidFill>
                <a:latin typeface="Times New Roman" panose="02020603050405020304" pitchFamily="18" charset="0"/>
                <a:ea typeface="宋体" panose="02010600030101010101" pitchFamily="2" charset="-122"/>
              </a:defRPr>
            </a:lvl3pPr>
            <a:lvl4pPr defTabSz="717550">
              <a:defRPr kumimoji="1" sz="2400">
                <a:solidFill>
                  <a:schemeClr val="tx1"/>
                </a:solidFill>
                <a:latin typeface="Times New Roman" panose="02020603050405020304" pitchFamily="18" charset="0"/>
                <a:ea typeface="宋体" panose="02010600030101010101" pitchFamily="2" charset="-122"/>
              </a:defRPr>
            </a:lvl4pPr>
            <a:lvl5pPr defTabSz="717550">
              <a:defRPr kumimoji="1" sz="2400">
                <a:solidFill>
                  <a:schemeClr val="tx1"/>
                </a:solidFill>
                <a:latin typeface="Times New Roman" panose="02020603050405020304" pitchFamily="18" charset="0"/>
                <a:ea typeface="宋体" panose="02010600030101010101" pitchFamily="2" charset="-122"/>
              </a:defRPr>
            </a:lvl5pPr>
            <a:lvl6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defTabSz="71755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a:lnSpc>
                <a:spcPct val="150000"/>
              </a:lnSpc>
            </a:pPr>
            <a:r>
              <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r>
              <a:rPr lang="zh-CN" altLang="en-US"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*一整块都是</a:t>
            </a:r>
            <a:endPar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a:p>
            <a:pPr algn="just">
              <a:lnSpc>
                <a:spcPct val="150000"/>
              </a:lnSpc>
            </a:pPr>
            <a:r>
              <a:rPr lang="zh-CN" altLang="en-US"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注释*</a:t>
            </a:r>
            <a:r>
              <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rPr>
              <a:t>/</a:t>
            </a:r>
            <a:endParaRPr lang="en-US" altLang="zh-CN" sz="1200" dirty="0">
              <a:solidFill>
                <a:schemeClr val="accent1"/>
              </a:solidFill>
              <a:latin typeface="微软雅黑" panose="020B0503020204020204" pitchFamily="34" charset="-122"/>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750"/>
                                        <p:tgtEl>
                                          <p:spTgt spid="5"/>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22" presetClass="entr" presetSubtype="8" fill="hold" nodeType="withEffect">
                                  <p:stCondLst>
                                    <p:cond delay="25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anim calcmode="lin" valueType="num">
                                      <p:cBhvr>
                                        <p:cTn id="26" dur="500" fill="hold"/>
                                        <p:tgtEl>
                                          <p:spTgt spid="16"/>
                                        </p:tgtEl>
                                        <p:attrNameLst>
                                          <p:attrName>ppt_x</p:attrName>
                                        </p:attrNameLst>
                                      </p:cBhvr>
                                      <p:tavLst>
                                        <p:tav tm="0">
                                          <p:val>
                                            <p:strVal val="#ppt_x"/>
                                          </p:val>
                                        </p:tav>
                                        <p:tav tm="100000">
                                          <p:val>
                                            <p:strVal val="#ppt_x"/>
                                          </p:val>
                                        </p:tav>
                                      </p:tavLst>
                                    </p:anim>
                                    <p:anim calcmode="lin" valueType="num">
                                      <p:cBhvr>
                                        <p:cTn id="27"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750"/>
                                        <p:tgtEl>
                                          <p:spTgt spid="7"/>
                                        </p:tgtEl>
                                      </p:cBhvr>
                                    </p:animEffect>
                                  </p:childTnLst>
                                </p:cTn>
                              </p:par>
                              <p:par>
                                <p:cTn id="33" presetID="10" presetClass="entr" presetSubtype="0" fill="hold" grpId="0" nodeType="withEffect">
                                  <p:stCondLst>
                                    <p:cond delay="25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500"/>
                                        <p:tgtEl>
                                          <p:spTgt spid="13"/>
                                        </p:tgtEl>
                                      </p:cBhvr>
                                    </p:animEffect>
                                  </p:childTnLst>
                                </p:cTn>
                              </p:par>
                              <p:par>
                                <p:cTn id="36" presetID="22" presetClass="entr" presetSubtype="8" fill="hold" nodeType="withEffect">
                                  <p:stCondLst>
                                    <p:cond delay="250"/>
                                  </p:stCondLst>
                                  <p:childTnLst>
                                    <p:set>
                                      <p:cBhvr>
                                        <p:cTn id="37" dur="1" fill="hold">
                                          <p:stCondLst>
                                            <p:cond delay="0"/>
                                          </p:stCondLst>
                                        </p:cTn>
                                        <p:tgtEl>
                                          <p:spTgt spid="8"/>
                                        </p:tgtEl>
                                        <p:attrNameLst>
                                          <p:attrName>style.visibility</p:attrName>
                                        </p:attrNameLst>
                                      </p:cBhvr>
                                      <p:to>
                                        <p:strVal val="visible"/>
                                      </p:to>
                                    </p:set>
                                    <p:animEffect transition="in" filter="wipe(left)">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47" presetClass="entr" presetSubtype="0"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ppt_x</p:attrName>
                                        </p:attrNameLst>
                                      </p:cBhvr>
                                      <p:tavLst>
                                        <p:tav tm="0">
                                          <p:val>
                                            <p:strVal val="#ppt_x"/>
                                          </p:val>
                                        </p:tav>
                                        <p:tav tm="100000">
                                          <p:val>
                                            <p:strVal val="#ppt_x"/>
                                          </p:val>
                                        </p:tav>
                                      </p:tavLst>
                                    </p:anim>
                                    <p:anim calcmode="lin" valueType="num">
                                      <p:cBhvr>
                                        <p:cTn id="4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anim calcmode="lin" valueType="num">
                                      <p:cBhvr>
                                        <p:cTn id="51" dur="500" fill="hold"/>
                                        <p:tgtEl>
                                          <p:spTgt spid="17"/>
                                        </p:tgtEl>
                                        <p:attrNameLst>
                                          <p:attrName>ppt_x</p:attrName>
                                        </p:attrNameLst>
                                      </p:cBhvr>
                                      <p:tavLst>
                                        <p:tav tm="0">
                                          <p:val>
                                            <p:strVal val="#ppt_x"/>
                                          </p:val>
                                        </p:tav>
                                        <p:tav tm="100000">
                                          <p:val>
                                            <p:strVal val="#ppt_x"/>
                                          </p:val>
                                        </p:tav>
                                      </p:tavLst>
                                    </p:anim>
                                    <p:anim calcmode="lin" valueType="num">
                                      <p:cBhvr>
                                        <p:cTn id="5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50" presetClass="entr" presetSubtype="0" decel="10000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 calcmode="lin" valueType="num">
                                      <p:cBhvr>
                                        <p:cTn id="57" dur="1000" fill="hold"/>
                                        <p:tgtEl>
                                          <p:spTgt spid="14"/>
                                        </p:tgtEl>
                                        <p:attrNameLst>
                                          <p:attrName>ppt_w</p:attrName>
                                        </p:attrNameLst>
                                      </p:cBhvr>
                                      <p:tavLst>
                                        <p:tav tm="0">
                                          <p:val>
                                            <p:strVal val="#ppt_w+.3"/>
                                          </p:val>
                                        </p:tav>
                                        <p:tav tm="100000">
                                          <p:val>
                                            <p:strVal val="#ppt_w"/>
                                          </p:val>
                                        </p:tav>
                                      </p:tavLst>
                                    </p:anim>
                                    <p:anim calcmode="lin" valueType="num">
                                      <p:cBhvr>
                                        <p:cTn id="58" dur="1000" fill="hold"/>
                                        <p:tgtEl>
                                          <p:spTgt spid="14"/>
                                        </p:tgtEl>
                                        <p:attrNameLst>
                                          <p:attrName>ppt_h</p:attrName>
                                        </p:attrNameLst>
                                      </p:cBhvr>
                                      <p:tavLst>
                                        <p:tav tm="0">
                                          <p:val>
                                            <p:strVal val="#ppt_h"/>
                                          </p:val>
                                        </p:tav>
                                        <p:tav tm="100000">
                                          <p:val>
                                            <p:strVal val="#ppt_h"/>
                                          </p:val>
                                        </p:tav>
                                      </p:tavLst>
                                    </p:anim>
                                    <p:animEffect transition="in" filter="fade">
                                      <p:cBhvr>
                                        <p:cTn id="5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p:bldP spid="11" grpId="0"/>
      <p:bldP spid="12" grpId="0"/>
      <p:bldP spid="13" grpId="0"/>
      <p:bldP spid="14" grpId="0" animBg="1"/>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注释</a:t>
            </a:r>
            <a:endParaRPr lang="zh-CN" altLang="en-US" dirty="0"/>
          </a:p>
        </p:txBody>
      </p:sp>
      <p:sp>
        <p:nvSpPr>
          <p:cNvPr id="4" name="圆角矩形 3"/>
          <p:cNvSpPr/>
          <p:nvPr/>
        </p:nvSpPr>
        <p:spPr>
          <a:xfrm>
            <a:off x="1902135" y="1861770"/>
            <a:ext cx="3505200" cy="1680814"/>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600" dirty="0"/>
              <a:t>#include &lt;</a:t>
            </a:r>
            <a:r>
              <a:rPr lang="en-US" altLang="zh-CN" sz="1600" dirty="0" err="1"/>
              <a:t>stdio.h</a:t>
            </a:r>
            <a:r>
              <a:rPr lang="en-US" altLang="zh-CN" sz="1600" dirty="0"/>
              <a:t>&gt;</a:t>
            </a:r>
            <a:endParaRPr lang="en-US" altLang="zh-CN" sz="1600" dirty="0"/>
          </a:p>
          <a:p>
            <a:r>
              <a:rPr lang="en-US" altLang="zh-CN" sz="1600" dirty="0" err="1"/>
              <a:t>int</a:t>
            </a:r>
            <a:r>
              <a:rPr lang="en-US" altLang="zh-CN" sz="1600" dirty="0"/>
              <a:t> </a:t>
            </a:r>
            <a:r>
              <a:rPr lang="en-US" altLang="zh-CN" sz="1600"/>
              <a:t>main()	</a:t>
            </a:r>
            <a:endParaRPr lang="en-US" altLang="zh-CN" sz="1600" dirty="0"/>
          </a:p>
          <a:p>
            <a:r>
              <a:rPr lang="en-US" altLang="zh-CN" sz="1600" dirty="0"/>
              <a:t>{</a:t>
            </a:r>
            <a:endParaRPr lang="en-US" altLang="zh-CN" sz="1600" dirty="0"/>
          </a:p>
          <a:p>
            <a:r>
              <a:rPr lang="en-US" altLang="zh-CN" sz="1600" dirty="0"/>
              <a:t>    </a:t>
            </a:r>
            <a:r>
              <a:rPr lang="en-US" altLang="zh-CN" sz="1600" dirty="0" err="1"/>
              <a:t>printf</a:t>
            </a:r>
            <a:r>
              <a:rPr lang="en-US" altLang="zh-CN" sz="1600" dirty="0"/>
              <a:t>("//how do you do!\n");</a:t>
            </a:r>
            <a:endParaRPr lang="en-US" altLang="zh-CN" sz="1600" dirty="0"/>
          </a:p>
          <a:p>
            <a:r>
              <a:rPr lang="en-US" altLang="zh-CN" sz="1600" dirty="0"/>
              <a:t>    return 0;</a:t>
            </a:r>
            <a:endParaRPr lang="en-US" altLang="zh-CN" sz="1600" dirty="0"/>
          </a:p>
          <a:p>
            <a:r>
              <a:rPr lang="en-US" altLang="zh-CN" sz="1600" dirty="0"/>
              <a:t>}</a:t>
            </a:r>
            <a:endParaRPr lang="zh-CN" altLang="en-US" sz="1600" dirty="0">
              <a:solidFill>
                <a:srgbClr val="008000"/>
              </a:solidFill>
            </a:endParaRPr>
          </a:p>
        </p:txBody>
      </p:sp>
      <p:pic>
        <p:nvPicPr>
          <p:cNvPr id="5" name="图片 4"/>
          <p:cNvPicPr>
            <a:picLocks noChangeAspect="1"/>
          </p:cNvPicPr>
          <p:nvPr/>
        </p:nvPicPr>
        <p:blipFill>
          <a:blip r:embed="rId1"/>
          <a:stretch>
            <a:fillRect/>
          </a:stretch>
        </p:blipFill>
        <p:spPr>
          <a:xfrm>
            <a:off x="1902135" y="3864457"/>
            <a:ext cx="3505200" cy="1057275"/>
          </a:xfrm>
          <a:prstGeom prst="rect">
            <a:avLst/>
          </a:prstGeom>
        </p:spPr>
      </p:pic>
      <p:sp>
        <p:nvSpPr>
          <p:cNvPr id="6" name="圆角矩形 5"/>
          <p:cNvSpPr/>
          <p:nvPr/>
        </p:nvSpPr>
        <p:spPr>
          <a:xfrm>
            <a:off x="6971092" y="1861770"/>
            <a:ext cx="3505200" cy="1680814"/>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600" dirty="0"/>
              <a:t>#include &lt;</a:t>
            </a:r>
            <a:r>
              <a:rPr lang="en-US" altLang="zh-CN" sz="1600" dirty="0" err="1"/>
              <a:t>stdio.h</a:t>
            </a:r>
            <a:r>
              <a:rPr lang="en-US" altLang="zh-CN" sz="1600" dirty="0"/>
              <a:t>&gt;</a:t>
            </a:r>
            <a:endParaRPr lang="en-US" altLang="zh-CN" sz="1600" dirty="0"/>
          </a:p>
          <a:p>
            <a:r>
              <a:rPr lang="en-US" altLang="zh-CN" sz="1600" dirty="0" err="1"/>
              <a:t>int</a:t>
            </a:r>
            <a:r>
              <a:rPr lang="en-US" altLang="zh-CN" sz="1600" dirty="0"/>
              <a:t> </a:t>
            </a:r>
            <a:r>
              <a:rPr lang="en-US" altLang="zh-CN" sz="1600"/>
              <a:t>main()	</a:t>
            </a:r>
            <a:endParaRPr lang="en-US" altLang="zh-CN" sz="1600" dirty="0"/>
          </a:p>
          <a:p>
            <a:r>
              <a:rPr lang="en-US" altLang="zh-CN" sz="1600" dirty="0"/>
              <a:t>{</a:t>
            </a:r>
            <a:endParaRPr lang="en-US" altLang="zh-CN" sz="1600" dirty="0"/>
          </a:p>
          <a:p>
            <a:r>
              <a:rPr lang="en-US" altLang="zh-CN" sz="1600" dirty="0"/>
              <a:t>    </a:t>
            </a:r>
            <a:r>
              <a:rPr lang="en-US" altLang="zh-CN" sz="1600" dirty="0" err="1"/>
              <a:t>printf</a:t>
            </a:r>
            <a:r>
              <a:rPr lang="en-US" altLang="zh-CN" sz="1600" dirty="0"/>
              <a:t>("/*how do you do!*/\n");</a:t>
            </a:r>
            <a:endParaRPr lang="en-US" altLang="zh-CN" sz="1600" dirty="0"/>
          </a:p>
          <a:p>
            <a:r>
              <a:rPr lang="en-US" altLang="zh-CN" sz="1600" dirty="0"/>
              <a:t>    return 0;</a:t>
            </a:r>
            <a:endParaRPr lang="en-US" altLang="zh-CN" sz="1600" dirty="0"/>
          </a:p>
          <a:p>
            <a:r>
              <a:rPr lang="en-US" altLang="zh-CN" sz="1600" dirty="0"/>
              <a:t>}</a:t>
            </a:r>
            <a:endParaRPr lang="zh-CN" altLang="en-US" sz="1600" dirty="0">
              <a:solidFill>
                <a:srgbClr val="008000"/>
              </a:solidFill>
            </a:endParaRPr>
          </a:p>
        </p:txBody>
      </p:sp>
      <p:pic>
        <p:nvPicPr>
          <p:cNvPr id="7" name="图片 6"/>
          <p:cNvPicPr>
            <a:picLocks noChangeAspect="1"/>
          </p:cNvPicPr>
          <p:nvPr/>
        </p:nvPicPr>
        <p:blipFill>
          <a:blip r:embed="rId2"/>
          <a:stretch>
            <a:fillRect/>
          </a:stretch>
        </p:blipFill>
        <p:spPr>
          <a:xfrm>
            <a:off x="6961567" y="3864457"/>
            <a:ext cx="3514725" cy="10572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750"/>
                                        <p:tgtEl>
                                          <p:spTgt spid="5"/>
                                        </p:tgtEl>
                                      </p:cBhvr>
                                    </p:animEffect>
                                    <p:anim calcmode="lin" valueType="num">
                                      <p:cBhvr>
                                        <p:cTn id="15" dur="750" fill="hold"/>
                                        <p:tgtEl>
                                          <p:spTgt spid="5"/>
                                        </p:tgtEl>
                                        <p:attrNameLst>
                                          <p:attrName>ppt_x</p:attrName>
                                        </p:attrNameLst>
                                      </p:cBhvr>
                                      <p:tavLst>
                                        <p:tav tm="0">
                                          <p:val>
                                            <p:strVal val="#ppt_x"/>
                                          </p:val>
                                        </p:tav>
                                        <p:tav tm="100000">
                                          <p:val>
                                            <p:strVal val="#ppt_x"/>
                                          </p:val>
                                        </p:tav>
                                      </p:tavLst>
                                    </p:anim>
                                    <p:anim calcmode="lin" valueType="num">
                                      <p:cBhvr>
                                        <p:cTn id="16" dur="75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50"/>
                                        <p:tgtEl>
                                          <p:spTgt spid="7"/>
                                        </p:tgtEl>
                                      </p:cBhvr>
                                    </p:animEffect>
                                    <p:anim calcmode="lin" valueType="num">
                                      <p:cBhvr>
                                        <p:cTn id="29" dur="750" fill="hold"/>
                                        <p:tgtEl>
                                          <p:spTgt spid="7"/>
                                        </p:tgtEl>
                                        <p:attrNameLst>
                                          <p:attrName>ppt_x</p:attrName>
                                        </p:attrNameLst>
                                      </p:cBhvr>
                                      <p:tavLst>
                                        <p:tav tm="0">
                                          <p:val>
                                            <p:strVal val="#ppt_x"/>
                                          </p:val>
                                        </p:tav>
                                        <p:tav tm="100000">
                                          <p:val>
                                            <p:strVal val="#ppt_x"/>
                                          </p:val>
                                        </p:tav>
                                      </p:tavLst>
                                    </p:anim>
                                    <p:anim calcmode="lin" valueType="num">
                                      <p:cBhvr>
                                        <p:cTn id="30" dur="7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3" name="内容占位符 2"/>
          <p:cNvSpPr>
            <a:spLocks noGrp="1"/>
          </p:cNvSpPr>
          <p:nvPr>
            <p:ph idx="1"/>
          </p:nvPr>
        </p:nvSpPr>
        <p:spPr>
          <a:xfrm>
            <a:off x="838200" y="1765877"/>
            <a:ext cx="7232374" cy="589584"/>
          </a:xfrm>
        </p:spPr>
        <p:txBody>
          <a:bodyPr>
            <a:normAutofit/>
          </a:bodyPr>
          <a:lstStyle/>
          <a:p>
            <a:pPr marL="0" indent="0">
              <a:lnSpc>
                <a:spcPct val="120000"/>
              </a:lnSpc>
              <a:buNone/>
            </a:pPr>
            <a:r>
              <a:rPr lang="en-US" altLang="zh-CN" sz="2400" dirty="0">
                <a:solidFill>
                  <a:schemeClr val="accent1"/>
                </a:solidFill>
              </a:rPr>
              <a:t>【</a:t>
            </a:r>
            <a:r>
              <a:rPr lang="zh-CN" altLang="en-US" sz="2400" dirty="0">
                <a:solidFill>
                  <a:schemeClr val="accent1"/>
                </a:solidFill>
              </a:rPr>
              <a:t>例</a:t>
            </a:r>
            <a:r>
              <a:rPr lang="en-US" altLang="zh-CN" sz="2400" dirty="0">
                <a:solidFill>
                  <a:schemeClr val="accent1"/>
                </a:solidFill>
              </a:rPr>
              <a:t>1.2】</a:t>
            </a:r>
            <a:r>
              <a:rPr lang="zh-CN" altLang="en-US" sz="2400" dirty="0">
                <a:solidFill>
                  <a:schemeClr val="accent1"/>
                </a:solidFill>
              </a:rPr>
              <a:t>求两个整数之和</a:t>
            </a:r>
            <a:endParaRPr lang="en-US" altLang="zh-CN" sz="2400" dirty="0">
              <a:solidFill>
                <a:schemeClr val="accent1"/>
              </a:solidFill>
            </a:endParaRPr>
          </a:p>
        </p:txBody>
      </p:sp>
      <p:sp>
        <p:nvSpPr>
          <p:cNvPr id="4" name="矩形 3"/>
          <p:cNvSpPr/>
          <p:nvPr/>
        </p:nvSpPr>
        <p:spPr>
          <a:xfrm>
            <a:off x="1060173" y="2355461"/>
            <a:ext cx="6771861" cy="707886"/>
          </a:xfrm>
          <a:prstGeom prst="rect">
            <a:avLst/>
          </a:prstGeom>
        </p:spPr>
        <p:txBody>
          <a:bodyPr wrap="square">
            <a:spAutoFit/>
          </a:bodyPr>
          <a:lstStyle/>
          <a:p>
            <a:r>
              <a:rPr lang="zh-CN" altLang="en-US" sz="2000" b="1" dirty="0"/>
              <a:t>解题思路</a:t>
            </a:r>
            <a:r>
              <a:rPr lang="en-US" altLang="zh-CN" sz="2000" b="1" dirty="0"/>
              <a:t>: </a:t>
            </a:r>
            <a:r>
              <a:rPr lang="zh-CN" altLang="en-US" sz="2000" dirty="0"/>
              <a:t>设置</a:t>
            </a:r>
            <a:r>
              <a:rPr lang="en-US" altLang="zh-CN" sz="2000" dirty="0"/>
              <a:t>3</a:t>
            </a:r>
            <a:r>
              <a:rPr lang="zh-CN" altLang="en-US" sz="2000" dirty="0"/>
              <a:t>个变量，</a:t>
            </a:r>
            <a:r>
              <a:rPr lang="en-US" altLang="zh-CN" sz="2000" dirty="0"/>
              <a:t>a</a:t>
            </a:r>
            <a:r>
              <a:rPr lang="zh-CN" altLang="en-US" sz="2000" dirty="0"/>
              <a:t>和</a:t>
            </a:r>
            <a:r>
              <a:rPr lang="en-US" altLang="zh-CN" sz="2000" dirty="0"/>
              <a:t>b</a:t>
            </a:r>
            <a:r>
              <a:rPr lang="zh-CN" altLang="en-US" sz="2000" dirty="0"/>
              <a:t>用来存放两个整数，</a:t>
            </a:r>
            <a:r>
              <a:rPr lang="en-US" altLang="zh-CN" sz="2000" dirty="0"/>
              <a:t>sum</a:t>
            </a:r>
            <a:r>
              <a:rPr lang="zh-CN" altLang="en-US" sz="2000" dirty="0"/>
              <a:t>用来存放和数。用赋值运算符“</a:t>
            </a:r>
            <a:r>
              <a:rPr lang="en-US" altLang="zh-CN" sz="2000" dirty="0"/>
              <a:t>=”</a:t>
            </a:r>
            <a:r>
              <a:rPr lang="zh-CN" altLang="en-US" sz="2000" dirty="0"/>
              <a:t>把相加的结果传送给</a:t>
            </a:r>
            <a:r>
              <a:rPr lang="en-US" altLang="zh-CN" sz="2000" dirty="0"/>
              <a:t>sum</a:t>
            </a:r>
            <a:r>
              <a:rPr lang="zh-CN" altLang="en-US" sz="2000" dirty="0"/>
              <a:t>。</a:t>
            </a:r>
            <a:endParaRPr lang="zh-CN" altLang="en-US" sz="2000" dirty="0"/>
          </a:p>
        </p:txBody>
      </p:sp>
      <p:sp>
        <p:nvSpPr>
          <p:cNvPr id="7" name="圆角矩形 6"/>
          <p:cNvSpPr/>
          <p:nvPr/>
        </p:nvSpPr>
        <p:spPr>
          <a:xfrm>
            <a:off x="1060173" y="3213400"/>
            <a:ext cx="7706140" cy="2750077"/>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600" dirty="0"/>
              <a:t>#include &lt;</a:t>
            </a:r>
            <a:r>
              <a:rPr lang="en-US" altLang="zh-CN" sz="1600" dirty="0" err="1"/>
              <a:t>stdio.h</a:t>
            </a:r>
            <a:r>
              <a:rPr lang="en-US" altLang="zh-CN" sz="1600" dirty="0"/>
              <a:t>&gt;		</a:t>
            </a:r>
            <a:r>
              <a:rPr lang="en-US" altLang="zh-CN" sz="1600" dirty="0">
                <a:solidFill>
                  <a:srgbClr val="008000"/>
                </a:solidFill>
              </a:rPr>
              <a:t>//</a:t>
            </a:r>
            <a:r>
              <a:rPr lang="zh-CN" altLang="en-US" sz="1600" dirty="0">
                <a:solidFill>
                  <a:srgbClr val="008000"/>
                </a:solidFill>
              </a:rPr>
              <a:t>这是编译预处理指令 </a:t>
            </a:r>
            <a:endParaRPr lang="zh-CN" altLang="en-US" sz="1600" dirty="0">
              <a:solidFill>
                <a:srgbClr val="008000"/>
              </a:solidFill>
            </a:endParaRPr>
          </a:p>
          <a:p>
            <a:r>
              <a:rPr lang="en-US" altLang="zh-CN" sz="1600" dirty="0" err="1"/>
              <a:t>int</a:t>
            </a:r>
            <a:r>
              <a:rPr lang="en-US" altLang="zh-CN" sz="1600" dirty="0"/>
              <a:t> main( )			</a:t>
            </a:r>
            <a:r>
              <a:rPr lang="en-US" altLang="zh-CN" sz="1600" dirty="0">
                <a:solidFill>
                  <a:srgbClr val="008000"/>
                </a:solidFill>
              </a:rPr>
              <a:t>//</a:t>
            </a:r>
            <a:r>
              <a:rPr lang="zh-CN" altLang="en-US" sz="1600" dirty="0">
                <a:solidFill>
                  <a:srgbClr val="008000"/>
                </a:solidFill>
              </a:rPr>
              <a:t>定义主函数</a:t>
            </a:r>
            <a:endParaRPr lang="zh-CN" altLang="en-US" sz="1600" dirty="0">
              <a:solidFill>
                <a:srgbClr val="008000"/>
              </a:solidFill>
            </a:endParaRPr>
          </a:p>
          <a:p>
            <a:r>
              <a:rPr lang="en-US" altLang="zh-CN" sz="1600" dirty="0"/>
              <a:t>{ 			</a:t>
            </a:r>
            <a:r>
              <a:rPr lang="en-US" altLang="zh-CN" sz="1600" dirty="0">
                <a:solidFill>
                  <a:srgbClr val="008000"/>
                </a:solidFill>
              </a:rPr>
              <a:t>//</a:t>
            </a:r>
            <a:r>
              <a:rPr lang="zh-CN" altLang="en-US" sz="1600" dirty="0">
                <a:solidFill>
                  <a:srgbClr val="008000"/>
                </a:solidFill>
              </a:rPr>
              <a:t>函数开始 </a:t>
            </a:r>
            <a:endParaRPr lang="zh-CN" altLang="en-US" sz="1600" dirty="0">
              <a:solidFill>
                <a:srgbClr val="008000"/>
              </a:solidFill>
            </a:endParaRPr>
          </a:p>
          <a:p>
            <a:r>
              <a:rPr lang="zh-CN" altLang="en-US" sz="1600" dirty="0"/>
              <a:t>    </a:t>
            </a:r>
            <a:r>
              <a:rPr lang="en-US" altLang="zh-CN" sz="1600" dirty="0" err="1"/>
              <a:t>int</a:t>
            </a:r>
            <a:r>
              <a:rPr lang="en-US" altLang="zh-CN" sz="1600" dirty="0"/>
              <a:t> </a:t>
            </a:r>
            <a:r>
              <a:rPr lang="en-US" altLang="zh-CN" sz="1600" dirty="0" err="1"/>
              <a:t>a,b,sum</a:t>
            </a:r>
            <a:r>
              <a:rPr lang="en-US" altLang="zh-CN" sz="1600" dirty="0"/>
              <a:t>; 		</a:t>
            </a:r>
            <a:r>
              <a:rPr lang="en-US" altLang="zh-CN" sz="1600" dirty="0">
                <a:solidFill>
                  <a:srgbClr val="008000"/>
                </a:solidFill>
              </a:rPr>
              <a:t>//</a:t>
            </a:r>
            <a:r>
              <a:rPr lang="zh-CN" altLang="en-US" sz="1600" dirty="0">
                <a:solidFill>
                  <a:srgbClr val="008000"/>
                </a:solidFill>
              </a:rPr>
              <a:t>本行是程序的声明部分，定义</a:t>
            </a:r>
            <a:r>
              <a:rPr lang="en-US" altLang="zh-CN" sz="1600" dirty="0" err="1">
                <a:solidFill>
                  <a:srgbClr val="008000"/>
                </a:solidFill>
              </a:rPr>
              <a:t>a,b,sum</a:t>
            </a:r>
            <a:r>
              <a:rPr lang="zh-CN" altLang="en-US" sz="1600" dirty="0">
                <a:solidFill>
                  <a:srgbClr val="008000"/>
                </a:solidFill>
              </a:rPr>
              <a:t>为整型变量</a:t>
            </a:r>
            <a:endParaRPr lang="zh-CN" altLang="en-US" sz="1600" dirty="0">
              <a:solidFill>
                <a:srgbClr val="008000"/>
              </a:solidFill>
            </a:endParaRPr>
          </a:p>
          <a:p>
            <a:r>
              <a:rPr lang="zh-CN" altLang="en-US" sz="1600" dirty="0"/>
              <a:t>    </a:t>
            </a:r>
            <a:r>
              <a:rPr lang="en-US" altLang="zh-CN" sz="1600" dirty="0"/>
              <a:t>a=123;			</a:t>
            </a:r>
            <a:r>
              <a:rPr lang="en-US" altLang="zh-CN" sz="1600" dirty="0">
                <a:solidFill>
                  <a:srgbClr val="008000"/>
                </a:solidFill>
              </a:rPr>
              <a:t>//</a:t>
            </a:r>
            <a:r>
              <a:rPr lang="zh-CN" altLang="en-US" sz="1600" dirty="0">
                <a:solidFill>
                  <a:srgbClr val="008000"/>
                </a:solidFill>
              </a:rPr>
              <a:t>对变量</a:t>
            </a:r>
            <a:r>
              <a:rPr lang="en-US" altLang="zh-CN" sz="1600" dirty="0">
                <a:solidFill>
                  <a:srgbClr val="008000"/>
                </a:solidFill>
              </a:rPr>
              <a:t>a</a:t>
            </a:r>
            <a:r>
              <a:rPr lang="zh-CN" altLang="en-US" sz="1600" dirty="0">
                <a:solidFill>
                  <a:srgbClr val="008000"/>
                </a:solidFill>
              </a:rPr>
              <a:t>赋值</a:t>
            </a:r>
            <a:endParaRPr lang="zh-CN" altLang="en-US" sz="1600" dirty="0">
              <a:solidFill>
                <a:srgbClr val="008000"/>
              </a:solidFill>
            </a:endParaRPr>
          </a:p>
          <a:p>
            <a:r>
              <a:rPr lang="zh-CN" altLang="en-US" sz="1600" dirty="0"/>
              <a:t>    </a:t>
            </a:r>
            <a:r>
              <a:rPr lang="en-US" altLang="zh-CN" sz="1600" dirty="0"/>
              <a:t>b=456;			</a:t>
            </a:r>
            <a:r>
              <a:rPr lang="en-US" altLang="zh-CN" sz="1600" dirty="0">
                <a:solidFill>
                  <a:srgbClr val="008000"/>
                </a:solidFill>
              </a:rPr>
              <a:t>//</a:t>
            </a:r>
            <a:r>
              <a:rPr lang="zh-CN" altLang="en-US" sz="1600" dirty="0">
                <a:solidFill>
                  <a:srgbClr val="008000"/>
                </a:solidFill>
              </a:rPr>
              <a:t>对变量</a:t>
            </a:r>
            <a:r>
              <a:rPr lang="en-US" altLang="zh-CN" sz="1600" dirty="0">
                <a:solidFill>
                  <a:srgbClr val="008000"/>
                </a:solidFill>
              </a:rPr>
              <a:t>b</a:t>
            </a:r>
            <a:r>
              <a:rPr lang="zh-CN" altLang="en-US" sz="1600" dirty="0">
                <a:solidFill>
                  <a:srgbClr val="008000"/>
                </a:solidFill>
              </a:rPr>
              <a:t>赋值 </a:t>
            </a:r>
            <a:endParaRPr lang="zh-CN" altLang="en-US" sz="1600" dirty="0">
              <a:solidFill>
                <a:srgbClr val="008000"/>
              </a:solidFill>
            </a:endParaRPr>
          </a:p>
          <a:p>
            <a:r>
              <a:rPr lang="zh-CN" altLang="en-US" sz="1600" dirty="0"/>
              <a:t>    </a:t>
            </a:r>
            <a:r>
              <a:rPr lang="en-US" altLang="zh-CN" sz="1600" dirty="0"/>
              <a:t>sum=</a:t>
            </a:r>
            <a:r>
              <a:rPr lang="en-US" altLang="zh-CN" sz="1600" dirty="0" err="1"/>
              <a:t>a+b</a:t>
            </a:r>
            <a:r>
              <a:rPr lang="en-US" altLang="zh-CN" sz="1600" dirty="0"/>
              <a:t>;		</a:t>
            </a:r>
            <a:r>
              <a:rPr lang="en-US" altLang="zh-CN" sz="1600" dirty="0">
                <a:solidFill>
                  <a:srgbClr val="008000"/>
                </a:solidFill>
              </a:rPr>
              <a:t>//</a:t>
            </a:r>
            <a:r>
              <a:rPr lang="zh-CN" altLang="en-US" sz="1600" dirty="0">
                <a:solidFill>
                  <a:srgbClr val="008000"/>
                </a:solidFill>
              </a:rPr>
              <a:t>进行</a:t>
            </a:r>
            <a:r>
              <a:rPr lang="en-US" altLang="zh-CN" sz="1600" dirty="0" err="1">
                <a:solidFill>
                  <a:srgbClr val="008000"/>
                </a:solidFill>
              </a:rPr>
              <a:t>a+b</a:t>
            </a:r>
            <a:r>
              <a:rPr lang="zh-CN" altLang="en-US" sz="1600" dirty="0">
                <a:solidFill>
                  <a:srgbClr val="008000"/>
                </a:solidFill>
              </a:rPr>
              <a:t>的运算，并把结果存放在变量</a:t>
            </a:r>
            <a:r>
              <a:rPr lang="en-US" altLang="zh-CN" sz="1600" dirty="0">
                <a:solidFill>
                  <a:srgbClr val="008000"/>
                </a:solidFill>
              </a:rPr>
              <a:t>sum</a:t>
            </a:r>
            <a:r>
              <a:rPr lang="zh-CN" altLang="en-US" sz="1600" dirty="0">
                <a:solidFill>
                  <a:srgbClr val="008000"/>
                </a:solidFill>
              </a:rPr>
              <a:t>中</a:t>
            </a:r>
            <a:endParaRPr lang="zh-CN" altLang="en-US" sz="1600" dirty="0">
              <a:solidFill>
                <a:srgbClr val="008000"/>
              </a:solidFill>
            </a:endParaRPr>
          </a:p>
          <a:p>
            <a:r>
              <a:rPr lang="zh-CN" altLang="en-US" sz="1600" dirty="0"/>
              <a:t>    </a:t>
            </a:r>
            <a:r>
              <a:rPr lang="en-US" altLang="zh-CN" sz="1600" dirty="0" err="1"/>
              <a:t>printf</a:t>
            </a:r>
            <a:r>
              <a:rPr lang="en-US" altLang="zh-CN" sz="1600" dirty="0"/>
              <a:t>(</a:t>
            </a:r>
            <a:r>
              <a:rPr lang="en-US" altLang="zh-CN" dirty="0"/>
              <a:t>"</a:t>
            </a:r>
            <a:r>
              <a:rPr lang="en-US" altLang="zh-CN" sz="1600" dirty="0"/>
              <a:t>sum is %d\</a:t>
            </a:r>
            <a:r>
              <a:rPr lang="en-US" altLang="zh-CN" sz="1600" dirty="0" err="1"/>
              <a:t>n</a:t>
            </a:r>
            <a:r>
              <a:rPr lang="en-US" altLang="zh-CN" dirty="0" err="1"/>
              <a:t>"</a:t>
            </a:r>
            <a:r>
              <a:rPr lang="en-US" altLang="zh-CN" sz="1600" dirty="0" err="1"/>
              <a:t>,sum</a:t>
            </a:r>
            <a:r>
              <a:rPr lang="en-US" altLang="zh-CN" sz="1600" dirty="0"/>
              <a:t>); 	</a:t>
            </a:r>
            <a:r>
              <a:rPr lang="en-US" altLang="zh-CN" sz="1600" dirty="0">
                <a:solidFill>
                  <a:srgbClr val="008000"/>
                </a:solidFill>
              </a:rPr>
              <a:t>//</a:t>
            </a:r>
            <a:r>
              <a:rPr lang="zh-CN" altLang="en-US" sz="1600" dirty="0">
                <a:solidFill>
                  <a:srgbClr val="008000"/>
                </a:solidFill>
              </a:rPr>
              <a:t>输出结果 </a:t>
            </a:r>
            <a:endParaRPr lang="zh-CN" altLang="en-US" sz="1600" dirty="0">
              <a:solidFill>
                <a:srgbClr val="008000"/>
              </a:solidFill>
            </a:endParaRPr>
          </a:p>
          <a:p>
            <a:r>
              <a:rPr lang="zh-CN" altLang="en-US" sz="1600" dirty="0"/>
              <a:t>    </a:t>
            </a:r>
            <a:r>
              <a:rPr lang="en-US" altLang="zh-CN" sz="1600" dirty="0"/>
              <a:t>return 0;		</a:t>
            </a:r>
            <a:r>
              <a:rPr lang="en-US" altLang="zh-CN" sz="1600" dirty="0">
                <a:solidFill>
                  <a:srgbClr val="008000"/>
                </a:solidFill>
              </a:rPr>
              <a:t>//</a:t>
            </a:r>
            <a:r>
              <a:rPr lang="zh-CN" altLang="en-US" sz="1600" dirty="0">
                <a:solidFill>
                  <a:srgbClr val="008000"/>
                </a:solidFill>
              </a:rPr>
              <a:t>使函数返回值为</a:t>
            </a:r>
            <a:r>
              <a:rPr lang="en-US" altLang="zh-CN" sz="1600" dirty="0">
                <a:solidFill>
                  <a:srgbClr val="008000"/>
                </a:solidFill>
              </a:rPr>
              <a:t>0</a:t>
            </a:r>
            <a:endParaRPr lang="en-US" altLang="zh-CN" sz="1600" dirty="0">
              <a:solidFill>
                <a:srgbClr val="008000"/>
              </a:solidFill>
            </a:endParaRPr>
          </a:p>
          <a:p>
            <a:r>
              <a:rPr lang="en-US" altLang="zh-CN" sz="1600" dirty="0"/>
              <a:t>}			</a:t>
            </a:r>
            <a:r>
              <a:rPr lang="en-US" altLang="zh-CN" sz="1600" dirty="0">
                <a:solidFill>
                  <a:srgbClr val="008000"/>
                </a:solidFill>
              </a:rPr>
              <a:t>//</a:t>
            </a:r>
            <a:r>
              <a:rPr lang="zh-CN" altLang="en-US" sz="1600" dirty="0">
                <a:solidFill>
                  <a:srgbClr val="008000"/>
                </a:solidFill>
              </a:rPr>
              <a:t>函数结束</a:t>
            </a:r>
            <a:endParaRPr lang="zh-CN" altLang="en-US" sz="1600" dirty="0">
              <a:solidFill>
                <a:srgbClr val="008000"/>
              </a:solidFill>
            </a:endParaRPr>
          </a:p>
        </p:txBody>
      </p:sp>
      <p:pic>
        <p:nvPicPr>
          <p:cNvPr id="5" name="图片 4"/>
          <p:cNvPicPr>
            <a:picLocks noChangeAspect="1"/>
          </p:cNvPicPr>
          <p:nvPr/>
        </p:nvPicPr>
        <p:blipFill>
          <a:blip r:embed="rId1"/>
          <a:stretch>
            <a:fillRect/>
          </a:stretch>
        </p:blipFill>
        <p:spPr>
          <a:xfrm>
            <a:off x="7106513" y="5342987"/>
            <a:ext cx="3648075" cy="10477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750"/>
                                        <p:tgtEl>
                                          <p:spTgt spid="5"/>
                                        </p:tgtEl>
                                      </p:cBhvr>
                                    </p:animEffect>
                                    <p:anim calcmode="lin" valueType="num">
                                      <p:cBhvr>
                                        <p:cTn id="25" dur="750" fill="hold"/>
                                        <p:tgtEl>
                                          <p:spTgt spid="5"/>
                                        </p:tgtEl>
                                        <p:attrNameLst>
                                          <p:attrName>ppt_x</p:attrName>
                                        </p:attrNameLst>
                                      </p:cBhvr>
                                      <p:tavLst>
                                        <p:tav tm="0">
                                          <p:val>
                                            <p:strVal val="#ppt_x"/>
                                          </p:val>
                                        </p:tav>
                                        <p:tav tm="100000">
                                          <p:val>
                                            <p:strVal val="#ppt_x"/>
                                          </p:val>
                                        </p:tav>
                                      </p:tavLst>
                                    </p:anim>
                                    <p:anim calcmode="lin" valueType="num">
                                      <p:cBhvr>
                                        <p:cTn id="26" dur="75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950842" y="1406720"/>
            <a:ext cx="7706140" cy="2750077"/>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600" dirty="0"/>
              <a:t>#include &lt;</a:t>
            </a:r>
            <a:r>
              <a:rPr lang="en-US" altLang="zh-CN" sz="1600" dirty="0" err="1"/>
              <a:t>stdio.h</a:t>
            </a:r>
            <a:r>
              <a:rPr lang="en-US" altLang="zh-CN" sz="1600" dirty="0"/>
              <a:t>&gt;		</a:t>
            </a:r>
            <a:r>
              <a:rPr lang="en-US" altLang="zh-CN" sz="1600" dirty="0">
                <a:solidFill>
                  <a:srgbClr val="008000"/>
                </a:solidFill>
              </a:rPr>
              <a:t>//</a:t>
            </a:r>
            <a:r>
              <a:rPr lang="zh-CN" altLang="en-US" sz="1600" dirty="0">
                <a:solidFill>
                  <a:srgbClr val="008000"/>
                </a:solidFill>
              </a:rPr>
              <a:t>这是编译预处理指令 </a:t>
            </a:r>
            <a:endParaRPr lang="zh-CN" altLang="en-US" sz="1600" dirty="0">
              <a:solidFill>
                <a:srgbClr val="008000"/>
              </a:solidFill>
            </a:endParaRPr>
          </a:p>
          <a:p>
            <a:r>
              <a:rPr lang="en-US" altLang="zh-CN" sz="1600" dirty="0" err="1"/>
              <a:t>int</a:t>
            </a:r>
            <a:r>
              <a:rPr lang="en-US" altLang="zh-CN" sz="1600" dirty="0"/>
              <a:t> main( )			</a:t>
            </a:r>
            <a:r>
              <a:rPr lang="en-US" altLang="zh-CN" sz="1600" dirty="0">
                <a:solidFill>
                  <a:srgbClr val="008000"/>
                </a:solidFill>
              </a:rPr>
              <a:t>//</a:t>
            </a:r>
            <a:r>
              <a:rPr lang="zh-CN" altLang="en-US" sz="1600" dirty="0">
                <a:solidFill>
                  <a:srgbClr val="008000"/>
                </a:solidFill>
              </a:rPr>
              <a:t>定义主函数</a:t>
            </a:r>
            <a:endParaRPr lang="zh-CN" altLang="en-US" sz="1600" dirty="0">
              <a:solidFill>
                <a:srgbClr val="008000"/>
              </a:solidFill>
            </a:endParaRPr>
          </a:p>
          <a:p>
            <a:r>
              <a:rPr lang="en-US" altLang="zh-CN" sz="1600" dirty="0"/>
              <a:t>{ 			</a:t>
            </a:r>
            <a:r>
              <a:rPr lang="en-US" altLang="zh-CN" sz="1600" dirty="0">
                <a:solidFill>
                  <a:srgbClr val="008000"/>
                </a:solidFill>
              </a:rPr>
              <a:t>//</a:t>
            </a:r>
            <a:r>
              <a:rPr lang="zh-CN" altLang="en-US" sz="1600" dirty="0">
                <a:solidFill>
                  <a:srgbClr val="008000"/>
                </a:solidFill>
              </a:rPr>
              <a:t>函数开始 </a:t>
            </a:r>
            <a:endParaRPr lang="zh-CN" altLang="en-US" sz="1600" dirty="0">
              <a:solidFill>
                <a:srgbClr val="008000"/>
              </a:solidFill>
            </a:endParaRPr>
          </a:p>
          <a:p>
            <a:r>
              <a:rPr lang="zh-CN" altLang="en-US" sz="1600" dirty="0"/>
              <a:t>    </a:t>
            </a:r>
            <a:r>
              <a:rPr lang="en-US" altLang="zh-CN" sz="1600" dirty="0" err="1"/>
              <a:t>int</a:t>
            </a:r>
            <a:r>
              <a:rPr lang="en-US" altLang="zh-CN" sz="1600" dirty="0"/>
              <a:t> </a:t>
            </a:r>
            <a:r>
              <a:rPr lang="en-US" altLang="zh-CN" sz="1600" dirty="0" err="1"/>
              <a:t>a,b,sum</a:t>
            </a:r>
            <a:r>
              <a:rPr lang="en-US" altLang="zh-CN" sz="1600" dirty="0"/>
              <a:t>; 		</a:t>
            </a:r>
            <a:r>
              <a:rPr lang="en-US" altLang="zh-CN" sz="1600" dirty="0">
                <a:solidFill>
                  <a:srgbClr val="008000"/>
                </a:solidFill>
              </a:rPr>
              <a:t>//</a:t>
            </a:r>
            <a:r>
              <a:rPr lang="zh-CN" altLang="en-US" sz="1600" dirty="0">
                <a:solidFill>
                  <a:srgbClr val="008000"/>
                </a:solidFill>
              </a:rPr>
              <a:t>本行是程序的声明部分，定义</a:t>
            </a:r>
            <a:r>
              <a:rPr lang="en-US" altLang="zh-CN" sz="1600" dirty="0" err="1">
                <a:solidFill>
                  <a:srgbClr val="008000"/>
                </a:solidFill>
              </a:rPr>
              <a:t>a,b,sum</a:t>
            </a:r>
            <a:r>
              <a:rPr lang="zh-CN" altLang="en-US" sz="1600" dirty="0">
                <a:solidFill>
                  <a:srgbClr val="008000"/>
                </a:solidFill>
              </a:rPr>
              <a:t>为整型变量</a:t>
            </a:r>
            <a:endParaRPr lang="zh-CN" altLang="en-US" sz="1600" dirty="0">
              <a:solidFill>
                <a:srgbClr val="008000"/>
              </a:solidFill>
            </a:endParaRPr>
          </a:p>
          <a:p>
            <a:r>
              <a:rPr lang="zh-CN" altLang="en-US" sz="1600" dirty="0"/>
              <a:t>    </a:t>
            </a:r>
            <a:r>
              <a:rPr lang="en-US" altLang="zh-CN" sz="1600" dirty="0"/>
              <a:t>a=123;			</a:t>
            </a:r>
            <a:r>
              <a:rPr lang="en-US" altLang="zh-CN" sz="1600" dirty="0">
                <a:solidFill>
                  <a:srgbClr val="008000"/>
                </a:solidFill>
              </a:rPr>
              <a:t>//</a:t>
            </a:r>
            <a:r>
              <a:rPr lang="zh-CN" altLang="en-US" sz="1600" dirty="0">
                <a:solidFill>
                  <a:srgbClr val="008000"/>
                </a:solidFill>
              </a:rPr>
              <a:t>对变量</a:t>
            </a:r>
            <a:r>
              <a:rPr lang="en-US" altLang="zh-CN" sz="1600" dirty="0">
                <a:solidFill>
                  <a:srgbClr val="008000"/>
                </a:solidFill>
              </a:rPr>
              <a:t>a</a:t>
            </a:r>
            <a:r>
              <a:rPr lang="zh-CN" altLang="en-US" sz="1600" dirty="0">
                <a:solidFill>
                  <a:srgbClr val="008000"/>
                </a:solidFill>
              </a:rPr>
              <a:t>赋值</a:t>
            </a:r>
            <a:endParaRPr lang="zh-CN" altLang="en-US" sz="1600" dirty="0">
              <a:solidFill>
                <a:srgbClr val="008000"/>
              </a:solidFill>
            </a:endParaRPr>
          </a:p>
          <a:p>
            <a:r>
              <a:rPr lang="zh-CN" altLang="en-US" sz="1600" dirty="0"/>
              <a:t>    </a:t>
            </a:r>
            <a:r>
              <a:rPr lang="en-US" altLang="zh-CN" sz="1600" dirty="0"/>
              <a:t>b=456;			</a:t>
            </a:r>
            <a:r>
              <a:rPr lang="en-US" altLang="zh-CN" sz="1600" dirty="0">
                <a:solidFill>
                  <a:srgbClr val="008000"/>
                </a:solidFill>
              </a:rPr>
              <a:t>//</a:t>
            </a:r>
            <a:r>
              <a:rPr lang="zh-CN" altLang="en-US" sz="1600" dirty="0">
                <a:solidFill>
                  <a:srgbClr val="008000"/>
                </a:solidFill>
              </a:rPr>
              <a:t>对变量</a:t>
            </a:r>
            <a:r>
              <a:rPr lang="en-US" altLang="zh-CN" sz="1600" dirty="0">
                <a:solidFill>
                  <a:srgbClr val="008000"/>
                </a:solidFill>
              </a:rPr>
              <a:t>b</a:t>
            </a:r>
            <a:r>
              <a:rPr lang="zh-CN" altLang="en-US" sz="1600" dirty="0">
                <a:solidFill>
                  <a:srgbClr val="008000"/>
                </a:solidFill>
              </a:rPr>
              <a:t>赋值 </a:t>
            </a:r>
            <a:endParaRPr lang="zh-CN" altLang="en-US" sz="1600" dirty="0">
              <a:solidFill>
                <a:srgbClr val="008000"/>
              </a:solidFill>
            </a:endParaRPr>
          </a:p>
          <a:p>
            <a:r>
              <a:rPr lang="zh-CN" altLang="en-US" sz="1600" dirty="0"/>
              <a:t>    </a:t>
            </a:r>
            <a:r>
              <a:rPr lang="en-US" altLang="zh-CN" sz="1600" dirty="0"/>
              <a:t>sum=</a:t>
            </a:r>
            <a:r>
              <a:rPr lang="en-US" altLang="zh-CN" sz="1600" dirty="0" err="1"/>
              <a:t>a+b</a:t>
            </a:r>
            <a:r>
              <a:rPr lang="en-US" altLang="zh-CN" sz="1600" dirty="0"/>
              <a:t>;		</a:t>
            </a:r>
            <a:r>
              <a:rPr lang="en-US" altLang="zh-CN" sz="1600" dirty="0">
                <a:solidFill>
                  <a:srgbClr val="008000"/>
                </a:solidFill>
              </a:rPr>
              <a:t>//</a:t>
            </a:r>
            <a:r>
              <a:rPr lang="zh-CN" altLang="en-US" sz="1600" dirty="0">
                <a:solidFill>
                  <a:srgbClr val="008000"/>
                </a:solidFill>
              </a:rPr>
              <a:t>进行</a:t>
            </a:r>
            <a:r>
              <a:rPr lang="en-US" altLang="zh-CN" sz="1600" dirty="0" err="1">
                <a:solidFill>
                  <a:srgbClr val="008000"/>
                </a:solidFill>
              </a:rPr>
              <a:t>a+b</a:t>
            </a:r>
            <a:r>
              <a:rPr lang="zh-CN" altLang="en-US" sz="1600" dirty="0">
                <a:solidFill>
                  <a:srgbClr val="008000"/>
                </a:solidFill>
              </a:rPr>
              <a:t>的运算，并把结果存放在变量</a:t>
            </a:r>
            <a:r>
              <a:rPr lang="en-US" altLang="zh-CN" sz="1600" dirty="0">
                <a:solidFill>
                  <a:srgbClr val="008000"/>
                </a:solidFill>
              </a:rPr>
              <a:t>sum</a:t>
            </a:r>
            <a:r>
              <a:rPr lang="zh-CN" altLang="en-US" sz="1600" dirty="0">
                <a:solidFill>
                  <a:srgbClr val="008000"/>
                </a:solidFill>
              </a:rPr>
              <a:t>中</a:t>
            </a:r>
            <a:endParaRPr lang="zh-CN" altLang="en-US" sz="1600" dirty="0">
              <a:solidFill>
                <a:srgbClr val="008000"/>
              </a:solidFill>
            </a:endParaRPr>
          </a:p>
          <a:p>
            <a:r>
              <a:rPr lang="zh-CN" altLang="en-US" sz="1600" dirty="0"/>
              <a:t>    </a:t>
            </a:r>
            <a:r>
              <a:rPr lang="en-US" altLang="zh-CN" sz="1600" dirty="0" err="1"/>
              <a:t>printf</a:t>
            </a:r>
            <a:r>
              <a:rPr lang="en-US" altLang="zh-CN" sz="1600" dirty="0"/>
              <a:t>(</a:t>
            </a:r>
            <a:r>
              <a:rPr lang="en-US" altLang="zh-CN" dirty="0"/>
              <a:t>"</a:t>
            </a:r>
            <a:r>
              <a:rPr lang="en-US" altLang="zh-CN" sz="1600" dirty="0"/>
              <a:t>sum is %d\</a:t>
            </a:r>
            <a:r>
              <a:rPr lang="en-US" altLang="zh-CN" sz="1600" dirty="0" err="1"/>
              <a:t>n</a:t>
            </a:r>
            <a:r>
              <a:rPr lang="en-US" altLang="zh-CN" dirty="0" err="1"/>
              <a:t>"</a:t>
            </a:r>
            <a:r>
              <a:rPr lang="en-US" altLang="zh-CN" sz="1600" dirty="0" err="1"/>
              <a:t>,sum</a:t>
            </a:r>
            <a:r>
              <a:rPr lang="en-US" altLang="zh-CN" sz="1600" dirty="0"/>
              <a:t>); 	</a:t>
            </a:r>
            <a:r>
              <a:rPr lang="en-US" altLang="zh-CN" sz="1600" dirty="0">
                <a:solidFill>
                  <a:srgbClr val="008000"/>
                </a:solidFill>
              </a:rPr>
              <a:t>//</a:t>
            </a:r>
            <a:r>
              <a:rPr lang="zh-CN" altLang="en-US" sz="1600" dirty="0">
                <a:solidFill>
                  <a:srgbClr val="008000"/>
                </a:solidFill>
              </a:rPr>
              <a:t>输出结果 </a:t>
            </a:r>
            <a:endParaRPr lang="zh-CN" altLang="en-US" sz="1600" dirty="0">
              <a:solidFill>
                <a:srgbClr val="008000"/>
              </a:solidFill>
            </a:endParaRPr>
          </a:p>
          <a:p>
            <a:r>
              <a:rPr lang="zh-CN" altLang="en-US" sz="1600" dirty="0"/>
              <a:t>    </a:t>
            </a:r>
            <a:r>
              <a:rPr lang="en-US" altLang="zh-CN" sz="1600" dirty="0"/>
              <a:t>return 0;		</a:t>
            </a:r>
            <a:r>
              <a:rPr lang="en-US" altLang="zh-CN" sz="1600" dirty="0">
                <a:solidFill>
                  <a:srgbClr val="008000"/>
                </a:solidFill>
              </a:rPr>
              <a:t>//</a:t>
            </a:r>
            <a:r>
              <a:rPr lang="zh-CN" altLang="en-US" sz="1600" dirty="0">
                <a:solidFill>
                  <a:srgbClr val="008000"/>
                </a:solidFill>
              </a:rPr>
              <a:t>使函数返回值为</a:t>
            </a:r>
            <a:r>
              <a:rPr lang="en-US" altLang="zh-CN" sz="1600" dirty="0">
                <a:solidFill>
                  <a:srgbClr val="008000"/>
                </a:solidFill>
              </a:rPr>
              <a:t>0</a:t>
            </a:r>
            <a:endParaRPr lang="en-US" altLang="zh-CN" sz="1600" dirty="0">
              <a:solidFill>
                <a:srgbClr val="008000"/>
              </a:solidFill>
            </a:endParaRPr>
          </a:p>
          <a:p>
            <a:r>
              <a:rPr lang="en-US" altLang="zh-CN" sz="1600" dirty="0"/>
              <a:t>}			</a:t>
            </a:r>
            <a:r>
              <a:rPr lang="en-US" altLang="zh-CN" sz="1600" dirty="0">
                <a:solidFill>
                  <a:srgbClr val="008000"/>
                </a:solidFill>
              </a:rPr>
              <a:t>//</a:t>
            </a:r>
            <a:r>
              <a:rPr lang="zh-CN" altLang="en-US" sz="1600" dirty="0">
                <a:solidFill>
                  <a:srgbClr val="008000"/>
                </a:solidFill>
              </a:rPr>
              <a:t>函数结束</a:t>
            </a:r>
            <a:endParaRPr lang="zh-CN" altLang="en-US" sz="1600" dirty="0">
              <a:solidFill>
                <a:srgbClr val="008000"/>
              </a:solidFill>
            </a:endParaRPr>
          </a:p>
        </p:txBody>
      </p:sp>
      <p:sp>
        <p:nvSpPr>
          <p:cNvPr id="8" name="折角形 7"/>
          <p:cNvSpPr/>
          <p:nvPr/>
        </p:nvSpPr>
        <p:spPr>
          <a:xfrm>
            <a:off x="950842" y="4311976"/>
            <a:ext cx="10454310" cy="2405575"/>
          </a:xfrm>
          <a:prstGeom prst="foldedCorner">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9" name="组合 8"/>
          <p:cNvGrpSpPr/>
          <p:nvPr/>
        </p:nvGrpSpPr>
        <p:grpSpPr>
          <a:xfrm>
            <a:off x="1156252" y="4398739"/>
            <a:ext cx="1914752" cy="560717"/>
            <a:chOff x="8656983" y="1203671"/>
            <a:chExt cx="1914752" cy="497504"/>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56983" y="1203671"/>
              <a:ext cx="487017" cy="487017"/>
            </a:xfrm>
            <a:prstGeom prst="rect">
              <a:avLst/>
            </a:prstGeom>
          </p:spPr>
        </p:pic>
        <p:sp>
          <p:nvSpPr>
            <p:cNvPr id="11" name="文本框 10"/>
            <p:cNvSpPr txBox="1"/>
            <p:nvPr/>
          </p:nvSpPr>
          <p:spPr>
            <a:xfrm>
              <a:off x="9253331" y="1331843"/>
              <a:ext cx="1242392" cy="369332"/>
            </a:xfrm>
            <a:prstGeom prst="rect">
              <a:avLst/>
            </a:prstGeom>
            <a:noFill/>
          </p:spPr>
          <p:txBody>
            <a:bodyPr wrap="square" rtlCol="0">
              <a:spAutoFit/>
            </a:bodyPr>
            <a:lstStyle/>
            <a:p>
              <a:pPr algn="dist"/>
              <a:r>
                <a:rPr lang="zh-CN" altLang="en-US" b="1" dirty="0">
                  <a:solidFill>
                    <a:schemeClr val="bg1"/>
                  </a:solidFill>
                  <a:latin typeface="微软雅黑" panose="020B0503020204020204" pitchFamily="34" charset="-122"/>
                  <a:ea typeface="微软雅黑" panose="020B0503020204020204" pitchFamily="34" charset="-122"/>
                </a:rPr>
                <a:t>程序分析</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8656983" y="1690688"/>
              <a:ext cx="19147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文本框 12"/>
          <p:cNvSpPr txBox="1"/>
          <p:nvPr/>
        </p:nvSpPr>
        <p:spPr>
          <a:xfrm>
            <a:off x="1073425" y="5055558"/>
            <a:ext cx="9978888" cy="1661993"/>
          </a:xfrm>
          <a:prstGeom prst="rect">
            <a:avLst/>
          </a:prstGeom>
          <a:noFill/>
        </p:spPr>
        <p:txBody>
          <a:bodyPr wrap="square" rtlCol="0">
            <a:spAutoFit/>
          </a:bodyPr>
          <a:lstStyle/>
          <a:p>
            <a:pPr marL="285750" indent="-285750">
              <a:lnSpc>
                <a:spcPct val="150000"/>
              </a:lnSpc>
              <a:buClr>
                <a:schemeClr val="bg1"/>
              </a:buClr>
              <a:buFont typeface="Arial" panose="020B0604020202020204" pitchFamily="34" charset="0"/>
              <a:buChar char="•"/>
            </a:pPr>
            <a:r>
              <a:rPr lang="en-US" altLang="zh-CN" b="1" dirty="0" err="1">
                <a:solidFill>
                  <a:srgbClr val="FFFF00"/>
                </a:solidFill>
              </a:rPr>
              <a:t>printf</a:t>
            </a:r>
            <a:r>
              <a:rPr lang="en-US" altLang="zh-CN" b="1" dirty="0">
                <a:solidFill>
                  <a:srgbClr val="FFFF00"/>
                </a:solidFill>
              </a:rPr>
              <a:t>("sum is %d\</a:t>
            </a:r>
            <a:r>
              <a:rPr lang="en-US" altLang="zh-CN" b="1" dirty="0" err="1">
                <a:solidFill>
                  <a:srgbClr val="FFFF00"/>
                </a:solidFill>
              </a:rPr>
              <a:t>n",sum</a:t>
            </a:r>
            <a:r>
              <a:rPr lang="en-US" altLang="zh-CN" b="1" dirty="0">
                <a:solidFill>
                  <a:srgbClr val="FFFF00"/>
                </a:solidFill>
              </a:rPr>
              <a:t>); </a:t>
            </a:r>
            <a:r>
              <a:rPr lang="en-US" altLang="zh-CN" sz="1600" dirty="0" err="1">
                <a:solidFill>
                  <a:schemeClr val="bg1"/>
                </a:solidFill>
              </a:rPr>
              <a:t>printf</a:t>
            </a:r>
            <a:r>
              <a:rPr lang="zh-CN" altLang="en-US" sz="1600" dirty="0">
                <a:solidFill>
                  <a:schemeClr val="bg1"/>
                </a:solidFill>
              </a:rPr>
              <a:t>函数圆括号内有两个参数。第一个参数是双引号中的内容</a:t>
            </a:r>
            <a:r>
              <a:rPr lang="en-US" altLang="zh-CN" sz="1600" dirty="0">
                <a:solidFill>
                  <a:schemeClr val="bg1"/>
                </a:solidFill>
              </a:rPr>
              <a:t>sum is %d\n</a:t>
            </a:r>
            <a:r>
              <a:rPr lang="zh-CN" altLang="en-US" sz="1600" dirty="0">
                <a:solidFill>
                  <a:schemeClr val="bg1"/>
                </a:solidFill>
              </a:rPr>
              <a:t>，它是输出格式字符串，作用是输出用户希望输出的字符和输出的格式。其中</a:t>
            </a:r>
            <a:r>
              <a:rPr lang="en-US" altLang="zh-CN" sz="1600" dirty="0">
                <a:solidFill>
                  <a:schemeClr val="bg1"/>
                </a:solidFill>
              </a:rPr>
              <a:t>sum is</a:t>
            </a:r>
            <a:r>
              <a:rPr lang="zh-CN" altLang="en-US" sz="1600" dirty="0">
                <a:solidFill>
                  <a:schemeClr val="bg1"/>
                </a:solidFill>
              </a:rPr>
              <a:t>是用户希望输出的字符，</a:t>
            </a:r>
            <a:r>
              <a:rPr lang="zh-CN" altLang="en-US" b="1" dirty="0">
                <a:solidFill>
                  <a:srgbClr val="FFFF00"/>
                </a:solidFill>
              </a:rPr>
              <a:t>％</a:t>
            </a:r>
            <a:r>
              <a:rPr lang="en-US" altLang="zh-CN" b="1" dirty="0">
                <a:solidFill>
                  <a:srgbClr val="FFFF00"/>
                </a:solidFill>
              </a:rPr>
              <a:t>d</a:t>
            </a:r>
            <a:r>
              <a:rPr lang="zh-CN" altLang="en-US" sz="1600" dirty="0">
                <a:solidFill>
                  <a:schemeClr val="bg1"/>
                </a:solidFill>
              </a:rPr>
              <a:t>是指定的输出格式，</a:t>
            </a:r>
            <a:r>
              <a:rPr lang="en-US" altLang="zh-CN" b="1" dirty="0">
                <a:solidFill>
                  <a:srgbClr val="FFFF00"/>
                </a:solidFill>
              </a:rPr>
              <a:t>d</a:t>
            </a:r>
            <a:r>
              <a:rPr lang="zh-CN" altLang="en-US" sz="1600" dirty="0">
                <a:solidFill>
                  <a:schemeClr val="bg1"/>
                </a:solidFill>
              </a:rPr>
              <a:t>表示用“十进制整数”形式输出。圆括号内第二个参数</a:t>
            </a:r>
            <a:r>
              <a:rPr lang="en-US" altLang="zh-CN" sz="1600" dirty="0">
                <a:solidFill>
                  <a:schemeClr val="bg1"/>
                </a:solidFill>
              </a:rPr>
              <a:t>sum</a:t>
            </a:r>
            <a:r>
              <a:rPr lang="zh-CN" altLang="en-US" sz="1600" dirty="0">
                <a:solidFill>
                  <a:schemeClr val="bg1"/>
                </a:solidFill>
              </a:rPr>
              <a:t>表示要输出变量</a:t>
            </a:r>
            <a:r>
              <a:rPr lang="en-US" altLang="zh-CN" sz="1600" dirty="0">
                <a:solidFill>
                  <a:schemeClr val="bg1"/>
                </a:solidFill>
              </a:rPr>
              <a:t>sum</a:t>
            </a:r>
            <a:r>
              <a:rPr lang="zh-CN" altLang="en-US" sz="1600" dirty="0">
                <a:solidFill>
                  <a:schemeClr val="bg1"/>
                </a:solidFill>
              </a:rPr>
              <a:t>的值。在执行</a:t>
            </a:r>
            <a:r>
              <a:rPr lang="en-US" altLang="zh-CN" sz="1600" dirty="0" err="1">
                <a:solidFill>
                  <a:schemeClr val="bg1"/>
                </a:solidFill>
              </a:rPr>
              <a:t>printf</a:t>
            </a:r>
            <a:r>
              <a:rPr lang="zh-CN" altLang="en-US" sz="1600" dirty="0">
                <a:solidFill>
                  <a:schemeClr val="bg1"/>
                </a:solidFill>
              </a:rPr>
              <a:t>函数时，将</a:t>
            </a:r>
            <a:r>
              <a:rPr lang="en-US" altLang="zh-CN" sz="1600" dirty="0">
                <a:solidFill>
                  <a:schemeClr val="bg1"/>
                </a:solidFill>
              </a:rPr>
              <a:t>sum</a:t>
            </a:r>
            <a:r>
              <a:rPr lang="zh-CN" altLang="en-US" sz="1600" dirty="0">
                <a:solidFill>
                  <a:schemeClr val="bg1"/>
                </a:solidFill>
              </a:rPr>
              <a:t>变量的值</a:t>
            </a:r>
            <a:r>
              <a:rPr lang="en-US" altLang="zh-CN" sz="1600" dirty="0">
                <a:solidFill>
                  <a:schemeClr val="bg1"/>
                </a:solidFill>
              </a:rPr>
              <a:t>(</a:t>
            </a:r>
            <a:r>
              <a:rPr lang="zh-CN" altLang="en-US" sz="1600" dirty="0">
                <a:solidFill>
                  <a:schemeClr val="bg1"/>
                </a:solidFill>
              </a:rPr>
              <a:t>以十进制整数表示</a:t>
            </a:r>
            <a:r>
              <a:rPr lang="en-US" altLang="zh-CN" sz="1600" dirty="0">
                <a:solidFill>
                  <a:schemeClr val="bg1"/>
                </a:solidFill>
              </a:rPr>
              <a:t>)</a:t>
            </a:r>
            <a:r>
              <a:rPr lang="zh-CN" altLang="en-US" sz="1600" dirty="0">
                <a:solidFill>
                  <a:schemeClr val="bg1"/>
                </a:solidFill>
              </a:rPr>
              <a:t>取代双引号中的</a:t>
            </a:r>
            <a:r>
              <a:rPr lang="en-US" altLang="zh-CN" sz="1600" dirty="0">
                <a:solidFill>
                  <a:schemeClr val="bg1"/>
                </a:solidFill>
              </a:rPr>
              <a:t>%d</a:t>
            </a:r>
            <a:r>
              <a:rPr lang="zh-CN" altLang="en-US" sz="1600" dirty="0">
                <a:solidFill>
                  <a:schemeClr val="bg1"/>
                </a:solidFill>
              </a:rPr>
              <a:t>。</a:t>
            </a:r>
            <a:endParaRPr lang="zh-CN" altLang="en-US" sz="1600" dirty="0">
              <a:solidFill>
                <a:schemeClr val="bg1"/>
              </a:solidFill>
            </a:endParaRPr>
          </a:p>
        </p:txBody>
      </p:sp>
      <p:sp>
        <p:nvSpPr>
          <p:cNvPr id="14" name="矩形 13"/>
          <p:cNvSpPr/>
          <p:nvPr/>
        </p:nvSpPr>
        <p:spPr>
          <a:xfrm>
            <a:off x="8656982" y="3159088"/>
            <a:ext cx="2807179" cy="369332"/>
          </a:xfrm>
          <a:prstGeom prst="rect">
            <a:avLst/>
          </a:prstGeom>
        </p:spPr>
        <p:txBody>
          <a:bodyPr wrap="none">
            <a:spAutoFit/>
          </a:bodyPr>
          <a:lstStyle/>
          <a:p>
            <a:r>
              <a:rPr lang="en-US" altLang="zh-CN" dirty="0" err="1"/>
              <a:t>printf</a:t>
            </a:r>
            <a:r>
              <a:rPr lang="en-US" altLang="zh-CN" dirty="0"/>
              <a:t>("sum is </a:t>
            </a:r>
            <a:r>
              <a:rPr lang="en-US" altLang="zh-CN" dirty="0">
                <a:solidFill>
                  <a:schemeClr val="accent1"/>
                </a:solidFill>
              </a:rPr>
              <a:t>%d</a:t>
            </a:r>
            <a:r>
              <a:rPr lang="en-US" altLang="zh-CN" dirty="0"/>
              <a:t>\n", </a:t>
            </a:r>
            <a:r>
              <a:rPr lang="en-US" altLang="zh-CN" dirty="0">
                <a:solidFill>
                  <a:schemeClr val="accent1"/>
                </a:solidFill>
              </a:rPr>
              <a:t>sum</a:t>
            </a:r>
            <a:r>
              <a:rPr lang="en-US" altLang="zh-CN" dirty="0"/>
              <a:t>); </a:t>
            </a:r>
            <a:endParaRPr lang="zh-CN" altLang="en-US" dirty="0"/>
          </a:p>
        </p:txBody>
      </p:sp>
      <p:sp>
        <p:nvSpPr>
          <p:cNvPr id="16" name="文本框 15"/>
          <p:cNvSpPr txBox="1"/>
          <p:nvPr/>
        </p:nvSpPr>
        <p:spPr>
          <a:xfrm>
            <a:off x="8946875" y="2502074"/>
            <a:ext cx="2534479" cy="338554"/>
          </a:xfrm>
          <a:prstGeom prst="rect">
            <a:avLst/>
          </a:prstGeom>
          <a:noFill/>
        </p:spPr>
        <p:txBody>
          <a:bodyPr wrap="square" rtlCol="0">
            <a:spAutoFit/>
          </a:bodyPr>
          <a:lstStyle/>
          <a:p>
            <a:r>
              <a:rPr lang="zh-CN" altLang="en-US" sz="1600" dirty="0"/>
              <a:t>输出时用</a:t>
            </a:r>
            <a:r>
              <a:rPr lang="en-US" altLang="zh-CN" sz="1600" dirty="0"/>
              <a:t>sum</a:t>
            </a:r>
            <a:r>
              <a:rPr lang="zh-CN" altLang="en-US" sz="1600" dirty="0"/>
              <a:t>的值取代</a:t>
            </a:r>
            <a:r>
              <a:rPr lang="en-US" altLang="zh-CN" sz="1600" dirty="0"/>
              <a:t>%d</a:t>
            </a:r>
            <a:endParaRPr lang="zh-CN" altLang="en-US" sz="1600" dirty="0"/>
          </a:p>
        </p:txBody>
      </p:sp>
      <p:cxnSp>
        <p:nvCxnSpPr>
          <p:cNvPr id="4" name="直接连接符 3"/>
          <p:cNvCxnSpPr/>
          <p:nvPr/>
        </p:nvCxnSpPr>
        <p:spPr>
          <a:xfrm flipV="1">
            <a:off x="10920648" y="2840628"/>
            <a:ext cx="0" cy="3707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H="1">
            <a:off x="10137058" y="2840750"/>
            <a:ext cx="78359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10137058" y="2840628"/>
            <a:ext cx="0" cy="370727"/>
          </a:xfrm>
          <a:prstGeom prst="line">
            <a:avLst/>
          </a:prstGeom>
          <a:ln>
            <a:headEnd type="none"/>
            <a:tailEnd type="stealth"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wipe(up)">
                                      <p:cBhvr>
                                        <p:cTn id="16" dur="500"/>
                                        <p:tgtEl>
                                          <p:spTgt spid="1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250"/>
                                        <p:tgtEl>
                                          <p:spTgt spid="4"/>
                                        </p:tgtEl>
                                      </p:cBhvr>
                                    </p:animEffect>
                                  </p:childTnLst>
                                </p:cTn>
                              </p:par>
                            </p:childTnLst>
                          </p:cTn>
                        </p:par>
                        <p:par>
                          <p:cTn id="27" fill="hold">
                            <p:stCondLst>
                              <p:cond delay="500"/>
                            </p:stCondLst>
                            <p:childTnLst>
                              <p:par>
                                <p:cTn id="28" presetID="22" presetClass="entr" presetSubtype="2"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right)">
                                      <p:cBhvr>
                                        <p:cTn id="30" dur="500"/>
                                        <p:tgtEl>
                                          <p:spTgt spid="6"/>
                                        </p:tgtEl>
                                      </p:cBhvr>
                                    </p:animEffect>
                                  </p:childTnLst>
                                </p:cTn>
                              </p:par>
                            </p:childTnLst>
                          </p:cTn>
                        </p:par>
                        <p:par>
                          <p:cTn id="31" fill="hold">
                            <p:stCondLst>
                              <p:cond delay="1000"/>
                            </p:stCondLst>
                            <p:childTnLst>
                              <p:par>
                                <p:cTn id="32" presetID="22" presetClass="entr" presetSubtype="1" fill="hold" nodeType="after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250"/>
                                        <p:tgtEl>
                                          <p:spTgt spid="17"/>
                                        </p:tgtEl>
                                      </p:cBhvr>
                                    </p:animEffect>
                                  </p:childTnLst>
                                </p:cTn>
                              </p:par>
                              <p:par>
                                <p:cTn id="35" presetID="42"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1000"/>
                                        <p:tgtEl>
                                          <p:spTgt spid="16"/>
                                        </p:tgtEl>
                                      </p:cBhvr>
                                    </p:animEffect>
                                    <p:anim calcmode="lin" valueType="num">
                                      <p:cBhvr>
                                        <p:cTn id="38" dur="1000" fill="hold"/>
                                        <p:tgtEl>
                                          <p:spTgt spid="16"/>
                                        </p:tgtEl>
                                        <p:attrNameLst>
                                          <p:attrName>ppt_x</p:attrName>
                                        </p:attrNameLst>
                                      </p:cBhvr>
                                      <p:tavLst>
                                        <p:tav tm="0">
                                          <p:val>
                                            <p:strVal val="#ppt_x"/>
                                          </p:val>
                                        </p:tav>
                                        <p:tav tm="100000">
                                          <p:val>
                                            <p:strVal val="#ppt_x"/>
                                          </p:val>
                                        </p:tav>
                                      </p:tavLst>
                                    </p:anim>
                                    <p:anim calcmode="lin" valueType="num">
                                      <p:cBhvr>
                                        <p:cTn id="3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build="p"/>
      <p:bldP spid="14" grpId="0"/>
      <p:bldP spid="1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3" name="内容占位符 2"/>
          <p:cNvSpPr>
            <a:spLocks noGrp="1"/>
          </p:cNvSpPr>
          <p:nvPr>
            <p:ph idx="1"/>
          </p:nvPr>
        </p:nvSpPr>
        <p:spPr>
          <a:xfrm>
            <a:off x="649357" y="1395896"/>
            <a:ext cx="4598504" cy="589584"/>
          </a:xfrm>
        </p:spPr>
        <p:txBody>
          <a:bodyPr>
            <a:normAutofit/>
          </a:bodyPr>
          <a:lstStyle/>
          <a:p>
            <a:pPr marL="0" indent="0">
              <a:lnSpc>
                <a:spcPct val="120000"/>
              </a:lnSpc>
              <a:buNone/>
            </a:pPr>
            <a:r>
              <a:rPr lang="en-US" altLang="zh-CN" sz="2400" dirty="0">
                <a:solidFill>
                  <a:schemeClr val="accent1"/>
                </a:solidFill>
              </a:rPr>
              <a:t>【</a:t>
            </a:r>
            <a:r>
              <a:rPr lang="zh-CN" altLang="en-US" sz="2400" dirty="0">
                <a:solidFill>
                  <a:schemeClr val="accent1"/>
                </a:solidFill>
              </a:rPr>
              <a:t>例</a:t>
            </a:r>
            <a:r>
              <a:rPr lang="en-US" altLang="zh-CN" sz="2400" dirty="0">
                <a:solidFill>
                  <a:schemeClr val="accent1"/>
                </a:solidFill>
              </a:rPr>
              <a:t>1.3】</a:t>
            </a:r>
            <a:r>
              <a:rPr lang="zh-CN" altLang="en-US" sz="2400" dirty="0">
                <a:solidFill>
                  <a:schemeClr val="accent1"/>
                </a:solidFill>
              </a:rPr>
              <a:t>求两个整数中的较大者</a:t>
            </a:r>
            <a:endParaRPr lang="en-US" altLang="zh-CN" sz="2400" dirty="0">
              <a:solidFill>
                <a:schemeClr val="accent1"/>
              </a:solidFill>
            </a:endParaRPr>
          </a:p>
        </p:txBody>
      </p:sp>
      <p:sp>
        <p:nvSpPr>
          <p:cNvPr id="4" name="矩形 3"/>
          <p:cNvSpPr/>
          <p:nvPr/>
        </p:nvSpPr>
        <p:spPr>
          <a:xfrm>
            <a:off x="838200" y="1985480"/>
            <a:ext cx="4376531" cy="1015663"/>
          </a:xfrm>
          <a:prstGeom prst="rect">
            <a:avLst/>
          </a:prstGeom>
        </p:spPr>
        <p:txBody>
          <a:bodyPr wrap="square">
            <a:spAutoFit/>
          </a:bodyPr>
          <a:lstStyle/>
          <a:p>
            <a:r>
              <a:rPr lang="zh-CN" altLang="en-US" sz="2000" b="1" dirty="0"/>
              <a:t>解题思路</a:t>
            </a:r>
            <a:r>
              <a:rPr lang="en-US" altLang="zh-CN" sz="2000" b="1" dirty="0"/>
              <a:t>: </a:t>
            </a:r>
            <a:r>
              <a:rPr lang="zh-CN" altLang="en-US" sz="2000" dirty="0"/>
              <a:t> 用一个函数来实现求两个整数中的较大者。在主函数中调用此函数并输出结果。</a:t>
            </a:r>
            <a:endParaRPr lang="zh-CN" altLang="en-US" sz="2000" dirty="0"/>
          </a:p>
        </p:txBody>
      </p:sp>
      <p:sp>
        <p:nvSpPr>
          <p:cNvPr id="7" name="圆角矩形 6"/>
          <p:cNvSpPr/>
          <p:nvPr/>
        </p:nvSpPr>
        <p:spPr>
          <a:xfrm>
            <a:off x="5436704" y="1502711"/>
            <a:ext cx="6463748" cy="4568711"/>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400" dirty="0"/>
              <a:t>#include &lt;</a:t>
            </a:r>
            <a:r>
              <a:rPr lang="en-US" altLang="zh-CN" sz="1400" dirty="0" err="1"/>
              <a:t>stdio.h</a:t>
            </a:r>
            <a:r>
              <a:rPr lang="en-US" altLang="zh-CN" sz="1400" dirty="0"/>
              <a:t>&gt;</a:t>
            </a:r>
            <a:endParaRPr lang="en-US" altLang="zh-CN" sz="1400" dirty="0"/>
          </a:p>
          <a:p>
            <a:pPr defTabSz="357505"/>
            <a:r>
              <a:rPr lang="en-US" altLang="zh-CN" sz="1400" dirty="0">
                <a:solidFill>
                  <a:srgbClr val="008000"/>
                </a:solidFill>
              </a:rPr>
              <a:t>//</a:t>
            </a:r>
            <a:r>
              <a:rPr lang="zh-CN" altLang="en-US" sz="1400" dirty="0">
                <a:solidFill>
                  <a:srgbClr val="008000"/>
                </a:solidFill>
              </a:rPr>
              <a:t>主函数</a:t>
            </a:r>
            <a:endParaRPr lang="zh-CN" altLang="en-US" sz="1400" dirty="0">
              <a:solidFill>
                <a:srgbClr val="008000"/>
              </a:solidFill>
            </a:endParaRPr>
          </a:p>
          <a:p>
            <a:pPr defTabSz="357505"/>
            <a:r>
              <a:rPr lang="en-US" altLang="zh-CN" sz="1400" dirty="0" err="1"/>
              <a:t>int</a:t>
            </a:r>
            <a:r>
              <a:rPr lang="en-US" altLang="zh-CN" sz="1400" dirty="0"/>
              <a:t> main()				</a:t>
            </a:r>
            <a:r>
              <a:rPr lang="en-US" altLang="zh-CN" sz="1400" dirty="0">
                <a:solidFill>
                  <a:srgbClr val="008000"/>
                </a:solidFill>
              </a:rPr>
              <a:t>//</a:t>
            </a:r>
            <a:r>
              <a:rPr lang="zh-CN" altLang="en-US" sz="1400" dirty="0">
                <a:solidFill>
                  <a:srgbClr val="008000"/>
                </a:solidFill>
              </a:rPr>
              <a:t>定义主函数</a:t>
            </a:r>
            <a:endParaRPr lang="zh-CN" altLang="en-US" sz="1400" dirty="0">
              <a:solidFill>
                <a:srgbClr val="008000"/>
              </a:solidFill>
            </a:endParaRPr>
          </a:p>
          <a:p>
            <a:pPr defTabSz="357505"/>
            <a:r>
              <a:rPr lang="en-US" altLang="zh-CN" sz="1400" dirty="0"/>
              <a:t>{						</a:t>
            </a:r>
            <a:r>
              <a:rPr lang="en-US" altLang="zh-CN" sz="1400" dirty="0">
                <a:solidFill>
                  <a:srgbClr val="008000"/>
                </a:solidFill>
              </a:rPr>
              <a:t>//</a:t>
            </a:r>
            <a:r>
              <a:rPr lang="zh-CN" altLang="en-US" sz="1400" dirty="0">
                <a:solidFill>
                  <a:srgbClr val="008000"/>
                </a:solidFill>
              </a:rPr>
              <a:t>主函数体开始</a:t>
            </a:r>
            <a:endParaRPr lang="zh-CN" altLang="en-US" sz="1400" dirty="0">
              <a:solidFill>
                <a:srgbClr val="008000"/>
              </a:solidFill>
            </a:endParaRPr>
          </a:p>
          <a:p>
            <a:pPr defTabSz="357505"/>
            <a:r>
              <a:rPr lang="zh-CN" altLang="en-US" sz="1400" dirty="0"/>
              <a:t>	</a:t>
            </a:r>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r>
              <a:rPr lang="en-US" altLang="zh-CN" sz="1400" dirty="0">
                <a:solidFill>
                  <a:srgbClr val="008000"/>
                </a:solidFill>
              </a:rPr>
              <a:t>//</a:t>
            </a:r>
            <a:r>
              <a:rPr lang="zh-CN" altLang="en-US" sz="1400" dirty="0">
                <a:solidFill>
                  <a:srgbClr val="008000"/>
                </a:solidFill>
              </a:rPr>
              <a:t>对被调用函数</a:t>
            </a:r>
            <a:r>
              <a:rPr lang="en-US" altLang="zh-CN" sz="1400" dirty="0">
                <a:solidFill>
                  <a:srgbClr val="008000"/>
                </a:solidFill>
              </a:rPr>
              <a:t>max</a:t>
            </a:r>
            <a:r>
              <a:rPr lang="zh-CN" altLang="en-US" sz="1400" dirty="0">
                <a:solidFill>
                  <a:srgbClr val="008000"/>
                </a:solidFill>
              </a:rPr>
              <a:t>的声明</a:t>
            </a:r>
            <a:endParaRPr lang="en-US" altLang="zh-CN" sz="1400" dirty="0">
              <a:solidFill>
                <a:srgbClr val="008000"/>
              </a:solidFill>
            </a:endParaRPr>
          </a:p>
          <a:p>
            <a:pPr defTabSz="357505"/>
            <a:r>
              <a:rPr lang="zh-CN" altLang="en-US" sz="1400" dirty="0"/>
              <a:t>	</a:t>
            </a:r>
            <a:r>
              <a:rPr lang="en-US" altLang="zh-CN" sz="1400" dirty="0" err="1"/>
              <a:t>int</a:t>
            </a:r>
            <a:r>
              <a:rPr lang="en-US" altLang="zh-CN" sz="1400" dirty="0"/>
              <a:t> </a:t>
            </a:r>
            <a:r>
              <a:rPr lang="en-US" altLang="zh-CN" sz="1400" dirty="0" err="1"/>
              <a:t>a,b,c</a:t>
            </a:r>
            <a:r>
              <a:rPr lang="en-US" altLang="zh-CN" sz="1400" dirty="0"/>
              <a:t>;				</a:t>
            </a:r>
            <a:r>
              <a:rPr lang="en-US" altLang="zh-CN" sz="1400" dirty="0">
                <a:solidFill>
                  <a:srgbClr val="008000"/>
                </a:solidFill>
              </a:rPr>
              <a:t>//</a:t>
            </a:r>
            <a:r>
              <a:rPr lang="zh-CN" altLang="en-US" sz="1400" dirty="0">
                <a:solidFill>
                  <a:srgbClr val="008000"/>
                </a:solidFill>
              </a:rPr>
              <a:t>定义变量</a:t>
            </a:r>
            <a:r>
              <a:rPr lang="en-US" altLang="zh-CN" sz="1400" dirty="0">
                <a:solidFill>
                  <a:srgbClr val="008000"/>
                </a:solidFill>
              </a:rPr>
              <a:t>a</a:t>
            </a:r>
            <a:r>
              <a:rPr lang="zh-CN" altLang="en-US" sz="1400" dirty="0">
                <a:solidFill>
                  <a:srgbClr val="008000"/>
                </a:solidFill>
              </a:rPr>
              <a:t>，</a:t>
            </a:r>
            <a:r>
              <a:rPr lang="en-US" altLang="zh-CN" sz="1400" dirty="0">
                <a:solidFill>
                  <a:srgbClr val="008000"/>
                </a:solidFill>
              </a:rPr>
              <a:t>b</a:t>
            </a:r>
            <a:r>
              <a:rPr lang="zh-CN" altLang="en-US" sz="1400" dirty="0">
                <a:solidFill>
                  <a:srgbClr val="008000"/>
                </a:solidFill>
              </a:rPr>
              <a:t>，</a:t>
            </a:r>
            <a:r>
              <a:rPr lang="en-US" altLang="zh-CN" sz="1400" dirty="0">
                <a:solidFill>
                  <a:srgbClr val="008000"/>
                </a:solidFill>
              </a:rPr>
              <a:t>c</a:t>
            </a:r>
            <a:endParaRPr lang="en-US" altLang="zh-CN" sz="1400" dirty="0">
              <a:solidFill>
                <a:srgbClr val="008000"/>
              </a:solidFill>
            </a:endParaRPr>
          </a:p>
          <a:p>
            <a:pPr defTabSz="357505"/>
            <a:r>
              <a:rPr lang="en-US" altLang="zh-CN" sz="1400" dirty="0"/>
              <a:t>	</a:t>
            </a:r>
            <a:r>
              <a:rPr lang="en-US" altLang="zh-CN" sz="1400" dirty="0" err="1"/>
              <a:t>scanf</a:t>
            </a:r>
            <a:r>
              <a:rPr lang="en-US" altLang="zh-CN" sz="1400" dirty="0"/>
              <a:t>(</a:t>
            </a:r>
            <a:r>
              <a:rPr lang="en-US" altLang="zh-CN" dirty="0"/>
              <a:t>"</a:t>
            </a:r>
            <a:r>
              <a:rPr lang="en-US" altLang="zh-CN" sz="1400" dirty="0"/>
              <a:t>%</a:t>
            </a:r>
            <a:r>
              <a:rPr lang="en-US" altLang="zh-CN" sz="1400" dirty="0" err="1"/>
              <a:t>d,%d</a:t>
            </a:r>
            <a:r>
              <a:rPr lang="en-US" altLang="zh-CN" dirty="0" err="1"/>
              <a:t>"</a:t>
            </a:r>
            <a:r>
              <a:rPr lang="en-US" altLang="zh-CN" sz="1400" dirty="0" err="1"/>
              <a:t>,&amp;a,&amp;b</a:t>
            </a:r>
            <a:r>
              <a:rPr lang="en-US" altLang="zh-CN" sz="1400" dirty="0"/>
              <a:t>); 	</a:t>
            </a:r>
            <a:r>
              <a:rPr lang="en-US" altLang="zh-CN" sz="1400" dirty="0">
                <a:solidFill>
                  <a:srgbClr val="008000"/>
                </a:solidFill>
              </a:rPr>
              <a:t>//</a:t>
            </a:r>
            <a:r>
              <a:rPr lang="zh-CN" altLang="en-US" sz="1400" dirty="0">
                <a:solidFill>
                  <a:srgbClr val="008000"/>
                </a:solidFill>
              </a:rPr>
              <a:t>输入变量</a:t>
            </a:r>
            <a:r>
              <a:rPr lang="en-US" altLang="zh-CN" sz="1400" dirty="0">
                <a:solidFill>
                  <a:srgbClr val="008000"/>
                </a:solidFill>
              </a:rPr>
              <a:t>a</a:t>
            </a:r>
            <a:r>
              <a:rPr lang="zh-CN" altLang="en-US" sz="1400" dirty="0">
                <a:solidFill>
                  <a:srgbClr val="008000"/>
                </a:solidFill>
              </a:rPr>
              <a:t>和</a:t>
            </a:r>
            <a:r>
              <a:rPr lang="en-US" altLang="zh-CN" sz="1400" dirty="0">
                <a:solidFill>
                  <a:srgbClr val="008000"/>
                </a:solidFill>
              </a:rPr>
              <a:t>b</a:t>
            </a:r>
            <a:r>
              <a:rPr lang="zh-CN" altLang="en-US" sz="1400" dirty="0">
                <a:solidFill>
                  <a:srgbClr val="008000"/>
                </a:solidFill>
              </a:rPr>
              <a:t>的值</a:t>
            </a:r>
            <a:endParaRPr lang="en-US" altLang="zh-CN" sz="1400" dirty="0">
              <a:solidFill>
                <a:srgbClr val="008000"/>
              </a:solidFill>
            </a:endParaRPr>
          </a:p>
          <a:p>
            <a:pPr defTabSz="357505"/>
            <a:r>
              <a:rPr lang="zh-CN" altLang="en-US" sz="1400" dirty="0"/>
              <a:t>	</a:t>
            </a:r>
            <a:r>
              <a:rPr lang="en-US" altLang="zh-CN" sz="1400" dirty="0"/>
              <a:t>c=max(</a:t>
            </a:r>
            <a:r>
              <a:rPr lang="en-US" altLang="zh-CN" sz="1400" dirty="0" err="1"/>
              <a:t>a,b</a:t>
            </a:r>
            <a:r>
              <a:rPr lang="en-US" altLang="zh-CN" sz="1400" dirty="0"/>
              <a:t>);			</a:t>
            </a:r>
            <a:r>
              <a:rPr lang="en-US" altLang="zh-CN" sz="1400" dirty="0">
                <a:solidFill>
                  <a:srgbClr val="008000"/>
                </a:solidFill>
              </a:rPr>
              <a:t>//</a:t>
            </a:r>
            <a:r>
              <a:rPr lang="zh-CN" altLang="en-US" sz="1400" dirty="0">
                <a:solidFill>
                  <a:srgbClr val="008000"/>
                </a:solidFill>
              </a:rPr>
              <a:t>调用</a:t>
            </a:r>
            <a:r>
              <a:rPr lang="en-US" altLang="zh-CN" sz="1400" dirty="0">
                <a:solidFill>
                  <a:srgbClr val="008000"/>
                </a:solidFill>
              </a:rPr>
              <a:t>max</a:t>
            </a:r>
            <a:r>
              <a:rPr lang="zh-CN" altLang="en-US" sz="1400" dirty="0">
                <a:solidFill>
                  <a:srgbClr val="008000"/>
                </a:solidFill>
              </a:rPr>
              <a:t>函数，将得到的值赋给</a:t>
            </a:r>
            <a:r>
              <a:rPr lang="en-US" altLang="zh-CN" sz="1400" dirty="0">
                <a:solidFill>
                  <a:srgbClr val="008000"/>
                </a:solidFill>
              </a:rPr>
              <a:t>c</a:t>
            </a:r>
            <a:endParaRPr lang="en-US" altLang="zh-CN" sz="1400" dirty="0">
              <a:solidFill>
                <a:srgbClr val="008000"/>
              </a:solidFill>
            </a:endParaRPr>
          </a:p>
          <a:p>
            <a:pPr defTabSz="357505"/>
            <a:r>
              <a:rPr lang="en-US" altLang="zh-CN" sz="1400" dirty="0"/>
              <a:t>	</a:t>
            </a:r>
            <a:r>
              <a:rPr lang="en-US" altLang="zh-CN" sz="1400" dirty="0" err="1"/>
              <a:t>printf</a:t>
            </a:r>
            <a:r>
              <a:rPr lang="en-US" altLang="zh-CN" sz="1400" dirty="0"/>
              <a:t>(</a:t>
            </a:r>
            <a:r>
              <a:rPr lang="en-US" altLang="zh-CN" dirty="0"/>
              <a:t>"</a:t>
            </a:r>
            <a:r>
              <a:rPr lang="en-US" altLang="zh-CN" sz="1400" dirty="0"/>
              <a:t>max=%d\</a:t>
            </a:r>
            <a:r>
              <a:rPr lang="en-US" altLang="zh-CN" sz="1400" dirty="0" err="1"/>
              <a:t>n</a:t>
            </a:r>
            <a:r>
              <a:rPr lang="en-US" altLang="zh-CN" dirty="0" err="1"/>
              <a:t>"</a:t>
            </a:r>
            <a:r>
              <a:rPr lang="en-US" altLang="zh-CN" sz="1400" dirty="0" err="1"/>
              <a:t>,c</a:t>
            </a:r>
            <a:r>
              <a:rPr lang="en-US" altLang="zh-CN" sz="1400" dirty="0"/>
              <a:t>); 	</a:t>
            </a:r>
            <a:r>
              <a:rPr lang="en-US" altLang="zh-CN" sz="1400" dirty="0">
                <a:solidFill>
                  <a:srgbClr val="008000"/>
                </a:solidFill>
              </a:rPr>
              <a:t>//</a:t>
            </a:r>
            <a:r>
              <a:rPr lang="zh-CN" altLang="en-US" sz="1400" dirty="0">
                <a:solidFill>
                  <a:srgbClr val="008000"/>
                </a:solidFill>
              </a:rPr>
              <a:t>输出</a:t>
            </a:r>
            <a:r>
              <a:rPr lang="en-US" altLang="zh-CN" sz="1400" dirty="0">
                <a:solidFill>
                  <a:srgbClr val="008000"/>
                </a:solidFill>
              </a:rPr>
              <a:t>c</a:t>
            </a:r>
            <a:r>
              <a:rPr lang="zh-CN" altLang="en-US" sz="1400" dirty="0">
                <a:solidFill>
                  <a:srgbClr val="008000"/>
                </a:solidFill>
              </a:rPr>
              <a:t>的值</a:t>
            </a:r>
            <a:endParaRPr lang="en-US" altLang="zh-CN" sz="1400" dirty="0">
              <a:solidFill>
                <a:srgbClr val="008000"/>
              </a:solidFill>
            </a:endParaRPr>
          </a:p>
          <a:p>
            <a:pPr defTabSz="357505"/>
            <a:r>
              <a:rPr lang="zh-CN" altLang="en-US" sz="1400" dirty="0"/>
              <a:t>	</a:t>
            </a:r>
            <a:r>
              <a:rPr lang="en-US" altLang="zh-CN" sz="1400" dirty="0"/>
              <a:t>return 0;				</a:t>
            </a:r>
            <a:r>
              <a:rPr lang="en-US" altLang="zh-CN" sz="1400" dirty="0">
                <a:solidFill>
                  <a:srgbClr val="008000"/>
                </a:solidFill>
              </a:rPr>
              <a:t>//</a:t>
            </a:r>
            <a:r>
              <a:rPr lang="zh-CN" altLang="en-US" sz="1400" dirty="0">
                <a:solidFill>
                  <a:srgbClr val="008000"/>
                </a:solidFill>
              </a:rPr>
              <a:t>返回函数值为</a:t>
            </a:r>
            <a:r>
              <a:rPr lang="en-US" altLang="zh-CN" sz="1400" dirty="0">
                <a:solidFill>
                  <a:srgbClr val="008000"/>
                </a:solidFill>
              </a:rPr>
              <a:t>0</a:t>
            </a:r>
            <a:endParaRPr lang="en-US" altLang="zh-CN" sz="1400" dirty="0">
              <a:solidFill>
                <a:srgbClr val="008000"/>
              </a:solidFill>
            </a:endParaRPr>
          </a:p>
          <a:p>
            <a:pPr defTabSz="357505"/>
            <a:r>
              <a:rPr lang="en-US" altLang="zh-CN" sz="1400">
                <a:solidFill>
                  <a:schemeClr val="tx1"/>
                </a:solidFill>
              </a:rPr>
              <a:t>}</a:t>
            </a:r>
            <a:r>
              <a:rPr lang="en-US" altLang="zh-CN" sz="1400">
                <a:solidFill>
                  <a:srgbClr val="008000"/>
                </a:solidFill>
              </a:rPr>
              <a:t>						//</a:t>
            </a:r>
            <a:r>
              <a:rPr lang="zh-CN" altLang="en-US" sz="1400" dirty="0">
                <a:solidFill>
                  <a:srgbClr val="008000"/>
                </a:solidFill>
              </a:rPr>
              <a:t>主函数体结束</a:t>
            </a:r>
            <a:endParaRPr lang="zh-CN" altLang="en-US" sz="1400" dirty="0">
              <a:solidFill>
                <a:srgbClr val="008000"/>
              </a:solidFill>
            </a:endParaRPr>
          </a:p>
          <a:p>
            <a:endParaRPr lang="zh-CN" altLang="en-US" sz="1400" dirty="0"/>
          </a:p>
          <a:p>
            <a:pPr defTabSz="357505"/>
            <a:r>
              <a:rPr lang="en-US" altLang="zh-CN" sz="1400" dirty="0">
                <a:solidFill>
                  <a:srgbClr val="008000"/>
                </a:solidFill>
              </a:rPr>
              <a:t>//</a:t>
            </a:r>
            <a:r>
              <a:rPr lang="zh-CN" altLang="en-US" sz="1400" dirty="0">
                <a:solidFill>
                  <a:srgbClr val="008000"/>
                </a:solidFill>
              </a:rPr>
              <a:t>求两个整数中的较大者的</a:t>
            </a:r>
            <a:r>
              <a:rPr lang="en-US" altLang="zh-CN" sz="1400" dirty="0">
                <a:solidFill>
                  <a:srgbClr val="008000"/>
                </a:solidFill>
              </a:rPr>
              <a:t>max</a:t>
            </a:r>
            <a:r>
              <a:rPr lang="zh-CN" altLang="en-US" sz="1400" dirty="0">
                <a:solidFill>
                  <a:srgbClr val="008000"/>
                </a:solidFill>
              </a:rPr>
              <a:t>函数</a:t>
            </a:r>
            <a:endParaRPr lang="zh-CN" altLang="en-US" sz="1400" dirty="0">
              <a:solidFill>
                <a:srgbClr val="008000"/>
              </a:solidFill>
            </a:endParaRPr>
          </a:p>
          <a:p>
            <a:pPr defTabSz="357505"/>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r>
              <a:rPr lang="en-US" altLang="zh-CN" sz="1400" dirty="0">
                <a:solidFill>
                  <a:srgbClr val="008000"/>
                </a:solidFill>
              </a:rPr>
              <a:t>//</a:t>
            </a:r>
            <a:r>
              <a:rPr lang="zh-CN" altLang="en-US" sz="1400" dirty="0">
                <a:solidFill>
                  <a:srgbClr val="008000"/>
                </a:solidFill>
              </a:rPr>
              <a:t>定义</a:t>
            </a:r>
            <a:r>
              <a:rPr lang="en-US" altLang="zh-CN" sz="1400" dirty="0">
                <a:solidFill>
                  <a:srgbClr val="008000"/>
                </a:solidFill>
              </a:rPr>
              <a:t>max</a:t>
            </a:r>
            <a:r>
              <a:rPr lang="zh-CN" altLang="en-US" sz="1400" dirty="0">
                <a:solidFill>
                  <a:srgbClr val="008000"/>
                </a:solidFill>
              </a:rPr>
              <a:t>函数</a:t>
            </a:r>
            <a:r>
              <a:rPr lang="en-US" altLang="zh-CN" sz="1400" dirty="0">
                <a:solidFill>
                  <a:srgbClr val="008000"/>
                </a:solidFill>
              </a:rPr>
              <a:t>,</a:t>
            </a:r>
            <a:r>
              <a:rPr lang="zh-CN" altLang="en-US" sz="1400" dirty="0">
                <a:solidFill>
                  <a:srgbClr val="008000"/>
                </a:solidFill>
              </a:rPr>
              <a:t>函数值为整型</a:t>
            </a:r>
            <a:r>
              <a:rPr lang="en-US" altLang="zh-CN" sz="1400" dirty="0">
                <a:solidFill>
                  <a:srgbClr val="008000"/>
                </a:solidFill>
              </a:rPr>
              <a:t>, </a:t>
            </a:r>
            <a:r>
              <a:rPr lang="zh-CN" altLang="en-US" sz="1400" dirty="0">
                <a:solidFill>
                  <a:srgbClr val="008000"/>
                </a:solidFill>
              </a:rPr>
              <a:t>形式参数</a:t>
            </a:r>
            <a:r>
              <a:rPr lang="en-US" altLang="zh-CN" sz="1400" dirty="0">
                <a:solidFill>
                  <a:srgbClr val="008000"/>
                </a:solidFill>
              </a:rPr>
              <a:t>x</a:t>
            </a:r>
            <a:r>
              <a:rPr lang="zh-CN" altLang="en-US" sz="1400" dirty="0">
                <a:solidFill>
                  <a:srgbClr val="008000"/>
                </a:solidFill>
              </a:rPr>
              <a:t>和</a:t>
            </a:r>
            <a:r>
              <a:rPr lang="en-US" altLang="zh-CN" sz="1400" dirty="0">
                <a:solidFill>
                  <a:srgbClr val="008000"/>
                </a:solidFill>
              </a:rPr>
              <a:t>y</a:t>
            </a:r>
            <a:r>
              <a:rPr lang="zh-CN" altLang="en-US" sz="1400" dirty="0">
                <a:solidFill>
                  <a:srgbClr val="008000"/>
                </a:solidFill>
              </a:rPr>
              <a:t>为整型 </a:t>
            </a:r>
            <a:endParaRPr lang="zh-CN" altLang="en-US" sz="1400" dirty="0">
              <a:solidFill>
                <a:srgbClr val="008000"/>
              </a:solidFill>
            </a:endParaRPr>
          </a:p>
          <a:p>
            <a:r>
              <a:rPr lang="en-US" altLang="zh-CN" sz="1400" dirty="0"/>
              <a:t>{</a:t>
            </a:r>
            <a:endParaRPr lang="en-US" altLang="zh-CN" sz="1400" dirty="0"/>
          </a:p>
          <a:p>
            <a:pPr marL="0" lvl="1" defTabSz="357505"/>
            <a:r>
              <a:rPr lang="en-US" altLang="zh-CN" sz="1400" dirty="0"/>
              <a:t>	</a:t>
            </a:r>
            <a:r>
              <a:rPr lang="en-US" altLang="zh-CN" sz="1400" dirty="0" err="1"/>
              <a:t>int</a:t>
            </a:r>
            <a:r>
              <a:rPr lang="en-US" altLang="zh-CN" sz="1400" dirty="0"/>
              <a:t> z;		</a:t>
            </a:r>
            <a:r>
              <a:rPr lang="en-US" altLang="zh-CN" sz="1400" dirty="0">
                <a:solidFill>
                  <a:srgbClr val="008000"/>
                </a:solidFill>
              </a:rPr>
              <a:t>//max</a:t>
            </a:r>
            <a:r>
              <a:rPr lang="zh-CN" altLang="en-US" sz="1400" dirty="0">
                <a:solidFill>
                  <a:srgbClr val="008000"/>
                </a:solidFill>
              </a:rPr>
              <a:t>函数中的声明部分，定义本函数中用到的变量</a:t>
            </a:r>
            <a:r>
              <a:rPr lang="en-US" altLang="zh-CN" sz="1400" dirty="0">
                <a:solidFill>
                  <a:srgbClr val="008000"/>
                </a:solidFill>
              </a:rPr>
              <a:t>z</a:t>
            </a:r>
            <a:r>
              <a:rPr lang="zh-CN" altLang="en-US" sz="1400" dirty="0">
                <a:solidFill>
                  <a:srgbClr val="008000"/>
                </a:solidFill>
              </a:rPr>
              <a:t>为整型</a:t>
            </a:r>
            <a:endParaRPr lang="en-US" altLang="zh-CN" sz="1400" dirty="0">
              <a:solidFill>
                <a:srgbClr val="008000"/>
              </a:solidFill>
            </a:endParaRPr>
          </a:p>
          <a:p>
            <a:pPr marL="0" lvl="1" defTabSz="357505"/>
            <a:r>
              <a:rPr lang="en-US" altLang="zh-CN" sz="1400" dirty="0"/>
              <a:t>	</a:t>
            </a:r>
            <a:r>
              <a:rPr lang="en-US" altLang="zh-CN" sz="1400"/>
              <a:t>if(x&gt;y) z=x</a:t>
            </a:r>
            <a:r>
              <a:rPr lang="en-US" altLang="zh-CN" sz="1400" dirty="0"/>
              <a:t>;	</a:t>
            </a:r>
            <a:r>
              <a:rPr lang="en-US" altLang="zh-CN" sz="1400" dirty="0">
                <a:solidFill>
                  <a:srgbClr val="008000"/>
                </a:solidFill>
              </a:rPr>
              <a:t>//</a:t>
            </a:r>
            <a:r>
              <a:rPr lang="zh-CN" altLang="en-US" sz="1400" dirty="0">
                <a:solidFill>
                  <a:srgbClr val="008000"/>
                </a:solidFill>
              </a:rPr>
              <a:t>若</a:t>
            </a:r>
            <a:r>
              <a:rPr lang="en-US" altLang="zh-CN" sz="1400" dirty="0">
                <a:solidFill>
                  <a:srgbClr val="008000"/>
                </a:solidFill>
              </a:rPr>
              <a:t>x&gt;y</a:t>
            </a:r>
            <a:r>
              <a:rPr lang="zh-CN" altLang="en-US" sz="1400" dirty="0">
                <a:solidFill>
                  <a:srgbClr val="008000"/>
                </a:solidFill>
              </a:rPr>
              <a:t>成立，将</a:t>
            </a:r>
            <a:r>
              <a:rPr lang="en-US" altLang="zh-CN" sz="1400" dirty="0">
                <a:solidFill>
                  <a:srgbClr val="008000"/>
                </a:solidFill>
              </a:rPr>
              <a:t>x</a:t>
            </a:r>
            <a:r>
              <a:rPr lang="zh-CN" altLang="en-US" sz="1400" dirty="0">
                <a:solidFill>
                  <a:srgbClr val="008000"/>
                </a:solidFill>
              </a:rPr>
              <a:t>的值赋给变量</a:t>
            </a:r>
            <a:r>
              <a:rPr lang="en-US" altLang="zh-CN" sz="1400" dirty="0">
                <a:solidFill>
                  <a:srgbClr val="008000"/>
                </a:solidFill>
              </a:rPr>
              <a:t>z</a:t>
            </a:r>
            <a:endParaRPr lang="en-US" altLang="zh-CN" sz="1400" dirty="0">
              <a:solidFill>
                <a:srgbClr val="008000"/>
              </a:solidFill>
            </a:endParaRPr>
          </a:p>
          <a:p>
            <a:pPr marL="0" lvl="1" defTabSz="357505"/>
            <a:r>
              <a:rPr lang="en-US" altLang="zh-CN" sz="1400" dirty="0"/>
              <a:t>	else z=y;		</a:t>
            </a:r>
            <a:r>
              <a:rPr lang="en-US" altLang="zh-CN" sz="1400" dirty="0">
                <a:solidFill>
                  <a:srgbClr val="008000"/>
                </a:solidFill>
              </a:rPr>
              <a:t>//</a:t>
            </a:r>
            <a:r>
              <a:rPr lang="zh-CN" altLang="en-US" sz="1400" dirty="0">
                <a:solidFill>
                  <a:srgbClr val="008000"/>
                </a:solidFill>
              </a:rPr>
              <a:t>否则</a:t>
            </a:r>
            <a:r>
              <a:rPr lang="en-US" altLang="zh-CN" sz="1400" dirty="0">
                <a:solidFill>
                  <a:srgbClr val="008000"/>
                </a:solidFill>
              </a:rPr>
              <a:t>(</a:t>
            </a:r>
            <a:r>
              <a:rPr lang="zh-CN" altLang="en-US" sz="1400" dirty="0">
                <a:solidFill>
                  <a:srgbClr val="008000"/>
                </a:solidFill>
              </a:rPr>
              <a:t>即</a:t>
            </a:r>
            <a:r>
              <a:rPr lang="en-US" altLang="zh-CN" sz="1400" dirty="0">
                <a:solidFill>
                  <a:srgbClr val="008000"/>
                </a:solidFill>
              </a:rPr>
              <a:t>x&gt;y</a:t>
            </a:r>
            <a:r>
              <a:rPr lang="zh-CN" altLang="en-US" sz="1400" dirty="0">
                <a:solidFill>
                  <a:srgbClr val="008000"/>
                </a:solidFill>
              </a:rPr>
              <a:t>不成立</a:t>
            </a:r>
            <a:r>
              <a:rPr lang="en-US" altLang="zh-CN" sz="1400" dirty="0">
                <a:solidFill>
                  <a:srgbClr val="008000"/>
                </a:solidFill>
              </a:rPr>
              <a:t>)</a:t>
            </a:r>
            <a:r>
              <a:rPr lang="zh-CN" altLang="en-US" sz="1400" dirty="0">
                <a:solidFill>
                  <a:srgbClr val="008000"/>
                </a:solidFill>
              </a:rPr>
              <a:t>，将</a:t>
            </a:r>
            <a:r>
              <a:rPr lang="en-US" altLang="zh-CN" sz="1400" dirty="0">
                <a:solidFill>
                  <a:srgbClr val="008000"/>
                </a:solidFill>
              </a:rPr>
              <a:t>y</a:t>
            </a:r>
            <a:r>
              <a:rPr lang="zh-CN" altLang="en-US" sz="1400" dirty="0">
                <a:solidFill>
                  <a:srgbClr val="008000"/>
                </a:solidFill>
              </a:rPr>
              <a:t>的值赋给变量</a:t>
            </a:r>
            <a:r>
              <a:rPr lang="en-US" altLang="zh-CN" sz="1400" dirty="0">
                <a:solidFill>
                  <a:srgbClr val="008000"/>
                </a:solidFill>
              </a:rPr>
              <a:t>z</a:t>
            </a:r>
            <a:endParaRPr lang="en-US" altLang="zh-CN" sz="1400" dirty="0">
              <a:solidFill>
                <a:srgbClr val="008000"/>
              </a:solidFill>
            </a:endParaRPr>
          </a:p>
          <a:p>
            <a:pPr marL="0" lvl="1" defTabSz="357505"/>
            <a:r>
              <a:rPr lang="en-US" altLang="zh-CN" sz="1400" dirty="0"/>
              <a:t>	return(z); 	</a:t>
            </a:r>
            <a:r>
              <a:rPr lang="en-US" altLang="zh-CN" sz="1400" dirty="0">
                <a:solidFill>
                  <a:srgbClr val="008000"/>
                </a:solidFill>
              </a:rPr>
              <a:t>//</a:t>
            </a:r>
            <a:r>
              <a:rPr lang="zh-CN" altLang="en-US" sz="1400" dirty="0">
                <a:solidFill>
                  <a:srgbClr val="008000"/>
                </a:solidFill>
              </a:rPr>
              <a:t>将</a:t>
            </a:r>
            <a:r>
              <a:rPr lang="en-US" altLang="zh-CN" sz="1400" dirty="0">
                <a:solidFill>
                  <a:srgbClr val="008000"/>
                </a:solidFill>
              </a:rPr>
              <a:t>z</a:t>
            </a:r>
            <a:r>
              <a:rPr lang="zh-CN" altLang="en-US" sz="1400" dirty="0">
                <a:solidFill>
                  <a:srgbClr val="008000"/>
                </a:solidFill>
              </a:rPr>
              <a:t>的值作为</a:t>
            </a:r>
            <a:r>
              <a:rPr lang="en-US" altLang="zh-CN" sz="1400" dirty="0">
                <a:solidFill>
                  <a:srgbClr val="008000"/>
                </a:solidFill>
              </a:rPr>
              <a:t>max</a:t>
            </a:r>
            <a:r>
              <a:rPr lang="zh-CN" altLang="en-US" sz="1400" dirty="0">
                <a:solidFill>
                  <a:srgbClr val="008000"/>
                </a:solidFill>
              </a:rPr>
              <a:t>函数值，返回到调用</a:t>
            </a:r>
            <a:r>
              <a:rPr lang="en-US" altLang="zh-CN" sz="1400" dirty="0">
                <a:solidFill>
                  <a:srgbClr val="008000"/>
                </a:solidFill>
              </a:rPr>
              <a:t>max</a:t>
            </a:r>
            <a:r>
              <a:rPr lang="zh-CN" altLang="en-US" sz="1400" dirty="0">
                <a:solidFill>
                  <a:srgbClr val="008000"/>
                </a:solidFill>
              </a:rPr>
              <a:t>函数的位置</a:t>
            </a:r>
            <a:endParaRPr lang="zh-CN" altLang="en-US" sz="1400" dirty="0">
              <a:solidFill>
                <a:srgbClr val="008000"/>
              </a:solidFill>
            </a:endParaRPr>
          </a:p>
          <a:p>
            <a:r>
              <a:rPr lang="en-US" altLang="zh-CN" sz="1400" dirty="0"/>
              <a:t>}</a:t>
            </a:r>
            <a:endParaRPr lang="zh-CN" altLang="en-US" sz="1400" dirty="0">
              <a:solidFill>
                <a:srgbClr val="008000"/>
              </a:solidFill>
            </a:endParaRPr>
          </a:p>
        </p:txBody>
      </p:sp>
      <p:pic>
        <p:nvPicPr>
          <p:cNvPr id="6" name="图片 5"/>
          <p:cNvPicPr>
            <a:picLocks noChangeAspect="1"/>
          </p:cNvPicPr>
          <p:nvPr/>
        </p:nvPicPr>
        <p:blipFill>
          <a:blip r:embed="rId1"/>
          <a:stretch>
            <a:fillRect/>
          </a:stretch>
        </p:blipFill>
        <p:spPr>
          <a:xfrm>
            <a:off x="8213570" y="5867400"/>
            <a:ext cx="3562350" cy="990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7"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750"/>
                                        <p:tgtEl>
                                          <p:spTgt spid="6"/>
                                        </p:tgtEl>
                                      </p:cBhvr>
                                    </p:animEffect>
                                    <p:anim calcmode="lin" valueType="num">
                                      <p:cBhvr>
                                        <p:cTn id="25" dur="750" fill="hold"/>
                                        <p:tgtEl>
                                          <p:spTgt spid="6"/>
                                        </p:tgtEl>
                                        <p:attrNameLst>
                                          <p:attrName>ppt_x</p:attrName>
                                        </p:attrNameLst>
                                      </p:cBhvr>
                                      <p:tavLst>
                                        <p:tav tm="0">
                                          <p:val>
                                            <p:strVal val="#ppt_x"/>
                                          </p:val>
                                        </p:tav>
                                        <p:tav tm="100000">
                                          <p:val>
                                            <p:strVal val="#ppt_x"/>
                                          </p:val>
                                        </p:tav>
                                      </p:tavLst>
                                    </p:anim>
                                    <p:anim calcmode="lin" valueType="num">
                                      <p:cBhvr>
                                        <p:cTn id="26" dur="7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838200" y="1602103"/>
            <a:ext cx="6463748" cy="4568711"/>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400" dirty="0"/>
              <a:t>#include &lt;</a:t>
            </a:r>
            <a:r>
              <a:rPr lang="en-US" altLang="zh-CN" sz="1400" dirty="0" err="1"/>
              <a:t>stdio.h</a:t>
            </a:r>
            <a:r>
              <a:rPr lang="en-US" altLang="zh-CN" sz="1400" dirty="0"/>
              <a:t>&gt;</a:t>
            </a:r>
            <a:endParaRPr lang="en-US" altLang="zh-CN" sz="1400" dirty="0"/>
          </a:p>
          <a:p>
            <a:pPr defTabSz="357505"/>
            <a:r>
              <a:rPr lang="en-US" altLang="zh-CN" sz="1400" dirty="0">
                <a:solidFill>
                  <a:srgbClr val="008000"/>
                </a:solidFill>
              </a:rPr>
              <a:t>//</a:t>
            </a:r>
            <a:r>
              <a:rPr lang="zh-CN" altLang="en-US" sz="1400" dirty="0">
                <a:solidFill>
                  <a:srgbClr val="008000"/>
                </a:solidFill>
              </a:rPr>
              <a:t>主函数</a:t>
            </a:r>
            <a:endParaRPr lang="zh-CN" altLang="en-US" sz="1400" dirty="0">
              <a:solidFill>
                <a:srgbClr val="008000"/>
              </a:solidFill>
            </a:endParaRPr>
          </a:p>
          <a:p>
            <a:pPr defTabSz="357505"/>
            <a:r>
              <a:rPr lang="en-US" altLang="zh-CN" sz="1400" dirty="0" err="1"/>
              <a:t>int</a:t>
            </a:r>
            <a:r>
              <a:rPr lang="en-US" altLang="zh-CN" sz="1400" dirty="0"/>
              <a:t> main()				</a:t>
            </a:r>
            <a:r>
              <a:rPr lang="en-US" altLang="zh-CN" sz="1400" dirty="0">
                <a:solidFill>
                  <a:srgbClr val="008000"/>
                </a:solidFill>
              </a:rPr>
              <a:t>//</a:t>
            </a:r>
            <a:r>
              <a:rPr lang="zh-CN" altLang="en-US" sz="1400" dirty="0">
                <a:solidFill>
                  <a:srgbClr val="008000"/>
                </a:solidFill>
              </a:rPr>
              <a:t>定义主函数</a:t>
            </a:r>
            <a:endParaRPr lang="zh-CN" altLang="en-US" sz="1400" dirty="0">
              <a:solidFill>
                <a:srgbClr val="008000"/>
              </a:solidFill>
            </a:endParaRPr>
          </a:p>
          <a:p>
            <a:pPr defTabSz="357505"/>
            <a:r>
              <a:rPr lang="en-US" altLang="zh-CN" sz="1400" dirty="0"/>
              <a:t>{						</a:t>
            </a:r>
            <a:r>
              <a:rPr lang="en-US" altLang="zh-CN" sz="1400" dirty="0">
                <a:solidFill>
                  <a:srgbClr val="008000"/>
                </a:solidFill>
              </a:rPr>
              <a:t>//</a:t>
            </a:r>
            <a:r>
              <a:rPr lang="zh-CN" altLang="en-US" sz="1400" dirty="0">
                <a:solidFill>
                  <a:srgbClr val="008000"/>
                </a:solidFill>
              </a:rPr>
              <a:t>主函数体开始</a:t>
            </a:r>
            <a:endParaRPr lang="zh-CN" altLang="en-US" sz="1400" dirty="0">
              <a:solidFill>
                <a:srgbClr val="008000"/>
              </a:solidFill>
            </a:endParaRPr>
          </a:p>
          <a:p>
            <a:pPr defTabSz="357505"/>
            <a:r>
              <a:rPr lang="zh-CN" altLang="en-US" sz="1400" dirty="0"/>
              <a:t>	</a:t>
            </a:r>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r>
              <a:rPr lang="en-US" altLang="zh-CN" sz="1400" dirty="0">
                <a:solidFill>
                  <a:srgbClr val="008000"/>
                </a:solidFill>
              </a:rPr>
              <a:t>//</a:t>
            </a:r>
            <a:r>
              <a:rPr lang="zh-CN" altLang="en-US" sz="1400" dirty="0">
                <a:solidFill>
                  <a:srgbClr val="008000"/>
                </a:solidFill>
              </a:rPr>
              <a:t>对被调用函数</a:t>
            </a:r>
            <a:r>
              <a:rPr lang="en-US" altLang="zh-CN" sz="1400" dirty="0">
                <a:solidFill>
                  <a:srgbClr val="008000"/>
                </a:solidFill>
              </a:rPr>
              <a:t>max</a:t>
            </a:r>
            <a:r>
              <a:rPr lang="zh-CN" altLang="en-US" sz="1400" dirty="0">
                <a:solidFill>
                  <a:srgbClr val="008000"/>
                </a:solidFill>
              </a:rPr>
              <a:t>的声明</a:t>
            </a:r>
            <a:endParaRPr lang="en-US" altLang="zh-CN" sz="1400" dirty="0">
              <a:solidFill>
                <a:srgbClr val="008000"/>
              </a:solidFill>
            </a:endParaRPr>
          </a:p>
          <a:p>
            <a:pPr defTabSz="357505"/>
            <a:r>
              <a:rPr lang="zh-CN" altLang="en-US" sz="1400" dirty="0"/>
              <a:t>	</a:t>
            </a:r>
            <a:r>
              <a:rPr lang="en-US" altLang="zh-CN" sz="1400" dirty="0" err="1"/>
              <a:t>int</a:t>
            </a:r>
            <a:r>
              <a:rPr lang="en-US" altLang="zh-CN" sz="1400" dirty="0"/>
              <a:t> </a:t>
            </a:r>
            <a:r>
              <a:rPr lang="en-US" altLang="zh-CN" sz="1400" dirty="0" err="1"/>
              <a:t>a,b,c</a:t>
            </a:r>
            <a:r>
              <a:rPr lang="en-US" altLang="zh-CN" sz="1400" dirty="0"/>
              <a:t>;				</a:t>
            </a:r>
            <a:r>
              <a:rPr lang="en-US" altLang="zh-CN" sz="1400" dirty="0">
                <a:solidFill>
                  <a:srgbClr val="008000"/>
                </a:solidFill>
              </a:rPr>
              <a:t>//</a:t>
            </a:r>
            <a:r>
              <a:rPr lang="zh-CN" altLang="en-US" sz="1400" dirty="0">
                <a:solidFill>
                  <a:srgbClr val="008000"/>
                </a:solidFill>
              </a:rPr>
              <a:t>定义变量</a:t>
            </a:r>
            <a:r>
              <a:rPr lang="en-US" altLang="zh-CN" sz="1400" dirty="0">
                <a:solidFill>
                  <a:srgbClr val="008000"/>
                </a:solidFill>
              </a:rPr>
              <a:t>a</a:t>
            </a:r>
            <a:r>
              <a:rPr lang="zh-CN" altLang="en-US" sz="1400" dirty="0">
                <a:solidFill>
                  <a:srgbClr val="008000"/>
                </a:solidFill>
              </a:rPr>
              <a:t>，</a:t>
            </a:r>
            <a:r>
              <a:rPr lang="en-US" altLang="zh-CN" sz="1400" dirty="0">
                <a:solidFill>
                  <a:srgbClr val="008000"/>
                </a:solidFill>
              </a:rPr>
              <a:t>b</a:t>
            </a:r>
            <a:r>
              <a:rPr lang="zh-CN" altLang="en-US" sz="1400" dirty="0">
                <a:solidFill>
                  <a:srgbClr val="008000"/>
                </a:solidFill>
              </a:rPr>
              <a:t>，</a:t>
            </a:r>
            <a:r>
              <a:rPr lang="en-US" altLang="zh-CN" sz="1400" dirty="0">
                <a:solidFill>
                  <a:srgbClr val="008000"/>
                </a:solidFill>
              </a:rPr>
              <a:t>c</a:t>
            </a:r>
            <a:endParaRPr lang="en-US" altLang="zh-CN" sz="1400" dirty="0">
              <a:solidFill>
                <a:srgbClr val="008000"/>
              </a:solidFill>
            </a:endParaRPr>
          </a:p>
          <a:p>
            <a:pPr defTabSz="357505"/>
            <a:r>
              <a:rPr lang="en-US" altLang="zh-CN" sz="1400" dirty="0"/>
              <a:t>	</a:t>
            </a:r>
            <a:r>
              <a:rPr lang="en-US" altLang="zh-CN" sz="1400" dirty="0" err="1"/>
              <a:t>scanf</a:t>
            </a:r>
            <a:r>
              <a:rPr lang="en-US" altLang="zh-CN" sz="1400" dirty="0"/>
              <a:t>(</a:t>
            </a:r>
            <a:r>
              <a:rPr lang="en-US" altLang="zh-CN" dirty="0"/>
              <a:t>"</a:t>
            </a:r>
            <a:r>
              <a:rPr lang="en-US" altLang="zh-CN" sz="1400" dirty="0"/>
              <a:t>%</a:t>
            </a:r>
            <a:r>
              <a:rPr lang="en-US" altLang="zh-CN" sz="1400" dirty="0" err="1"/>
              <a:t>d,%d</a:t>
            </a:r>
            <a:r>
              <a:rPr lang="en-US" altLang="zh-CN" dirty="0" err="1"/>
              <a:t>"</a:t>
            </a:r>
            <a:r>
              <a:rPr lang="en-US" altLang="zh-CN" sz="1400" dirty="0" err="1"/>
              <a:t>,&amp;a,&amp;b</a:t>
            </a:r>
            <a:r>
              <a:rPr lang="en-US" altLang="zh-CN" sz="1400" dirty="0"/>
              <a:t>); 	</a:t>
            </a:r>
            <a:r>
              <a:rPr lang="en-US" altLang="zh-CN" sz="1400" dirty="0">
                <a:solidFill>
                  <a:srgbClr val="008000"/>
                </a:solidFill>
              </a:rPr>
              <a:t>//</a:t>
            </a:r>
            <a:r>
              <a:rPr lang="zh-CN" altLang="en-US" sz="1400" dirty="0">
                <a:solidFill>
                  <a:srgbClr val="008000"/>
                </a:solidFill>
              </a:rPr>
              <a:t>输入变量</a:t>
            </a:r>
            <a:r>
              <a:rPr lang="en-US" altLang="zh-CN" sz="1400" dirty="0">
                <a:solidFill>
                  <a:srgbClr val="008000"/>
                </a:solidFill>
              </a:rPr>
              <a:t>a</a:t>
            </a:r>
            <a:r>
              <a:rPr lang="zh-CN" altLang="en-US" sz="1400" dirty="0">
                <a:solidFill>
                  <a:srgbClr val="008000"/>
                </a:solidFill>
              </a:rPr>
              <a:t>和</a:t>
            </a:r>
            <a:r>
              <a:rPr lang="en-US" altLang="zh-CN" sz="1400" dirty="0">
                <a:solidFill>
                  <a:srgbClr val="008000"/>
                </a:solidFill>
              </a:rPr>
              <a:t>b</a:t>
            </a:r>
            <a:r>
              <a:rPr lang="zh-CN" altLang="en-US" sz="1400" dirty="0">
                <a:solidFill>
                  <a:srgbClr val="008000"/>
                </a:solidFill>
              </a:rPr>
              <a:t>的值</a:t>
            </a:r>
            <a:endParaRPr lang="en-US" altLang="zh-CN" sz="1400" dirty="0">
              <a:solidFill>
                <a:srgbClr val="008000"/>
              </a:solidFill>
            </a:endParaRPr>
          </a:p>
          <a:p>
            <a:pPr defTabSz="357505"/>
            <a:r>
              <a:rPr lang="zh-CN" altLang="en-US" sz="1400" dirty="0"/>
              <a:t>	</a:t>
            </a:r>
            <a:r>
              <a:rPr lang="en-US" altLang="zh-CN" sz="1400" dirty="0"/>
              <a:t>c=max(</a:t>
            </a:r>
            <a:r>
              <a:rPr lang="en-US" altLang="zh-CN" sz="1400" dirty="0" err="1"/>
              <a:t>a,b</a:t>
            </a:r>
            <a:r>
              <a:rPr lang="en-US" altLang="zh-CN" sz="1400" dirty="0"/>
              <a:t>);			</a:t>
            </a:r>
            <a:r>
              <a:rPr lang="en-US" altLang="zh-CN" sz="1400" dirty="0">
                <a:solidFill>
                  <a:srgbClr val="008000"/>
                </a:solidFill>
              </a:rPr>
              <a:t>//</a:t>
            </a:r>
            <a:r>
              <a:rPr lang="zh-CN" altLang="en-US" sz="1400" dirty="0">
                <a:solidFill>
                  <a:srgbClr val="008000"/>
                </a:solidFill>
              </a:rPr>
              <a:t>调用</a:t>
            </a:r>
            <a:r>
              <a:rPr lang="en-US" altLang="zh-CN" sz="1400" dirty="0">
                <a:solidFill>
                  <a:srgbClr val="008000"/>
                </a:solidFill>
              </a:rPr>
              <a:t>max</a:t>
            </a:r>
            <a:r>
              <a:rPr lang="zh-CN" altLang="en-US" sz="1400" dirty="0">
                <a:solidFill>
                  <a:srgbClr val="008000"/>
                </a:solidFill>
              </a:rPr>
              <a:t>函数，将得到的值赋给</a:t>
            </a:r>
            <a:r>
              <a:rPr lang="en-US" altLang="zh-CN" sz="1400" dirty="0">
                <a:solidFill>
                  <a:srgbClr val="008000"/>
                </a:solidFill>
              </a:rPr>
              <a:t>c</a:t>
            </a:r>
            <a:endParaRPr lang="en-US" altLang="zh-CN" sz="1400" dirty="0">
              <a:solidFill>
                <a:srgbClr val="008000"/>
              </a:solidFill>
            </a:endParaRPr>
          </a:p>
          <a:p>
            <a:pPr defTabSz="357505"/>
            <a:r>
              <a:rPr lang="en-US" altLang="zh-CN" sz="1400" dirty="0"/>
              <a:t>	</a:t>
            </a:r>
            <a:r>
              <a:rPr lang="en-US" altLang="zh-CN" sz="1400" dirty="0" err="1"/>
              <a:t>printf</a:t>
            </a:r>
            <a:r>
              <a:rPr lang="en-US" altLang="zh-CN" sz="1400" dirty="0"/>
              <a:t>(</a:t>
            </a:r>
            <a:r>
              <a:rPr lang="en-US" altLang="zh-CN" dirty="0"/>
              <a:t>"</a:t>
            </a:r>
            <a:r>
              <a:rPr lang="en-US" altLang="zh-CN" sz="1400" dirty="0"/>
              <a:t>max=%d\</a:t>
            </a:r>
            <a:r>
              <a:rPr lang="en-US" altLang="zh-CN" sz="1400" dirty="0" err="1"/>
              <a:t>n</a:t>
            </a:r>
            <a:r>
              <a:rPr lang="en-US" altLang="zh-CN" dirty="0" err="1"/>
              <a:t>"</a:t>
            </a:r>
            <a:r>
              <a:rPr lang="en-US" altLang="zh-CN" sz="1400" dirty="0" err="1"/>
              <a:t>,c</a:t>
            </a:r>
            <a:r>
              <a:rPr lang="en-US" altLang="zh-CN" sz="1400" dirty="0"/>
              <a:t>); 	</a:t>
            </a:r>
            <a:r>
              <a:rPr lang="en-US" altLang="zh-CN" sz="1400" dirty="0">
                <a:solidFill>
                  <a:srgbClr val="008000"/>
                </a:solidFill>
              </a:rPr>
              <a:t>//</a:t>
            </a:r>
            <a:r>
              <a:rPr lang="zh-CN" altLang="en-US" sz="1400" dirty="0">
                <a:solidFill>
                  <a:srgbClr val="008000"/>
                </a:solidFill>
              </a:rPr>
              <a:t>输出</a:t>
            </a:r>
            <a:r>
              <a:rPr lang="en-US" altLang="zh-CN" sz="1400" dirty="0">
                <a:solidFill>
                  <a:srgbClr val="008000"/>
                </a:solidFill>
              </a:rPr>
              <a:t>c</a:t>
            </a:r>
            <a:r>
              <a:rPr lang="zh-CN" altLang="en-US" sz="1400" dirty="0">
                <a:solidFill>
                  <a:srgbClr val="008000"/>
                </a:solidFill>
              </a:rPr>
              <a:t>的值</a:t>
            </a:r>
            <a:endParaRPr lang="en-US" altLang="zh-CN" sz="1400" dirty="0">
              <a:solidFill>
                <a:srgbClr val="008000"/>
              </a:solidFill>
            </a:endParaRPr>
          </a:p>
          <a:p>
            <a:pPr defTabSz="357505"/>
            <a:r>
              <a:rPr lang="zh-CN" altLang="en-US" sz="1400" dirty="0"/>
              <a:t>	</a:t>
            </a:r>
            <a:r>
              <a:rPr lang="en-US" altLang="zh-CN" sz="1400" dirty="0"/>
              <a:t>return 0;				</a:t>
            </a:r>
            <a:r>
              <a:rPr lang="en-US" altLang="zh-CN" sz="1400" dirty="0">
                <a:solidFill>
                  <a:srgbClr val="008000"/>
                </a:solidFill>
              </a:rPr>
              <a:t>//</a:t>
            </a:r>
            <a:r>
              <a:rPr lang="zh-CN" altLang="en-US" sz="1400" dirty="0">
                <a:solidFill>
                  <a:srgbClr val="008000"/>
                </a:solidFill>
              </a:rPr>
              <a:t>返回函数值为</a:t>
            </a:r>
            <a:r>
              <a:rPr lang="en-US" altLang="zh-CN" sz="1400" dirty="0">
                <a:solidFill>
                  <a:srgbClr val="008000"/>
                </a:solidFill>
              </a:rPr>
              <a:t>0</a:t>
            </a:r>
            <a:endParaRPr lang="en-US" altLang="zh-CN" sz="1400" dirty="0">
              <a:solidFill>
                <a:srgbClr val="008000"/>
              </a:solidFill>
            </a:endParaRPr>
          </a:p>
          <a:p>
            <a:pPr defTabSz="357505"/>
            <a:r>
              <a:rPr lang="en-US" altLang="zh-CN" sz="1400" dirty="0">
                <a:solidFill>
                  <a:srgbClr val="008000"/>
                </a:solidFill>
              </a:rPr>
              <a:t>}//</a:t>
            </a:r>
            <a:r>
              <a:rPr lang="zh-CN" altLang="en-US" sz="1400" dirty="0">
                <a:solidFill>
                  <a:srgbClr val="008000"/>
                </a:solidFill>
              </a:rPr>
              <a:t>主函数体结束</a:t>
            </a:r>
            <a:endParaRPr lang="zh-CN" altLang="en-US" sz="1400" dirty="0">
              <a:solidFill>
                <a:srgbClr val="008000"/>
              </a:solidFill>
            </a:endParaRPr>
          </a:p>
          <a:p>
            <a:endParaRPr lang="zh-CN" altLang="en-US" sz="1400" dirty="0"/>
          </a:p>
          <a:p>
            <a:pPr defTabSz="357505"/>
            <a:r>
              <a:rPr lang="en-US" altLang="zh-CN" sz="1400" dirty="0">
                <a:solidFill>
                  <a:srgbClr val="008000"/>
                </a:solidFill>
              </a:rPr>
              <a:t>//</a:t>
            </a:r>
            <a:r>
              <a:rPr lang="zh-CN" altLang="en-US" sz="1400" dirty="0">
                <a:solidFill>
                  <a:srgbClr val="008000"/>
                </a:solidFill>
              </a:rPr>
              <a:t>求两个整数中的较大者的</a:t>
            </a:r>
            <a:r>
              <a:rPr lang="en-US" altLang="zh-CN" sz="1400" dirty="0">
                <a:solidFill>
                  <a:srgbClr val="008000"/>
                </a:solidFill>
              </a:rPr>
              <a:t>max</a:t>
            </a:r>
            <a:r>
              <a:rPr lang="zh-CN" altLang="en-US" sz="1400" dirty="0">
                <a:solidFill>
                  <a:srgbClr val="008000"/>
                </a:solidFill>
              </a:rPr>
              <a:t>函数</a:t>
            </a:r>
            <a:endParaRPr lang="zh-CN" altLang="en-US" sz="1400" dirty="0">
              <a:solidFill>
                <a:srgbClr val="008000"/>
              </a:solidFill>
            </a:endParaRPr>
          </a:p>
          <a:p>
            <a:pPr defTabSz="357505"/>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r>
              <a:rPr lang="en-US" altLang="zh-CN" sz="1400" dirty="0">
                <a:solidFill>
                  <a:srgbClr val="008000"/>
                </a:solidFill>
              </a:rPr>
              <a:t>//</a:t>
            </a:r>
            <a:r>
              <a:rPr lang="zh-CN" altLang="en-US" sz="1400" dirty="0">
                <a:solidFill>
                  <a:srgbClr val="008000"/>
                </a:solidFill>
              </a:rPr>
              <a:t>定义</a:t>
            </a:r>
            <a:r>
              <a:rPr lang="en-US" altLang="zh-CN" sz="1400" dirty="0">
                <a:solidFill>
                  <a:srgbClr val="008000"/>
                </a:solidFill>
              </a:rPr>
              <a:t>max</a:t>
            </a:r>
            <a:r>
              <a:rPr lang="zh-CN" altLang="en-US" sz="1400" dirty="0">
                <a:solidFill>
                  <a:srgbClr val="008000"/>
                </a:solidFill>
              </a:rPr>
              <a:t>函数</a:t>
            </a:r>
            <a:r>
              <a:rPr lang="en-US" altLang="zh-CN" sz="1400" dirty="0">
                <a:solidFill>
                  <a:srgbClr val="008000"/>
                </a:solidFill>
              </a:rPr>
              <a:t>,</a:t>
            </a:r>
            <a:r>
              <a:rPr lang="zh-CN" altLang="en-US" sz="1400" dirty="0">
                <a:solidFill>
                  <a:srgbClr val="008000"/>
                </a:solidFill>
              </a:rPr>
              <a:t>函数值为整型</a:t>
            </a:r>
            <a:r>
              <a:rPr lang="en-US" altLang="zh-CN" sz="1400" dirty="0">
                <a:solidFill>
                  <a:srgbClr val="008000"/>
                </a:solidFill>
              </a:rPr>
              <a:t>, </a:t>
            </a:r>
            <a:r>
              <a:rPr lang="zh-CN" altLang="en-US" sz="1400" dirty="0">
                <a:solidFill>
                  <a:srgbClr val="008000"/>
                </a:solidFill>
              </a:rPr>
              <a:t>形式参数</a:t>
            </a:r>
            <a:r>
              <a:rPr lang="en-US" altLang="zh-CN" sz="1400" dirty="0">
                <a:solidFill>
                  <a:srgbClr val="008000"/>
                </a:solidFill>
              </a:rPr>
              <a:t>x</a:t>
            </a:r>
            <a:r>
              <a:rPr lang="zh-CN" altLang="en-US" sz="1400" dirty="0">
                <a:solidFill>
                  <a:srgbClr val="008000"/>
                </a:solidFill>
              </a:rPr>
              <a:t>和</a:t>
            </a:r>
            <a:r>
              <a:rPr lang="en-US" altLang="zh-CN" sz="1400" dirty="0">
                <a:solidFill>
                  <a:srgbClr val="008000"/>
                </a:solidFill>
              </a:rPr>
              <a:t>y</a:t>
            </a:r>
            <a:r>
              <a:rPr lang="zh-CN" altLang="en-US" sz="1400" dirty="0">
                <a:solidFill>
                  <a:srgbClr val="008000"/>
                </a:solidFill>
              </a:rPr>
              <a:t>为整型 </a:t>
            </a:r>
            <a:endParaRPr lang="zh-CN" altLang="en-US" sz="1400" dirty="0">
              <a:solidFill>
                <a:srgbClr val="008000"/>
              </a:solidFill>
            </a:endParaRPr>
          </a:p>
          <a:p>
            <a:r>
              <a:rPr lang="en-US" altLang="zh-CN" sz="1400" dirty="0"/>
              <a:t>{</a:t>
            </a:r>
            <a:endParaRPr lang="en-US" altLang="zh-CN" sz="1400" dirty="0"/>
          </a:p>
          <a:p>
            <a:pPr marL="0" lvl="1" defTabSz="357505"/>
            <a:r>
              <a:rPr lang="en-US" altLang="zh-CN" sz="1400" dirty="0"/>
              <a:t>	</a:t>
            </a:r>
            <a:r>
              <a:rPr lang="en-US" altLang="zh-CN" sz="1400" dirty="0" err="1"/>
              <a:t>int</a:t>
            </a:r>
            <a:r>
              <a:rPr lang="en-US" altLang="zh-CN" sz="1400" dirty="0"/>
              <a:t> z;		</a:t>
            </a:r>
            <a:r>
              <a:rPr lang="en-US" altLang="zh-CN" sz="1400" dirty="0">
                <a:solidFill>
                  <a:srgbClr val="008000"/>
                </a:solidFill>
              </a:rPr>
              <a:t>//max</a:t>
            </a:r>
            <a:r>
              <a:rPr lang="zh-CN" altLang="en-US" sz="1400" dirty="0">
                <a:solidFill>
                  <a:srgbClr val="008000"/>
                </a:solidFill>
              </a:rPr>
              <a:t>函数中的声明部分，定义本函数中用到的变量</a:t>
            </a:r>
            <a:r>
              <a:rPr lang="en-US" altLang="zh-CN" sz="1400" dirty="0">
                <a:solidFill>
                  <a:srgbClr val="008000"/>
                </a:solidFill>
              </a:rPr>
              <a:t>z</a:t>
            </a:r>
            <a:r>
              <a:rPr lang="zh-CN" altLang="en-US" sz="1400" dirty="0">
                <a:solidFill>
                  <a:srgbClr val="008000"/>
                </a:solidFill>
              </a:rPr>
              <a:t>为整型</a:t>
            </a:r>
            <a:endParaRPr lang="en-US" altLang="zh-CN" sz="1400" dirty="0">
              <a:solidFill>
                <a:srgbClr val="008000"/>
              </a:solidFill>
            </a:endParaRPr>
          </a:p>
          <a:p>
            <a:pPr marL="0" lvl="1" defTabSz="357505"/>
            <a:r>
              <a:rPr lang="en-US" altLang="zh-CN" sz="1400" dirty="0"/>
              <a:t>	</a:t>
            </a:r>
            <a:r>
              <a:rPr lang="en-US" altLang="zh-CN" sz="1400"/>
              <a:t>if(x&gt;y) z=x</a:t>
            </a:r>
            <a:r>
              <a:rPr lang="en-US" altLang="zh-CN" sz="1400" dirty="0"/>
              <a:t>;	</a:t>
            </a:r>
            <a:r>
              <a:rPr lang="en-US" altLang="zh-CN" sz="1400" dirty="0">
                <a:solidFill>
                  <a:srgbClr val="008000"/>
                </a:solidFill>
              </a:rPr>
              <a:t>//</a:t>
            </a:r>
            <a:r>
              <a:rPr lang="zh-CN" altLang="en-US" sz="1400" dirty="0">
                <a:solidFill>
                  <a:srgbClr val="008000"/>
                </a:solidFill>
              </a:rPr>
              <a:t>若</a:t>
            </a:r>
            <a:r>
              <a:rPr lang="en-US" altLang="zh-CN" sz="1400" dirty="0">
                <a:solidFill>
                  <a:srgbClr val="008000"/>
                </a:solidFill>
              </a:rPr>
              <a:t>x&gt;y</a:t>
            </a:r>
            <a:r>
              <a:rPr lang="zh-CN" altLang="en-US" sz="1400" dirty="0">
                <a:solidFill>
                  <a:srgbClr val="008000"/>
                </a:solidFill>
              </a:rPr>
              <a:t>成立，将</a:t>
            </a:r>
            <a:r>
              <a:rPr lang="en-US" altLang="zh-CN" sz="1400" dirty="0">
                <a:solidFill>
                  <a:srgbClr val="008000"/>
                </a:solidFill>
              </a:rPr>
              <a:t>x</a:t>
            </a:r>
            <a:r>
              <a:rPr lang="zh-CN" altLang="en-US" sz="1400" dirty="0">
                <a:solidFill>
                  <a:srgbClr val="008000"/>
                </a:solidFill>
              </a:rPr>
              <a:t>的值赋给变量</a:t>
            </a:r>
            <a:r>
              <a:rPr lang="en-US" altLang="zh-CN" sz="1400" dirty="0">
                <a:solidFill>
                  <a:srgbClr val="008000"/>
                </a:solidFill>
              </a:rPr>
              <a:t>z</a:t>
            </a:r>
            <a:endParaRPr lang="en-US" altLang="zh-CN" sz="1400" dirty="0">
              <a:solidFill>
                <a:srgbClr val="008000"/>
              </a:solidFill>
            </a:endParaRPr>
          </a:p>
          <a:p>
            <a:pPr marL="0" lvl="1" defTabSz="357505"/>
            <a:r>
              <a:rPr lang="en-US" altLang="zh-CN" sz="1400" dirty="0"/>
              <a:t>	else z=y;		</a:t>
            </a:r>
            <a:r>
              <a:rPr lang="en-US" altLang="zh-CN" sz="1400" dirty="0">
                <a:solidFill>
                  <a:srgbClr val="008000"/>
                </a:solidFill>
              </a:rPr>
              <a:t>//</a:t>
            </a:r>
            <a:r>
              <a:rPr lang="zh-CN" altLang="en-US" sz="1400" dirty="0">
                <a:solidFill>
                  <a:srgbClr val="008000"/>
                </a:solidFill>
              </a:rPr>
              <a:t>否则</a:t>
            </a:r>
            <a:r>
              <a:rPr lang="en-US" altLang="zh-CN" sz="1400" dirty="0">
                <a:solidFill>
                  <a:srgbClr val="008000"/>
                </a:solidFill>
              </a:rPr>
              <a:t>(</a:t>
            </a:r>
            <a:r>
              <a:rPr lang="zh-CN" altLang="en-US" sz="1400" dirty="0">
                <a:solidFill>
                  <a:srgbClr val="008000"/>
                </a:solidFill>
              </a:rPr>
              <a:t>即</a:t>
            </a:r>
            <a:r>
              <a:rPr lang="en-US" altLang="zh-CN" sz="1400" dirty="0">
                <a:solidFill>
                  <a:srgbClr val="008000"/>
                </a:solidFill>
              </a:rPr>
              <a:t>x&gt;y</a:t>
            </a:r>
            <a:r>
              <a:rPr lang="zh-CN" altLang="en-US" sz="1400" dirty="0">
                <a:solidFill>
                  <a:srgbClr val="008000"/>
                </a:solidFill>
              </a:rPr>
              <a:t>不成立</a:t>
            </a:r>
            <a:r>
              <a:rPr lang="en-US" altLang="zh-CN" sz="1400" dirty="0">
                <a:solidFill>
                  <a:srgbClr val="008000"/>
                </a:solidFill>
              </a:rPr>
              <a:t>)</a:t>
            </a:r>
            <a:r>
              <a:rPr lang="zh-CN" altLang="en-US" sz="1400" dirty="0">
                <a:solidFill>
                  <a:srgbClr val="008000"/>
                </a:solidFill>
              </a:rPr>
              <a:t>，将</a:t>
            </a:r>
            <a:r>
              <a:rPr lang="en-US" altLang="zh-CN" sz="1400" dirty="0">
                <a:solidFill>
                  <a:srgbClr val="008000"/>
                </a:solidFill>
              </a:rPr>
              <a:t>y</a:t>
            </a:r>
            <a:r>
              <a:rPr lang="zh-CN" altLang="en-US" sz="1400" dirty="0">
                <a:solidFill>
                  <a:srgbClr val="008000"/>
                </a:solidFill>
              </a:rPr>
              <a:t>的值赋给变量</a:t>
            </a:r>
            <a:r>
              <a:rPr lang="en-US" altLang="zh-CN" sz="1400" dirty="0">
                <a:solidFill>
                  <a:srgbClr val="008000"/>
                </a:solidFill>
              </a:rPr>
              <a:t>z</a:t>
            </a:r>
            <a:endParaRPr lang="en-US" altLang="zh-CN" sz="1400" dirty="0">
              <a:solidFill>
                <a:srgbClr val="008000"/>
              </a:solidFill>
            </a:endParaRPr>
          </a:p>
          <a:p>
            <a:pPr marL="0" lvl="1" defTabSz="357505"/>
            <a:r>
              <a:rPr lang="en-US" altLang="zh-CN" sz="1400" dirty="0"/>
              <a:t>	return(z); 	</a:t>
            </a:r>
            <a:r>
              <a:rPr lang="en-US" altLang="zh-CN" sz="1400" dirty="0">
                <a:solidFill>
                  <a:srgbClr val="008000"/>
                </a:solidFill>
              </a:rPr>
              <a:t>//</a:t>
            </a:r>
            <a:r>
              <a:rPr lang="zh-CN" altLang="en-US" sz="1400" dirty="0">
                <a:solidFill>
                  <a:srgbClr val="008000"/>
                </a:solidFill>
              </a:rPr>
              <a:t>将</a:t>
            </a:r>
            <a:r>
              <a:rPr lang="en-US" altLang="zh-CN" sz="1400" dirty="0">
                <a:solidFill>
                  <a:srgbClr val="008000"/>
                </a:solidFill>
              </a:rPr>
              <a:t>z</a:t>
            </a:r>
            <a:r>
              <a:rPr lang="zh-CN" altLang="en-US" sz="1400" dirty="0">
                <a:solidFill>
                  <a:srgbClr val="008000"/>
                </a:solidFill>
              </a:rPr>
              <a:t>的值作为</a:t>
            </a:r>
            <a:r>
              <a:rPr lang="en-US" altLang="zh-CN" sz="1400" dirty="0">
                <a:solidFill>
                  <a:srgbClr val="008000"/>
                </a:solidFill>
              </a:rPr>
              <a:t>max</a:t>
            </a:r>
            <a:r>
              <a:rPr lang="zh-CN" altLang="en-US" sz="1400" dirty="0">
                <a:solidFill>
                  <a:srgbClr val="008000"/>
                </a:solidFill>
              </a:rPr>
              <a:t>函数值，返回到调用</a:t>
            </a:r>
            <a:r>
              <a:rPr lang="en-US" altLang="zh-CN" sz="1400" dirty="0">
                <a:solidFill>
                  <a:srgbClr val="008000"/>
                </a:solidFill>
              </a:rPr>
              <a:t>max</a:t>
            </a:r>
            <a:r>
              <a:rPr lang="zh-CN" altLang="en-US" sz="1400" dirty="0">
                <a:solidFill>
                  <a:srgbClr val="008000"/>
                </a:solidFill>
              </a:rPr>
              <a:t>函数的位置</a:t>
            </a:r>
            <a:endParaRPr lang="zh-CN" altLang="en-US" sz="1400" dirty="0">
              <a:solidFill>
                <a:srgbClr val="008000"/>
              </a:solidFill>
            </a:endParaRPr>
          </a:p>
          <a:p>
            <a:r>
              <a:rPr lang="en-US" altLang="zh-CN" sz="1400" dirty="0"/>
              <a:t>}</a:t>
            </a:r>
            <a:endParaRPr lang="zh-CN" altLang="en-US" sz="1400" dirty="0">
              <a:solidFill>
                <a:srgbClr val="008000"/>
              </a:solidFill>
            </a:endParaRPr>
          </a:p>
        </p:txBody>
      </p:sp>
      <p:sp>
        <p:nvSpPr>
          <p:cNvPr id="8" name="折角形 7"/>
          <p:cNvSpPr/>
          <p:nvPr/>
        </p:nvSpPr>
        <p:spPr>
          <a:xfrm>
            <a:off x="7606747" y="365125"/>
            <a:ext cx="4230757" cy="6115188"/>
          </a:xfrm>
          <a:prstGeom prst="foldedCorner">
            <a:avLst/>
          </a:prstGeom>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grpSp>
        <p:nvGrpSpPr>
          <p:cNvPr id="9" name="组合 8"/>
          <p:cNvGrpSpPr/>
          <p:nvPr/>
        </p:nvGrpSpPr>
        <p:grpSpPr>
          <a:xfrm>
            <a:off x="7812157" y="532416"/>
            <a:ext cx="1838740" cy="560717"/>
            <a:chOff x="8656983" y="1203671"/>
            <a:chExt cx="1838740" cy="497504"/>
          </a:xfrm>
        </p:grpSpPr>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656983" y="1203671"/>
              <a:ext cx="487017" cy="487017"/>
            </a:xfrm>
            <a:prstGeom prst="rect">
              <a:avLst/>
            </a:prstGeom>
          </p:spPr>
        </p:pic>
        <p:sp>
          <p:nvSpPr>
            <p:cNvPr id="11" name="文本框 10"/>
            <p:cNvSpPr txBox="1"/>
            <p:nvPr/>
          </p:nvSpPr>
          <p:spPr>
            <a:xfrm>
              <a:off x="9253331" y="1331843"/>
              <a:ext cx="1242392" cy="369332"/>
            </a:xfrm>
            <a:prstGeom prst="rect">
              <a:avLst/>
            </a:prstGeom>
            <a:noFill/>
          </p:spPr>
          <p:txBody>
            <a:bodyPr wrap="square" rtlCol="0">
              <a:spAutoFit/>
            </a:bodyPr>
            <a:lstStyle/>
            <a:p>
              <a:pPr algn="dist"/>
              <a:r>
                <a:rPr lang="zh-CN" altLang="en-US" b="1" dirty="0">
                  <a:solidFill>
                    <a:schemeClr val="bg1"/>
                  </a:solidFill>
                  <a:latin typeface="微软雅黑" panose="020B0503020204020204" pitchFamily="34" charset="-122"/>
                  <a:ea typeface="微软雅黑" panose="020B0503020204020204" pitchFamily="34" charset="-122"/>
                </a:rPr>
                <a:t>程序分析</a:t>
              </a:r>
              <a:endParaRPr lang="zh-CN" altLang="en-US" b="1"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8656983" y="1690688"/>
              <a:ext cx="183874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13" name="文本框 12"/>
          <p:cNvSpPr txBox="1"/>
          <p:nvPr/>
        </p:nvSpPr>
        <p:spPr>
          <a:xfrm>
            <a:off x="7729331" y="1099784"/>
            <a:ext cx="3946140" cy="4708981"/>
          </a:xfrm>
          <a:prstGeom prst="rect">
            <a:avLst/>
          </a:prstGeom>
          <a:noFill/>
        </p:spPr>
        <p:txBody>
          <a:bodyPr wrap="square" rtlCol="0">
            <a:spAutoFit/>
          </a:bodyPr>
          <a:lstStyle/>
          <a:p>
            <a:pPr marL="285750" indent="-285750">
              <a:lnSpc>
                <a:spcPct val="150000"/>
              </a:lnSpc>
              <a:buClr>
                <a:schemeClr val="bg1"/>
              </a:buClr>
              <a:buFont typeface="Arial" panose="020B0604020202020204" pitchFamily="34" charset="0"/>
              <a:buChar char="•"/>
            </a:pPr>
            <a:r>
              <a:rPr lang="zh-CN" altLang="en-US" sz="1600" dirty="0">
                <a:solidFill>
                  <a:schemeClr val="bg1"/>
                </a:solidFill>
              </a:rPr>
              <a:t>本程序包括两个函数</a:t>
            </a:r>
            <a:r>
              <a:rPr lang="en-US" altLang="zh-CN" sz="1600" dirty="0">
                <a:solidFill>
                  <a:schemeClr val="bg1"/>
                </a:solidFill>
              </a:rPr>
              <a:t>:①</a:t>
            </a:r>
            <a:r>
              <a:rPr lang="zh-CN" altLang="en-US" sz="1600" dirty="0">
                <a:solidFill>
                  <a:schemeClr val="bg1"/>
                </a:solidFill>
              </a:rPr>
              <a:t>主函数</a:t>
            </a:r>
            <a:r>
              <a:rPr lang="en-US" altLang="zh-CN" sz="1600" dirty="0">
                <a:solidFill>
                  <a:schemeClr val="bg1"/>
                </a:solidFill>
              </a:rPr>
              <a:t>main</a:t>
            </a:r>
            <a:r>
              <a:rPr lang="zh-CN" altLang="en-US" sz="1600" dirty="0">
                <a:solidFill>
                  <a:schemeClr val="bg1"/>
                </a:solidFill>
              </a:rPr>
              <a:t>；②被调用的函数</a:t>
            </a:r>
            <a:r>
              <a:rPr lang="en-US" altLang="zh-CN" sz="1600" dirty="0">
                <a:solidFill>
                  <a:schemeClr val="bg1"/>
                </a:solidFill>
              </a:rPr>
              <a:t>max</a:t>
            </a:r>
            <a:r>
              <a:rPr lang="zh-CN" altLang="en-US" sz="1600" dirty="0">
                <a:solidFill>
                  <a:schemeClr val="bg1"/>
                </a:solidFill>
              </a:rPr>
              <a:t>。</a:t>
            </a:r>
            <a:endParaRPr lang="zh-CN" altLang="en-US" sz="1600" dirty="0">
              <a:solidFill>
                <a:schemeClr val="bg1"/>
              </a:solidFill>
            </a:endParaRPr>
          </a:p>
          <a:p>
            <a:pPr marL="285750" indent="-285750">
              <a:lnSpc>
                <a:spcPct val="150000"/>
              </a:lnSpc>
              <a:buClr>
                <a:schemeClr val="bg1"/>
              </a:buClr>
              <a:buFont typeface="Arial" panose="020B0604020202020204" pitchFamily="34" charset="0"/>
              <a:buChar char="•"/>
            </a:pPr>
            <a:r>
              <a:rPr lang="en-US" altLang="zh-CN" sz="1600" dirty="0">
                <a:solidFill>
                  <a:schemeClr val="bg1"/>
                </a:solidFill>
              </a:rPr>
              <a:t>max</a:t>
            </a:r>
            <a:r>
              <a:rPr lang="zh-CN" altLang="en-US" sz="1600" dirty="0">
                <a:solidFill>
                  <a:schemeClr val="bg1"/>
                </a:solidFill>
              </a:rPr>
              <a:t>函数的作用是将</a:t>
            </a:r>
            <a:r>
              <a:rPr lang="en-US" altLang="zh-CN" sz="1600" dirty="0">
                <a:solidFill>
                  <a:schemeClr val="bg1"/>
                </a:solidFill>
              </a:rPr>
              <a:t>x</a:t>
            </a:r>
            <a:r>
              <a:rPr lang="zh-CN" altLang="en-US" sz="1600" dirty="0">
                <a:solidFill>
                  <a:schemeClr val="bg1"/>
                </a:solidFill>
              </a:rPr>
              <a:t>和</a:t>
            </a:r>
            <a:r>
              <a:rPr lang="en-US" altLang="zh-CN" sz="1600" dirty="0">
                <a:solidFill>
                  <a:schemeClr val="bg1"/>
                </a:solidFill>
              </a:rPr>
              <a:t>y</a:t>
            </a:r>
            <a:r>
              <a:rPr lang="zh-CN" altLang="en-US" sz="1600" dirty="0">
                <a:solidFill>
                  <a:schemeClr val="bg1"/>
                </a:solidFill>
              </a:rPr>
              <a:t>中较大者的值赋给变量</a:t>
            </a:r>
            <a:r>
              <a:rPr lang="en-US" altLang="zh-CN" sz="1600" dirty="0">
                <a:solidFill>
                  <a:schemeClr val="bg1"/>
                </a:solidFill>
              </a:rPr>
              <a:t>z</a:t>
            </a:r>
            <a:r>
              <a:rPr lang="zh-CN" altLang="en-US" sz="1600" dirty="0">
                <a:solidFill>
                  <a:schemeClr val="bg1"/>
                </a:solidFill>
              </a:rPr>
              <a:t>，最后通过</a:t>
            </a:r>
            <a:r>
              <a:rPr lang="en-US" altLang="zh-CN" sz="1600" dirty="0">
                <a:solidFill>
                  <a:schemeClr val="bg1"/>
                </a:solidFill>
              </a:rPr>
              <a:t>return</a:t>
            </a:r>
            <a:r>
              <a:rPr lang="zh-CN" altLang="en-US" sz="1600" dirty="0">
                <a:solidFill>
                  <a:schemeClr val="bg1"/>
                </a:solidFill>
              </a:rPr>
              <a:t>语句将</a:t>
            </a:r>
            <a:r>
              <a:rPr lang="en-US" altLang="zh-CN" sz="1600" dirty="0">
                <a:solidFill>
                  <a:schemeClr val="bg1"/>
                </a:solidFill>
              </a:rPr>
              <a:t>z</a:t>
            </a:r>
            <a:r>
              <a:rPr lang="zh-CN" altLang="en-US" sz="1600" dirty="0">
                <a:solidFill>
                  <a:schemeClr val="bg1"/>
                </a:solidFill>
              </a:rPr>
              <a:t>的值作为</a:t>
            </a:r>
            <a:r>
              <a:rPr lang="en-US" altLang="zh-CN" sz="1600" dirty="0">
                <a:solidFill>
                  <a:schemeClr val="bg1"/>
                </a:solidFill>
              </a:rPr>
              <a:t>max</a:t>
            </a:r>
            <a:r>
              <a:rPr lang="zh-CN" altLang="en-US" sz="1600" dirty="0">
                <a:solidFill>
                  <a:schemeClr val="bg1"/>
                </a:solidFill>
              </a:rPr>
              <a:t>的函数值返回给调用</a:t>
            </a:r>
            <a:r>
              <a:rPr lang="en-US" altLang="zh-CN" sz="1600" dirty="0">
                <a:solidFill>
                  <a:schemeClr val="bg1"/>
                </a:solidFill>
              </a:rPr>
              <a:t>max</a:t>
            </a:r>
            <a:r>
              <a:rPr lang="zh-CN" altLang="en-US" sz="1600" dirty="0">
                <a:solidFill>
                  <a:schemeClr val="bg1"/>
                </a:solidFill>
              </a:rPr>
              <a:t>函数的主函数。</a:t>
            </a:r>
            <a:endParaRPr lang="zh-CN" altLang="en-US" sz="1600" dirty="0">
              <a:solidFill>
                <a:schemeClr val="bg1"/>
              </a:solidFill>
            </a:endParaRPr>
          </a:p>
          <a:p>
            <a:pPr marL="285750" indent="-285750">
              <a:lnSpc>
                <a:spcPct val="150000"/>
              </a:lnSpc>
              <a:buClr>
                <a:schemeClr val="bg1"/>
              </a:buClr>
              <a:buFont typeface="Arial" panose="020B0604020202020204" pitchFamily="34" charset="0"/>
              <a:buChar char="•"/>
            </a:pPr>
            <a:r>
              <a:rPr lang="en-US" altLang="zh-CN" b="1" dirty="0" err="1">
                <a:solidFill>
                  <a:srgbClr val="FFFF00"/>
                </a:solidFill>
              </a:rPr>
              <a:t>scanf</a:t>
            </a:r>
            <a:r>
              <a:rPr lang="zh-CN" altLang="en-US" sz="1600" dirty="0">
                <a:solidFill>
                  <a:schemeClr val="bg1"/>
                </a:solidFill>
              </a:rPr>
              <a:t>是输入函数的名字</a:t>
            </a:r>
            <a:r>
              <a:rPr lang="en-US" altLang="zh-CN" sz="1600" dirty="0">
                <a:solidFill>
                  <a:schemeClr val="bg1"/>
                </a:solidFill>
              </a:rPr>
              <a:t>(</a:t>
            </a:r>
            <a:r>
              <a:rPr lang="en-US" altLang="zh-CN" sz="1600" dirty="0" err="1">
                <a:solidFill>
                  <a:schemeClr val="bg1"/>
                </a:solidFill>
              </a:rPr>
              <a:t>scanf</a:t>
            </a:r>
            <a:r>
              <a:rPr lang="zh-CN" altLang="en-US" sz="1600" dirty="0">
                <a:solidFill>
                  <a:schemeClr val="bg1"/>
                </a:solidFill>
              </a:rPr>
              <a:t>和</a:t>
            </a:r>
            <a:r>
              <a:rPr lang="en-US" altLang="zh-CN" sz="1600" dirty="0" err="1">
                <a:solidFill>
                  <a:schemeClr val="bg1"/>
                </a:solidFill>
              </a:rPr>
              <a:t>printf</a:t>
            </a:r>
            <a:r>
              <a:rPr lang="zh-CN" altLang="en-US" sz="1600" dirty="0">
                <a:solidFill>
                  <a:schemeClr val="bg1"/>
                </a:solidFill>
              </a:rPr>
              <a:t>都是</a:t>
            </a:r>
            <a:r>
              <a:rPr lang="en-US" altLang="zh-CN" sz="1600" dirty="0">
                <a:solidFill>
                  <a:schemeClr val="bg1"/>
                </a:solidFill>
              </a:rPr>
              <a:t>C</a:t>
            </a:r>
            <a:r>
              <a:rPr lang="zh-CN" altLang="en-US" sz="1600" dirty="0">
                <a:solidFill>
                  <a:schemeClr val="bg1"/>
                </a:solidFill>
              </a:rPr>
              <a:t>的标准输入输出函数</a:t>
            </a:r>
            <a:r>
              <a:rPr lang="en-US" altLang="zh-CN" sz="1600" dirty="0">
                <a:solidFill>
                  <a:schemeClr val="bg1"/>
                </a:solidFill>
              </a:rPr>
              <a:t>)</a:t>
            </a:r>
            <a:r>
              <a:rPr lang="zh-CN" altLang="en-US" sz="1600" dirty="0">
                <a:solidFill>
                  <a:schemeClr val="bg1"/>
                </a:solidFill>
              </a:rPr>
              <a:t>。该</a:t>
            </a:r>
            <a:r>
              <a:rPr lang="en-US" altLang="zh-CN" sz="1600" dirty="0" err="1">
                <a:solidFill>
                  <a:schemeClr val="bg1"/>
                </a:solidFill>
              </a:rPr>
              <a:t>scanf</a:t>
            </a:r>
            <a:r>
              <a:rPr lang="zh-CN" altLang="en-US" sz="1600" dirty="0">
                <a:solidFill>
                  <a:schemeClr val="bg1"/>
                </a:solidFill>
              </a:rPr>
              <a:t>函数的作用是输入变量</a:t>
            </a:r>
            <a:r>
              <a:rPr lang="en-US" altLang="zh-CN" sz="1600" dirty="0">
                <a:solidFill>
                  <a:schemeClr val="bg1"/>
                </a:solidFill>
              </a:rPr>
              <a:t>a</a:t>
            </a:r>
            <a:r>
              <a:rPr lang="zh-CN" altLang="en-US" sz="1600" dirty="0">
                <a:solidFill>
                  <a:schemeClr val="bg1"/>
                </a:solidFill>
              </a:rPr>
              <a:t>和</a:t>
            </a:r>
            <a:r>
              <a:rPr lang="en-US" altLang="zh-CN" sz="1600" dirty="0">
                <a:solidFill>
                  <a:schemeClr val="bg1"/>
                </a:solidFill>
              </a:rPr>
              <a:t>b</a:t>
            </a:r>
            <a:r>
              <a:rPr lang="zh-CN" altLang="en-US" sz="1600" dirty="0">
                <a:solidFill>
                  <a:schemeClr val="bg1"/>
                </a:solidFill>
              </a:rPr>
              <a:t>的值。</a:t>
            </a:r>
            <a:endParaRPr lang="en-US" altLang="zh-CN" sz="1600" dirty="0">
              <a:solidFill>
                <a:schemeClr val="bg1"/>
              </a:solidFill>
            </a:endParaRPr>
          </a:p>
          <a:p>
            <a:pPr marL="285750" indent="-285750">
              <a:lnSpc>
                <a:spcPct val="150000"/>
              </a:lnSpc>
              <a:buClr>
                <a:schemeClr val="bg1"/>
              </a:buClr>
              <a:buFont typeface="Arial" panose="020B0604020202020204" pitchFamily="34" charset="0"/>
              <a:buChar char="•"/>
            </a:pPr>
            <a:r>
              <a:rPr lang="en-US" altLang="zh-CN" b="1" dirty="0">
                <a:solidFill>
                  <a:srgbClr val="FFFF00"/>
                </a:solidFill>
              </a:rPr>
              <a:t>max(a</a:t>
            </a:r>
            <a:r>
              <a:rPr lang="zh-CN" altLang="en-US" b="1" dirty="0">
                <a:solidFill>
                  <a:srgbClr val="FFFF00"/>
                </a:solidFill>
              </a:rPr>
              <a:t>，</a:t>
            </a:r>
            <a:r>
              <a:rPr lang="en-US" altLang="zh-CN" b="1" dirty="0">
                <a:solidFill>
                  <a:srgbClr val="FFFF00"/>
                </a:solidFill>
              </a:rPr>
              <a:t>b)</a:t>
            </a:r>
            <a:r>
              <a:rPr lang="zh-CN" altLang="en-US" sz="1600" dirty="0">
                <a:solidFill>
                  <a:schemeClr val="bg1"/>
                </a:solidFill>
              </a:rPr>
              <a:t>调用</a:t>
            </a:r>
            <a:r>
              <a:rPr lang="en-US" altLang="zh-CN" sz="1600" dirty="0">
                <a:solidFill>
                  <a:schemeClr val="bg1"/>
                </a:solidFill>
              </a:rPr>
              <a:t>max</a:t>
            </a:r>
            <a:r>
              <a:rPr lang="zh-CN" altLang="en-US" sz="1600" dirty="0">
                <a:solidFill>
                  <a:schemeClr val="bg1"/>
                </a:solidFill>
              </a:rPr>
              <a:t>函数。在调用时将</a:t>
            </a:r>
            <a:r>
              <a:rPr lang="en-US" altLang="zh-CN" sz="1600" dirty="0">
                <a:solidFill>
                  <a:schemeClr val="bg1"/>
                </a:solidFill>
              </a:rPr>
              <a:t>a</a:t>
            </a:r>
            <a:r>
              <a:rPr lang="zh-CN" altLang="en-US" sz="1600" dirty="0">
                <a:solidFill>
                  <a:schemeClr val="bg1"/>
                </a:solidFill>
              </a:rPr>
              <a:t>和</a:t>
            </a:r>
            <a:r>
              <a:rPr lang="en-US" altLang="zh-CN" sz="1600" dirty="0">
                <a:solidFill>
                  <a:schemeClr val="bg1"/>
                </a:solidFill>
              </a:rPr>
              <a:t>b</a:t>
            </a:r>
            <a:r>
              <a:rPr lang="zh-CN" altLang="en-US" sz="1600" dirty="0">
                <a:solidFill>
                  <a:schemeClr val="bg1"/>
                </a:solidFill>
              </a:rPr>
              <a:t>作为</a:t>
            </a:r>
            <a:r>
              <a:rPr lang="en-US" altLang="zh-CN" sz="1600" dirty="0">
                <a:solidFill>
                  <a:schemeClr val="bg1"/>
                </a:solidFill>
              </a:rPr>
              <a:t>max</a:t>
            </a:r>
            <a:r>
              <a:rPr lang="zh-CN" altLang="en-US" sz="1600" dirty="0">
                <a:solidFill>
                  <a:schemeClr val="bg1"/>
                </a:solidFill>
              </a:rPr>
              <a:t>函数的</a:t>
            </a:r>
            <a:r>
              <a:rPr lang="zh-CN" altLang="en-US" b="1" dirty="0">
                <a:solidFill>
                  <a:srgbClr val="FFFF00"/>
                </a:solidFill>
              </a:rPr>
              <a:t>实际参数</a:t>
            </a:r>
            <a:r>
              <a:rPr lang="zh-CN" altLang="en-US" sz="1600" dirty="0">
                <a:solidFill>
                  <a:schemeClr val="bg1"/>
                </a:solidFill>
              </a:rPr>
              <a:t>的值分别传送给</a:t>
            </a:r>
            <a:r>
              <a:rPr lang="en-US" altLang="zh-CN" sz="1600" dirty="0">
                <a:solidFill>
                  <a:schemeClr val="bg1"/>
                </a:solidFill>
              </a:rPr>
              <a:t>max</a:t>
            </a:r>
            <a:r>
              <a:rPr lang="zh-CN" altLang="en-US" sz="1600" dirty="0">
                <a:solidFill>
                  <a:schemeClr val="bg1"/>
                </a:solidFill>
              </a:rPr>
              <a:t>函数中的</a:t>
            </a:r>
            <a:r>
              <a:rPr lang="zh-CN" altLang="en-US" b="1" dirty="0">
                <a:solidFill>
                  <a:srgbClr val="FFFF00"/>
                </a:solidFill>
              </a:rPr>
              <a:t>形式参数</a:t>
            </a:r>
            <a:r>
              <a:rPr lang="en-US" altLang="zh-CN" sz="1600" dirty="0">
                <a:solidFill>
                  <a:schemeClr val="bg1"/>
                </a:solidFill>
              </a:rPr>
              <a:t>x</a:t>
            </a:r>
            <a:r>
              <a:rPr lang="zh-CN" altLang="en-US" sz="1600" dirty="0">
                <a:solidFill>
                  <a:schemeClr val="bg1"/>
                </a:solidFill>
              </a:rPr>
              <a:t>和</a:t>
            </a:r>
            <a:r>
              <a:rPr lang="en-US" altLang="zh-CN" sz="1600" dirty="0">
                <a:solidFill>
                  <a:schemeClr val="bg1"/>
                </a:solidFill>
              </a:rPr>
              <a:t>y</a:t>
            </a:r>
            <a:r>
              <a:rPr lang="zh-CN" altLang="en-US" sz="1600" dirty="0">
                <a:solidFill>
                  <a:schemeClr val="bg1"/>
                </a:solidFill>
              </a:rPr>
              <a:t>。</a:t>
            </a:r>
            <a:endParaRPr lang="zh-CN" altLang="en-US" sz="16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13">
                                            <p:txEl>
                                              <p:pRg st="0" end="0"/>
                                            </p:txEl>
                                          </p:spTgt>
                                        </p:tgtEl>
                                        <p:attrNameLst>
                                          <p:attrName>style.visibility</p:attrName>
                                        </p:attrNameLst>
                                      </p:cBhvr>
                                      <p:to>
                                        <p:strVal val="visible"/>
                                      </p:to>
                                    </p:set>
                                    <p:animEffect transition="in" filter="wipe(up)">
                                      <p:cBhvr>
                                        <p:cTn id="16" dur="500"/>
                                        <p:tgtEl>
                                          <p:spTgt spid="1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13">
                                            <p:txEl>
                                              <p:pRg st="1" end="1"/>
                                            </p:txEl>
                                          </p:spTgt>
                                        </p:tgtEl>
                                        <p:attrNameLst>
                                          <p:attrName>style.visibility</p:attrName>
                                        </p:attrNameLst>
                                      </p:cBhvr>
                                      <p:to>
                                        <p:strVal val="visible"/>
                                      </p:to>
                                    </p:set>
                                    <p:animEffect transition="in" filter="wipe(up)">
                                      <p:cBhvr>
                                        <p:cTn id="21" dur="500"/>
                                        <p:tgtEl>
                                          <p:spTgt spid="1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3">
                                            <p:txEl>
                                              <p:pRg st="2" end="2"/>
                                            </p:txEl>
                                          </p:spTgt>
                                        </p:tgtEl>
                                        <p:attrNameLst>
                                          <p:attrName>style.visibility</p:attrName>
                                        </p:attrNameLst>
                                      </p:cBhvr>
                                      <p:to>
                                        <p:strVal val="visible"/>
                                      </p:to>
                                    </p:set>
                                    <p:animEffect transition="in" filter="wipe(up)">
                                      <p:cBhvr>
                                        <p:cTn id="26" dur="500"/>
                                        <p:tgtEl>
                                          <p:spTgt spid="1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Effect transition="in" filter="wipe(up)">
                                      <p:cBhvr>
                                        <p:cTn id="31"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最简单的</a:t>
            </a:r>
            <a:r>
              <a:rPr lang="en-US" altLang="zh-CN" dirty="0"/>
              <a:t>C</a:t>
            </a:r>
            <a:r>
              <a:rPr lang="zh-CN" altLang="en-US" dirty="0"/>
              <a:t>语言程序</a:t>
            </a:r>
            <a:endParaRPr lang="zh-CN" altLang="en-US" dirty="0"/>
          </a:p>
        </p:txBody>
      </p:sp>
      <p:sp>
        <p:nvSpPr>
          <p:cNvPr id="7" name="圆角矩形 6"/>
          <p:cNvSpPr/>
          <p:nvPr/>
        </p:nvSpPr>
        <p:spPr>
          <a:xfrm>
            <a:off x="838200" y="1602103"/>
            <a:ext cx="6463748" cy="4568711"/>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400" dirty="0"/>
              <a:t>#include &lt;</a:t>
            </a:r>
            <a:r>
              <a:rPr lang="en-US" altLang="zh-CN" sz="1400" dirty="0" err="1"/>
              <a:t>stdio.h</a:t>
            </a:r>
            <a:r>
              <a:rPr lang="en-US" altLang="zh-CN" sz="1400" dirty="0"/>
              <a:t>&gt;</a:t>
            </a:r>
            <a:endParaRPr lang="en-US" altLang="zh-CN" sz="1400" dirty="0"/>
          </a:p>
          <a:p>
            <a:pPr defTabSz="357505"/>
            <a:r>
              <a:rPr lang="en-US" altLang="zh-CN" sz="1400" dirty="0">
                <a:solidFill>
                  <a:srgbClr val="008000"/>
                </a:solidFill>
              </a:rPr>
              <a:t>//</a:t>
            </a:r>
            <a:r>
              <a:rPr lang="zh-CN" altLang="en-US" sz="1400" dirty="0">
                <a:solidFill>
                  <a:srgbClr val="008000"/>
                </a:solidFill>
              </a:rPr>
              <a:t>主函数</a:t>
            </a:r>
            <a:endParaRPr lang="zh-CN" altLang="en-US" sz="1400" dirty="0">
              <a:solidFill>
                <a:srgbClr val="008000"/>
              </a:solidFill>
            </a:endParaRPr>
          </a:p>
          <a:p>
            <a:pPr defTabSz="357505"/>
            <a:r>
              <a:rPr lang="en-US" altLang="zh-CN" sz="1400" dirty="0" err="1"/>
              <a:t>int</a:t>
            </a:r>
            <a:r>
              <a:rPr lang="en-US" altLang="zh-CN" sz="1400" dirty="0"/>
              <a:t> main()				</a:t>
            </a:r>
            <a:r>
              <a:rPr lang="en-US" altLang="zh-CN" sz="1400" dirty="0">
                <a:solidFill>
                  <a:srgbClr val="008000"/>
                </a:solidFill>
              </a:rPr>
              <a:t>//</a:t>
            </a:r>
            <a:r>
              <a:rPr lang="zh-CN" altLang="en-US" sz="1400" dirty="0">
                <a:solidFill>
                  <a:srgbClr val="008000"/>
                </a:solidFill>
              </a:rPr>
              <a:t>定义主函数</a:t>
            </a:r>
            <a:endParaRPr lang="zh-CN" altLang="en-US" sz="1400" dirty="0">
              <a:solidFill>
                <a:srgbClr val="008000"/>
              </a:solidFill>
            </a:endParaRPr>
          </a:p>
          <a:p>
            <a:pPr defTabSz="357505"/>
            <a:r>
              <a:rPr lang="en-US" altLang="zh-CN" sz="1400" dirty="0"/>
              <a:t>{						</a:t>
            </a:r>
            <a:r>
              <a:rPr lang="en-US" altLang="zh-CN" sz="1400" dirty="0">
                <a:solidFill>
                  <a:srgbClr val="008000"/>
                </a:solidFill>
              </a:rPr>
              <a:t>//</a:t>
            </a:r>
            <a:r>
              <a:rPr lang="zh-CN" altLang="en-US" sz="1400" dirty="0">
                <a:solidFill>
                  <a:srgbClr val="008000"/>
                </a:solidFill>
              </a:rPr>
              <a:t>主函数体开始</a:t>
            </a:r>
            <a:endParaRPr lang="zh-CN" altLang="en-US" sz="1400" dirty="0">
              <a:solidFill>
                <a:srgbClr val="008000"/>
              </a:solidFill>
            </a:endParaRPr>
          </a:p>
          <a:p>
            <a:pPr defTabSz="357505"/>
            <a:r>
              <a:rPr lang="zh-CN" altLang="en-US" sz="1400" dirty="0"/>
              <a:t>	</a:t>
            </a:r>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r>
              <a:rPr lang="en-US" altLang="zh-CN" sz="1400" dirty="0">
                <a:solidFill>
                  <a:srgbClr val="008000"/>
                </a:solidFill>
              </a:rPr>
              <a:t>//</a:t>
            </a:r>
            <a:r>
              <a:rPr lang="zh-CN" altLang="en-US" sz="1400" dirty="0">
                <a:solidFill>
                  <a:srgbClr val="008000"/>
                </a:solidFill>
              </a:rPr>
              <a:t>对被调用函数</a:t>
            </a:r>
            <a:r>
              <a:rPr lang="en-US" altLang="zh-CN" sz="1400" dirty="0">
                <a:solidFill>
                  <a:srgbClr val="008000"/>
                </a:solidFill>
              </a:rPr>
              <a:t>max</a:t>
            </a:r>
            <a:r>
              <a:rPr lang="zh-CN" altLang="en-US" sz="1400" dirty="0">
                <a:solidFill>
                  <a:srgbClr val="008000"/>
                </a:solidFill>
              </a:rPr>
              <a:t>的声明</a:t>
            </a:r>
            <a:endParaRPr lang="en-US" altLang="zh-CN" sz="1400" dirty="0">
              <a:solidFill>
                <a:srgbClr val="008000"/>
              </a:solidFill>
            </a:endParaRPr>
          </a:p>
          <a:p>
            <a:pPr defTabSz="357505"/>
            <a:r>
              <a:rPr lang="zh-CN" altLang="en-US" sz="1400" dirty="0"/>
              <a:t>	</a:t>
            </a:r>
            <a:r>
              <a:rPr lang="en-US" altLang="zh-CN" sz="1400" dirty="0" err="1"/>
              <a:t>int</a:t>
            </a:r>
            <a:r>
              <a:rPr lang="en-US" altLang="zh-CN" sz="1400" dirty="0"/>
              <a:t> </a:t>
            </a:r>
            <a:r>
              <a:rPr lang="en-US" altLang="zh-CN" sz="1400" dirty="0" err="1"/>
              <a:t>a,b,c</a:t>
            </a:r>
            <a:r>
              <a:rPr lang="en-US" altLang="zh-CN" sz="1400" dirty="0"/>
              <a:t>;				</a:t>
            </a:r>
            <a:r>
              <a:rPr lang="en-US" altLang="zh-CN" sz="1400" dirty="0">
                <a:solidFill>
                  <a:srgbClr val="008000"/>
                </a:solidFill>
              </a:rPr>
              <a:t>//</a:t>
            </a:r>
            <a:r>
              <a:rPr lang="zh-CN" altLang="en-US" sz="1400" dirty="0">
                <a:solidFill>
                  <a:srgbClr val="008000"/>
                </a:solidFill>
              </a:rPr>
              <a:t>定义变量</a:t>
            </a:r>
            <a:r>
              <a:rPr lang="en-US" altLang="zh-CN" sz="1400" dirty="0">
                <a:solidFill>
                  <a:srgbClr val="008000"/>
                </a:solidFill>
              </a:rPr>
              <a:t>a</a:t>
            </a:r>
            <a:r>
              <a:rPr lang="zh-CN" altLang="en-US" sz="1400" dirty="0">
                <a:solidFill>
                  <a:srgbClr val="008000"/>
                </a:solidFill>
              </a:rPr>
              <a:t>，</a:t>
            </a:r>
            <a:r>
              <a:rPr lang="en-US" altLang="zh-CN" sz="1400" dirty="0">
                <a:solidFill>
                  <a:srgbClr val="008000"/>
                </a:solidFill>
              </a:rPr>
              <a:t>b</a:t>
            </a:r>
            <a:r>
              <a:rPr lang="zh-CN" altLang="en-US" sz="1400" dirty="0">
                <a:solidFill>
                  <a:srgbClr val="008000"/>
                </a:solidFill>
              </a:rPr>
              <a:t>，</a:t>
            </a:r>
            <a:r>
              <a:rPr lang="en-US" altLang="zh-CN" sz="1400" dirty="0">
                <a:solidFill>
                  <a:srgbClr val="008000"/>
                </a:solidFill>
              </a:rPr>
              <a:t>c</a:t>
            </a:r>
            <a:endParaRPr lang="en-US" altLang="zh-CN" sz="1400" dirty="0">
              <a:solidFill>
                <a:srgbClr val="008000"/>
              </a:solidFill>
            </a:endParaRPr>
          </a:p>
          <a:p>
            <a:pPr defTabSz="357505"/>
            <a:r>
              <a:rPr lang="en-US" altLang="zh-CN" sz="1400" dirty="0"/>
              <a:t>	</a:t>
            </a:r>
            <a:r>
              <a:rPr lang="en-US" altLang="zh-CN" sz="1400" dirty="0" err="1"/>
              <a:t>scanf</a:t>
            </a:r>
            <a:r>
              <a:rPr lang="en-US" altLang="zh-CN" sz="1400" dirty="0"/>
              <a:t>(</a:t>
            </a:r>
            <a:r>
              <a:rPr lang="en-US" altLang="zh-CN" dirty="0"/>
              <a:t>"</a:t>
            </a:r>
            <a:r>
              <a:rPr lang="en-US" altLang="zh-CN" sz="1400" dirty="0"/>
              <a:t>%</a:t>
            </a:r>
            <a:r>
              <a:rPr lang="en-US" altLang="zh-CN" sz="1400" dirty="0" err="1"/>
              <a:t>d,%d</a:t>
            </a:r>
            <a:r>
              <a:rPr lang="en-US" altLang="zh-CN" dirty="0" err="1"/>
              <a:t>"</a:t>
            </a:r>
            <a:r>
              <a:rPr lang="en-US" altLang="zh-CN" sz="1400" dirty="0" err="1"/>
              <a:t>,&amp;a,&amp;b</a:t>
            </a:r>
            <a:r>
              <a:rPr lang="en-US" altLang="zh-CN" sz="1400" dirty="0"/>
              <a:t>); 	</a:t>
            </a:r>
            <a:r>
              <a:rPr lang="en-US" altLang="zh-CN" sz="1400" dirty="0">
                <a:solidFill>
                  <a:srgbClr val="008000"/>
                </a:solidFill>
              </a:rPr>
              <a:t>//</a:t>
            </a:r>
            <a:r>
              <a:rPr lang="zh-CN" altLang="en-US" sz="1400" dirty="0">
                <a:solidFill>
                  <a:srgbClr val="008000"/>
                </a:solidFill>
              </a:rPr>
              <a:t>输入变量</a:t>
            </a:r>
            <a:r>
              <a:rPr lang="en-US" altLang="zh-CN" sz="1400" dirty="0">
                <a:solidFill>
                  <a:srgbClr val="008000"/>
                </a:solidFill>
              </a:rPr>
              <a:t>a</a:t>
            </a:r>
            <a:r>
              <a:rPr lang="zh-CN" altLang="en-US" sz="1400" dirty="0">
                <a:solidFill>
                  <a:srgbClr val="008000"/>
                </a:solidFill>
              </a:rPr>
              <a:t>和</a:t>
            </a:r>
            <a:r>
              <a:rPr lang="en-US" altLang="zh-CN" sz="1400" dirty="0">
                <a:solidFill>
                  <a:srgbClr val="008000"/>
                </a:solidFill>
              </a:rPr>
              <a:t>b</a:t>
            </a:r>
            <a:r>
              <a:rPr lang="zh-CN" altLang="en-US" sz="1400" dirty="0">
                <a:solidFill>
                  <a:srgbClr val="008000"/>
                </a:solidFill>
              </a:rPr>
              <a:t>的值</a:t>
            </a:r>
            <a:endParaRPr lang="en-US" altLang="zh-CN" sz="1400" dirty="0">
              <a:solidFill>
                <a:srgbClr val="008000"/>
              </a:solidFill>
            </a:endParaRPr>
          </a:p>
          <a:p>
            <a:pPr defTabSz="357505"/>
            <a:r>
              <a:rPr lang="zh-CN" altLang="en-US" sz="1400" dirty="0"/>
              <a:t>	</a:t>
            </a:r>
            <a:r>
              <a:rPr lang="en-US" altLang="zh-CN" sz="1400" dirty="0"/>
              <a:t>c=max(</a:t>
            </a:r>
            <a:r>
              <a:rPr lang="en-US" altLang="zh-CN" sz="1400" dirty="0" err="1"/>
              <a:t>a,b</a:t>
            </a:r>
            <a:r>
              <a:rPr lang="en-US" altLang="zh-CN" sz="1400" dirty="0"/>
              <a:t>);			</a:t>
            </a:r>
            <a:r>
              <a:rPr lang="en-US" altLang="zh-CN" sz="1400" dirty="0">
                <a:solidFill>
                  <a:srgbClr val="008000"/>
                </a:solidFill>
              </a:rPr>
              <a:t>//</a:t>
            </a:r>
            <a:r>
              <a:rPr lang="zh-CN" altLang="en-US" sz="1400" dirty="0">
                <a:solidFill>
                  <a:srgbClr val="008000"/>
                </a:solidFill>
              </a:rPr>
              <a:t>调用</a:t>
            </a:r>
            <a:r>
              <a:rPr lang="en-US" altLang="zh-CN" sz="1400" dirty="0">
                <a:solidFill>
                  <a:srgbClr val="008000"/>
                </a:solidFill>
              </a:rPr>
              <a:t>max</a:t>
            </a:r>
            <a:r>
              <a:rPr lang="zh-CN" altLang="en-US" sz="1400" dirty="0">
                <a:solidFill>
                  <a:srgbClr val="008000"/>
                </a:solidFill>
              </a:rPr>
              <a:t>函数，将得到的值赋给</a:t>
            </a:r>
            <a:r>
              <a:rPr lang="en-US" altLang="zh-CN" sz="1400" dirty="0">
                <a:solidFill>
                  <a:srgbClr val="008000"/>
                </a:solidFill>
              </a:rPr>
              <a:t>c</a:t>
            </a:r>
            <a:endParaRPr lang="en-US" altLang="zh-CN" sz="1400" dirty="0">
              <a:solidFill>
                <a:srgbClr val="008000"/>
              </a:solidFill>
            </a:endParaRPr>
          </a:p>
          <a:p>
            <a:pPr defTabSz="357505"/>
            <a:r>
              <a:rPr lang="en-US" altLang="zh-CN" sz="1400" dirty="0"/>
              <a:t>	</a:t>
            </a:r>
            <a:r>
              <a:rPr lang="en-US" altLang="zh-CN" sz="1400" dirty="0" err="1"/>
              <a:t>printf</a:t>
            </a:r>
            <a:r>
              <a:rPr lang="en-US" altLang="zh-CN" sz="1400" dirty="0"/>
              <a:t>(</a:t>
            </a:r>
            <a:r>
              <a:rPr lang="en-US" altLang="zh-CN" dirty="0"/>
              <a:t>"</a:t>
            </a:r>
            <a:r>
              <a:rPr lang="en-US" altLang="zh-CN" sz="1400" dirty="0"/>
              <a:t>max=%d\</a:t>
            </a:r>
            <a:r>
              <a:rPr lang="en-US" altLang="zh-CN" sz="1400" dirty="0" err="1"/>
              <a:t>n</a:t>
            </a:r>
            <a:r>
              <a:rPr lang="en-US" altLang="zh-CN" dirty="0" err="1"/>
              <a:t>"</a:t>
            </a:r>
            <a:r>
              <a:rPr lang="en-US" altLang="zh-CN" sz="1400" dirty="0" err="1"/>
              <a:t>,c</a:t>
            </a:r>
            <a:r>
              <a:rPr lang="en-US" altLang="zh-CN" sz="1400" dirty="0"/>
              <a:t>); 	</a:t>
            </a:r>
            <a:r>
              <a:rPr lang="en-US" altLang="zh-CN" sz="1400" dirty="0">
                <a:solidFill>
                  <a:srgbClr val="008000"/>
                </a:solidFill>
              </a:rPr>
              <a:t>//</a:t>
            </a:r>
            <a:r>
              <a:rPr lang="zh-CN" altLang="en-US" sz="1400" dirty="0">
                <a:solidFill>
                  <a:srgbClr val="008000"/>
                </a:solidFill>
              </a:rPr>
              <a:t>输出</a:t>
            </a:r>
            <a:r>
              <a:rPr lang="en-US" altLang="zh-CN" sz="1400" dirty="0">
                <a:solidFill>
                  <a:srgbClr val="008000"/>
                </a:solidFill>
              </a:rPr>
              <a:t>c</a:t>
            </a:r>
            <a:r>
              <a:rPr lang="zh-CN" altLang="en-US" sz="1400" dirty="0">
                <a:solidFill>
                  <a:srgbClr val="008000"/>
                </a:solidFill>
              </a:rPr>
              <a:t>的值</a:t>
            </a:r>
            <a:endParaRPr lang="en-US" altLang="zh-CN" sz="1400" dirty="0">
              <a:solidFill>
                <a:srgbClr val="008000"/>
              </a:solidFill>
            </a:endParaRPr>
          </a:p>
          <a:p>
            <a:pPr defTabSz="357505"/>
            <a:r>
              <a:rPr lang="zh-CN" altLang="en-US" sz="1400" dirty="0"/>
              <a:t>	</a:t>
            </a:r>
            <a:r>
              <a:rPr lang="en-US" altLang="zh-CN" sz="1400" dirty="0"/>
              <a:t>return 0;				</a:t>
            </a:r>
            <a:r>
              <a:rPr lang="en-US" altLang="zh-CN" sz="1400" dirty="0">
                <a:solidFill>
                  <a:srgbClr val="008000"/>
                </a:solidFill>
              </a:rPr>
              <a:t>//</a:t>
            </a:r>
            <a:r>
              <a:rPr lang="zh-CN" altLang="en-US" sz="1400" dirty="0">
                <a:solidFill>
                  <a:srgbClr val="008000"/>
                </a:solidFill>
              </a:rPr>
              <a:t>返回函数值为</a:t>
            </a:r>
            <a:r>
              <a:rPr lang="en-US" altLang="zh-CN" sz="1400" dirty="0">
                <a:solidFill>
                  <a:srgbClr val="008000"/>
                </a:solidFill>
              </a:rPr>
              <a:t>0</a:t>
            </a:r>
            <a:endParaRPr lang="en-US" altLang="zh-CN" sz="1400" dirty="0">
              <a:solidFill>
                <a:srgbClr val="008000"/>
              </a:solidFill>
            </a:endParaRPr>
          </a:p>
          <a:p>
            <a:pPr defTabSz="357505"/>
            <a:r>
              <a:rPr lang="en-US" altLang="zh-CN" sz="1400" dirty="0">
                <a:solidFill>
                  <a:srgbClr val="008000"/>
                </a:solidFill>
              </a:rPr>
              <a:t>}//</a:t>
            </a:r>
            <a:r>
              <a:rPr lang="zh-CN" altLang="en-US" sz="1400" dirty="0">
                <a:solidFill>
                  <a:srgbClr val="008000"/>
                </a:solidFill>
              </a:rPr>
              <a:t>主函数体结束</a:t>
            </a:r>
            <a:endParaRPr lang="zh-CN" altLang="en-US" sz="1400" dirty="0">
              <a:solidFill>
                <a:srgbClr val="008000"/>
              </a:solidFill>
            </a:endParaRPr>
          </a:p>
          <a:p>
            <a:endParaRPr lang="zh-CN" altLang="en-US" sz="1400" dirty="0"/>
          </a:p>
          <a:p>
            <a:pPr defTabSz="357505"/>
            <a:r>
              <a:rPr lang="en-US" altLang="zh-CN" sz="1400" dirty="0">
                <a:solidFill>
                  <a:srgbClr val="008000"/>
                </a:solidFill>
              </a:rPr>
              <a:t>//</a:t>
            </a:r>
            <a:r>
              <a:rPr lang="zh-CN" altLang="en-US" sz="1400" dirty="0">
                <a:solidFill>
                  <a:srgbClr val="008000"/>
                </a:solidFill>
              </a:rPr>
              <a:t>求两个整数中的较大者的</a:t>
            </a:r>
            <a:r>
              <a:rPr lang="en-US" altLang="zh-CN" sz="1400" dirty="0">
                <a:solidFill>
                  <a:srgbClr val="008000"/>
                </a:solidFill>
              </a:rPr>
              <a:t>max</a:t>
            </a:r>
            <a:r>
              <a:rPr lang="zh-CN" altLang="en-US" sz="1400" dirty="0">
                <a:solidFill>
                  <a:srgbClr val="008000"/>
                </a:solidFill>
              </a:rPr>
              <a:t>函数</a:t>
            </a:r>
            <a:endParaRPr lang="zh-CN" altLang="en-US" sz="1400" dirty="0">
              <a:solidFill>
                <a:srgbClr val="008000"/>
              </a:solidFill>
            </a:endParaRPr>
          </a:p>
          <a:p>
            <a:pPr defTabSz="357505"/>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r>
              <a:rPr lang="en-US" altLang="zh-CN" sz="1400" dirty="0">
                <a:solidFill>
                  <a:srgbClr val="008000"/>
                </a:solidFill>
              </a:rPr>
              <a:t>//</a:t>
            </a:r>
            <a:r>
              <a:rPr lang="zh-CN" altLang="en-US" sz="1400" dirty="0">
                <a:solidFill>
                  <a:srgbClr val="008000"/>
                </a:solidFill>
              </a:rPr>
              <a:t>定义</a:t>
            </a:r>
            <a:r>
              <a:rPr lang="en-US" altLang="zh-CN" sz="1400" dirty="0">
                <a:solidFill>
                  <a:srgbClr val="008000"/>
                </a:solidFill>
              </a:rPr>
              <a:t>max</a:t>
            </a:r>
            <a:r>
              <a:rPr lang="zh-CN" altLang="en-US" sz="1400" dirty="0">
                <a:solidFill>
                  <a:srgbClr val="008000"/>
                </a:solidFill>
              </a:rPr>
              <a:t>函数</a:t>
            </a:r>
            <a:r>
              <a:rPr lang="en-US" altLang="zh-CN" sz="1400" dirty="0">
                <a:solidFill>
                  <a:srgbClr val="008000"/>
                </a:solidFill>
              </a:rPr>
              <a:t>,</a:t>
            </a:r>
            <a:r>
              <a:rPr lang="zh-CN" altLang="en-US" sz="1400" dirty="0">
                <a:solidFill>
                  <a:srgbClr val="008000"/>
                </a:solidFill>
              </a:rPr>
              <a:t>函数值为整型</a:t>
            </a:r>
            <a:r>
              <a:rPr lang="en-US" altLang="zh-CN" sz="1400" dirty="0">
                <a:solidFill>
                  <a:srgbClr val="008000"/>
                </a:solidFill>
              </a:rPr>
              <a:t>, </a:t>
            </a:r>
            <a:r>
              <a:rPr lang="zh-CN" altLang="en-US" sz="1400" dirty="0">
                <a:solidFill>
                  <a:srgbClr val="008000"/>
                </a:solidFill>
              </a:rPr>
              <a:t>形式参数</a:t>
            </a:r>
            <a:r>
              <a:rPr lang="en-US" altLang="zh-CN" sz="1400" dirty="0">
                <a:solidFill>
                  <a:srgbClr val="008000"/>
                </a:solidFill>
              </a:rPr>
              <a:t>x</a:t>
            </a:r>
            <a:r>
              <a:rPr lang="zh-CN" altLang="en-US" sz="1400" dirty="0">
                <a:solidFill>
                  <a:srgbClr val="008000"/>
                </a:solidFill>
              </a:rPr>
              <a:t>和</a:t>
            </a:r>
            <a:r>
              <a:rPr lang="en-US" altLang="zh-CN" sz="1400" dirty="0">
                <a:solidFill>
                  <a:srgbClr val="008000"/>
                </a:solidFill>
              </a:rPr>
              <a:t>y</a:t>
            </a:r>
            <a:r>
              <a:rPr lang="zh-CN" altLang="en-US" sz="1400" dirty="0">
                <a:solidFill>
                  <a:srgbClr val="008000"/>
                </a:solidFill>
              </a:rPr>
              <a:t>为整型 </a:t>
            </a:r>
            <a:endParaRPr lang="zh-CN" altLang="en-US" sz="1400" dirty="0">
              <a:solidFill>
                <a:srgbClr val="008000"/>
              </a:solidFill>
            </a:endParaRPr>
          </a:p>
          <a:p>
            <a:r>
              <a:rPr lang="en-US" altLang="zh-CN" sz="1400" dirty="0"/>
              <a:t>{</a:t>
            </a:r>
            <a:endParaRPr lang="en-US" altLang="zh-CN" sz="1400" dirty="0"/>
          </a:p>
          <a:p>
            <a:pPr marL="0" lvl="1" defTabSz="357505"/>
            <a:r>
              <a:rPr lang="en-US" altLang="zh-CN" sz="1400"/>
              <a:t>	int </a:t>
            </a:r>
            <a:r>
              <a:rPr lang="en-US" altLang="zh-CN" sz="1400" dirty="0"/>
              <a:t>z;	</a:t>
            </a:r>
            <a:r>
              <a:rPr lang="en-US" altLang="zh-CN" sz="1400"/>
              <a:t>	</a:t>
            </a:r>
            <a:r>
              <a:rPr lang="en-US" altLang="zh-CN" sz="1400">
                <a:solidFill>
                  <a:srgbClr val="008000"/>
                </a:solidFill>
              </a:rPr>
              <a:t>//</a:t>
            </a:r>
            <a:r>
              <a:rPr lang="en-US" altLang="zh-CN" sz="1400" dirty="0">
                <a:solidFill>
                  <a:srgbClr val="008000"/>
                </a:solidFill>
              </a:rPr>
              <a:t>max</a:t>
            </a:r>
            <a:r>
              <a:rPr lang="zh-CN" altLang="en-US" sz="1400" dirty="0">
                <a:solidFill>
                  <a:srgbClr val="008000"/>
                </a:solidFill>
              </a:rPr>
              <a:t>函数中的声明部分，定义本函数中用到的变量</a:t>
            </a:r>
            <a:r>
              <a:rPr lang="en-US" altLang="zh-CN" sz="1400" dirty="0">
                <a:solidFill>
                  <a:srgbClr val="008000"/>
                </a:solidFill>
              </a:rPr>
              <a:t>z</a:t>
            </a:r>
            <a:r>
              <a:rPr lang="zh-CN" altLang="en-US" sz="1400" dirty="0">
                <a:solidFill>
                  <a:srgbClr val="008000"/>
                </a:solidFill>
              </a:rPr>
              <a:t>为整型</a:t>
            </a:r>
            <a:endParaRPr lang="en-US" altLang="zh-CN" sz="1400" dirty="0">
              <a:solidFill>
                <a:srgbClr val="008000"/>
              </a:solidFill>
            </a:endParaRPr>
          </a:p>
          <a:p>
            <a:pPr marL="0" lvl="1" defTabSz="357505"/>
            <a:r>
              <a:rPr lang="en-US" altLang="zh-CN" sz="1400"/>
              <a:t>	if(x&gt;y) z=x</a:t>
            </a:r>
            <a:r>
              <a:rPr lang="en-US" altLang="zh-CN" sz="1400" dirty="0"/>
              <a:t>;</a:t>
            </a:r>
            <a:r>
              <a:rPr lang="en-US" altLang="zh-CN" sz="1400"/>
              <a:t>	</a:t>
            </a:r>
            <a:r>
              <a:rPr lang="en-US" altLang="zh-CN" sz="1400">
                <a:solidFill>
                  <a:srgbClr val="008000"/>
                </a:solidFill>
              </a:rPr>
              <a:t>//</a:t>
            </a:r>
            <a:r>
              <a:rPr lang="zh-CN" altLang="en-US" sz="1400" dirty="0">
                <a:solidFill>
                  <a:srgbClr val="008000"/>
                </a:solidFill>
              </a:rPr>
              <a:t>若</a:t>
            </a:r>
            <a:r>
              <a:rPr lang="en-US" altLang="zh-CN" sz="1400" dirty="0">
                <a:solidFill>
                  <a:srgbClr val="008000"/>
                </a:solidFill>
              </a:rPr>
              <a:t>x&gt;y</a:t>
            </a:r>
            <a:r>
              <a:rPr lang="zh-CN" altLang="en-US" sz="1400" dirty="0">
                <a:solidFill>
                  <a:srgbClr val="008000"/>
                </a:solidFill>
              </a:rPr>
              <a:t>成立，将</a:t>
            </a:r>
            <a:r>
              <a:rPr lang="en-US" altLang="zh-CN" sz="1400" dirty="0">
                <a:solidFill>
                  <a:srgbClr val="008000"/>
                </a:solidFill>
              </a:rPr>
              <a:t>x</a:t>
            </a:r>
            <a:r>
              <a:rPr lang="zh-CN" altLang="en-US" sz="1400" dirty="0">
                <a:solidFill>
                  <a:srgbClr val="008000"/>
                </a:solidFill>
              </a:rPr>
              <a:t>的值赋给变量</a:t>
            </a:r>
            <a:r>
              <a:rPr lang="en-US" altLang="zh-CN" sz="1400" dirty="0">
                <a:solidFill>
                  <a:srgbClr val="008000"/>
                </a:solidFill>
              </a:rPr>
              <a:t>z</a:t>
            </a:r>
            <a:endParaRPr lang="en-US" altLang="zh-CN" sz="1400" dirty="0">
              <a:solidFill>
                <a:srgbClr val="008000"/>
              </a:solidFill>
            </a:endParaRPr>
          </a:p>
          <a:p>
            <a:pPr marL="0" lvl="1" defTabSz="357505"/>
            <a:r>
              <a:rPr lang="en-US" altLang="zh-CN" sz="1400"/>
              <a:t>	else </a:t>
            </a:r>
            <a:r>
              <a:rPr lang="en-US" altLang="zh-CN" sz="1400" dirty="0"/>
              <a:t>z=y;	</a:t>
            </a:r>
            <a:r>
              <a:rPr lang="en-US" altLang="zh-CN" sz="1400"/>
              <a:t>	</a:t>
            </a:r>
            <a:r>
              <a:rPr lang="en-US" altLang="zh-CN" sz="1400">
                <a:solidFill>
                  <a:srgbClr val="008000"/>
                </a:solidFill>
              </a:rPr>
              <a:t>//</a:t>
            </a:r>
            <a:r>
              <a:rPr lang="zh-CN" altLang="en-US" sz="1400" dirty="0">
                <a:solidFill>
                  <a:srgbClr val="008000"/>
                </a:solidFill>
              </a:rPr>
              <a:t>否则</a:t>
            </a:r>
            <a:r>
              <a:rPr lang="en-US" altLang="zh-CN" sz="1400" dirty="0">
                <a:solidFill>
                  <a:srgbClr val="008000"/>
                </a:solidFill>
              </a:rPr>
              <a:t>(</a:t>
            </a:r>
            <a:r>
              <a:rPr lang="zh-CN" altLang="en-US" sz="1400" dirty="0">
                <a:solidFill>
                  <a:srgbClr val="008000"/>
                </a:solidFill>
              </a:rPr>
              <a:t>即</a:t>
            </a:r>
            <a:r>
              <a:rPr lang="en-US" altLang="zh-CN" sz="1400" dirty="0">
                <a:solidFill>
                  <a:srgbClr val="008000"/>
                </a:solidFill>
              </a:rPr>
              <a:t>x&gt;y</a:t>
            </a:r>
            <a:r>
              <a:rPr lang="zh-CN" altLang="en-US" sz="1400" dirty="0">
                <a:solidFill>
                  <a:srgbClr val="008000"/>
                </a:solidFill>
              </a:rPr>
              <a:t>不成立</a:t>
            </a:r>
            <a:r>
              <a:rPr lang="en-US" altLang="zh-CN" sz="1400" dirty="0">
                <a:solidFill>
                  <a:srgbClr val="008000"/>
                </a:solidFill>
              </a:rPr>
              <a:t>)</a:t>
            </a:r>
            <a:r>
              <a:rPr lang="zh-CN" altLang="en-US" sz="1400" dirty="0">
                <a:solidFill>
                  <a:srgbClr val="008000"/>
                </a:solidFill>
              </a:rPr>
              <a:t>，将</a:t>
            </a:r>
            <a:r>
              <a:rPr lang="en-US" altLang="zh-CN" sz="1400" dirty="0">
                <a:solidFill>
                  <a:srgbClr val="008000"/>
                </a:solidFill>
              </a:rPr>
              <a:t>y</a:t>
            </a:r>
            <a:r>
              <a:rPr lang="zh-CN" altLang="en-US" sz="1400" dirty="0">
                <a:solidFill>
                  <a:srgbClr val="008000"/>
                </a:solidFill>
              </a:rPr>
              <a:t>的值赋给变量</a:t>
            </a:r>
            <a:r>
              <a:rPr lang="en-US" altLang="zh-CN" sz="1400" dirty="0">
                <a:solidFill>
                  <a:srgbClr val="008000"/>
                </a:solidFill>
              </a:rPr>
              <a:t>z</a:t>
            </a:r>
            <a:endParaRPr lang="en-US" altLang="zh-CN" sz="1400" dirty="0">
              <a:solidFill>
                <a:srgbClr val="008000"/>
              </a:solidFill>
            </a:endParaRPr>
          </a:p>
          <a:p>
            <a:pPr marL="0" lvl="1" defTabSz="357505"/>
            <a:r>
              <a:rPr lang="en-US" altLang="zh-CN" sz="1400"/>
              <a:t>	return(z</a:t>
            </a:r>
            <a:r>
              <a:rPr lang="en-US" altLang="zh-CN" sz="1400" dirty="0"/>
              <a:t>); </a:t>
            </a:r>
            <a:r>
              <a:rPr lang="en-US" altLang="zh-CN" sz="1400"/>
              <a:t>	</a:t>
            </a:r>
            <a:r>
              <a:rPr lang="en-US" altLang="zh-CN" sz="1400">
                <a:solidFill>
                  <a:srgbClr val="008000"/>
                </a:solidFill>
              </a:rPr>
              <a:t>//</a:t>
            </a:r>
            <a:r>
              <a:rPr lang="zh-CN" altLang="en-US" sz="1400" dirty="0">
                <a:solidFill>
                  <a:srgbClr val="008000"/>
                </a:solidFill>
              </a:rPr>
              <a:t>将</a:t>
            </a:r>
            <a:r>
              <a:rPr lang="en-US" altLang="zh-CN" sz="1400" dirty="0">
                <a:solidFill>
                  <a:srgbClr val="008000"/>
                </a:solidFill>
              </a:rPr>
              <a:t>z</a:t>
            </a:r>
            <a:r>
              <a:rPr lang="zh-CN" altLang="en-US" sz="1400" dirty="0">
                <a:solidFill>
                  <a:srgbClr val="008000"/>
                </a:solidFill>
              </a:rPr>
              <a:t>的值作为</a:t>
            </a:r>
            <a:r>
              <a:rPr lang="en-US" altLang="zh-CN" sz="1400" dirty="0">
                <a:solidFill>
                  <a:srgbClr val="008000"/>
                </a:solidFill>
              </a:rPr>
              <a:t>max</a:t>
            </a:r>
            <a:r>
              <a:rPr lang="zh-CN" altLang="en-US" sz="1400" dirty="0">
                <a:solidFill>
                  <a:srgbClr val="008000"/>
                </a:solidFill>
              </a:rPr>
              <a:t>函数值，返回到调用</a:t>
            </a:r>
            <a:r>
              <a:rPr lang="en-US" altLang="zh-CN" sz="1400" dirty="0">
                <a:solidFill>
                  <a:srgbClr val="008000"/>
                </a:solidFill>
              </a:rPr>
              <a:t>max</a:t>
            </a:r>
            <a:r>
              <a:rPr lang="zh-CN" altLang="en-US" sz="1400" dirty="0">
                <a:solidFill>
                  <a:srgbClr val="008000"/>
                </a:solidFill>
              </a:rPr>
              <a:t>函数的位置</a:t>
            </a:r>
            <a:endParaRPr lang="zh-CN" altLang="en-US" sz="1400" dirty="0">
              <a:solidFill>
                <a:srgbClr val="008000"/>
              </a:solidFill>
            </a:endParaRPr>
          </a:p>
          <a:p>
            <a:r>
              <a:rPr lang="en-US" altLang="zh-CN" sz="1400" dirty="0"/>
              <a:t>}</a:t>
            </a:r>
            <a:endParaRPr lang="zh-CN" altLang="en-US" sz="1400" dirty="0">
              <a:solidFill>
                <a:srgbClr val="008000"/>
              </a:solidFill>
            </a:endParaRPr>
          </a:p>
        </p:txBody>
      </p:sp>
      <p:sp>
        <p:nvSpPr>
          <p:cNvPr id="14" name="矩形 13"/>
          <p:cNvSpPr/>
          <p:nvPr/>
        </p:nvSpPr>
        <p:spPr>
          <a:xfrm>
            <a:off x="7689575" y="1855132"/>
            <a:ext cx="3978964" cy="4062651"/>
          </a:xfrm>
          <a:prstGeom prst="rect">
            <a:avLst/>
          </a:prstGeom>
        </p:spPr>
        <p:style>
          <a:lnRef idx="1">
            <a:schemeClr val="accent6"/>
          </a:lnRef>
          <a:fillRef idx="3">
            <a:schemeClr val="accent6"/>
          </a:fillRef>
          <a:effectRef idx="2">
            <a:schemeClr val="accent6"/>
          </a:effectRef>
          <a:fontRef idx="minor">
            <a:schemeClr val="lt1"/>
          </a:fontRef>
        </p:style>
        <p:txBody>
          <a:bodyPr wrap="square">
            <a:spAutoFit/>
          </a:bodyPr>
          <a:lstStyle/>
          <a:p>
            <a:pPr>
              <a:spcBef>
                <a:spcPts val="1200"/>
              </a:spcBef>
              <a:spcAft>
                <a:spcPts val="1200"/>
              </a:spcAft>
            </a:pPr>
            <a:r>
              <a:rPr lang="zh-CN" altLang="en-US" dirty="0"/>
              <a:t>注意：本例程序中两个函数都有</a:t>
            </a:r>
            <a:r>
              <a:rPr lang="en-US" altLang="zh-CN" dirty="0"/>
              <a:t>return</a:t>
            </a:r>
            <a:r>
              <a:rPr lang="zh-CN" altLang="en-US" dirty="0"/>
              <a:t>语句，请注意它们的异同。</a:t>
            </a:r>
            <a:endParaRPr lang="en-US" altLang="zh-CN" dirty="0"/>
          </a:p>
          <a:p>
            <a:pPr>
              <a:spcBef>
                <a:spcPts val="1200"/>
              </a:spcBef>
              <a:spcAft>
                <a:spcPts val="1200"/>
              </a:spcAft>
            </a:pPr>
            <a:r>
              <a:rPr lang="zh-CN" altLang="en-US" dirty="0"/>
              <a:t>两个函数都定义为整型，都有函数值，都需要用</a:t>
            </a:r>
            <a:r>
              <a:rPr lang="en-US" altLang="zh-CN" dirty="0"/>
              <a:t>return</a:t>
            </a:r>
            <a:r>
              <a:rPr lang="zh-CN" altLang="en-US" dirty="0"/>
              <a:t>语句为函数指定返回值。</a:t>
            </a:r>
            <a:endParaRPr lang="en-US" altLang="zh-CN" dirty="0"/>
          </a:p>
          <a:p>
            <a:pPr>
              <a:spcBef>
                <a:spcPts val="1200"/>
              </a:spcBef>
              <a:spcAft>
                <a:spcPts val="1200"/>
              </a:spcAft>
            </a:pPr>
            <a:r>
              <a:rPr lang="en-US" altLang="zh-CN" dirty="0"/>
              <a:t>main</a:t>
            </a:r>
            <a:r>
              <a:rPr lang="zh-CN" altLang="en-US" dirty="0"/>
              <a:t>函数中的</a:t>
            </a:r>
            <a:r>
              <a:rPr lang="en-US" altLang="zh-CN" dirty="0"/>
              <a:t>return</a:t>
            </a:r>
            <a:r>
              <a:rPr lang="zh-CN" altLang="en-US" dirty="0"/>
              <a:t>语句指定的返回值一般为</a:t>
            </a:r>
            <a:r>
              <a:rPr lang="en-US" altLang="zh-CN" dirty="0"/>
              <a:t>0</a:t>
            </a:r>
            <a:r>
              <a:rPr lang="zh-CN" altLang="en-US" dirty="0"/>
              <a:t>。</a:t>
            </a:r>
            <a:endParaRPr lang="en-US" altLang="zh-CN" dirty="0"/>
          </a:p>
          <a:p>
            <a:pPr>
              <a:spcBef>
                <a:spcPts val="1200"/>
              </a:spcBef>
              <a:spcAft>
                <a:spcPts val="1200"/>
              </a:spcAft>
            </a:pPr>
            <a:r>
              <a:rPr lang="en-US" altLang="zh-CN" dirty="0"/>
              <a:t>max</a:t>
            </a:r>
            <a:r>
              <a:rPr lang="zh-CN" altLang="en-US" dirty="0"/>
              <a:t>函数的返回值是</a:t>
            </a:r>
            <a:r>
              <a:rPr lang="en-US" altLang="zh-CN" dirty="0"/>
              <a:t>max</a:t>
            </a:r>
            <a:r>
              <a:rPr lang="zh-CN" altLang="en-US" dirty="0"/>
              <a:t>函数中求出的两数中的最大值</a:t>
            </a:r>
            <a:r>
              <a:rPr lang="en-US" altLang="zh-CN" dirty="0"/>
              <a:t>z</a:t>
            </a:r>
            <a:r>
              <a:rPr lang="zh-CN" altLang="en-US" dirty="0"/>
              <a:t>，只有通过</a:t>
            </a:r>
            <a:r>
              <a:rPr lang="en-US" altLang="zh-CN" dirty="0"/>
              <a:t>return</a:t>
            </a:r>
            <a:r>
              <a:rPr lang="zh-CN" altLang="en-US" dirty="0"/>
              <a:t>语句才能把求出的</a:t>
            </a:r>
            <a:r>
              <a:rPr lang="en-US" altLang="zh-CN" dirty="0"/>
              <a:t>z</a:t>
            </a:r>
            <a:r>
              <a:rPr lang="zh-CN" altLang="en-US" dirty="0"/>
              <a:t>值作为函数的值并返回调用它的</a:t>
            </a:r>
            <a:r>
              <a:rPr lang="en-US" altLang="zh-CN" dirty="0"/>
              <a:t>main</a:t>
            </a:r>
            <a:r>
              <a:rPr lang="zh-CN" altLang="en-US" dirty="0"/>
              <a:t>函数中。</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lt">
                                    <p:tmPct val="8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50" presetClass="entr" presetSubtype="0" decel="10000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000" fill="hold"/>
                                        <p:tgtEl>
                                          <p:spTgt spid="14"/>
                                        </p:tgtEl>
                                        <p:attrNameLst>
                                          <p:attrName>ppt_w</p:attrName>
                                        </p:attrNameLst>
                                      </p:cBhvr>
                                      <p:tavLst>
                                        <p:tav tm="0">
                                          <p:val>
                                            <p:strVal val="#ppt_w+.3"/>
                                          </p:val>
                                        </p:tav>
                                        <p:tav tm="100000">
                                          <p:val>
                                            <p:strVal val="#ppt_w"/>
                                          </p:val>
                                        </p:tav>
                                      </p:tavLst>
                                    </p:anim>
                                    <p:anim calcmode="lin" valueType="num">
                                      <p:cBhvr>
                                        <p:cTn id="18" dur="1000" fill="hold"/>
                                        <p:tgtEl>
                                          <p:spTgt spid="14"/>
                                        </p:tgtEl>
                                        <p:attrNameLst>
                                          <p:attrName>ppt_h</p:attrName>
                                        </p:attrNameLst>
                                      </p:cBhvr>
                                      <p:tavLst>
                                        <p:tav tm="0">
                                          <p:val>
                                            <p:strVal val="#ppt_h"/>
                                          </p:val>
                                        </p:tav>
                                        <p:tav tm="100000">
                                          <p:val>
                                            <p:strVal val="#ppt_h"/>
                                          </p:val>
                                        </p:tav>
                                      </p:tavLst>
                                    </p:anim>
                                    <p:animEffect transition="in" filter="fade">
                                      <p:cBhvr>
                                        <p:cTn id="19"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语言程序的结构</a:t>
            </a:r>
            <a:endParaRPr lang="zh-CN" altLang="en-US" dirty="0"/>
          </a:p>
        </p:txBody>
      </p:sp>
      <p:sp>
        <p:nvSpPr>
          <p:cNvPr id="3" name="内容占位符 2"/>
          <p:cNvSpPr>
            <a:spLocks noGrp="1"/>
          </p:cNvSpPr>
          <p:nvPr>
            <p:ph idx="1"/>
          </p:nvPr>
        </p:nvSpPr>
        <p:spPr>
          <a:xfrm>
            <a:off x="907775" y="1567208"/>
            <a:ext cx="6546573" cy="4992618"/>
          </a:xfrm>
        </p:spPr>
        <p:txBody>
          <a:bodyPr>
            <a:normAutofit lnSpcReduction="10000"/>
          </a:bodyPr>
          <a:lstStyle/>
          <a:p>
            <a:pPr marL="342900" indent="-342900">
              <a:lnSpc>
                <a:spcPct val="110000"/>
              </a:lnSpc>
              <a:buFont typeface="+mj-lt"/>
              <a:buAutoNum type="arabicPeriod"/>
            </a:pPr>
            <a:r>
              <a:rPr lang="zh-CN" altLang="en-US" sz="1800" dirty="0"/>
              <a:t>一个程序由一个或多个源程序文件组成</a:t>
            </a:r>
            <a:endParaRPr lang="en-US" altLang="zh-CN" sz="1800" dirty="0"/>
          </a:p>
          <a:p>
            <a:pPr lvl="1">
              <a:lnSpc>
                <a:spcPct val="110000"/>
              </a:lnSpc>
            </a:pPr>
            <a:r>
              <a:rPr lang="zh-CN" altLang="en-US" sz="1600" dirty="0"/>
              <a:t>源程序文件包括：预处理指令、全局声明、函数定义</a:t>
            </a:r>
            <a:endParaRPr lang="en-US" altLang="zh-CN" sz="1600" dirty="0"/>
          </a:p>
          <a:p>
            <a:pPr marL="342900" indent="-342900">
              <a:lnSpc>
                <a:spcPct val="110000"/>
              </a:lnSpc>
              <a:buFont typeface="+mj-lt"/>
              <a:buAutoNum type="arabicPeriod"/>
            </a:pPr>
            <a:r>
              <a:rPr lang="zh-CN" altLang="en-US" sz="1800"/>
              <a:t>函数是</a:t>
            </a:r>
            <a:r>
              <a:rPr lang="en-US" altLang="zh-CN" sz="1800"/>
              <a:t>C</a:t>
            </a:r>
            <a:r>
              <a:rPr lang="zh-CN" altLang="en-US" sz="1800" dirty="0"/>
              <a:t>程序的主要组成部分</a:t>
            </a:r>
            <a:endParaRPr lang="en-US" altLang="zh-CN" sz="1800" dirty="0"/>
          </a:p>
          <a:p>
            <a:pPr lvl="1">
              <a:lnSpc>
                <a:spcPct val="110000"/>
              </a:lnSpc>
            </a:pPr>
            <a:r>
              <a:rPr lang="zh-CN" altLang="en-US" sz="1600" dirty="0"/>
              <a:t>一个</a:t>
            </a:r>
            <a:r>
              <a:rPr lang="en-US" altLang="zh-CN" sz="1600" dirty="0"/>
              <a:t>C</a:t>
            </a:r>
            <a:r>
              <a:rPr lang="zh-CN" altLang="en-US" sz="1600" dirty="0"/>
              <a:t>语言程序是由一个或多个函数组成的，其中必须包含唯一一个</a:t>
            </a:r>
            <a:r>
              <a:rPr lang="en-US" altLang="zh-CN" sz="1600" dirty="0"/>
              <a:t>main</a:t>
            </a:r>
            <a:r>
              <a:rPr lang="zh-CN" altLang="en-US" sz="1600" dirty="0"/>
              <a:t>函数</a:t>
            </a:r>
            <a:endParaRPr lang="en-US" altLang="zh-CN" sz="1600" dirty="0"/>
          </a:p>
          <a:p>
            <a:pPr lvl="1">
              <a:lnSpc>
                <a:spcPct val="110000"/>
              </a:lnSpc>
            </a:pPr>
            <a:r>
              <a:rPr lang="zh-CN" altLang="en-US" sz="1600" dirty="0"/>
              <a:t>程序中被调用的函数可以是系统提供的库函数，也可以是用户根据需要自己编制设计的函数</a:t>
            </a:r>
            <a:endParaRPr lang="en-US" altLang="zh-CN" sz="1600" dirty="0"/>
          </a:p>
          <a:p>
            <a:pPr marL="342900" indent="-342900">
              <a:lnSpc>
                <a:spcPct val="110000"/>
              </a:lnSpc>
              <a:buFont typeface="+mj-lt"/>
              <a:buAutoNum type="arabicPeriod"/>
            </a:pPr>
            <a:r>
              <a:rPr lang="zh-CN" altLang="en-US" sz="1800" dirty="0"/>
              <a:t>一个函数包括两个部分：函数首部和函数体，函数体一般包括声明部分和执行部分</a:t>
            </a:r>
            <a:endParaRPr lang="en-US" altLang="zh-CN" sz="1800" dirty="0"/>
          </a:p>
          <a:p>
            <a:pPr marL="342900" indent="-342900">
              <a:lnSpc>
                <a:spcPct val="110000"/>
              </a:lnSpc>
              <a:buFont typeface="+mj-lt"/>
              <a:buAutoNum type="arabicPeriod"/>
            </a:pPr>
            <a:r>
              <a:rPr lang="zh-CN" altLang="en-US" sz="1800" dirty="0"/>
              <a:t>程序总是从</a:t>
            </a:r>
            <a:r>
              <a:rPr lang="en-US" altLang="zh-CN" sz="1800" dirty="0"/>
              <a:t>main</a:t>
            </a:r>
            <a:r>
              <a:rPr lang="zh-CN" altLang="en-US" sz="1800" dirty="0"/>
              <a:t>函数开始执行</a:t>
            </a:r>
            <a:endParaRPr lang="en-US" altLang="zh-CN" sz="1800" dirty="0"/>
          </a:p>
          <a:p>
            <a:pPr marL="342900" indent="-342900">
              <a:lnSpc>
                <a:spcPct val="110000"/>
              </a:lnSpc>
              <a:buFont typeface="+mj-lt"/>
              <a:buAutoNum type="arabicPeriod"/>
            </a:pPr>
            <a:r>
              <a:rPr lang="zh-CN" altLang="en-US" sz="1800" dirty="0"/>
              <a:t>程序中的操作是由函数中的</a:t>
            </a:r>
            <a:r>
              <a:rPr lang="en-US" altLang="zh-CN" sz="1800" dirty="0"/>
              <a:t>C</a:t>
            </a:r>
            <a:r>
              <a:rPr lang="zh-CN" altLang="en-US" sz="1800" dirty="0"/>
              <a:t>语句完成的</a:t>
            </a:r>
            <a:endParaRPr lang="en-US" altLang="zh-CN" sz="1800" dirty="0"/>
          </a:p>
          <a:p>
            <a:pPr marL="342900" indent="-342900">
              <a:lnSpc>
                <a:spcPct val="110000"/>
              </a:lnSpc>
              <a:buFont typeface="+mj-lt"/>
              <a:buAutoNum type="arabicPeriod"/>
            </a:pPr>
            <a:r>
              <a:rPr lang="zh-CN" altLang="en-US" sz="1800" dirty="0"/>
              <a:t>在每个数据声明和语句的最后必须有一个分号</a:t>
            </a:r>
            <a:endParaRPr lang="en-US" altLang="zh-CN" sz="1800" dirty="0"/>
          </a:p>
          <a:p>
            <a:pPr marL="342900" indent="-342900">
              <a:lnSpc>
                <a:spcPct val="110000"/>
              </a:lnSpc>
              <a:buFont typeface="+mj-lt"/>
              <a:buAutoNum type="arabicPeriod"/>
            </a:pPr>
            <a:r>
              <a:rPr lang="en-US" altLang="zh-CN" sz="1800" dirty="0"/>
              <a:t>C</a:t>
            </a:r>
            <a:r>
              <a:rPr lang="zh-CN" altLang="en-US" sz="1800" dirty="0"/>
              <a:t>语言本身不提供输入输出语句，输入输出操作由函数完成</a:t>
            </a:r>
            <a:endParaRPr lang="en-US" altLang="zh-CN" sz="1800" dirty="0"/>
          </a:p>
          <a:p>
            <a:pPr marL="342900" indent="-342900">
              <a:lnSpc>
                <a:spcPct val="110000"/>
              </a:lnSpc>
              <a:buFont typeface="+mj-lt"/>
              <a:buAutoNum type="arabicPeriod"/>
            </a:pPr>
            <a:r>
              <a:rPr lang="zh-CN" altLang="en-US" sz="1800" dirty="0"/>
              <a:t>程序应当包含注释</a:t>
            </a:r>
            <a:endParaRPr lang="zh-CN" altLang="en-US" sz="1800" dirty="0"/>
          </a:p>
        </p:txBody>
      </p:sp>
      <p:sp>
        <p:nvSpPr>
          <p:cNvPr id="4" name="圆角矩形 3"/>
          <p:cNvSpPr/>
          <p:nvPr/>
        </p:nvSpPr>
        <p:spPr>
          <a:xfrm>
            <a:off x="7832036" y="1565321"/>
            <a:ext cx="3349487" cy="4568711"/>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1400" dirty="0"/>
              <a:t>#include &lt;</a:t>
            </a:r>
            <a:r>
              <a:rPr lang="en-US" altLang="zh-CN" sz="1400" dirty="0" err="1"/>
              <a:t>stdio.h</a:t>
            </a:r>
            <a:r>
              <a:rPr lang="en-US" altLang="zh-CN" sz="1400" dirty="0"/>
              <a:t>&gt;</a:t>
            </a:r>
            <a:endParaRPr lang="en-US" altLang="zh-CN" sz="1400" dirty="0"/>
          </a:p>
          <a:p>
            <a:endParaRPr lang="en-US" altLang="zh-CN" sz="1400" dirty="0"/>
          </a:p>
          <a:p>
            <a:pPr defTabSz="357505"/>
            <a:r>
              <a:rPr lang="en-US" altLang="zh-CN" sz="1400" dirty="0" err="1"/>
              <a:t>int</a:t>
            </a:r>
            <a:r>
              <a:rPr lang="en-US" altLang="zh-CN" sz="1400" dirty="0"/>
              <a:t> main()</a:t>
            </a:r>
            <a:endParaRPr lang="en-US" altLang="zh-CN" sz="1400" dirty="0"/>
          </a:p>
          <a:p>
            <a:pPr defTabSz="357505"/>
            <a:r>
              <a:rPr lang="en-US" altLang="zh-CN" sz="1400" dirty="0"/>
              <a:t> {	</a:t>
            </a:r>
            <a:endParaRPr lang="en-US" altLang="zh-CN" sz="1400" dirty="0"/>
          </a:p>
          <a:p>
            <a:pPr defTabSz="357505"/>
            <a:r>
              <a:rPr lang="zh-CN" altLang="en-US" sz="1400" dirty="0"/>
              <a:t>	</a:t>
            </a:r>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endParaRPr lang="en-US" altLang="zh-CN" sz="1400" dirty="0">
              <a:solidFill>
                <a:srgbClr val="008000"/>
              </a:solidFill>
            </a:endParaRPr>
          </a:p>
          <a:p>
            <a:pPr defTabSz="357505"/>
            <a:r>
              <a:rPr lang="zh-CN" altLang="en-US" sz="1400" dirty="0"/>
              <a:t>	</a:t>
            </a:r>
            <a:r>
              <a:rPr lang="en-US" altLang="zh-CN" sz="1400" dirty="0" err="1"/>
              <a:t>int</a:t>
            </a:r>
            <a:r>
              <a:rPr lang="en-US" altLang="zh-CN" sz="1400" dirty="0"/>
              <a:t> </a:t>
            </a:r>
            <a:r>
              <a:rPr lang="en-US" altLang="zh-CN" sz="1400" dirty="0" err="1"/>
              <a:t>a,b,c</a:t>
            </a:r>
            <a:r>
              <a:rPr lang="en-US" altLang="zh-CN" sz="1400" dirty="0"/>
              <a:t>;</a:t>
            </a:r>
            <a:endParaRPr lang="en-US" altLang="zh-CN" sz="1400" dirty="0">
              <a:solidFill>
                <a:srgbClr val="008000"/>
              </a:solidFill>
            </a:endParaRPr>
          </a:p>
          <a:p>
            <a:pPr defTabSz="357505"/>
            <a:r>
              <a:rPr lang="en-US" altLang="zh-CN" sz="1400" dirty="0"/>
              <a:t>	</a:t>
            </a:r>
            <a:r>
              <a:rPr lang="en-US" altLang="zh-CN" sz="1400" dirty="0" err="1"/>
              <a:t>scanf</a:t>
            </a:r>
            <a:r>
              <a:rPr lang="en-US" altLang="zh-CN" sz="1400" dirty="0"/>
              <a:t>(</a:t>
            </a:r>
            <a:r>
              <a:rPr lang="en-US" altLang="zh-CN" dirty="0"/>
              <a:t>"</a:t>
            </a:r>
            <a:r>
              <a:rPr lang="en-US" altLang="zh-CN" sz="1400" dirty="0"/>
              <a:t>%</a:t>
            </a:r>
            <a:r>
              <a:rPr lang="en-US" altLang="zh-CN" sz="1400" dirty="0" err="1"/>
              <a:t>d,%d</a:t>
            </a:r>
            <a:r>
              <a:rPr lang="en-US" altLang="zh-CN" dirty="0" err="1"/>
              <a:t>"</a:t>
            </a:r>
            <a:r>
              <a:rPr lang="en-US" altLang="zh-CN" sz="1400" dirty="0" err="1"/>
              <a:t>,&amp;a,&amp;b</a:t>
            </a:r>
            <a:r>
              <a:rPr lang="en-US" altLang="zh-CN" sz="1400" dirty="0"/>
              <a:t>); </a:t>
            </a:r>
            <a:endParaRPr lang="en-US" altLang="zh-CN" sz="1400" dirty="0">
              <a:solidFill>
                <a:srgbClr val="008000"/>
              </a:solidFill>
            </a:endParaRPr>
          </a:p>
          <a:p>
            <a:pPr defTabSz="357505"/>
            <a:r>
              <a:rPr lang="zh-CN" altLang="en-US" sz="1400" dirty="0"/>
              <a:t>	</a:t>
            </a:r>
            <a:r>
              <a:rPr lang="en-US" altLang="zh-CN" sz="1400" dirty="0"/>
              <a:t>c=max(</a:t>
            </a:r>
            <a:r>
              <a:rPr lang="en-US" altLang="zh-CN" sz="1400" dirty="0" err="1"/>
              <a:t>a,b</a:t>
            </a:r>
            <a:r>
              <a:rPr lang="en-US" altLang="zh-CN" sz="1400" dirty="0"/>
              <a:t>);</a:t>
            </a:r>
            <a:endParaRPr lang="en-US" altLang="zh-CN" sz="1400" dirty="0"/>
          </a:p>
          <a:p>
            <a:pPr defTabSz="357505"/>
            <a:r>
              <a:rPr lang="en-US" altLang="zh-CN" sz="1400" dirty="0"/>
              <a:t> 	</a:t>
            </a:r>
            <a:r>
              <a:rPr lang="en-US" altLang="zh-CN" sz="1400" dirty="0" err="1"/>
              <a:t>printf</a:t>
            </a:r>
            <a:r>
              <a:rPr lang="en-US" altLang="zh-CN" sz="1400" dirty="0"/>
              <a:t>(</a:t>
            </a:r>
            <a:r>
              <a:rPr lang="en-US" altLang="zh-CN" dirty="0"/>
              <a:t>"</a:t>
            </a:r>
            <a:r>
              <a:rPr lang="en-US" altLang="zh-CN" sz="1400" dirty="0"/>
              <a:t>max=%d\</a:t>
            </a:r>
            <a:r>
              <a:rPr lang="en-US" altLang="zh-CN" sz="1400" dirty="0" err="1"/>
              <a:t>n</a:t>
            </a:r>
            <a:r>
              <a:rPr lang="en-US" altLang="zh-CN" dirty="0" err="1"/>
              <a:t>"</a:t>
            </a:r>
            <a:r>
              <a:rPr lang="en-US" altLang="zh-CN" sz="1400" dirty="0" err="1"/>
              <a:t>,c</a:t>
            </a:r>
            <a:r>
              <a:rPr lang="en-US" altLang="zh-CN" sz="1400" dirty="0"/>
              <a:t>); </a:t>
            </a:r>
            <a:endParaRPr lang="en-US" altLang="zh-CN" sz="1400" dirty="0"/>
          </a:p>
          <a:p>
            <a:pPr defTabSz="357505"/>
            <a:r>
              <a:rPr lang="zh-CN" altLang="en-US" sz="1400" dirty="0"/>
              <a:t>	</a:t>
            </a:r>
            <a:r>
              <a:rPr lang="en-US" altLang="zh-CN" sz="1400" dirty="0"/>
              <a:t>return 0;	</a:t>
            </a:r>
            <a:endParaRPr lang="en-US" altLang="zh-CN" sz="1400" dirty="0"/>
          </a:p>
          <a:p>
            <a:pPr defTabSz="357505"/>
            <a:r>
              <a:rPr lang="en-US" altLang="zh-CN" sz="1400" dirty="0"/>
              <a:t>}</a:t>
            </a:r>
            <a:endParaRPr lang="en-US" altLang="zh-CN" sz="1400" dirty="0"/>
          </a:p>
          <a:p>
            <a:pPr defTabSz="357505"/>
            <a:endParaRPr lang="zh-CN" altLang="en-US" sz="1400" dirty="0"/>
          </a:p>
          <a:p>
            <a:pPr defTabSz="357505"/>
            <a:r>
              <a:rPr lang="en-US" altLang="zh-CN" sz="1400" dirty="0" err="1"/>
              <a:t>int</a:t>
            </a:r>
            <a:r>
              <a:rPr lang="en-US" altLang="zh-CN" sz="1400" dirty="0"/>
              <a:t> max(</a:t>
            </a:r>
            <a:r>
              <a:rPr lang="en-US" altLang="zh-CN" sz="1400" dirty="0" err="1"/>
              <a:t>int</a:t>
            </a:r>
            <a:r>
              <a:rPr lang="en-US" altLang="zh-CN" sz="1400" dirty="0"/>
              <a:t> </a:t>
            </a:r>
            <a:r>
              <a:rPr lang="en-US" altLang="zh-CN" sz="1400" dirty="0" err="1"/>
              <a:t>x,int</a:t>
            </a:r>
            <a:r>
              <a:rPr lang="en-US" altLang="zh-CN" sz="1400" dirty="0"/>
              <a:t> y)	</a:t>
            </a:r>
            <a:endParaRPr lang="en-US" altLang="zh-CN" sz="1400" dirty="0"/>
          </a:p>
          <a:p>
            <a:pPr defTabSz="357505"/>
            <a:r>
              <a:rPr lang="en-US" altLang="zh-CN" sz="1400" dirty="0">
                <a:solidFill>
                  <a:srgbClr val="008000"/>
                </a:solidFill>
              </a:rPr>
              <a:t> </a:t>
            </a:r>
            <a:r>
              <a:rPr lang="en-US" altLang="zh-CN" sz="1400" dirty="0"/>
              <a:t>{</a:t>
            </a:r>
            <a:endParaRPr lang="en-US" altLang="zh-CN" sz="1400" dirty="0"/>
          </a:p>
          <a:p>
            <a:pPr marL="0" lvl="1" defTabSz="357505"/>
            <a:r>
              <a:rPr lang="zh-CN" altLang="en-US" sz="1400" dirty="0"/>
              <a:t>	</a:t>
            </a:r>
            <a:r>
              <a:rPr lang="en-US" altLang="zh-CN" sz="1400" dirty="0" err="1"/>
              <a:t>int</a:t>
            </a:r>
            <a:r>
              <a:rPr lang="en-US" altLang="zh-CN" sz="1400" dirty="0"/>
              <a:t> z;</a:t>
            </a:r>
            <a:endParaRPr lang="en-US" altLang="zh-CN" sz="1400" dirty="0"/>
          </a:p>
          <a:p>
            <a:pPr marL="0" lvl="1" defTabSz="357505"/>
            <a:r>
              <a:rPr lang="zh-CN" altLang="en-US" sz="1400" dirty="0"/>
              <a:t>	</a:t>
            </a:r>
            <a:r>
              <a:rPr lang="en-US" altLang="zh-CN" sz="1400" dirty="0"/>
              <a:t>if(x&gt;y)z=x;</a:t>
            </a:r>
            <a:endParaRPr lang="en-US" altLang="zh-CN" sz="1400" dirty="0">
              <a:solidFill>
                <a:srgbClr val="008000"/>
              </a:solidFill>
            </a:endParaRPr>
          </a:p>
          <a:p>
            <a:pPr marL="0" lvl="1" defTabSz="357505"/>
            <a:r>
              <a:rPr lang="zh-CN" altLang="en-US" sz="1400" dirty="0"/>
              <a:t>	</a:t>
            </a:r>
            <a:r>
              <a:rPr lang="en-US" altLang="zh-CN" sz="1400" dirty="0"/>
              <a:t>else z=y;	</a:t>
            </a:r>
            <a:endParaRPr lang="en-US" altLang="zh-CN" sz="1400" dirty="0"/>
          </a:p>
          <a:p>
            <a:pPr marL="0" lvl="1" defTabSz="357505"/>
            <a:r>
              <a:rPr lang="zh-CN" altLang="en-US" sz="1400" dirty="0"/>
              <a:t> 	</a:t>
            </a:r>
            <a:r>
              <a:rPr lang="en-US" altLang="zh-CN" sz="1400" dirty="0"/>
              <a:t>return(z);</a:t>
            </a:r>
            <a:endParaRPr lang="en-US" altLang="zh-CN" sz="1400" dirty="0"/>
          </a:p>
          <a:p>
            <a:pPr marL="0" lvl="1" defTabSz="357505"/>
            <a:r>
              <a:rPr lang="en-US" altLang="zh-CN" sz="1400" dirty="0"/>
              <a:t>}</a:t>
            </a:r>
            <a:endParaRPr lang="zh-CN" altLang="en-US" sz="1400" dirty="0">
              <a:solidFill>
                <a:srgbClr val="008000"/>
              </a:solidFill>
            </a:endParaRPr>
          </a:p>
        </p:txBody>
      </p:sp>
      <p:grpSp>
        <p:nvGrpSpPr>
          <p:cNvPr id="22" name="组合 21"/>
          <p:cNvGrpSpPr/>
          <p:nvPr/>
        </p:nvGrpSpPr>
        <p:grpSpPr>
          <a:xfrm>
            <a:off x="10021957" y="1436206"/>
            <a:ext cx="1537254" cy="2967865"/>
            <a:chOff x="10021957" y="1436206"/>
            <a:chExt cx="1537254" cy="2967865"/>
          </a:xfrm>
        </p:grpSpPr>
        <p:sp>
          <p:nvSpPr>
            <p:cNvPr id="5" name="线形标注 1 4"/>
            <p:cNvSpPr/>
            <p:nvPr/>
          </p:nvSpPr>
          <p:spPr>
            <a:xfrm>
              <a:off x="10021957" y="1436206"/>
              <a:ext cx="1401418" cy="25448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预处理指令</a:t>
              </a:r>
              <a:endParaRPr lang="zh-CN" altLang="en-US" sz="1400" dirty="0"/>
            </a:p>
          </p:txBody>
        </p:sp>
        <p:sp>
          <p:nvSpPr>
            <p:cNvPr id="6" name="线形标注 1 5"/>
            <p:cNvSpPr/>
            <p:nvPr/>
          </p:nvSpPr>
          <p:spPr>
            <a:xfrm>
              <a:off x="10021957" y="2002736"/>
              <a:ext cx="1401418" cy="25448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main</a:t>
              </a:r>
              <a:r>
                <a:rPr lang="zh-CN" altLang="en-US" sz="1400" dirty="0"/>
                <a:t>函数</a:t>
              </a:r>
              <a:endParaRPr lang="zh-CN" altLang="en-US" sz="1400" dirty="0"/>
            </a:p>
          </p:txBody>
        </p:sp>
        <p:sp>
          <p:nvSpPr>
            <p:cNvPr id="7" name="线形标注 1 6"/>
            <p:cNvSpPr/>
            <p:nvPr/>
          </p:nvSpPr>
          <p:spPr>
            <a:xfrm>
              <a:off x="10157793" y="4149589"/>
              <a:ext cx="1401418" cy="25448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自定义函数</a:t>
              </a:r>
              <a:endParaRPr lang="zh-CN" altLang="en-US" sz="1400" dirty="0"/>
            </a:p>
          </p:txBody>
        </p:sp>
      </p:grpSp>
      <p:grpSp>
        <p:nvGrpSpPr>
          <p:cNvPr id="23" name="组合 22"/>
          <p:cNvGrpSpPr/>
          <p:nvPr/>
        </p:nvGrpSpPr>
        <p:grpSpPr>
          <a:xfrm>
            <a:off x="10601739" y="2767017"/>
            <a:ext cx="1484243" cy="563627"/>
            <a:chOff x="10601739" y="2767017"/>
            <a:chExt cx="1484243" cy="563627"/>
          </a:xfrm>
        </p:grpSpPr>
        <p:sp>
          <p:nvSpPr>
            <p:cNvPr id="8" name="线形标注 1 7"/>
            <p:cNvSpPr/>
            <p:nvPr/>
          </p:nvSpPr>
          <p:spPr>
            <a:xfrm>
              <a:off x="10601740" y="2767017"/>
              <a:ext cx="1484242" cy="25448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库函数调用</a:t>
              </a:r>
              <a:endParaRPr lang="zh-CN" altLang="en-US" sz="1400" dirty="0"/>
            </a:p>
          </p:txBody>
        </p:sp>
        <p:sp>
          <p:nvSpPr>
            <p:cNvPr id="9" name="线形标注 1 8"/>
            <p:cNvSpPr/>
            <p:nvPr/>
          </p:nvSpPr>
          <p:spPr>
            <a:xfrm>
              <a:off x="10601739" y="3076162"/>
              <a:ext cx="1484243" cy="254482"/>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自定义函数调用</a:t>
              </a:r>
              <a:endParaRPr lang="zh-CN" altLang="en-US" sz="1400" dirty="0"/>
            </a:p>
          </p:txBody>
        </p:sp>
      </p:grpSp>
      <p:sp>
        <p:nvSpPr>
          <p:cNvPr id="11" name="矩形 10"/>
          <p:cNvSpPr/>
          <p:nvPr/>
        </p:nvSpPr>
        <p:spPr>
          <a:xfrm>
            <a:off x="1493409" y="3515439"/>
            <a:ext cx="5665305" cy="152427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err="1"/>
              <a:t>int</a:t>
            </a:r>
            <a:r>
              <a:rPr lang="en-US" altLang="zh-CN" dirty="0"/>
              <a:t>	max	(</a:t>
            </a:r>
            <a:r>
              <a:rPr lang="en-US" altLang="zh-CN" dirty="0" err="1"/>
              <a:t>int</a:t>
            </a:r>
            <a:r>
              <a:rPr lang="en-US" altLang="zh-CN" dirty="0"/>
              <a:t>	 x,	</a:t>
            </a:r>
            <a:r>
              <a:rPr lang="en-US" altLang="zh-CN" dirty="0" err="1"/>
              <a:t>int</a:t>
            </a:r>
            <a:r>
              <a:rPr lang="en-US" altLang="zh-CN" dirty="0"/>
              <a:t>	 y)</a:t>
            </a:r>
            <a:endParaRPr lang="en-US" altLang="zh-CN" dirty="0"/>
          </a:p>
          <a:p>
            <a:r>
              <a:rPr lang="zh-CN" altLang="en-US" dirty="0"/>
              <a:t>↓</a:t>
            </a:r>
            <a:r>
              <a:rPr lang="en-US" altLang="zh-CN" dirty="0"/>
              <a:t>	</a:t>
            </a:r>
            <a:r>
              <a:rPr lang="zh-CN" altLang="en-US" dirty="0"/>
              <a:t> ↓</a:t>
            </a:r>
            <a:r>
              <a:rPr lang="en-US" altLang="zh-CN" dirty="0"/>
              <a:t>	</a:t>
            </a:r>
            <a:r>
              <a:rPr lang="zh-CN" altLang="en-US" dirty="0"/>
              <a:t> ↓</a:t>
            </a:r>
            <a:r>
              <a:rPr lang="en-US" altLang="zh-CN" dirty="0"/>
              <a:t>	</a:t>
            </a:r>
            <a:r>
              <a:rPr lang="zh-CN" altLang="en-US" dirty="0"/>
              <a:t>↓</a:t>
            </a:r>
            <a:r>
              <a:rPr lang="en-US" altLang="zh-CN" dirty="0"/>
              <a:t>	</a:t>
            </a:r>
            <a:r>
              <a:rPr lang="zh-CN" altLang="en-US" dirty="0"/>
              <a:t> ↓</a:t>
            </a:r>
            <a:r>
              <a:rPr lang="en-US" altLang="zh-CN" dirty="0"/>
              <a:t>	</a:t>
            </a:r>
            <a:r>
              <a:rPr lang="zh-CN" altLang="en-US" dirty="0"/>
              <a:t>↓</a:t>
            </a:r>
            <a:endParaRPr lang="en-US" altLang="zh-CN" dirty="0"/>
          </a:p>
          <a:p>
            <a:r>
              <a:rPr lang="zh-CN" altLang="en-US" sz="1600" dirty="0"/>
              <a:t>函数类型</a:t>
            </a:r>
            <a:r>
              <a:rPr lang="en-US" altLang="zh-CN" sz="1600" dirty="0"/>
              <a:t>	</a:t>
            </a:r>
            <a:r>
              <a:rPr lang="zh-CN" altLang="en-US" sz="1600" dirty="0"/>
              <a:t>函数名</a:t>
            </a:r>
            <a:r>
              <a:rPr lang="en-US" altLang="zh-CN" sz="1600" dirty="0"/>
              <a:t>	</a:t>
            </a:r>
            <a:r>
              <a:rPr lang="zh-CN" altLang="en-US" sz="1600" dirty="0"/>
              <a:t>参数类型</a:t>
            </a:r>
            <a:r>
              <a:rPr lang="en-US" altLang="zh-CN" sz="1600" dirty="0"/>
              <a:t>	</a:t>
            </a:r>
            <a:r>
              <a:rPr lang="zh-CN" altLang="en-US" sz="1600" dirty="0"/>
              <a:t>参数名</a:t>
            </a:r>
            <a:r>
              <a:rPr lang="en-US" altLang="zh-CN" sz="1600" dirty="0"/>
              <a:t>	</a:t>
            </a:r>
            <a:r>
              <a:rPr lang="zh-CN" altLang="en-US" sz="1600" dirty="0"/>
              <a:t>参数类型</a:t>
            </a:r>
            <a:r>
              <a:rPr lang="en-US" altLang="zh-CN" sz="1600" dirty="0"/>
              <a:t>	</a:t>
            </a:r>
            <a:r>
              <a:rPr lang="zh-CN" altLang="en-US" sz="1600" dirty="0"/>
              <a:t>参数名</a:t>
            </a:r>
            <a:endParaRPr lang="zh-CN" altLang="en-US" sz="1600" dirty="0"/>
          </a:p>
        </p:txBody>
      </p:sp>
      <p:sp>
        <p:nvSpPr>
          <p:cNvPr id="12" name="任意多边形 11"/>
          <p:cNvSpPr/>
          <p:nvPr/>
        </p:nvSpPr>
        <p:spPr>
          <a:xfrm>
            <a:off x="7158935" y="3672284"/>
            <a:ext cx="586408" cy="1524273"/>
          </a:xfrm>
          <a:custGeom>
            <a:avLst/>
            <a:gdLst>
              <a:gd name="connsiteX0" fmla="*/ 566530 w 586408"/>
              <a:gd name="connsiteY0" fmla="*/ 636105 h 1550505"/>
              <a:gd name="connsiteX1" fmla="*/ 9939 w 586408"/>
              <a:gd name="connsiteY1" fmla="*/ 0 h 1550505"/>
              <a:gd name="connsiteX2" fmla="*/ 0 w 586408"/>
              <a:gd name="connsiteY2" fmla="*/ 1550505 h 1550505"/>
              <a:gd name="connsiteX3" fmla="*/ 586408 w 586408"/>
              <a:gd name="connsiteY3" fmla="*/ 874644 h 1550505"/>
              <a:gd name="connsiteX4" fmla="*/ 566530 w 586408"/>
              <a:gd name="connsiteY4" fmla="*/ 636105 h 15505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08" h="1550505">
                <a:moveTo>
                  <a:pt x="566530" y="636105"/>
                </a:moveTo>
                <a:lnTo>
                  <a:pt x="9939" y="0"/>
                </a:lnTo>
                <a:lnTo>
                  <a:pt x="0" y="1550505"/>
                </a:lnTo>
                <a:lnTo>
                  <a:pt x="586408" y="874644"/>
                </a:lnTo>
                <a:lnTo>
                  <a:pt x="566530" y="636105"/>
                </a:lnTo>
                <a:close/>
              </a:path>
            </a:pathLst>
          </a:custGeom>
          <a:gradFill flip="none" rotWithShape="1">
            <a:gsLst>
              <a:gs pos="0">
                <a:schemeClr val="accent1"/>
              </a:gs>
              <a:gs pos="50000">
                <a:schemeClr val="accent1">
                  <a:lumMod val="60000"/>
                  <a:lumOff val="40000"/>
                </a:schemeClr>
              </a:gs>
              <a:gs pos="100000">
                <a:schemeClr val="accent3">
                  <a:lumMod val="40000"/>
                  <a:lumOff val="60000"/>
                </a:schemeClr>
              </a:gs>
            </a:gsLst>
            <a:lin ang="0" scaled="1"/>
            <a:tileRect/>
          </a:gra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grpSp>
        <p:nvGrpSpPr>
          <p:cNvPr id="24" name="组合 23"/>
          <p:cNvGrpSpPr/>
          <p:nvPr/>
        </p:nvGrpSpPr>
        <p:grpSpPr>
          <a:xfrm>
            <a:off x="7941365" y="4313583"/>
            <a:ext cx="1510748" cy="1321904"/>
            <a:chOff x="7941365" y="4313583"/>
            <a:chExt cx="1510748" cy="1321904"/>
          </a:xfrm>
        </p:grpSpPr>
        <p:sp>
          <p:nvSpPr>
            <p:cNvPr id="10" name="矩形 9"/>
            <p:cNvSpPr/>
            <p:nvPr/>
          </p:nvSpPr>
          <p:spPr>
            <a:xfrm>
              <a:off x="7941365" y="4313583"/>
              <a:ext cx="1510748" cy="278295"/>
            </a:xfrm>
            <a:prstGeom prst="rect">
              <a:avLst/>
            </a:prstGeom>
            <a:solidFill>
              <a:schemeClr val="accent1">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effectLst>
                    <a:outerShdw blurRad="38100" dist="38100" dir="2700000" algn="tl">
                      <a:srgbClr val="000000">
                        <a:alpha val="43137"/>
                      </a:srgbClr>
                    </a:outerShdw>
                  </a:effectLst>
                </a:rPr>
                <a:t>函数首部</a:t>
              </a:r>
              <a:endParaRPr lang="zh-CN" altLang="en-US" dirty="0">
                <a:effectLst>
                  <a:outerShdw blurRad="38100" dist="38100" dir="2700000" algn="tl">
                    <a:srgbClr val="000000">
                      <a:alpha val="43137"/>
                    </a:srgbClr>
                  </a:outerShdw>
                </a:effectLst>
              </a:endParaRPr>
            </a:p>
          </p:txBody>
        </p:sp>
        <p:sp>
          <p:nvSpPr>
            <p:cNvPr id="13" name="矩形 12"/>
            <p:cNvSpPr/>
            <p:nvPr/>
          </p:nvSpPr>
          <p:spPr>
            <a:xfrm>
              <a:off x="7941365" y="4800600"/>
              <a:ext cx="1510748" cy="834887"/>
            </a:xfrm>
            <a:prstGeom prst="rect">
              <a:avLst/>
            </a:prstGeom>
            <a:solidFill>
              <a:schemeClr val="accent1">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dirty="0">
                  <a:effectLst>
                    <a:outerShdw blurRad="38100" dist="38100" dir="2700000" algn="tl">
                      <a:srgbClr val="000000">
                        <a:alpha val="43137"/>
                      </a:srgbClr>
                    </a:outerShdw>
                  </a:effectLst>
                </a:rPr>
                <a:t>函数体</a:t>
              </a:r>
              <a:endParaRPr lang="zh-CN" altLang="en-US" dirty="0">
                <a:effectLst>
                  <a:outerShdw blurRad="38100" dist="38100" dir="2700000" algn="tl">
                    <a:srgbClr val="000000">
                      <a:alpha val="43137"/>
                    </a:srgbClr>
                  </a:outerShdw>
                </a:effectLst>
              </a:endParaRPr>
            </a:p>
          </p:txBody>
        </p:sp>
      </p:grpSp>
      <p:grpSp>
        <p:nvGrpSpPr>
          <p:cNvPr id="25" name="组合 24"/>
          <p:cNvGrpSpPr/>
          <p:nvPr/>
        </p:nvGrpSpPr>
        <p:grpSpPr>
          <a:xfrm>
            <a:off x="8266041" y="4804091"/>
            <a:ext cx="2418524" cy="818070"/>
            <a:chOff x="8266041" y="4804091"/>
            <a:chExt cx="2418524" cy="818070"/>
          </a:xfrm>
        </p:grpSpPr>
        <p:sp>
          <p:nvSpPr>
            <p:cNvPr id="16" name="矩形 15"/>
            <p:cNvSpPr/>
            <p:nvPr/>
          </p:nvSpPr>
          <p:spPr>
            <a:xfrm>
              <a:off x="8266042" y="4804091"/>
              <a:ext cx="2418523" cy="180000"/>
            </a:xfrm>
            <a:prstGeom prst="rect">
              <a:avLst/>
            </a:prstGeom>
            <a:solidFill>
              <a:schemeClr val="accent1">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zh-CN" altLang="en-US" sz="1400" dirty="0">
                  <a:solidFill>
                    <a:schemeClr val="tx1"/>
                  </a:solidFill>
                  <a:effectLst>
                    <a:outerShdw blurRad="38100" dist="38100" dir="2700000" algn="tl">
                      <a:srgbClr val="000000">
                        <a:alpha val="43137"/>
                      </a:srgbClr>
                    </a:outerShdw>
                  </a:effectLst>
                </a:rPr>
                <a:t>声明部分</a:t>
              </a:r>
              <a:endParaRPr lang="zh-CN" altLang="en-US" sz="1400" dirty="0">
                <a:solidFill>
                  <a:schemeClr val="tx1"/>
                </a:solidFill>
                <a:effectLst>
                  <a:outerShdw blurRad="38100" dist="38100" dir="2700000" algn="tl">
                    <a:srgbClr val="000000">
                      <a:alpha val="43137"/>
                    </a:srgbClr>
                  </a:outerShdw>
                </a:effectLst>
              </a:endParaRPr>
            </a:p>
          </p:txBody>
        </p:sp>
        <p:sp>
          <p:nvSpPr>
            <p:cNvPr id="17" name="矩形 16"/>
            <p:cNvSpPr/>
            <p:nvPr/>
          </p:nvSpPr>
          <p:spPr>
            <a:xfrm>
              <a:off x="8266041" y="5016781"/>
              <a:ext cx="2418523" cy="180000"/>
            </a:xfrm>
            <a:prstGeom prst="rect">
              <a:avLst/>
            </a:prstGeom>
            <a:solidFill>
              <a:schemeClr val="accent1">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zh-CN" altLang="en-US" sz="1400" dirty="0">
                  <a:solidFill>
                    <a:schemeClr val="tx1"/>
                  </a:solidFill>
                  <a:effectLst>
                    <a:outerShdw blurRad="38100" dist="38100" dir="2700000" algn="tl">
                      <a:srgbClr val="000000">
                        <a:alpha val="43137"/>
                      </a:srgbClr>
                    </a:outerShdw>
                  </a:effectLst>
                </a:rPr>
                <a:t>执行部分</a:t>
              </a:r>
              <a:endParaRPr lang="zh-CN" altLang="en-US" sz="1400" dirty="0">
                <a:solidFill>
                  <a:schemeClr val="tx1"/>
                </a:solidFill>
                <a:effectLst>
                  <a:outerShdw blurRad="38100" dist="38100" dir="2700000" algn="tl">
                    <a:srgbClr val="000000">
                      <a:alpha val="43137"/>
                    </a:srgbClr>
                  </a:outerShdw>
                </a:effectLst>
              </a:endParaRPr>
            </a:p>
          </p:txBody>
        </p:sp>
        <p:sp>
          <p:nvSpPr>
            <p:cNvPr id="18" name="矩形 17"/>
            <p:cNvSpPr/>
            <p:nvPr/>
          </p:nvSpPr>
          <p:spPr>
            <a:xfrm>
              <a:off x="8266041" y="5229471"/>
              <a:ext cx="2418523" cy="180000"/>
            </a:xfrm>
            <a:prstGeom prst="rect">
              <a:avLst/>
            </a:prstGeom>
            <a:solidFill>
              <a:schemeClr val="accent1">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zh-CN" altLang="en-US" sz="1400" dirty="0">
                  <a:solidFill>
                    <a:schemeClr val="tx1"/>
                  </a:solidFill>
                  <a:effectLst>
                    <a:outerShdw blurRad="38100" dist="38100" dir="2700000" algn="tl">
                      <a:srgbClr val="000000">
                        <a:alpha val="43137"/>
                      </a:srgbClr>
                    </a:outerShdw>
                  </a:effectLst>
                </a:rPr>
                <a:t>执行部分</a:t>
              </a:r>
              <a:endParaRPr lang="zh-CN" altLang="en-US" sz="1400" dirty="0">
                <a:solidFill>
                  <a:schemeClr val="tx1"/>
                </a:solidFill>
                <a:effectLst>
                  <a:outerShdw blurRad="38100" dist="38100" dir="2700000" algn="tl">
                    <a:srgbClr val="000000">
                      <a:alpha val="43137"/>
                    </a:srgbClr>
                  </a:outerShdw>
                </a:effectLst>
              </a:endParaRPr>
            </a:p>
          </p:txBody>
        </p:sp>
        <p:sp>
          <p:nvSpPr>
            <p:cNvPr id="19" name="矩形 18"/>
            <p:cNvSpPr/>
            <p:nvPr/>
          </p:nvSpPr>
          <p:spPr>
            <a:xfrm>
              <a:off x="8266041" y="5442161"/>
              <a:ext cx="2418523" cy="180000"/>
            </a:xfrm>
            <a:prstGeom prst="rect">
              <a:avLst/>
            </a:prstGeom>
            <a:solidFill>
              <a:schemeClr val="accent1">
                <a:alpha val="5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r"/>
              <a:r>
                <a:rPr lang="zh-CN" altLang="en-US" sz="1400" dirty="0">
                  <a:solidFill>
                    <a:schemeClr val="tx1"/>
                  </a:solidFill>
                  <a:effectLst>
                    <a:outerShdw blurRad="38100" dist="38100" dir="2700000" algn="tl">
                      <a:srgbClr val="000000">
                        <a:alpha val="43137"/>
                      </a:srgbClr>
                    </a:outerShdw>
                  </a:effectLst>
                </a:rPr>
                <a:t>执行部分</a:t>
              </a:r>
              <a:endParaRPr lang="zh-CN" altLang="en-US" sz="1400" dirty="0">
                <a:solidFill>
                  <a:schemeClr val="tx1"/>
                </a:solidFill>
                <a:effectLst>
                  <a:outerShdw blurRad="38100" dist="38100" dir="2700000" algn="tl">
                    <a:srgbClr val="000000">
                      <a:alpha val="43137"/>
                    </a:srgbClr>
                  </a:outerShdw>
                </a:effectLst>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up)">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1"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up)">
                                      <p:cBhvr>
                                        <p:cTn id="20" dur="500"/>
                                        <p:tgtEl>
                                          <p:spTgt spid="3">
                                            <p:txEl>
                                              <p:pRg st="2" end="2"/>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up)">
                                      <p:cBhvr>
                                        <p:cTn id="23" dur="500"/>
                                        <p:tgtEl>
                                          <p:spTgt spid="3">
                                            <p:txEl>
                                              <p:pRg st="3" end="3"/>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wipe(up)">
                                      <p:cBhvr>
                                        <p:cTn id="26" dur="5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wipe(up)">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2"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wipe(right)">
                                      <p:cBhvr>
                                        <p:cTn id="46" dur="500"/>
                                        <p:tgtEl>
                                          <p:spTgt spid="12"/>
                                        </p:tgtEl>
                                      </p:cBhvr>
                                    </p:animEffect>
                                  </p:childTnLst>
                                </p:cTn>
                              </p:par>
                            </p:childTnLst>
                          </p:cTn>
                        </p:par>
                        <p:par>
                          <p:cTn id="47" fill="hold">
                            <p:stCondLst>
                              <p:cond delay="500"/>
                            </p:stCondLst>
                            <p:childTnLst>
                              <p:par>
                                <p:cTn id="48" presetID="22" presetClass="entr" presetSubtype="2"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right)">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 presetClass="exit" presetSubtype="0" fill="hold" grpId="1" nodeType="withEffect">
                                  <p:stCondLst>
                                    <p:cond delay="0"/>
                                  </p:stCondLst>
                                  <p:childTnLst>
                                    <p:set>
                                      <p:cBhvr>
                                        <p:cTn id="57" dur="1" fill="hold">
                                          <p:stCondLst>
                                            <p:cond delay="0"/>
                                          </p:stCondLst>
                                        </p:cTn>
                                        <p:tgtEl>
                                          <p:spTgt spid="12"/>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11"/>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3">
                                            <p:txEl>
                                              <p:pRg st="6" end="6"/>
                                            </p:txEl>
                                          </p:spTgt>
                                        </p:tgtEl>
                                        <p:attrNameLst>
                                          <p:attrName>style.visibility</p:attrName>
                                        </p:attrNameLst>
                                      </p:cBhvr>
                                      <p:to>
                                        <p:strVal val="visible"/>
                                      </p:to>
                                    </p:set>
                                    <p:animEffect transition="in" filter="wipe(up)">
                                      <p:cBhvr>
                                        <p:cTn id="64" dur="500"/>
                                        <p:tgtEl>
                                          <p:spTgt spid="3">
                                            <p:txEl>
                                              <p:pRg st="6" end="6"/>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animEffect transition="in" filter="wipe(up)">
                                      <p:cBhvr>
                                        <p:cTn id="69" dur="500"/>
                                        <p:tgtEl>
                                          <p:spTgt spid="3">
                                            <p:txEl>
                                              <p:pRg st="7" end="7"/>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3">
                                            <p:txEl>
                                              <p:pRg st="8" end="8"/>
                                            </p:txEl>
                                          </p:spTgt>
                                        </p:tgtEl>
                                        <p:attrNameLst>
                                          <p:attrName>style.visibility</p:attrName>
                                        </p:attrNameLst>
                                      </p:cBhvr>
                                      <p:to>
                                        <p:strVal val="visible"/>
                                      </p:to>
                                    </p:set>
                                    <p:animEffect transition="in" filter="wipe(up)">
                                      <p:cBhvr>
                                        <p:cTn id="74" dur="500"/>
                                        <p:tgtEl>
                                          <p:spTgt spid="3">
                                            <p:txEl>
                                              <p:pRg st="8" end="8"/>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3">
                                            <p:txEl>
                                              <p:pRg st="9" end="9"/>
                                            </p:txEl>
                                          </p:spTgt>
                                        </p:tgtEl>
                                        <p:attrNameLst>
                                          <p:attrName>style.visibility</p:attrName>
                                        </p:attrNameLst>
                                      </p:cBhvr>
                                      <p:to>
                                        <p:strVal val="visible"/>
                                      </p:to>
                                    </p:set>
                                    <p:animEffect transition="in" filter="wipe(up)">
                                      <p:cBhvr>
                                        <p:cTn id="79" dur="500"/>
                                        <p:tgtEl>
                                          <p:spTgt spid="3">
                                            <p:txEl>
                                              <p:pRg st="9" end="9"/>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3">
                                            <p:txEl>
                                              <p:pRg st="10" end="10"/>
                                            </p:txEl>
                                          </p:spTgt>
                                        </p:tgtEl>
                                        <p:attrNameLst>
                                          <p:attrName>style.visibility</p:attrName>
                                        </p:attrNameLst>
                                      </p:cBhvr>
                                      <p:to>
                                        <p:strVal val="visible"/>
                                      </p:to>
                                    </p:set>
                                    <p:animEffect transition="in" filter="wipe(up)">
                                      <p:cBhvr>
                                        <p:cTn id="84"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bldLvl="0" animBg="1"/>
      <p:bldP spid="11" grpId="1" bldLvl="0" animBg="1"/>
      <p:bldP spid="12" grpId="0" bldLvl="0" animBg="1"/>
      <p:bldP spid="12" grpId="1"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运行</a:t>
            </a:r>
            <a:r>
              <a:rPr lang="en-US" altLang="zh-CN" dirty="0"/>
              <a:t>C</a:t>
            </a:r>
            <a:r>
              <a:rPr lang="zh-CN" altLang="en-US" dirty="0"/>
              <a:t>程序的步骤与方法</a:t>
            </a:r>
            <a:endParaRPr lang="zh-CN" altLang="en-US" dirty="0"/>
          </a:p>
        </p:txBody>
      </p:sp>
      <p:grpSp>
        <p:nvGrpSpPr>
          <p:cNvPr id="22" name="组合 21"/>
          <p:cNvGrpSpPr/>
          <p:nvPr/>
        </p:nvGrpSpPr>
        <p:grpSpPr>
          <a:xfrm>
            <a:off x="5598161" y="583248"/>
            <a:ext cx="4175759" cy="5924640"/>
            <a:chOff x="5598161" y="583248"/>
            <a:chExt cx="4175759" cy="5924640"/>
          </a:xfrm>
        </p:grpSpPr>
        <p:sp>
          <p:nvSpPr>
            <p:cNvPr id="4" name="流程图: 可选过程 3"/>
            <p:cNvSpPr/>
            <p:nvPr/>
          </p:nvSpPr>
          <p:spPr>
            <a:xfrm>
              <a:off x="7701280" y="583248"/>
              <a:ext cx="2032000" cy="360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开始</a:t>
              </a:r>
              <a:endParaRPr lang="zh-CN" altLang="en-US" dirty="0"/>
            </a:p>
          </p:txBody>
        </p:sp>
        <p:cxnSp>
          <p:nvCxnSpPr>
            <p:cNvPr id="6" name="直接箭头连接符 5"/>
            <p:cNvCxnSpPr>
              <a:stCxn id="4" idx="2"/>
            </p:cNvCxnSpPr>
            <p:nvPr/>
          </p:nvCxnSpPr>
          <p:spPr>
            <a:xfrm>
              <a:off x="8717280" y="943248"/>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7701280" y="1290320"/>
              <a:ext cx="2032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编辑</a:t>
              </a:r>
              <a:endParaRPr lang="zh-CN" altLang="en-US" dirty="0"/>
            </a:p>
          </p:txBody>
        </p:sp>
        <p:cxnSp>
          <p:nvCxnSpPr>
            <p:cNvPr id="8" name="直接箭头连接符 7"/>
            <p:cNvCxnSpPr/>
            <p:nvPr/>
          </p:nvCxnSpPr>
          <p:spPr>
            <a:xfrm>
              <a:off x="8717280" y="1650320"/>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7701280" y="1997392"/>
              <a:ext cx="2032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编译</a:t>
              </a:r>
              <a:endParaRPr lang="zh-CN" altLang="en-US" dirty="0"/>
            </a:p>
          </p:txBody>
        </p:sp>
        <p:cxnSp>
          <p:nvCxnSpPr>
            <p:cNvPr id="10" name="直接箭头连接符 9"/>
            <p:cNvCxnSpPr/>
            <p:nvPr/>
          </p:nvCxnSpPr>
          <p:spPr>
            <a:xfrm>
              <a:off x="8737600" y="2357392"/>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11" name="流程图: 决策 10"/>
            <p:cNvSpPr/>
            <p:nvPr/>
          </p:nvSpPr>
          <p:spPr>
            <a:xfrm>
              <a:off x="7721600" y="2697072"/>
              <a:ext cx="2032000" cy="701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有错？</a:t>
              </a:r>
              <a:endParaRPr lang="zh-CN" altLang="en-US" dirty="0"/>
            </a:p>
          </p:txBody>
        </p:sp>
        <p:cxnSp>
          <p:nvCxnSpPr>
            <p:cNvPr id="12" name="直接箭头连接符 11"/>
            <p:cNvCxnSpPr/>
            <p:nvPr/>
          </p:nvCxnSpPr>
          <p:spPr>
            <a:xfrm>
              <a:off x="8737600" y="3373664"/>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7721600" y="3720736"/>
              <a:ext cx="2032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连接</a:t>
              </a:r>
              <a:endParaRPr lang="zh-CN" altLang="en-US" dirty="0"/>
            </a:p>
          </p:txBody>
        </p:sp>
        <p:cxnSp>
          <p:nvCxnSpPr>
            <p:cNvPr id="14" name="直接箭头连接符 13"/>
            <p:cNvCxnSpPr/>
            <p:nvPr/>
          </p:nvCxnSpPr>
          <p:spPr>
            <a:xfrm>
              <a:off x="8737600" y="4080736"/>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15" name="矩形 14"/>
            <p:cNvSpPr/>
            <p:nvPr/>
          </p:nvSpPr>
          <p:spPr>
            <a:xfrm>
              <a:off x="7721600" y="4427808"/>
              <a:ext cx="2032000" cy="36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执行</a:t>
              </a:r>
              <a:endParaRPr lang="zh-CN" altLang="en-US" dirty="0"/>
            </a:p>
          </p:txBody>
        </p:sp>
        <p:cxnSp>
          <p:nvCxnSpPr>
            <p:cNvPr id="16" name="直接箭头连接符 15"/>
            <p:cNvCxnSpPr/>
            <p:nvPr/>
          </p:nvCxnSpPr>
          <p:spPr>
            <a:xfrm>
              <a:off x="8757920" y="4787808"/>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17" name="流程图: 决策 16"/>
            <p:cNvSpPr/>
            <p:nvPr/>
          </p:nvSpPr>
          <p:spPr>
            <a:xfrm>
              <a:off x="7741920" y="5117328"/>
              <a:ext cx="2032000" cy="701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t>   结果</a:t>
              </a:r>
              <a:endParaRPr lang="en-US" altLang="zh-CN" dirty="0"/>
            </a:p>
            <a:p>
              <a:r>
                <a:rPr lang="zh-CN" altLang="en-US" dirty="0"/>
                <a:t>   正确？</a:t>
              </a:r>
              <a:endParaRPr lang="zh-CN" altLang="en-US" dirty="0"/>
            </a:p>
          </p:txBody>
        </p:sp>
        <p:cxnSp>
          <p:nvCxnSpPr>
            <p:cNvPr id="18" name="直接箭头连接符 17"/>
            <p:cNvCxnSpPr/>
            <p:nvPr/>
          </p:nvCxnSpPr>
          <p:spPr>
            <a:xfrm>
              <a:off x="8757920" y="5818368"/>
              <a:ext cx="0" cy="316592"/>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19" name="流程图: 可选过程 18"/>
            <p:cNvSpPr/>
            <p:nvPr/>
          </p:nvSpPr>
          <p:spPr>
            <a:xfrm>
              <a:off x="7721600" y="6147888"/>
              <a:ext cx="2032000" cy="360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结束</a:t>
              </a:r>
              <a:endParaRPr lang="zh-CN" altLang="en-US" dirty="0"/>
            </a:p>
          </p:txBody>
        </p:sp>
        <p:sp>
          <p:nvSpPr>
            <p:cNvPr id="20" name="文本框 19"/>
            <p:cNvSpPr txBox="1"/>
            <p:nvPr/>
          </p:nvSpPr>
          <p:spPr>
            <a:xfrm>
              <a:off x="8757920" y="3351702"/>
              <a:ext cx="528320" cy="338554"/>
            </a:xfrm>
            <a:prstGeom prst="rect">
              <a:avLst/>
            </a:prstGeom>
            <a:noFill/>
          </p:spPr>
          <p:txBody>
            <a:bodyPr wrap="square" rtlCol="0">
              <a:spAutoFit/>
            </a:bodyPr>
            <a:lstStyle/>
            <a:p>
              <a:r>
                <a:rPr lang="zh-CN" altLang="en-US" sz="1600" dirty="0"/>
                <a:t>无</a:t>
              </a:r>
              <a:endParaRPr lang="zh-CN" altLang="en-US" sz="1600" dirty="0"/>
            </a:p>
          </p:txBody>
        </p:sp>
        <p:sp>
          <p:nvSpPr>
            <p:cNvPr id="21" name="文本框 20"/>
            <p:cNvSpPr txBox="1"/>
            <p:nvPr/>
          </p:nvSpPr>
          <p:spPr>
            <a:xfrm>
              <a:off x="8757920" y="5831296"/>
              <a:ext cx="680720" cy="338554"/>
            </a:xfrm>
            <a:prstGeom prst="rect">
              <a:avLst/>
            </a:prstGeom>
            <a:noFill/>
          </p:spPr>
          <p:txBody>
            <a:bodyPr wrap="square" rtlCol="0">
              <a:spAutoFit/>
            </a:bodyPr>
            <a:lstStyle/>
            <a:p>
              <a:r>
                <a:rPr lang="zh-CN" altLang="en-US" sz="1600" dirty="0"/>
                <a:t>正确</a:t>
              </a:r>
              <a:endParaRPr lang="zh-CN" altLang="en-US" sz="1600" dirty="0"/>
            </a:p>
          </p:txBody>
        </p:sp>
        <p:cxnSp>
          <p:nvCxnSpPr>
            <p:cNvPr id="23" name="直接连接符 22"/>
            <p:cNvCxnSpPr>
              <a:stCxn id="17" idx="1"/>
              <a:endCxn id="17" idx="1"/>
            </p:cNvCxnSpPr>
            <p:nvPr/>
          </p:nvCxnSpPr>
          <p:spPr>
            <a:xfrm>
              <a:off x="7741920" y="5467848"/>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7" idx="1"/>
            </p:cNvCxnSpPr>
            <p:nvPr/>
          </p:nvCxnSpPr>
          <p:spPr>
            <a:xfrm flipH="1" flipV="1">
              <a:off x="5608320" y="5466080"/>
              <a:ext cx="2133600" cy="176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5608320" y="1076960"/>
              <a:ext cx="0" cy="4389120"/>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5608320" y="1076960"/>
              <a:ext cx="3119120" cy="0"/>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p:cNvCxnSpPr>
              <a:stCxn id="11" idx="1"/>
            </p:cNvCxnSpPr>
            <p:nvPr/>
          </p:nvCxnSpPr>
          <p:spPr>
            <a:xfrm flipH="1" flipV="1">
              <a:off x="5598161" y="3042464"/>
              <a:ext cx="2123439" cy="5128"/>
            </a:xfrm>
            <a:prstGeom prst="straightConnector1">
              <a:avLst/>
            </a:prstGeom>
            <a:ln>
              <a:tailEnd type="stealth" w="lg" len="lg"/>
            </a:ln>
          </p:spPr>
          <p:style>
            <a:lnRef idx="1">
              <a:schemeClr val="accent1"/>
            </a:lnRef>
            <a:fillRef idx="0">
              <a:schemeClr val="accent1"/>
            </a:fillRef>
            <a:effectRef idx="0">
              <a:schemeClr val="accent1"/>
            </a:effectRef>
            <a:fontRef idx="minor">
              <a:schemeClr val="tx1"/>
            </a:fontRef>
          </p:style>
        </p:cxnSp>
        <p:sp>
          <p:nvSpPr>
            <p:cNvPr id="39" name="文本框 38"/>
            <p:cNvSpPr txBox="1"/>
            <p:nvPr/>
          </p:nvSpPr>
          <p:spPr>
            <a:xfrm>
              <a:off x="6410960" y="2707329"/>
              <a:ext cx="528320" cy="338554"/>
            </a:xfrm>
            <a:prstGeom prst="rect">
              <a:avLst/>
            </a:prstGeom>
            <a:noFill/>
          </p:spPr>
          <p:txBody>
            <a:bodyPr wrap="square" rtlCol="0">
              <a:spAutoFit/>
            </a:bodyPr>
            <a:lstStyle/>
            <a:p>
              <a:r>
                <a:rPr lang="zh-CN" altLang="en-US" sz="1600" dirty="0"/>
                <a:t>有</a:t>
              </a:r>
              <a:endParaRPr lang="zh-CN" altLang="en-US" sz="1600" dirty="0"/>
            </a:p>
          </p:txBody>
        </p:sp>
        <p:sp>
          <p:nvSpPr>
            <p:cNvPr id="40" name="文本框 39"/>
            <p:cNvSpPr txBox="1"/>
            <p:nvPr/>
          </p:nvSpPr>
          <p:spPr>
            <a:xfrm>
              <a:off x="6360160" y="5129430"/>
              <a:ext cx="1168399" cy="338554"/>
            </a:xfrm>
            <a:prstGeom prst="rect">
              <a:avLst/>
            </a:prstGeom>
            <a:noFill/>
          </p:spPr>
          <p:txBody>
            <a:bodyPr wrap="square" rtlCol="0">
              <a:spAutoFit/>
            </a:bodyPr>
            <a:lstStyle/>
            <a:p>
              <a:r>
                <a:rPr lang="zh-CN" altLang="en-US" sz="1600" dirty="0"/>
                <a:t>不正确</a:t>
              </a:r>
              <a:endParaRPr lang="zh-CN" altLang="en-US" sz="1600" dirty="0"/>
            </a:p>
          </p:txBody>
        </p:sp>
      </p:grpSp>
      <p:grpSp>
        <p:nvGrpSpPr>
          <p:cNvPr id="3" name="组合 2"/>
          <p:cNvGrpSpPr/>
          <p:nvPr/>
        </p:nvGrpSpPr>
        <p:grpSpPr>
          <a:xfrm>
            <a:off x="5709920" y="3690256"/>
            <a:ext cx="2011680" cy="1003664"/>
            <a:chOff x="5709920" y="3690256"/>
            <a:chExt cx="2011680" cy="1003664"/>
          </a:xfrm>
        </p:grpSpPr>
        <p:cxnSp>
          <p:nvCxnSpPr>
            <p:cNvPr id="43" name="直接箭头连接符 42"/>
            <p:cNvCxnSpPr>
              <a:endCxn id="15" idx="1"/>
            </p:cNvCxnSpPr>
            <p:nvPr/>
          </p:nvCxnSpPr>
          <p:spPr>
            <a:xfrm>
              <a:off x="7167880" y="4307192"/>
              <a:ext cx="553720" cy="300616"/>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46" name="椭圆 45"/>
            <p:cNvSpPr/>
            <p:nvPr/>
          </p:nvSpPr>
          <p:spPr>
            <a:xfrm>
              <a:off x="5709920" y="3690256"/>
              <a:ext cx="1473200" cy="10036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可执行</a:t>
              </a:r>
              <a:endParaRPr lang="en-US" altLang="zh-CN" sz="1600" dirty="0">
                <a:solidFill>
                  <a:schemeClr val="tx1"/>
                </a:solidFill>
              </a:endParaRPr>
            </a:p>
            <a:p>
              <a:pPr algn="ctr"/>
              <a:r>
                <a:rPr lang="zh-CN" altLang="en-US" sz="1600" dirty="0">
                  <a:solidFill>
                    <a:schemeClr val="tx1"/>
                  </a:solidFill>
                </a:rPr>
                <a:t>目标程序</a:t>
              </a:r>
              <a:endParaRPr lang="en-US" altLang="zh-CN" sz="1600" dirty="0">
                <a:solidFill>
                  <a:schemeClr val="tx1"/>
                </a:solidFill>
              </a:endParaRPr>
            </a:p>
            <a:p>
              <a:pPr algn="ctr"/>
              <a:r>
                <a:rPr lang="en-US" altLang="zh-CN" sz="1600" dirty="0">
                  <a:solidFill>
                    <a:schemeClr val="tx1"/>
                  </a:solidFill>
                </a:rPr>
                <a:t>f.exe</a:t>
              </a:r>
              <a:endParaRPr lang="zh-CN" altLang="en-US" sz="1600" dirty="0">
                <a:solidFill>
                  <a:schemeClr val="tx1"/>
                </a:solidFill>
              </a:endParaRPr>
            </a:p>
          </p:txBody>
        </p:sp>
        <p:cxnSp>
          <p:nvCxnSpPr>
            <p:cNvPr id="52" name="直接箭头连接符 51"/>
            <p:cNvCxnSpPr>
              <a:stCxn id="13" idx="1"/>
            </p:cNvCxnSpPr>
            <p:nvPr/>
          </p:nvCxnSpPr>
          <p:spPr>
            <a:xfrm flipH="1">
              <a:off x="7132321" y="3900736"/>
              <a:ext cx="589279" cy="152070"/>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9733280" y="1317624"/>
            <a:ext cx="2032000" cy="3429544"/>
            <a:chOff x="9733280" y="1317624"/>
            <a:chExt cx="2032000" cy="3429544"/>
          </a:xfrm>
        </p:grpSpPr>
        <p:cxnSp>
          <p:nvCxnSpPr>
            <p:cNvPr id="42" name="直接箭头连接符 41"/>
            <p:cNvCxnSpPr>
              <a:stCxn id="7" idx="3"/>
            </p:cNvCxnSpPr>
            <p:nvPr/>
          </p:nvCxnSpPr>
          <p:spPr>
            <a:xfrm>
              <a:off x="9733280" y="1470320"/>
              <a:ext cx="477519" cy="173640"/>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47" name="椭圆 46"/>
            <p:cNvSpPr/>
            <p:nvPr/>
          </p:nvSpPr>
          <p:spPr>
            <a:xfrm>
              <a:off x="10190479" y="1317624"/>
              <a:ext cx="1473200" cy="10036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源程序</a:t>
              </a:r>
              <a:endParaRPr lang="en-US" altLang="zh-CN" sz="1600" dirty="0">
                <a:solidFill>
                  <a:schemeClr val="tx1"/>
                </a:solidFill>
              </a:endParaRPr>
            </a:p>
            <a:p>
              <a:pPr algn="ctr"/>
              <a:r>
                <a:rPr lang="en-US" altLang="zh-CN" sz="1600" dirty="0" err="1">
                  <a:solidFill>
                    <a:schemeClr val="tx1"/>
                  </a:solidFill>
                </a:rPr>
                <a:t>f.c</a:t>
              </a:r>
              <a:endParaRPr lang="zh-CN" altLang="en-US" sz="1600" dirty="0">
                <a:solidFill>
                  <a:schemeClr val="tx1"/>
                </a:solidFill>
              </a:endParaRPr>
            </a:p>
          </p:txBody>
        </p:sp>
        <p:sp>
          <p:nvSpPr>
            <p:cNvPr id="48" name="椭圆 47"/>
            <p:cNvSpPr/>
            <p:nvPr/>
          </p:nvSpPr>
          <p:spPr>
            <a:xfrm>
              <a:off x="10190479" y="2528296"/>
              <a:ext cx="1473200" cy="10036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目标程序</a:t>
              </a:r>
              <a:endParaRPr lang="en-US" altLang="zh-CN" sz="1600" dirty="0">
                <a:solidFill>
                  <a:schemeClr val="tx1"/>
                </a:solidFill>
              </a:endParaRPr>
            </a:p>
            <a:p>
              <a:pPr algn="ctr"/>
              <a:r>
                <a:rPr lang="en-US" altLang="zh-CN" sz="1600" dirty="0">
                  <a:solidFill>
                    <a:schemeClr val="tx1"/>
                  </a:solidFill>
                </a:rPr>
                <a:t>f.obj</a:t>
              </a:r>
              <a:endParaRPr lang="zh-CN" altLang="en-US" sz="1600" dirty="0">
                <a:solidFill>
                  <a:schemeClr val="tx1"/>
                </a:solidFill>
              </a:endParaRPr>
            </a:p>
          </p:txBody>
        </p:sp>
        <p:sp>
          <p:nvSpPr>
            <p:cNvPr id="49" name="椭圆 48"/>
            <p:cNvSpPr/>
            <p:nvPr/>
          </p:nvSpPr>
          <p:spPr>
            <a:xfrm>
              <a:off x="10292080" y="3743504"/>
              <a:ext cx="1473200" cy="100366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库函数和其他目标程序</a:t>
              </a:r>
              <a:endParaRPr lang="zh-CN" altLang="en-US" sz="1600" dirty="0">
                <a:solidFill>
                  <a:schemeClr val="tx1"/>
                </a:solidFill>
              </a:endParaRPr>
            </a:p>
          </p:txBody>
        </p:sp>
        <p:cxnSp>
          <p:nvCxnSpPr>
            <p:cNvPr id="58" name="直接箭头连接符 57"/>
            <p:cNvCxnSpPr>
              <a:endCxn id="9" idx="3"/>
            </p:cNvCxnSpPr>
            <p:nvPr/>
          </p:nvCxnSpPr>
          <p:spPr>
            <a:xfrm flipH="1">
              <a:off x="9733280" y="1991360"/>
              <a:ext cx="457200" cy="186032"/>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9733280" y="2262096"/>
              <a:ext cx="477519" cy="642200"/>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a:endCxn id="13" idx="3"/>
            </p:cNvCxnSpPr>
            <p:nvPr/>
          </p:nvCxnSpPr>
          <p:spPr>
            <a:xfrm flipH="1">
              <a:off x="9753600" y="3148756"/>
              <a:ext cx="492760" cy="751980"/>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a:stCxn id="49" idx="2"/>
              <a:endCxn id="13" idx="3"/>
            </p:cNvCxnSpPr>
            <p:nvPr/>
          </p:nvCxnSpPr>
          <p:spPr>
            <a:xfrm flipH="1" flipV="1">
              <a:off x="9753600" y="3900736"/>
              <a:ext cx="538480" cy="344600"/>
            </a:xfrm>
            <a:prstGeom prst="straightConnector1">
              <a:avLst/>
            </a:prstGeom>
            <a:ln>
              <a:solidFill>
                <a:schemeClr val="accent2"/>
              </a:solidFill>
              <a:prstDash val="dash"/>
              <a:tailEnd type="stealth"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2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right)">
                                      <p:cBhvr>
                                        <p:cTn id="12" dur="1000"/>
                                        <p:tgtEl>
                                          <p:spTgt spid="3"/>
                                        </p:tgtEl>
                                      </p:cBhvr>
                                    </p:animEffect>
                                  </p:childTnLst>
                                </p:cTn>
                              </p:par>
                              <p:par>
                                <p:cTn id="13" presetID="22" presetClass="entr" presetSubtype="8"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程序设计的任务</a:t>
            </a:r>
            <a:endParaRPr lang="zh-CN" altLang="en-US" dirty="0"/>
          </a:p>
        </p:txBody>
      </p:sp>
      <p:grpSp>
        <p:nvGrpSpPr>
          <p:cNvPr id="3" name="组合 2"/>
          <p:cNvGrpSpPr/>
          <p:nvPr/>
        </p:nvGrpSpPr>
        <p:grpSpPr>
          <a:xfrm>
            <a:off x="2380112" y="1511091"/>
            <a:ext cx="3190875" cy="1514475"/>
            <a:chOff x="2380112" y="1511091"/>
            <a:chExt cx="3190875" cy="1514475"/>
          </a:xfrm>
        </p:grpSpPr>
        <p:sp>
          <p:nvSpPr>
            <p:cNvPr id="7" name="MH_Other_4"/>
            <p:cNvSpPr/>
            <p:nvPr>
              <p:custDataLst>
                <p:tags r:id="rId1"/>
              </p:custDataLst>
            </p:nvPr>
          </p:nvSpPr>
          <p:spPr>
            <a:xfrm flipV="1">
              <a:off x="2380112" y="1511091"/>
              <a:ext cx="3190875" cy="1514475"/>
            </a:xfrm>
            <a:custGeom>
              <a:avLst/>
              <a:gdLst>
                <a:gd name="connsiteX0" fmla="*/ 662583 w 3190875"/>
                <a:gd name="connsiteY0" fmla="*/ 0 h 1514475"/>
                <a:gd name="connsiteX1" fmla="*/ 3190875 w 3190875"/>
                <a:gd name="connsiteY1" fmla="*/ 0 h 1514475"/>
                <a:gd name="connsiteX2" fmla="*/ 3190875 w 3190875"/>
                <a:gd name="connsiteY2" fmla="*/ 378619 h 1514475"/>
                <a:gd name="connsiteX3" fmla="*/ 662583 w 3190875"/>
                <a:gd name="connsiteY3" fmla="*/ 378619 h 1514475"/>
                <a:gd name="connsiteX4" fmla="*/ 378619 w 3190875"/>
                <a:gd name="connsiteY4" fmla="*/ 662583 h 1514475"/>
                <a:gd name="connsiteX5" fmla="*/ 378619 w 3190875"/>
                <a:gd name="connsiteY5" fmla="*/ 1514475 h 1514475"/>
                <a:gd name="connsiteX6" fmla="*/ 0 w 3190875"/>
                <a:gd name="connsiteY6" fmla="*/ 1514475 h 1514475"/>
                <a:gd name="connsiteX7" fmla="*/ 0 w 3190875"/>
                <a:gd name="connsiteY7" fmla="*/ 662583 h 1514475"/>
                <a:gd name="connsiteX8" fmla="*/ 662583 w 3190875"/>
                <a:gd name="connsiteY8" fmla="*/ 0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0875" h="1514475">
                  <a:moveTo>
                    <a:pt x="662583" y="0"/>
                  </a:moveTo>
                  <a:lnTo>
                    <a:pt x="3190875" y="0"/>
                  </a:lnTo>
                  <a:lnTo>
                    <a:pt x="3190875" y="378619"/>
                  </a:lnTo>
                  <a:lnTo>
                    <a:pt x="662583" y="378619"/>
                  </a:lnTo>
                  <a:cubicBezTo>
                    <a:pt x="505754" y="378619"/>
                    <a:pt x="378619" y="505754"/>
                    <a:pt x="378619" y="662583"/>
                  </a:cubicBezTo>
                  <a:lnTo>
                    <a:pt x="378619" y="1514475"/>
                  </a:lnTo>
                  <a:lnTo>
                    <a:pt x="0" y="1514475"/>
                  </a:lnTo>
                  <a:lnTo>
                    <a:pt x="0" y="662583"/>
                  </a:lnTo>
                  <a:cubicBezTo>
                    <a:pt x="0" y="296649"/>
                    <a:pt x="296649" y="0"/>
                    <a:pt x="66258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3" name="MH_Other_7"/>
            <p:cNvSpPr/>
            <p:nvPr>
              <p:custDataLst>
                <p:tags r:id="rId2"/>
              </p:custDataLst>
            </p:nvPr>
          </p:nvSpPr>
          <p:spPr>
            <a:xfrm>
              <a:off x="2524575" y="2054016"/>
              <a:ext cx="71437"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14" name="MH_Other_8"/>
            <p:cNvSpPr/>
            <p:nvPr>
              <p:custDataLst>
                <p:tags r:id="rId3"/>
              </p:custDataLst>
            </p:nvPr>
          </p:nvSpPr>
          <p:spPr>
            <a:xfrm>
              <a:off x="4820100" y="2796966"/>
              <a:ext cx="71437"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15" name="MH_Other_9"/>
            <p:cNvSpPr/>
            <p:nvPr>
              <p:custDataLst>
                <p:tags r:id="rId4"/>
              </p:custDataLst>
            </p:nvPr>
          </p:nvSpPr>
          <p:spPr>
            <a:xfrm>
              <a:off x="4972500" y="2796966"/>
              <a:ext cx="71437"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grpSp>
      <p:grpSp>
        <p:nvGrpSpPr>
          <p:cNvPr id="38" name="组合 37"/>
          <p:cNvGrpSpPr/>
          <p:nvPr/>
        </p:nvGrpSpPr>
        <p:grpSpPr>
          <a:xfrm>
            <a:off x="5570987" y="2644566"/>
            <a:ext cx="4705350" cy="2443162"/>
            <a:chOff x="5570987" y="2644566"/>
            <a:chExt cx="4705350" cy="2443162"/>
          </a:xfrm>
        </p:grpSpPr>
        <p:sp>
          <p:nvSpPr>
            <p:cNvPr id="8" name="MH_Other_5"/>
            <p:cNvSpPr/>
            <p:nvPr>
              <p:custDataLst>
                <p:tags r:id="rId5"/>
              </p:custDataLst>
            </p:nvPr>
          </p:nvSpPr>
          <p:spPr>
            <a:xfrm flipV="1">
              <a:off x="5570987" y="2644566"/>
              <a:ext cx="3190875" cy="1514475"/>
            </a:xfrm>
            <a:custGeom>
              <a:avLst/>
              <a:gdLst>
                <a:gd name="connsiteX0" fmla="*/ 662583 w 3190875"/>
                <a:gd name="connsiteY0" fmla="*/ 0 h 1514475"/>
                <a:gd name="connsiteX1" fmla="*/ 3190875 w 3190875"/>
                <a:gd name="connsiteY1" fmla="*/ 0 h 1514475"/>
                <a:gd name="connsiteX2" fmla="*/ 3190875 w 3190875"/>
                <a:gd name="connsiteY2" fmla="*/ 378619 h 1514475"/>
                <a:gd name="connsiteX3" fmla="*/ 662583 w 3190875"/>
                <a:gd name="connsiteY3" fmla="*/ 378619 h 1514475"/>
                <a:gd name="connsiteX4" fmla="*/ 378619 w 3190875"/>
                <a:gd name="connsiteY4" fmla="*/ 662583 h 1514475"/>
                <a:gd name="connsiteX5" fmla="*/ 378619 w 3190875"/>
                <a:gd name="connsiteY5" fmla="*/ 1514475 h 1514475"/>
                <a:gd name="connsiteX6" fmla="*/ 0 w 3190875"/>
                <a:gd name="connsiteY6" fmla="*/ 1514475 h 1514475"/>
                <a:gd name="connsiteX7" fmla="*/ 0 w 3190875"/>
                <a:gd name="connsiteY7" fmla="*/ 662583 h 1514475"/>
                <a:gd name="connsiteX8" fmla="*/ 662583 w 3190875"/>
                <a:gd name="connsiteY8" fmla="*/ 0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0875" h="1514475">
                  <a:moveTo>
                    <a:pt x="662583" y="0"/>
                  </a:moveTo>
                  <a:lnTo>
                    <a:pt x="3190875" y="0"/>
                  </a:lnTo>
                  <a:lnTo>
                    <a:pt x="3190875" y="378619"/>
                  </a:lnTo>
                  <a:lnTo>
                    <a:pt x="662583" y="378619"/>
                  </a:lnTo>
                  <a:cubicBezTo>
                    <a:pt x="505754" y="378619"/>
                    <a:pt x="378619" y="505754"/>
                    <a:pt x="378619" y="662583"/>
                  </a:cubicBezTo>
                  <a:lnTo>
                    <a:pt x="378619" y="1514475"/>
                  </a:lnTo>
                  <a:lnTo>
                    <a:pt x="0" y="1514475"/>
                  </a:lnTo>
                  <a:lnTo>
                    <a:pt x="0" y="662583"/>
                  </a:lnTo>
                  <a:cubicBezTo>
                    <a:pt x="0" y="296649"/>
                    <a:pt x="296649" y="0"/>
                    <a:pt x="66258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9" name="MH_Other_6"/>
            <p:cNvSpPr/>
            <p:nvPr>
              <p:custDataLst>
                <p:tags r:id="rId6"/>
              </p:custDataLst>
            </p:nvPr>
          </p:nvSpPr>
          <p:spPr>
            <a:xfrm rot="5400000">
              <a:off x="8864256" y="3675647"/>
              <a:ext cx="1309687" cy="1514475"/>
            </a:xfrm>
            <a:custGeom>
              <a:avLst/>
              <a:gdLst>
                <a:gd name="connsiteX0" fmla="*/ 0 w 1309689"/>
                <a:gd name="connsiteY0" fmla="*/ 1514475 h 1514475"/>
                <a:gd name="connsiteX1" fmla="*/ 0 w 1309689"/>
                <a:gd name="connsiteY1" fmla="*/ 662583 h 1514475"/>
                <a:gd name="connsiteX2" fmla="*/ 662583 w 1309689"/>
                <a:gd name="connsiteY2" fmla="*/ 0 h 1514475"/>
                <a:gd name="connsiteX3" fmla="*/ 1309689 w 1309689"/>
                <a:gd name="connsiteY3" fmla="*/ 0 h 1514475"/>
                <a:gd name="connsiteX4" fmla="*/ 1309689 w 1309689"/>
                <a:gd name="connsiteY4" fmla="*/ 378619 h 1514475"/>
                <a:gd name="connsiteX5" fmla="*/ 662583 w 1309689"/>
                <a:gd name="connsiteY5" fmla="*/ 378619 h 1514475"/>
                <a:gd name="connsiteX6" fmla="*/ 378619 w 1309689"/>
                <a:gd name="connsiteY6" fmla="*/ 662583 h 1514475"/>
                <a:gd name="connsiteX7" fmla="*/ 378619 w 1309689"/>
                <a:gd name="connsiteY7"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9689" h="1514475">
                  <a:moveTo>
                    <a:pt x="0" y="1514475"/>
                  </a:moveTo>
                  <a:lnTo>
                    <a:pt x="0" y="662583"/>
                  </a:lnTo>
                  <a:cubicBezTo>
                    <a:pt x="0" y="296649"/>
                    <a:pt x="296649" y="0"/>
                    <a:pt x="662583" y="0"/>
                  </a:cubicBezTo>
                  <a:lnTo>
                    <a:pt x="1309689" y="0"/>
                  </a:lnTo>
                  <a:lnTo>
                    <a:pt x="1309689" y="378619"/>
                  </a:lnTo>
                  <a:lnTo>
                    <a:pt x="662583" y="378619"/>
                  </a:lnTo>
                  <a:cubicBezTo>
                    <a:pt x="505754" y="378619"/>
                    <a:pt x="378619" y="505754"/>
                    <a:pt x="378619" y="662583"/>
                  </a:cubicBezTo>
                  <a:lnTo>
                    <a:pt x="378619" y="151447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16" name="MH_Other_10"/>
            <p:cNvSpPr/>
            <p:nvPr>
              <p:custDataLst>
                <p:tags r:id="rId7"/>
              </p:custDataLst>
            </p:nvPr>
          </p:nvSpPr>
          <p:spPr>
            <a:xfrm>
              <a:off x="8950775" y="3930441"/>
              <a:ext cx="73025"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17" name="MH_Other_11"/>
            <p:cNvSpPr/>
            <p:nvPr>
              <p:custDataLst>
                <p:tags r:id="rId8"/>
              </p:custDataLst>
            </p:nvPr>
          </p:nvSpPr>
          <p:spPr>
            <a:xfrm>
              <a:off x="9103175" y="3930441"/>
              <a:ext cx="73025"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18" name="MH_Other_12"/>
            <p:cNvSpPr/>
            <p:nvPr>
              <p:custDataLst>
                <p:tags r:id="rId9"/>
              </p:custDataLst>
            </p:nvPr>
          </p:nvSpPr>
          <p:spPr>
            <a:xfrm>
              <a:off x="9255575" y="3930441"/>
              <a:ext cx="73025"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grpSp>
      <p:grpSp>
        <p:nvGrpSpPr>
          <p:cNvPr id="39" name="组合 38"/>
          <p:cNvGrpSpPr/>
          <p:nvPr/>
        </p:nvGrpSpPr>
        <p:grpSpPr>
          <a:xfrm>
            <a:off x="7085462" y="4309853"/>
            <a:ext cx="3190875" cy="1514475"/>
            <a:chOff x="7085462" y="4309853"/>
            <a:chExt cx="3190875" cy="1514475"/>
          </a:xfrm>
        </p:grpSpPr>
        <p:sp>
          <p:nvSpPr>
            <p:cNvPr id="6" name="MH_Other_3"/>
            <p:cNvSpPr/>
            <p:nvPr>
              <p:custDataLst>
                <p:tags r:id="rId10"/>
              </p:custDataLst>
            </p:nvPr>
          </p:nvSpPr>
          <p:spPr>
            <a:xfrm flipH="1" flipV="1">
              <a:off x="7085462" y="4309853"/>
              <a:ext cx="3190875" cy="1514475"/>
            </a:xfrm>
            <a:custGeom>
              <a:avLst/>
              <a:gdLst>
                <a:gd name="connsiteX0" fmla="*/ 662583 w 3190875"/>
                <a:gd name="connsiteY0" fmla="*/ 0 h 1514475"/>
                <a:gd name="connsiteX1" fmla="*/ 3190875 w 3190875"/>
                <a:gd name="connsiteY1" fmla="*/ 0 h 1514475"/>
                <a:gd name="connsiteX2" fmla="*/ 3190875 w 3190875"/>
                <a:gd name="connsiteY2" fmla="*/ 378619 h 1514475"/>
                <a:gd name="connsiteX3" fmla="*/ 662583 w 3190875"/>
                <a:gd name="connsiteY3" fmla="*/ 378619 h 1514475"/>
                <a:gd name="connsiteX4" fmla="*/ 378619 w 3190875"/>
                <a:gd name="connsiteY4" fmla="*/ 662583 h 1514475"/>
                <a:gd name="connsiteX5" fmla="*/ 378619 w 3190875"/>
                <a:gd name="connsiteY5" fmla="*/ 1514475 h 1514475"/>
                <a:gd name="connsiteX6" fmla="*/ 0 w 3190875"/>
                <a:gd name="connsiteY6" fmla="*/ 1514475 h 1514475"/>
                <a:gd name="connsiteX7" fmla="*/ 0 w 3190875"/>
                <a:gd name="connsiteY7" fmla="*/ 662583 h 1514475"/>
                <a:gd name="connsiteX8" fmla="*/ 662583 w 3190875"/>
                <a:gd name="connsiteY8" fmla="*/ 0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90875" h="1514475">
                  <a:moveTo>
                    <a:pt x="662583" y="0"/>
                  </a:moveTo>
                  <a:lnTo>
                    <a:pt x="3190875" y="0"/>
                  </a:lnTo>
                  <a:lnTo>
                    <a:pt x="3190875" y="378619"/>
                  </a:lnTo>
                  <a:lnTo>
                    <a:pt x="662583" y="378619"/>
                  </a:lnTo>
                  <a:cubicBezTo>
                    <a:pt x="505754" y="378619"/>
                    <a:pt x="378619" y="505754"/>
                    <a:pt x="378619" y="662583"/>
                  </a:cubicBezTo>
                  <a:lnTo>
                    <a:pt x="378619" y="1514475"/>
                  </a:lnTo>
                  <a:lnTo>
                    <a:pt x="0" y="1514475"/>
                  </a:lnTo>
                  <a:lnTo>
                    <a:pt x="0" y="662583"/>
                  </a:lnTo>
                  <a:cubicBezTo>
                    <a:pt x="0" y="296649"/>
                    <a:pt x="296649" y="0"/>
                    <a:pt x="662583"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0" name="MH_Other_13"/>
            <p:cNvSpPr/>
            <p:nvPr>
              <p:custDataLst>
                <p:tags r:id="rId11"/>
              </p:custDataLst>
            </p:nvPr>
          </p:nvSpPr>
          <p:spPr>
            <a:xfrm>
              <a:off x="8060186" y="5602077"/>
              <a:ext cx="71438"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1" name="MH_Other_14"/>
            <p:cNvSpPr/>
            <p:nvPr>
              <p:custDataLst>
                <p:tags r:id="rId12"/>
              </p:custDataLst>
            </p:nvPr>
          </p:nvSpPr>
          <p:spPr>
            <a:xfrm>
              <a:off x="8212586" y="5602077"/>
              <a:ext cx="71438"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2" name="MH_Other_15"/>
            <p:cNvSpPr/>
            <p:nvPr>
              <p:custDataLst>
                <p:tags r:id="rId13"/>
              </p:custDataLst>
            </p:nvPr>
          </p:nvSpPr>
          <p:spPr>
            <a:xfrm>
              <a:off x="8364986" y="5602077"/>
              <a:ext cx="71438"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3" name="MH_Other_16"/>
            <p:cNvSpPr/>
            <p:nvPr>
              <p:custDataLst>
                <p:tags r:id="rId14"/>
              </p:custDataLst>
            </p:nvPr>
          </p:nvSpPr>
          <p:spPr>
            <a:xfrm>
              <a:off x="8517386" y="5602077"/>
              <a:ext cx="71438"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grpSp>
      <p:grpSp>
        <p:nvGrpSpPr>
          <p:cNvPr id="40" name="组合 39"/>
          <p:cNvGrpSpPr/>
          <p:nvPr/>
        </p:nvGrpSpPr>
        <p:grpSpPr>
          <a:xfrm>
            <a:off x="5443987" y="4432091"/>
            <a:ext cx="2036763" cy="1514475"/>
            <a:chOff x="5443987" y="4432091"/>
            <a:chExt cx="2036763" cy="1514475"/>
          </a:xfrm>
        </p:grpSpPr>
        <p:sp>
          <p:nvSpPr>
            <p:cNvPr id="5" name="MH_Other_2"/>
            <p:cNvSpPr/>
            <p:nvPr>
              <p:custDataLst>
                <p:tags r:id="rId15"/>
              </p:custDataLst>
            </p:nvPr>
          </p:nvSpPr>
          <p:spPr>
            <a:xfrm flipH="1">
              <a:off x="5443987" y="4432091"/>
              <a:ext cx="2036763" cy="1514475"/>
            </a:xfrm>
            <a:custGeom>
              <a:avLst/>
              <a:gdLst>
                <a:gd name="connsiteX0" fmla="*/ 2036881 w 2036881"/>
                <a:gd name="connsiteY0" fmla="*/ 0 h 1514475"/>
                <a:gd name="connsiteX1" fmla="*/ 662583 w 2036881"/>
                <a:gd name="connsiteY1" fmla="*/ 0 h 1514475"/>
                <a:gd name="connsiteX2" fmla="*/ 0 w 2036881"/>
                <a:gd name="connsiteY2" fmla="*/ 662583 h 1514475"/>
                <a:gd name="connsiteX3" fmla="*/ 0 w 2036881"/>
                <a:gd name="connsiteY3" fmla="*/ 1514475 h 1514475"/>
                <a:gd name="connsiteX4" fmla="*/ 378619 w 2036881"/>
                <a:gd name="connsiteY4" fmla="*/ 1514475 h 1514475"/>
                <a:gd name="connsiteX5" fmla="*/ 378619 w 2036881"/>
                <a:gd name="connsiteY5" fmla="*/ 662583 h 1514475"/>
                <a:gd name="connsiteX6" fmla="*/ 662583 w 2036881"/>
                <a:gd name="connsiteY6" fmla="*/ 378619 h 1514475"/>
                <a:gd name="connsiteX7" fmla="*/ 2036881 w 2036881"/>
                <a:gd name="connsiteY7" fmla="*/ 378619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6881" h="1514475">
                  <a:moveTo>
                    <a:pt x="2036881" y="0"/>
                  </a:moveTo>
                  <a:lnTo>
                    <a:pt x="662583" y="0"/>
                  </a:lnTo>
                  <a:cubicBezTo>
                    <a:pt x="296649" y="0"/>
                    <a:pt x="0" y="296649"/>
                    <a:pt x="0" y="662583"/>
                  </a:cubicBezTo>
                  <a:lnTo>
                    <a:pt x="0" y="1514475"/>
                  </a:lnTo>
                  <a:lnTo>
                    <a:pt x="378619" y="1514475"/>
                  </a:lnTo>
                  <a:lnTo>
                    <a:pt x="378619" y="662583"/>
                  </a:lnTo>
                  <a:cubicBezTo>
                    <a:pt x="378619" y="505754"/>
                    <a:pt x="505754" y="378619"/>
                    <a:pt x="662583" y="378619"/>
                  </a:cubicBezTo>
                  <a:lnTo>
                    <a:pt x="2036881" y="37861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25" name="MH_Other_17"/>
            <p:cNvSpPr/>
            <p:nvPr>
              <p:custDataLst>
                <p:tags r:id="rId16"/>
              </p:custDataLst>
            </p:nvPr>
          </p:nvSpPr>
          <p:spPr>
            <a:xfrm>
              <a:off x="5613850" y="4582902"/>
              <a:ext cx="71437"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6" name="MH_Other_18"/>
            <p:cNvSpPr/>
            <p:nvPr>
              <p:custDataLst>
                <p:tags r:id="rId17"/>
              </p:custDataLst>
            </p:nvPr>
          </p:nvSpPr>
          <p:spPr>
            <a:xfrm>
              <a:off x="5766250" y="4582902"/>
              <a:ext cx="71437"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7" name="MH_Other_19"/>
            <p:cNvSpPr/>
            <p:nvPr>
              <p:custDataLst>
                <p:tags r:id="rId18"/>
              </p:custDataLst>
            </p:nvPr>
          </p:nvSpPr>
          <p:spPr>
            <a:xfrm>
              <a:off x="5918650" y="4582902"/>
              <a:ext cx="71437"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8" name="MH_Other_20"/>
            <p:cNvSpPr/>
            <p:nvPr>
              <p:custDataLst>
                <p:tags r:id="rId19"/>
              </p:custDataLst>
            </p:nvPr>
          </p:nvSpPr>
          <p:spPr>
            <a:xfrm>
              <a:off x="6071050" y="4582902"/>
              <a:ext cx="71437"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29" name="MH_Other_21"/>
            <p:cNvSpPr/>
            <p:nvPr>
              <p:custDataLst>
                <p:tags r:id="rId20"/>
              </p:custDataLst>
            </p:nvPr>
          </p:nvSpPr>
          <p:spPr>
            <a:xfrm>
              <a:off x="6223450" y="4582902"/>
              <a:ext cx="71437" cy="71438"/>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grpSp>
      <p:sp>
        <p:nvSpPr>
          <p:cNvPr id="30" name="MH_Other_22"/>
          <p:cNvSpPr/>
          <p:nvPr>
            <p:custDataLst>
              <p:tags r:id="rId21"/>
            </p:custDataLst>
          </p:nvPr>
        </p:nvSpPr>
        <p:spPr>
          <a:xfrm rot="16200000" flipH="1" flipV="1">
            <a:off x="1487143" y="4432884"/>
            <a:ext cx="2036762" cy="1514475"/>
          </a:xfrm>
          <a:custGeom>
            <a:avLst/>
            <a:gdLst>
              <a:gd name="connsiteX0" fmla="*/ 2036881 w 2036881"/>
              <a:gd name="connsiteY0" fmla="*/ 0 h 1514475"/>
              <a:gd name="connsiteX1" fmla="*/ 662583 w 2036881"/>
              <a:gd name="connsiteY1" fmla="*/ 0 h 1514475"/>
              <a:gd name="connsiteX2" fmla="*/ 0 w 2036881"/>
              <a:gd name="connsiteY2" fmla="*/ 662583 h 1514475"/>
              <a:gd name="connsiteX3" fmla="*/ 0 w 2036881"/>
              <a:gd name="connsiteY3" fmla="*/ 1514475 h 1514475"/>
              <a:gd name="connsiteX4" fmla="*/ 378619 w 2036881"/>
              <a:gd name="connsiteY4" fmla="*/ 1514475 h 1514475"/>
              <a:gd name="connsiteX5" fmla="*/ 378619 w 2036881"/>
              <a:gd name="connsiteY5" fmla="*/ 662583 h 1514475"/>
              <a:gd name="connsiteX6" fmla="*/ 662583 w 2036881"/>
              <a:gd name="connsiteY6" fmla="*/ 378619 h 1514475"/>
              <a:gd name="connsiteX7" fmla="*/ 2036881 w 2036881"/>
              <a:gd name="connsiteY7" fmla="*/ 378619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6881" h="1514475">
                <a:moveTo>
                  <a:pt x="2036881" y="0"/>
                </a:moveTo>
                <a:lnTo>
                  <a:pt x="662583" y="0"/>
                </a:lnTo>
                <a:cubicBezTo>
                  <a:pt x="296649" y="0"/>
                  <a:pt x="0" y="296649"/>
                  <a:pt x="0" y="662583"/>
                </a:cubicBezTo>
                <a:lnTo>
                  <a:pt x="0" y="1514475"/>
                </a:lnTo>
                <a:lnTo>
                  <a:pt x="378619" y="1514475"/>
                </a:lnTo>
                <a:lnTo>
                  <a:pt x="378619" y="662583"/>
                </a:lnTo>
                <a:cubicBezTo>
                  <a:pt x="378619" y="505754"/>
                  <a:pt x="505754" y="378619"/>
                  <a:pt x="662583" y="378619"/>
                </a:cubicBezTo>
                <a:lnTo>
                  <a:pt x="2036881" y="37861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grpSp>
        <p:nvGrpSpPr>
          <p:cNvPr id="41" name="组合 40"/>
          <p:cNvGrpSpPr/>
          <p:nvPr/>
        </p:nvGrpSpPr>
        <p:grpSpPr>
          <a:xfrm>
            <a:off x="3080199" y="4697203"/>
            <a:ext cx="2036762" cy="1514475"/>
            <a:chOff x="3080199" y="4697203"/>
            <a:chExt cx="2036762" cy="1514475"/>
          </a:xfrm>
        </p:grpSpPr>
        <p:sp>
          <p:nvSpPr>
            <p:cNvPr id="4" name="MH_Other_1"/>
            <p:cNvSpPr/>
            <p:nvPr>
              <p:custDataLst>
                <p:tags r:id="rId22"/>
              </p:custDataLst>
            </p:nvPr>
          </p:nvSpPr>
          <p:spPr>
            <a:xfrm flipH="1" flipV="1">
              <a:off x="3080199" y="4697203"/>
              <a:ext cx="2036762" cy="1514475"/>
            </a:xfrm>
            <a:custGeom>
              <a:avLst/>
              <a:gdLst>
                <a:gd name="connsiteX0" fmla="*/ 2036881 w 2036881"/>
                <a:gd name="connsiteY0" fmla="*/ 0 h 1514475"/>
                <a:gd name="connsiteX1" fmla="*/ 662583 w 2036881"/>
                <a:gd name="connsiteY1" fmla="*/ 0 h 1514475"/>
                <a:gd name="connsiteX2" fmla="*/ 0 w 2036881"/>
                <a:gd name="connsiteY2" fmla="*/ 662583 h 1514475"/>
                <a:gd name="connsiteX3" fmla="*/ 0 w 2036881"/>
                <a:gd name="connsiteY3" fmla="*/ 1514475 h 1514475"/>
                <a:gd name="connsiteX4" fmla="*/ 378619 w 2036881"/>
                <a:gd name="connsiteY4" fmla="*/ 1514475 h 1514475"/>
                <a:gd name="connsiteX5" fmla="*/ 378619 w 2036881"/>
                <a:gd name="connsiteY5" fmla="*/ 662583 h 1514475"/>
                <a:gd name="connsiteX6" fmla="*/ 662583 w 2036881"/>
                <a:gd name="connsiteY6" fmla="*/ 378619 h 1514475"/>
                <a:gd name="connsiteX7" fmla="*/ 2036881 w 2036881"/>
                <a:gd name="connsiteY7" fmla="*/ 378619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36881" h="1514475">
                  <a:moveTo>
                    <a:pt x="2036881" y="0"/>
                  </a:moveTo>
                  <a:lnTo>
                    <a:pt x="662583" y="0"/>
                  </a:lnTo>
                  <a:cubicBezTo>
                    <a:pt x="296649" y="0"/>
                    <a:pt x="0" y="296649"/>
                    <a:pt x="0" y="662583"/>
                  </a:cubicBezTo>
                  <a:lnTo>
                    <a:pt x="0" y="1514475"/>
                  </a:lnTo>
                  <a:lnTo>
                    <a:pt x="378619" y="1514475"/>
                  </a:lnTo>
                  <a:lnTo>
                    <a:pt x="378619" y="662583"/>
                  </a:lnTo>
                  <a:cubicBezTo>
                    <a:pt x="378619" y="505754"/>
                    <a:pt x="505754" y="378619"/>
                    <a:pt x="662583" y="378619"/>
                  </a:cubicBezTo>
                  <a:lnTo>
                    <a:pt x="2036881" y="37861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tx1"/>
                </a:solidFill>
              </a:endParaRPr>
            </a:p>
          </p:txBody>
        </p:sp>
        <p:sp>
          <p:nvSpPr>
            <p:cNvPr id="32" name="MH_Other_23"/>
            <p:cNvSpPr/>
            <p:nvPr>
              <p:custDataLst>
                <p:tags r:id="rId23"/>
              </p:custDataLst>
            </p:nvPr>
          </p:nvSpPr>
          <p:spPr>
            <a:xfrm>
              <a:off x="3732661" y="6000541"/>
              <a:ext cx="71438"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33" name="MH_Other_24"/>
            <p:cNvSpPr/>
            <p:nvPr>
              <p:custDataLst>
                <p:tags r:id="rId24"/>
              </p:custDataLst>
            </p:nvPr>
          </p:nvSpPr>
          <p:spPr>
            <a:xfrm>
              <a:off x="3885061" y="6000541"/>
              <a:ext cx="71438"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34" name="MH_Other_25"/>
            <p:cNvSpPr/>
            <p:nvPr>
              <p:custDataLst>
                <p:tags r:id="rId25"/>
              </p:custDataLst>
            </p:nvPr>
          </p:nvSpPr>
          <p:spPr>
            <a:xfrm>
              <a:off x="4037461" y="6000541"/>
              <a:ext cx="71438"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35" name="MH_Other_26"/>
            <p:cNvSpPr/>
            <p:nvPr>
              <p:custDataLst>
                <p:tags r:id="rId26"/>
              </p:custDataLst>
            </p:nvPr>
          </p:nvSpPr>
          <p:spPr>
            <a:xfrm>
              <a:off x="4189861" y="6000541"/>
              <a:ext cx="71438"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36" name="MH_Other_27"/>
            <p:cNvSpPr/>
            <p:nvPr>
              <p:custDataLst>
                <p:tags r:id="rId27"/>
              </p:custDataLst>
            </p:nvPr>
          </p:nvSpPr>
          <p:spPr>
            <a:xfrm>
              <a:off x="4342261" y="6000541"/>
              <a:ext cx="71438"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sp>
          <p:nvSpPr>
            <p:cNvPr id="37" name="MH_Other_28"/>
            <p:cNvSpPr/>
            <p:nvPr>
              <p:custDataLst>
                <p:tags r:id="rId28"/>
              </p:custDataLst>
            </p:nvPr>
          </p:nvSpPr>
          <p:spPr>
            <a:xfrm>
              <a:off x="4494661" y="6000541"/>
              <a:ext cx="71438" cy="71437"/>
            </a:xfrm>
            <a:prstGeom prst="ellipse">
              <a:avLst/>
            </a:prstGeom>
            <a:solidFill>
              <a:srgbClr val="FE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chemeClr val="accent1"/>
                </a:solidFill>
              </a:endParaRPr>
            </a:p>
          </p:txBody>
        </p:sp>
      </p:grpSp>
      <p:sp>
        <p:nvSpPr>
          <p:cNvPr id="10" name="MH_SubTitle_1"/>
          <p:cNvSpPr/>
          <p:nvPr>
            <p:custDataLst>
              <p:tags r:id="rId29"/>
            </p:custDataLst>
          </p:nvPr>
        </p:nvSpPr>
        <p:spPr>
          <a:xfrm>
            <a:off x="1968949" y="2239752"/>
            <a:ext cx="1181100" cy="1181100"/>
          </a:xfrm>
          <a:prstGeom prst="roundRect">
            <a:avLst>
              <a:gd name="adj" fmla="val 29792"/>
            </a:avLst>
          </a:prstGeom>
          <a:solidFill>
            <a:srgbClr val="FEFFFF"/>
          </a:solidFill>
          <a:ln w="3175">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b="1" dirty="0">
                <a:solidFill>
                  <a:schemeClr val="accent1"/>
                </a:solidFill>
              </a:rPr>
              <a:t>问题分析</a:t>
            </a:r>
            <a:endParaRPr lang="zh-CN" altLang="en-US" b="1" dirty="0">
              <a:solidFill>
                <a:schemeClr val="accent1"/>
              </a:solidFill>
            </a:endParaRPr>
          </a:p>
        </p:txBody>
      </p:sp>
      <p:sp>
        <p:nvSpPr>
          <p:cNvPr id="11" name="MH_SubTitle_2"/>
          <p:cNvSpPr/>
          <p:nvPr>
            <p:custDataLst>
              <p:tags r:id="rId30"/>
            </p:custDataLst>
          </p:nvPr>
        </p:nvSpPr>
        <p:spPr>
          <a:xfrm>
            <a:off x="5156649" y="2249277"/>
            <a:ext cx="1181100" cy="1181100"/>
          </a:xfrm>
          <a:prstGeom prst="roundRect">
            <a:avLst>
              <a:gd name="adj" fmla="val 29792"/>
            </a:avLst>
          </a:prstGeom>
          <a:solidFill>
            <a:srgbClr val="FEFFFF"/>
          </a:solidFill>
          <a:ln w="3175">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b="1" dirty="0">
                <a:solidFill>
                  <a:schemeClr val="accent1"/>
                </a:solidFill>
              </a:rPr>
              <a:t>设计算法</a:t>
            </a:r>
            <a:endParaRPr lang="zh-CN" altLang="en-US" b="1" dirty="0">
              <a:solidFill>
                <a:schemeClr val="accent1"/>
              </a:solidFill>
            </a:endParaRPr>
          </a:p>
        </p:txBody>
      </p:sp>
      <p:sp>
        <p:nvSpPr>
          <p:cNvPr id="12" name="MH_SubTitle_3"/>
          <p:cNvSpPr/>
          <p:nvPr>
            <p:custDataLst>
              <p:tags r:id="rId31"/>
            </p:custDataLst>
          </p:nvPr>
        </p:nvSpPr>
        <p:spPr>
          <a:xfrm>
            <a:off x="9482586" y="3376402"/>
            <a:ext cx="1181100" cy="1181100"/>
          </a:xfrm>
          <a:prstGeom prst="roundRect">
            <a:avLst>
              <a:gd name="adj" fmla="val 29792"/>
            </a:avLst>
          </a:prstGeom>
          <a:solidFill>
            <a:srgbClr val="FEFFFF"/>
          </a:solidFill>
          <a:ln w="3175">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b="1" dirty="0">
                <a:solidFill>
                  <a:schemeClr val="accent1"/>
                </a:solidFill>
              </a:rPr>
              <a:t>编写程序</a:t>
            </a:r>
            <a:endParaRPr lang="zh-CN" altLang="en-US" b="1" dirty="0">
              <a:solidFill>
                <a:schemeClr val="accent1"/>
              </a:solidFill>
            </a:endParaRPr>
          </a:p>
        </p:txBody>
      </p:sp>
      <p:sp>
        <p:nvSpPr>
          <p:cNvPr id="19" name="MH_SubTitle_4"/>
          <p:cNvSpPr/>
          <p:nvPr>
            <p:custDataLst>
              <p:tags r:id="rId32"/>
            </p:custDataLst>
          </p:nvPr>
        </p:nvSpPr>
        <p:spPr>
          <a:xfrm>
            <a:off x="6556826" y="5048040"/>
            <a:ext cx="1420812" cy="1181100"/>
          </a:xfrm>
          <a:prstGeom prst="roundRect">
            <a:avLst>
              <a:gd name="adj" fmla="val 29792"/>
            </a:avLst>
          </a:prstGeom>
          <a:solidFill>
            <a:srgbClr val="FEFFFF"/>
          </a:solidFill>
          <a:ln w="3175">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a:defRPr/>
            </a:pPr>
            <a:r>
              <a:rPr lang="zh-CN" altLang="en-US" b="1" dirty="0">
                <a:solidFill>
                  <a:schemeClr val="accent1"/>
                </a:solidFill>
              </a:rPr>
              <a:t>对源程序进行编辑、编译和连接</a:t>
            </a:r>
            <a:endParaRPr lang="zh-CN" altLang="en-US" b="1" dirty="0">
              <a:solidFill>
                <a:schemeClr val="accent1"/>
              </a:solidFill>
            </a:endParaRPr>
          </a:p>
        </p:txBody>
      </p:sp>
      <p:sp>
        <p:nvSpPr>
          <p:cNvPr id="24" name="MH_SubTitle_5"/>
          <p:cNvSpPr/>
          <p:nvPr>
            <p:custDataLst>
              <p:tags r:id="rId33"/>
            </p:custDataLst>
          </p:nvPr>
        </p:nvSpPr>
        <p:spPr>
          <a:xfrm>
            <a:off x="4286699" y="4027277"/>
            <a:ext cx="1181100" cy="1181100"/>
          </a:xfrm>
          <a:prstGeom prst="roundRect">
            <a:avLst>
              <a:gd name="adj" fmla="val 29792"/>
            </a:avLst>
          </a:prstGeom>
          <a:solidFill>
            <a:srgbClr val="FEFFFF"/>
          </a:solidFill>
          <a:ln w="3175">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b="1" dirty="0">
                <a:solidFill>
                  <a:schemeClr val="accent1"/>
                </a:solidFill>
              </a:rPr>
              <a:t>运行程序</a:t>
            </a:r>
            <a:endParaRPr lang="en-US" altLang="zh-CN" b="1" dirty="0">
              <a:solidFill>
                <a:schemeClr val="accent1"/>
              </a:solidFill>
            </a:endParaRPr>
          </a:p>
          <a:p>
            <a:pPr algn="ctr">
              <a:defRPr/>
            </a:pPr>
            <a:r>
              <a:rPr lang="zh-CN" altLang="en-US" b="1" dirty="0">
                <a:solidFill>
                  <a:schemeClr val="accent1"/>
                </a:solidFill>
              </a:rPr>
              <a:t>分析结果</a:t>
            </a:r>
            <a:endParaRPr lang="zh-CN" altLang="en-US" b="1" dirty="0">
              <a:solidFill>
                <a:schemeClr val="accent1"/>
              </a:solidFill>
            </a:endParaRPr>
          </a:p>
        </p:txBody>
      </p:sp>
      <p:sp>
        <p:nvSpPr>
          <p:cNvPr id="31" name="MH_SubTitle_6"/>
          <p:cNvSpPr/>
          <p:nvPr>
            <p:custDataLst>
              <p:tags r:id="rId34"/>
            </p:custDataLst>
          </p:nvPr>
        </p:nvSpPr>
        <p:spPr>
          <a:xfrm>
            <a:off x="2484886" y="5436977"/>
            <a:ext cx="1181100" cy="1181100"/>
          </a:xfrm>
          <a:prstGeom prst="roundRect">
            <a:avLst>
              <a:gd name="adj" fmla="val 29792"/>
            </a:avLst>
          </a:prstGeom>
          <a:solidFill>
            <a:srgbClr val="FEFFFF"/>
          </a:solidFill>
          <a:ln w="3175">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b="1" dirty="0">
                <a:solidFill>
                  <a:schemeClr val="accent1"/>
                </a:solidFill>
              </a:rPr>
              <a:t>编写程序文档</a:t>
            </a:r>
            <a:endParaRPr lang="zh-CN" altLang="en-US" b="1" dirty="0">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26" presetClass="emph" presetSubtype="0" fill="hold" grpId="0" nodeType="withEffect">
                                  <p:stCondLst>
                                    <p:cond delay="250"/>
                                  </p:stCondLst>
                                  <p:childTnLst>
                                    <p:animEffect transition="out" filter="fade">
                                      <p:cBhvr>
                                        <p:cTn id="9" dur="750" tmFilter="0, 0; .2, .5; .8, .5; 1, 0"/>
                                        <p:tgtEl>
                                          <p:spTgt spid="10"/>
                                        </p:tgtEl>
                                      </p:cBhvr>
                                    </p:animEffect>
                                    <p:animScale>
                                      <p:cBhvr>
                                        <p:cTn id="10" dur="375" autoRev="1" fill="hold"/>
                                        <p:tgtEl>
                                          <p:spTgt spid="10"/>
                                        </p:tgtEl>
                                      </p:cBhvr>
                                      <p:by x="105000" y="105000"/>
                                    </p:animScale>
                                  </p:childTnLst>
                                </p:cTn>
                              </p:par>
                              <p:par>
                                <p:cTn id="11" presetID="26" presetClass="emph" presetSubtype="0" fill="hold" grpId="0" nodeType="withEffect">
                                  <p:stCondLst>
                                    <p:cond delay="1250"/>
                                  </p:stCondLst>
                                  <p:childTnLst>
                                    <p:animEffect transition="out" filter="fade">
                                      <p:cBhvr>
                                        <p:cTn id="12" dur="1750" tmFilter="0, 0; .2, .5; .8, .5; 1, 0"/>
                                        <p:tgtEl>
                                          <p:spTgt spid="11"/>
                                        </p:tgtEl>
                                      </p:cBhvr>
                                    </p:animEffect>
                                    <p:animScale>
                                      <p:cBhvr>
                                        <p:cTn id="13" dur="875" autoRev="1" fill="hold"/>
                                        <p:tgtEl>
                                          <p:spTgt spid="11"/>
                                        </p:tgtEl>
                                      </p:cBhvr>
                                      <p:by x="105000" y="105000"/>
                                    </p:animScale>
                                  </p:childTnLst>
                                </p:cTn>
                              </p:par>
                            </p:childTnLst>
                          </p:cTn>
                        </p:par>
                        <p:par>
                          <p:cTn id="14" fill="hold">
                            <p:stCondLst>
                              <p:cond delay="2000"/>
                            </p:stCondLst>
                            <p:childTnLst>
                              <p:par>
                                <p:cTn id="15" presetID="22" presetClass="entr" presetSubtype="8" fill="hold" nodeType="after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2000"/>
                                        <p:tgtEl>
                                          <p:spTgt spid="38"/>
                                        </p:tgtEl>
                                      </p:cBhvr>
                                    </p:animEffect>
                                  </p:childTnLst>
                                </p:cTn>
                              </p:par>
                              <p:par>
                                <p:cTn id="18" presetID="26" presetClass="emph" presetSubtype="0" fill="hold" grpId="0" nodeType="withEffect">
                                  <p:stCondLst>
                                    <p:cond delay="1250"/>
                                  </p:stCondLst>
                                  <p:childTnLst>
                                    <p:animEffect transition="out" filter="fade">
                                      <p:cBhvr>
                                        <p:cTn id="19" dur="500" tmFilter="0, 0; .2, .5; .8, .5; 1, 0"/>
                                        <p:tgtEl>
                                          <p:spTgt spid="12"/>
                                        </p:tgtEl>
                                      </p:cBhvr>
                                    </p:animEffect>
                                    <p:animScale>
                                      <p:cBhvr>
                                        <p:cTn id="20" dur="250" autoRev="1" fill="hold"/>
                                        <p:tgtEl>
                                          <p:spTgt spid="12"/>
                                        </p:tgtEl>
                                      </p:cBhvr>
                                      <p:by x="105000" y="105000"/>
                                    </p:animScale>
                                  </p:childTnLst>
                                </p:cTn>
                              </p:par>
                            </p:childTnLst>
                          </p:cTn>
                        </p:par>
                        <p:par>
                          <p:cTn id="21" fill="hold">
                            <p:stCondLst>
                              <p:cond delay="4000"/>
                            </p:stCondLst>
                            <p:childTnLst>
                              <p:par>
                                <p:cTn id="22" presetID="22" presetClass="entr" presetSubtype="2" fill="hold" nodeType="after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wipe(right)">
                                      <p:cBhvr>
                                        <p:cTn id="24" dur="2000"/>
                                        <p:tgtEl>
                                          <p:spTgt spid="39"/>
                                        </p:tgtEl>
                                      </p:cBhvr>
                                    </p:animEffect>
                                  </p:childTnLst>
                                </p:cTn>
                              </p:par>
                              <p:par>
                                <p:cTn id="25" presetID="26" presetClass="emph" presetSubtype="0" fill="hold" grpId="0" nodeType="withEffect">
                                  <p:stCondLst>
                                    <p:cond delay="1250"/>
                                  </p:stCondLst>
                                  <p:childTnLst>
                                    <p:animEffect transition="out" filter="fade">
                                      <p:cBhvr>
                                        <p:cTn id="26" dur="500" tmFilter="0, 0; .2, .5; .8, .5; 1, 0"/>
                                        <p:tgtEl>
                                          <p:spTgt spid="19"/>
                                        </p:tgtEl>
                                      </p:cBhvr>
                                    </p:animEffect>
                                    <p:animScale>
                                      <p:cBhvr>
                                        <p:cTn id="27" dur="250" autoRev="1" fill="hold"/>
                                        <p:tgtEl>
                                          <p:spTgt spid="19"/>
                                        </p:tgtEl>
                                      </p:cBhvr>
                                      <p:by x="105000" y="105000"/>
                                    </p:animScale>
                                  </p:childTnLst>
                                </p:cTn>
                              </p:par>
                            </p:childTnLst>
                          </p:cTn>
                        </p:par>
                        <p:par>
                          <p:cTn id="28" fill="hold">
                            <p:stCondLst>
                              <p:cond delay="6000"/>
                            </p:stCondLst>
                            <p:childTnLst>
                              <p:par>
                                <p:cTn id="29" presetID="22" presetClass="entr" presetSubtype="2"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wipe(right)">
                                      <p:cBhvr>
                                        <p:cTn id="31" dur="1500"/>
                                        <p:tgtEl>
                                          <p:spTgt spid="40"/>
                                        </p:tgtEl>
                                      </p:cBhvr>
                                    </p:animEffect>
                                  </p:childTnLst>
                                </p:cTn>
                              </p:par>
                              <p:par>
                                <p:cTn id="32" presetID="26" presetClass="emph" presetSubtype="0" fill="hold" grpId="0" nodeType="withEffect">
                                  <p:stCondLst>
                                    <p:cond delay="750"/>
                                  </p:stCondLst>
                                  <p:childTnLst>
                                    <p:animEffect transition="out" filter="fade">
                                      <p:cBhvr>
                                        <p:cTn id="33" dur="500" tmFilter="0, 0; .2, .5; .8, .5; 1, 0"/>
                                        <p:tgtEl>
                                          <p:spTgt spid="24"/>
                                        </p:tgtEl>
                                      </p:cBhvr>
                                    </p:animEffect>
                                    <p:animScale>
                                      <p:cBhvr>
                                        <p:cTn id="34" dur="250" autoRev="1" fill="hold"/>
                                        <p:tgtEl>
                                          <p:spTgt spid="24"/>
                                        </p:tgtEl>
                                      </p:cBhvr>
                                      <p:by x="105000" y="105000"/>
                                    </p:animScale>
                                  </p:childTnLst>
                                </p:cTn>
                              </p:par>
                            </p:childTnLst>
                          </p:cTn>
                        </p:par>
                        <p:par>
                          <p:cTn id="35" fill="hold">
                            <p:stCondLst>
                              <p:cond delay="7500"/>
                            </p:stCondLst>
                            <p:childTnLst>
                              <p:par>
                                <p:cTn id="36" presetID="22" presetClass="entr" presetSubtype="2"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wipe(right)">
                                      <p:cBhvr>
                                        <p:cTn id="38" dur="1500"/>
                                        <p:tgtEl>
                                          <p:spTgt spid="41"/>
                                        </p:tgtEl>
                                      </p:cBhvr>
                                    </p:animEffect>
                                  </p:childTnLst>
                                </p:cTn>
                              </p:par>
                              <p:par>
                                <p:cTn id="39" presetID="26" presetClass="emph" presetSubtype="0" fill="hold" grpId="0" nodeType="withEffect">
                                  <p:stCondLst>
                                    <p:cond delay="750"/>
                                  </p:stCondLst>
                                  <p:childTnLst>
                                    <p:animEffect transition="out" filter="fade">
                                      <p:cBhvr>
                                        <p:cTn id="40" dur="500" tmFilter="0, 0; .2, .5; .8, .5; 1, 0"/>
                                        <p:tgtEl>
                                          <p:spTgt spid="31"/>
                                        </p:tgtEl>
                                      </p:cBhvr>
                                    </p:animEffect>
                                    <p:animScale>
                                      <p:cBhvr>
                                        <p:cTn id="41" dur="250" autoRev="1" fill="hold"/>
                                        <p:tgtEl>
                                          <p:spTgt spid="31"/>
                                        </p:tgtEl>
                                      </p:cBhvr>
                                      <p:by x="105000" y="105000"/>
                                    </p:animScale>
                                  </p:childTnLst>
                                </p:cTn>
                              </p:par>
                            </p:childTnLst>
                          </p:cTn>
                        </p:par>
                        <p:par>
                          <p:cTn id="42" fill="hold">
                            <p:stCondLst>
                              <p:cond delay="9000"/>
                            </p:stCondLst>
                            <p:childTnLst>
                              <p:par>
                                <p:cTn id="43" presetID="22" presetClass="entr" presetSubtype="2" fill="hold" grpId="0" nodeType="after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right)">
                                      <p:cBhvr>
                                        <p:cTn id="45" dur="1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10" grpId="0" animBg="1"/>
      <p:bldP spid="11" grpId="0" animBg="1"/>
      <p:bldP spid="12" grpId="0" animBg="1"/>
      <p:bldP spid="19" grpId="0" animBg="1"/>
      <p:bldP spid="24" grpId="0" animBg="1"/>
      <p:bldP spid="31" grpId="0" animBg="1"/>
    </p:bldLst>
  </p:timing>
</p:sld>
</file>

<file path=ppt/tags/tag1.xml><?xml version="1.0" encoding="utf-8"?>
<p:tagLst xmlns:p="http://schemas.openxmlformats.org/presentationml/2006/main">
  <p:tag name="MH" val="20170803150623"/>
  <p:tag name="MH_LIBRARY" val="GRAPHIC"/>
  <p:tag name="MH_ORDER" val="Freeform 21"/>
</p:tagLst>
</file>

<file path=ppt/tags/tag2.xml><?xml version="1.0" encoding="utf-8"?>
<p:tagLst xmlns:p="http://schemas.openxmlformats.org/presentationml/2006/main">
  <p:tag name="MH" val="20170803150623"/>
  <p:tag name="MH_LIBRARY" val="GRAPHIC"/>
  <p:tag name="MH_ORDER" val="Straight Connector 22"/>
</p:tagLst>
</file>

<file path=ppt/tags/tag3.xml><?xml version="1.0" encoding="utf-8"?>
<p:tagLst xmlns:p="http://schemas.openxmlformats.org/presentationml/2006/main">
  <p:tag name="MH" val="20170803150623"/>
  <p:tag name="MH_LIBRARY" val="GRAPHIC"/>
  <p:tag name="MH_ORDER" val="Straight Connector 23"/>
</p:tagLst>
</file>

<file path=ppt/tags/tag4.xml><?xml version="1.0" encoding="utf-8"?>
<p:tagLst xmlns:p="http://schemas.openxmlformats.org/presentationml/2006/main">
  <p:tag name="MH" val="20170803150623"/>
  <p:tag name="MH_LIBRARY" val="GRAPHIC"/>
  <p:tag name="MH_ORDER" val="TextBox 24"/>
</p:tagLst>
</file>

<file path=ppt/tags/tag5.xml><?xml version="1.0" encoding="utf-8"?>
<p:tagLst xmlns:p="http://schemas.openxmlformats.org/presentationml/2006/main">
  <p:tag name="MH" val="20170803150623"/>
  <p:tag name="MH_LIBRARY" val="GRAPHIC"/>
  <p:tag name="MH_ORDER" val="文本框 25"/>
</p:tagLst>
</file>

<file path=ppt/tags/tag6.xml><?xml version="1.0" encoding="utf-8"?>
<p:tagLst xmlns:p="http://schemas.openxmlformats.org/presentationml/2006/main">
  <p:tag name="MH" val="20170803150623"/>
  <p:tag name="MH_LIBRARY" val="GRAPHIC"/>
  <p:tag name="MH_ORDER" val="TextBox 26"/>
</p:tagLst>
</file>

<file path=ppt/tags/tag7.xml><?xml version="1.0" encoding="utf-8"?>
<p:tagLst xmlns:p="http://schemas.openxmlformats.org/presentationml/2006/main">
  <p:tag name="MH" val="20170803150623"/>
  <p:tag name="MH_LIBRARY" val="GRAPHIC"/>
  <p:tag name="MH_ORDER" val="TextBox 27"/>
</p:tagLst>
</file>

<file path=ppt/tags/tag8.xml><?xml version="1.0" encoding="utf-8"?>
<p:tagLst xmlns:p="http://schemas.openxmlformats.org/presentationml/2006/main">
  <p:tag name="MH" val="20170803150623"/>
  <p:tag name="MH_LIBRARY" val="GRAPHIC"/>
</p:tagLst>
</file>

<file path=ppt/tags/tag9.xml><?xml version="1.0" encoding="utf-8"?>
<p:tagLst xmlns:p="http://schemas.openxmlformats.org/presentationml/2006/main">
  <p:tag name="KSO_WM_DIAGRAM_VIRTUALLY_FRAME" val="{&quot;height&quot;:372.00000000000006,&quot;left&quot;:186.75,&quot;top&quot;:131.62503937007872,&quot;width&quot;:603.75}"/>
</p:tagLst>
</file>

<file path=ppt/tags/tag10.xml><?xml version="1.0" encoding="utf-8"?>
<p:tagLst xmlns:p="http://schemas.openxmlformats.org/presentationml/2006/main">
  <p:tag name="MH" val="20170803154453"/>
  <p:tag name="MH_LIBRARY" val="GRAPHIC"/>
  <p:tag name="MH_TYPE" val="Other"/>
  <p:tag name="MH_ORDER" val="1"/>
  <p:tag name="KSO_WM_DIAGRAM_VIRTUALLY_FRAME" val="{&quot;height&quot;:372.00000000000006,&quot;left&quot;:186.75,&quot;top&quot;:131.62503937007872,&quot;width&quot;:603.75}"/>
</p:tagLst>
</file>

<file path=ppt/tags/tag11.xml><?xml version="1.0" encoding="utf-8"?>
<p:tagLst xmlns:p="http://schemas.openxmlformats.org/presentationml/2006/main">
  <p:tag name="MH" val="20170803154453"/>
  <p:tag name="MH_LIBRARY" val="GRAPHIC"/>
  <p:tag name="MH_TYPE" val="Other"/>
  <p:tag name="MH_ORDER" val="2"/>
  <p:tag name="KSO_WM_DIAGRAM_VIRTUALLY_FRAME" val="{&quot;height&quot;:372.00000000000006,&quot;left&quot;:186.75,&quot;top&quot;:131.62503937007872,&quot;width&quot;:603.75}"/>
</p:tagLst>
</file>

<file path=ppt/tags/tag12.xml><?xml version="1.0" encoding="utf-8"?>
<p:tagLst xmlns:p="http://schemas.openxmlformats.org/presentationml/2006/main">
  <p:tag name="MH" val="20170803154453"/>
  <p:tag name="MH_LIBRARY" val="GRAPHIC"/>
  <p:tag name="MH_TYPE" val="Other"/>
  <p:tag name="MH_ORDER" val="3"/>
  <p:tag name="KSO_WM_DIAGRAM_VIRTUALLY_FRAME" val="{&quot;height&quot;:372.00000000000006,&quot;left&quot;:186.75,&quot;top&quot;:131.62503937007872,&quot;width&quot;:603.75}"/>
</p:tagLst>
</file>

<file path=ppt/tags/tag13.xml><?xml version="1.0" encoding="utf-8"?>
<p:tagLst xmlns:p="http://schemas.openxmlformats.org/presentationml/2006/main">
  <p:tag name="MH" val="20170803154453"/>
  <p:tag name="MH_LIBRARY" val="GRAPHIC"/>
  <p:tag name="MH_TYPE" val="Other"/>
  <p:tag name="MH_ORDER" val="4"/>
  <p:tag name="KSO_WM_DIAGRAM_VIRTUALLY_FRAME" val="{&quot;height&quot;:372.00000000000006,&quot;left&quot;:186.75,&quot;top&quot;:131.62503937007872,&quot;width&quot;:603.75}"/>
</p:tagLst>
</file>

<file path=ppt/tags/tag14.xml><?xml version="1.0" encoding="utf-8"?>
<p:tagLst xmlns:p="http://schemas.openxmlformats.org/presentationml/2006/main">
  <p:tag name="MH" val="20170803154453"/>
  <p:tag name="MH_LIBRARY" val="GRAPHIC"/>
  <p:tag name="MH_TYPE" val="Other"/>
  <p:tag name="MH_ORDER" val="5"/>
  <p:tag name="KSO_WM_DIAGRAM_VIRTUALLY_FRAME" val="{&quot;height&quot;:372.00000000000006,&quot;left&quot;:186.75,&quot;top&quot;:131.62503937007872,&quot;width&quot;:603.75}"/>
</p:tagLst>
</file>

<file path=ppt/tags/tag15.xml><?xml version="1.0" encoding="utf-8"?>
<p:tagLst xmlns:p="http://schemas.openxmlformats.org/presentationml/2006/main">
  <p:tag name="MH" val="20170803154453"/>
  <p:tag name="MH_LIBRARY" val="GRAPHIC"/>
  <p:tag name="MH_TYPE" val="Text"/>
  <p:tag name="MH_ORDER" val="1"/>
  <p:tag name="KSO_WM_DIAGRAM_VIRTUALLY_FRAME" val="{&quot;height&quot;:372.00000000000006,&quot;left&quot;:186.75,&quot;top&quot;:131.62503937007872,&quot;width&quot;:603.75}"/>
</p:tagLst>
</file>

<file path=ppt/tags/tag16.xml><?xml version="1.0" encoding="utf-8"?>
<p:tagLst xmlns:p="http://schemas.openxmlformats.org/presentationml/2006/main">
  <p:tag name="MH" val="20170803154453"/>
  <p:tag name="MH_LIBRARY" val="GRAPHIC"/>
  <p:tag name="MH_TYPE" val="SubTitle"/>
  <p:tag name="MH_ORDER" val="1"/>
  <p:tag name="KSO_WM_DIAGRAM_VIRTUALLY_FRAME" val="{&quot;height&quot;:372.00000000000006,&quot;left&quot;:186.75,&quot;top&quot;:131.62503937007872,&quot;width&quot;:603.75}"/>
</p:tagLst>
</file>

<file path=ppt/tags/tag17.xml><?xml version="1.0" encoding="utf-8"?>
<p:tagLst xmlns:p="http://schemas.openxmlformats.org/presentationml/2006/main">
  <p:tag name="KSO_WM_DIAGRAM_VIRTUALLY_FRAME" val="{&quot;height&quot;:372.00000000000006,&quot;left&quot;:186.75,&quot;top&quot;:131.62503937007872,&quot;width&quot;:603.75}"/>
</p:tagLst>
</file>

<file path=ppt/tags/tag18.xml><?xml version="1.0" encoding="utf-8"?>
<p:tagLst xmlns:p="http://schemas.openxmlformats.org/presentationml/2006/main">
  <p:tag name="MH" val="20170803154453"/>
  <p:tag name="MH_LIBRARY" val="GRAPHIC"/>
  <p:tag name="MH_TYPE" val="Other"/>
  <p:tag name="MH_ORDER" val="6"/>
  <p:tag name="KSO_WM_DIAGRAM_VIRTUALLY_FRAME" val="{&quot;height&quot;:372.00000000000006,&quot;left&quot;:186.75,&quot;top&quot;:131.62503937007872,&quot;width&quot;:603.75}"/>
</p:tagLst>
</file>

<file path=ppt/tags/tag19.xml><?xml version="1.0" encoding="utf-8"?>
<p:tagLst xmlns:p="http://schemas.openxmlformats.org/presentationml/2006/main">
  <p:tag name="MH" val="20170803154453"/>
  <p:tag name="MH_LIBRARY" val="GRAPHIC"/>
  <p:tag name="MH_TYPE" val="Other"/>
  <p:tag name="MH_ORDER" val="7"/>
  <p:tag name="KSO_WM_DIAGRAM_VIRTUALLY_FRAME" val="{&quot;height&quot;:372.00000000000006,&quot;left&quot;:186.75,&quot;top&quot;:131.62503937007872,&quot;width&quot;:603.75}"/>
</p:tagLst>
</file>

<file path=ppt/tags/tag20.xml><?xml version="1.0" encoding="utf-8"?>
<p:tagLst xmlns:p="http://schemas.openxmlformats.org/presentationml/2006/main">
  <p:tag name="MH" val="20170803154453"/>
  <p:tag name="MH_LIBRARY" val="GRAPHIC"/>
  <p:tag name="MH_TYPE" val="Other"/>
  <p:tag name="MH_ORDER" val="8"/>
  <p:tag name="KSO_WM_DIAGRAM_VIRTUALLY_FRAME" val="{&quot;height&quot;:372.00000000000006,&quot;left&quot;:186.75,&quot;top&quot;:131.62503937007872,&quot;width&quot;:603.75}"/>
</p:tagLst>
</file>

<file path=ppt/tags/tag21.xml><?xml version="1.0" encoding="utf-8"?>
<p:tagLst xmlns:p="http://schemas.openxmlformats.org/presentationml/2006/main">
  <p:tag name="MH" val="20170803154453"/>
  <p:tag name="MH_LIBRARY" val="GRAPHIC"/>
  <p:tag name="MH_TYPE" val="Other"/>
  <p:tag name="MH_ORDER" val="9"/>
  <p:tag name="KSO_WM_DIAGRAM_VIRTUALLY_FRAME" val="{&quot;height&quot;:372.00000000000006,&quot;left&quot;:186.75,&quot;top&quot;:131.62503937007872,&quot;width&quot;:603.75}"/>
</p:tagLst>
</file>

<file path=ppt/tags/tag22.xml><?xml version="1.0" encoding="utf-8"?>
<p:tagLst xmlns:p="http://schemas.openxmlformats.org/presentationml/2006/main">
  <p:tag name="MH" val="20170803154453"/>
  <p:tag name="MH_LIBRARY" val="GRAPHIC"/>
  <p:tag name="MH_TYPE" val="Other"/>
  <p:tag name="MH_ORDER" val="10"/>
  <p:tag name="KSO_WM_DIAGRAM_VIRTUALLY_FRAME" val="{&quot;height&quot;:372.00000000000006,&quot;left&quot;:186.75,&quot;top&quot;:131.62503937007872,&quot;width&quot;:603.75}"/>
</p:tagLst>
</file>

<file path=ppt/tags/tag23.xml><?xml version="1.0" encoding="utf-8"?>
<p:tagLst xmlns:p="http://schemas.openxmlformats.org/presentationml/2006/main">
  <p:tag name="MH" val="20170803154453"/>
  <p:tag name="MH_LIBRARY" val="GRAPHIC"/>
  <p:tag name="MH_TYPE" val="Text"/>
  <p:tag name="MH_ORDER" val="3"/>
  <p:tag name="KSO_WM_DIAGRAM_VIRTUALLY_FRAME" val="{&quot;height&quot;:372.00000000000006,&quot;left&quot;:186.75,&quot;top&quot;:131.62503937007872,&quot;width&quot;:603.75}"/>
</p:tagLst>
</file>

<file path=ppt/tags/tag24.xml><?xml version="1.0" encoding="utf-8"?>
<p:tagLst xmlns:p="http://schemas.openxmlformats.org/presentationml/2006/main">
  <p:tag name="MH" val="20170803154453"/>
  <p:tag name="MH_LIBRARY" val="GRAPHIC"/>
  <p:tag name="MH_TYPE" val="SubTitle"/>
  <p:tag name="MH_ORDER" val="3"/>
  <p:tag name="KSO_WM_DIAGRAM_VIRTUALLY_FRAME" val="{&quot;height&quot;:372.00000000000006,&quot;left&quot;:186.75,&quot;top&quot;:131.62503937007872,&quot;width&quot;:603.75}"/>
</p:tagLst>
</file>

<file path=ppt/tags/tag25.xml><?xml version="1.0" encoding="utf-8"?>
<p:tagLst xmlns:p="http://schemas.openxmlformats.org/presentationml/2006/main">
  <p:tag name="KSO_WM_DIAGRAM_VIRTUALLY_FRAME" val="{&quot;height&quot;:372.00000000000006,&quot;left&quot;:186.75,&quot;top&quot;:131.62503937007872,&quot;width&quot;:603.75}"/>
</p:tagLst>
</file>

<file path=ppt/tags/tag26.xml><?xml version="1.0" encoding="utf-8"?>
<p:tagLst xmlns:p="http://schemas.openxmlformats.org/presentationml/2006/main">
  <p:tag name="MH" val="20170803154453"/>
  <p:tag name="MH_LIBRARY" val="GRAPHIC"/>
  <p:tag name="MH_TYPE" val="Other"/>
  <p:tag name="MH_ORDER" val="11"/>
  <p:tag name="KSO_WM_DIAGRAM_VIRTUALLY_FRAME" val="{&quot;height&quot;:372.00000000000006,&quot;left&quot;:186.75,&quot;top&quot;:131.62503937007872,&quot;width&quot;:603.75}"/>
</p:tagLst>
</file>

<file path=ppt/tags/tag27.xml><?xml version="1.0" encoding="utf-8"?>
<p:tagLst xmlns:p="http://schemas.openxmlformats.org/presentationml/2006/main">
  <p:tag name="MH" val="20170803154453"/>
  <p:tag name="MH_LIBRARY" val="GRAPHIC"/>
  <p:tag name="MH_TYPE" val="Other"/>
  <p:tag name="MH_ORDER" val="12"/>
  <p:tag name="KSO_WM_DIAGRAM_VIRTUALLY_FRAME" val="{&quot;height&quot;:372.00000000000006,&quot;left&quot;:186.75,&quot;top&quot;:131.62503937007872,&quot;width&quot;:603.75}"/>
</p:tagLst>
</file>

<file path=ppt/tags/tag28.xml><?xml version="1.0" encoding="utf-8"?>
<p:tagLst xmlns:p="http://schemas.openxmlformats.org/presentationml/2006/main">
  <p:tag name="MH" val="20170803154453"/>
  <p:tag name="MH_LIBRARY" val="GRAPHIC"/>
  <p:tag name="MH_TYPE" val="Other"/>
  <p:tag name="MH_ORDER" val="13"/>
  <p:tag name="KSO_WM_DIAGRAM_VIRTUALLY_FRAME" val="{&quot;height&quot;:372.00000000000006,&quot;left&quot;:186.75,&quot;top&quot;:131.62503937007872,&quot;width&quot;:603.75}"/>
</p:tagLst>
</file>

<file path=ppt/tags/tag29.xml><?xml version="1.0" encoding="utf-8"?>
<p:tagLst xmlns:p="http://schemas.openxmlformats.org/presentationml/2006/main">
  <p:tag name="MH" val="20170803154453"/>
  <p:tag name="MH_LIBRARY" val="GRAPHIC"/>
  <p:tag name="MH_TYPE" val="Other"/>
  <p:tag name="MH_ORDER" val="14"/>
  <p:tag name="KSO_WM_DIAGRAM_VIRTUALLY_FRAME" val="{&quot;height&quot;:372.00000000000006,&quot;left&quot;:186.75,&quot;top&quot;:131.62503937007872,&quot;width&quot;:603.75}"/>
</p:tagLst>
</file>

<file path=ppt/tags/tag30.xml><?xml version="1.0" encoding="utf-8"?>
<p:tagLst xmlns:p="http://schemas.openxmlformats.org/presentationml/2006/main">
  <p:tag name="MH" val="20170803154453"/>
  <p:tag name="MH_LIBRARY" val="GRAPHIC"/>
  <p:tag name="MH_TYPE" val="Other"/>
  <p:tag name="MH_ORDER" val="15"/>
  <p:tag name="KSO_WM_DIAGRAM_VIRTUALLY_FRAME" val="{&quot;height&quot;:372.00000000000006,&quot;left&quot;:186.75,&quot;top&quot;:131.62503937007872,&quot;width&quot;:603.75}"/>
</p:tagLst>
</file>

<file path=ppt/tags/tag31.xml><?xml version="1.0" encoding="utf-8"?>
<p:tagLst xmlns:p="http://schemas.openxmlformats.org/presentationml/2006/main">
  <p:tag name="MH" val="20170803154453"/>
  <p:tag name="MH_LIBRARY" val="GRAPHIC"/>
  <p:tag name="MH_TYPE" val="Text"/>
  <p:tag name="MH_ORDER" val="2"/>
  <p:tag name="KSO_WM_DIAGRAM_VIRTUALLY_FRAME" val="{&quot;height&quot;:372.00000000000006,&quot;left&quot;:186.75,&quot;top&quot;:131.62503937007872,&quot;width&quot;:603.75}"/>
</p:tagLst>
</file>

<file path=ppt/tags/tag32.xml><?xml version="1.0" encoding="utf-8"?>
<p:tagLst xmlns:p="http://schemas.openxmlformats.org/presentationml/2006/main">
  <p:tag name="MH" val="20170803154453"/>
  <p:tag name="MH_LIBRARY" val="GRAPHIC"/>
  <p:tag name="MH_TYPE" val="SubTitle"/>
  <p:tag name="MH_ORDER" val="2"/>
  <p:tag name="KSO_WM_DIAGRAM_VIRTUALLY_FRAME" val="{&quot;height&quot;:372.00000000000006,&quot;left&quot;:186.75,&quot;top&quot;:131.62503937007872,&quot;width&quot;:603.75}"/>
</p:tagLst>
</file>

<file path=ppt/tags/tag33.xml><?xml version="1.0" encoding="utf-8"?>
<p:tagLst xmlns:p="http://schemas.openxmlformats.org/presentationml/2006/main">
  <p:tag name="MH" val="20170803155910"/>
  <p:tag name="MH_LIBRARY" val="GRAPHIC"/>
  <p:tag name="MH_TYPE" val="SubTitle"/>
  <p:tag name="MH_ORDER" val="1"/>
</p:tagLst>
</file>

<file path=ppt/tags/tag34.xml><?xml version="1.0" encoding="utf-8"?>
<p:tagLst xmlns:p="http://schemas.openxmlformats.org/presentationml/2006/main">
  <p:tag name="MH" val="20170803155910"/>
  <p:tag name="MH_LIBRARY" val="GRAPHIC"/>
  <p:tag name="MH_TYPE" val="Text"/>
  <p:tag name="MH_ORDER" val="1"/>
</p:tagLst>
</file>

<file path=ppt/tags/tag35.xml><?xml version="1.0" encoding="utf-8"?>
<p:tagLst xmlns:p="http://schemas.openxmlformats.org/presentationml/2006/main">
  <p:tag name="MH" val="20170803155910"/>
  <p:tag name="MH_LIBRARY" val="GRAPHIC"/>
  <p:tag name="MH_TYPE" val="SubTitle"/>
  <p:tag name="MH_ORDER" val="2"/>
</p:tagLst>
</file>

<file path=ppt/tags/tag36.xml><?xml version="1.0" encoding="utf-8"?>
<p:tagLst xmlns:p="http://schemas.openxmlformats.org/presentationml/2006/main">
  <p:tag name="MH" val="20170803155910"/>
  <p:tag name="MH_LIBRARY" val="GRAPHIC"/>
  <p:tag name="MH_TYPE" val="Text"/>
  <p:tag name="MH_ORDER" val="2"/>
</p:tagLst>
</file>

<file path=ppt/tags/tag37.xml><?xml version="1.0" encoding="utf-8"?>
<p:tagLst xmlns:p="http://schemas.openxmlformats.org/presentationml/2006/main">
  <p:tag name="MH" val="20170803155910"/>
  <p:tag name="MH_LIBRARY" val="GRAPHIC"/>
  <p:tag name="MH_TYPE" val="SubTitle"/>
  <p:tag name="MH_ORDER" val="3"/>
</p:tagLst>
</file>

<file path=ppt/tags/tag38.xml><?xml version="1.0" encoding="utf-8"?>
<p:tagLst xmlns:p="http://schemas.openxmlformats.org/presentationml/2006/main">
  <p:tag name="MH" val="20170803155910"/>
  <p:tag name="MH_LIBRARY" val="GRAPHIC"/>
  <p:tag name="MH_TYPE" val="Text"/>
  <p:tag name="MH_ORDER" val="3"/>
</p:tagLst>
</file>

<file path=ppt/tags/tag39.xml><?xml version="1.0" encoding="utf-8"?>
<p:tagLst xmlns:p="http://schemas.openxmlformats.org/presentationml/2006/main">
  <p:tag name="MH" val="20170803165259"/>
  <p:tag name="MH_LIBRARY" val="GRAPHIC"/>
  <p:tag name="MH_TYPE" val="Other"/>
  <p:tag name="MH_ORDER" val="1"/>
</p:tagLst>
</file>

<file path=ppt/tags/tag40.xml><?xml version="1.0" encoding="utf-8"?>
<p:tagLst xmlns:p="http://schemas.openxmlformats.org/presentationml/2006/main">
  <p:tag name="MH" val="20170803165259"/>
  <p:tag name="MH_LIBRARY" val="GRAPHIC"/>
  <p:tag name="MH_TYPE" val="Other"/>
  <p:tag name="MH_ORDER" val="2"/>
</p:tagLst>
</file>

<file path=ppt/tags/tag41.xml><?xml version="1.0" encoding="utf-8"?>
<p:tagLst xmlns:p="http://schemas.openxmlformats.org/presentationml/2006/main">
  <p:tag name="MH" val="20170803165259"/>
  <p:tag name="MH_LIBRARY" val="GRAPHIC"/>
  <p:tag name="MH_TYPE" val="Other"/>
  <p:tag name="MH_ORDER" val="5"/>
</p:tagLst>
</file>

<file path=ppt/tags/tag42.xml><?xml version="1.0" encoding="utf-8"?>
<p:tagLst xmlns:p="http://schemas.openxmlformats.org/presentationml/2006/main">
  <p:tag name="MH" val="20170803165259"/>
  <p:tag name="MH_LIBRARY" val="GRAPHIC"/>
  <p:tag name="MH_TYPE" val="Other"/>
  <p:tag name="MH_ORDER" val="4"/>
</p:tagLst>
</file>

<file path=ppt/tags/tag43.xml><?xml version="1.0" encoding="utf-8"?>
<p:tagLst xmlns:p="http://schemas.openxmlformats.org/presentationml/2006/main">
  <p:tag name="MH" val="20170803165259"/>
  <p:tag name="MH_LIBRARY" val="GRAPHIC"/>
  <p:tag name="MH_TYPE" val="Other"/>
  <p:tag name="MH_ORDER" val="3"/>
</p:tagLst>
</file>

<file path=ppt/tags/tag44.xml><?xml version="1.0" encoding="utf-8"?>
<p:tagLst xmlns:p="http://schemas.openxmlformats.org/presentationml/2006/main">
  <p:tag name="MH" val="20170803165259"/>
  <p:tag name="MH_LIBRARY" val="GRAPHIC"/>
  <p:tag name="MH_TYPE" val="Other"/>
  <p:tag name="MH_ORDER" val="6"/>
</p:tagLst>
</file>

<file path=ppt/tags/tag45.xml><?xml version="1.0" encoding="utf-8"?>
<p:tagLst xmlns:p="http://schemas.openxmlformats.org/presentationml/2006/main">
  <p:tag name="MH" val="20170803165259"/>
  <p:tag name="MH_LIBRARY" val="GRAPHIC"/>
  <p:tag name="MH_TYPE" val="Other"/>
  <p:tag name="MH_ORDER" val="7"/>
</p:tagLst>
</file>

<file path=ppt/tags/tag46.xml><?xml version="1.0" encoding="utf-8"?>
<p:tagLst xmlns:p="http://schemas.openxmlformats.org/presentationml/2006/main">
  <p:tag name="MH" val="20170803165259"/>
  <p:tag name="MH_LIBRARY" val="GRAPHIC"/>
  <p:tag name="MH_TYPE" val="Other"/>
  <p:tag name="MH_ORDER" val="8"/>
</p:tagLst>
</file>

<file path=ppt/tags/tag47.xml><?xml version="1.0" encoding="utf-8"?>
<p:tagLst xmlns:p="http://schemas.openxmlformats.org/presentationml/2006/main">
  <p:tag name="MH" val="20170803165259"/>
  <p:tag name="MH_LIBRARY" val="GRAPHIC"/>
  <p:tag name="MH_TYPE" val="SubTitle"/>
  <p:tag name="MH_ORDER" val="1"/>
</p:tagLst>
</file>

<file path=ppt/tags/tag48.xml><?xml version="1.0" encoding="utf-8"?>
<p:tagLst xmlns:p="http://schemas.openxmlformats.org/presentationml/2006/main">
  <p:tag name="MH" val="20170803165259"/>
  <p:tag name="MH_LIBRARY" val="GRAPHIC"/>
  <p:tag name="MH_TYPE" val="Text"/>
  <p:tag name="MH_ORDER" val="2"/>
</p:tagLst>
</file>

<file path=ppt/tags/tag49.xml><?xml version="1.0" encoding="utf-8"?>
<p:tagLst xmlns:p="http://schemas.openxmlformats.org/presentationml/2006/main">
  <p:tag name="MH" val="20170803165259"/>
  <p:tag name="MH_LIBRARY" val="GRAPHIC"/>
  <p:tag name="MH_TYPE" val="SubTitle"/>
  <p:tag name="MH_ORDER" val="3"/>
</p:tagLst>
</file>

<file path=ppt/tags/tag50.xml><?xml version="1.0" encoding="utf-8"?>
<p:tagLst xmlns:p="http://schemas.openxmlformats.org/presentationml/2006/main">
  <p:tag name="MH" val="20170803165259"/>
  <p:tag name="MH_LIBRARY" val="GRAPHIC"/>
  <p:tag name="MH_TYPE" val="SubTitle"/>
  <p:tag name="MH_ORDER" val="2"/>
</p:tagLst>
</file>

<file path=ppt/tags/tag51.xml><?xml version="1.0" encoding="utf-8"?>
<p:tagLst xmlns:p="http://schemas.openxmlformats.org/presentationml/2006/main">
  <p:tag name="MH" val="20170803175132"/>
  <p:tag name="MH_LIBRARY" val="GRAPHIC"/>
  <p:tag name="MH_TYPE" val="SubTitle"/>
  <p:tag name="MH_ORDER" val="1"/>
</p:tagLst>
</file>

<file path=ppt/tags/tag52.xml><?xml version="1.0" encoding="utf-8"?>
<p:tagLst xmlns:p="http://schemas.openxmlformats.org/presentationml/2006/main">
  <p:tag name="MH" val="20170803175132"/>
  <p:tag name="MH_LIBRARY" val="GRAPHIC"/>
  <p:tag name="MH_TYPE" val="Other"/>
  <p:tag name="MH_ORDER" val="1"/>
</p:tagLst>
</file>

<file path=ppt/tags/tag53.xml><?xml version="1.0" encoding="utf-8"?>
<p:tagLst xmlns:p="http://schemas.openxmlformats.org/presentationml/2006/main">
  <p:tag name="MH" val="20170803175132"/>
  <p:tag name="MH_LIBRARY" val="GRAPHIC"/>
  <p:tag name="MH_TYPE" val="Other"/>
  <p:tag name="MH_ORDER" val="2"/>
</p:tagLst>
</file>

<file path=ppt/tags/tag54.xml><?xml version="1.0" encoding="utf-8"?>
<p:tagLst xmlns:p="http://schemas.openxmlformats.org/presentationml/2006/main">
  <p:tag name="MH" val="20170803175132"/>
  <p:tag name="MH_LIBRARY" val="GRAPHIC"/>
  <p:tag name="MH_TYPE" val="Other"/>
  <p:tag name="MH_ORDER" val="3"/>
</p:tagLst>
</file>

<file path=ppt/tags/tag55.xml><?xml version="1.0" encoding="utf-8"?>
<p:tagLst xmlns:p="http://schemas.openxmlformats.org/presentationml/2006/main">
  <p:tag name="MH" val="20170803175132"/>
  <p:tag name="MH_LIBRARY" val="GRAPHIC"/>
  <p:tag name="MH_TYPE" val="Other"/>
  <p:tag name="MH_ORDER" val="4"/>
</p:tagLst>
</file>

<file path=ppt/tags/tag56.xml><?xml version="1.0" encoding="utf-8"?>
<p:tagLst xmlns:p="http://schemas.openxmlformats.org/presentationml/2006/main">
  <p:tag name="MH" val="20170803175132"/>
  <p:tag name="MH_LIBRARY" val="GRAPHIC"/>
  <p:tag name="MH_TYPE" val="Other"/>
  <p:tag name="MH_ORDER" val="5"/>
</p:tagLst>
</file>

<file path=ppt/tags/tag57.xml><?xml version="1.0" encoding="utf-8"?>
<p:tagLst xmlns:p="http://schemas.openxmlformats.org/presentationml/2006/main">
  <p:tag name="MH" val="20170803175132"/>
  <p:tag name="MH_LIBRARY" val="GRAPHIC"/>
  <p:tag name="MH_TYPE" val="Other"/>
  <p:tag name="MH_ORDER" val="6"/>
</p:tagLst>
</file>

<file path=ppt/tags/tag58.xml><?xml version="1.0" encoding="utf-8"?>
<p:tagLst xmlns:p="http://schemas.openxmlformats.org/presentationml/2006/main">
  <p:tag name="MH" val="20170803175132"/>
  <p:tag name="MH_LIBRARY" val="GRAPHIC"/>
  <p:tag name="MH_TYPE" val="Other"/>
  <p:tag name="MH_ORDER" val="7"/>
</p:tagLst>
</file>

<file path=ppt/tags/tag59.xml><?xml version="1.0" encoding="utf-8"?>
<p:tagLst xmlns:p="http://schemas.openxmlformats.org/presentationml/2006/main">
  <p:tag name="MH" val="20170803175132"/>
  <p:tag name="MH_LIBRARY" val="GRAPHIC"/>
  <p:tag name="MH_TYPE" val="Other"/>
  <p:tag name="MH_ORDER" val="8"/>
</p:tagLst>
</file>

<file path=ppt/tags/tag60.xml><?xml version="1.0" encoding="utf-8"?>
<p:tagLst xmlns:p="http://schemas.openxmlformats.org/presentationml/2006/main">
  <p:tag name="MH" val="20170803175132"/>
  <p:tag name="MH_LIBRARY" val="GRAPHIC"/>
  <p:tag name="MH_TYPE" val="Other"/>
  <p:tag name="MH_ORDER" val="9"/>
</p:tagLst>
</file>

<file path=ppt/tags/tag61.xml><?xml version="1.0" encoding="utf-8"?>
<p:tagLst xmlns:p="http://schemas.openxmlformats.org/presentationml/2006/main">
  <p:tag name="MH" val="20170803175132"/>
  <p:tag name="MH_LIBRARY" val="GRAPHIC"/>
  <p:tag name="MH_TYPE" val="Other"/>
  <p:tag name="MH_ORDER" val="10"/>
</p:tagLst>
</file>

<file path=ppt/tags/tag62.xml><?xml version="1.0" encoding="utf-8"?>
<p:tagLst xmlns:p="http://schemas.openxmlformats.org/presentationml/2006/main">
  <p:tag name="MH" val="20170803175132"/>
  <p:tag name="MH_LIBRARY" val="GRAPHIC"/>
  <p:tag name="MH_TYPE" val="Other"/>
  <p:tag name="MH_ORDER" val="11"/>
</p:tagLst>
</file>

<file path=ppt/tags/tag63.xml><?xml version="1.0" encoding="utf-8"?>
<p:tagLst xmlns:p="http://schemas.openxmlformats.org/presentationml/2006/main">
  <p:tag name="MH" val="20170803175132"/>
  <p:tag name="MH_LIBRARY" val="GRAPHIC"/>
  <p:tag name="MH_TYPE" val="Other"/>
  <p:tag name="MH_ORDER" val="12"/>
</p:tagLst>
</file>

<file path=ppt/tags/tag64.xml><?xml version="1.0" encoding="utf-8"?>
<p:tagLst xmlns:p="http://schemas.openxmlformats.org/presentationml/2006/main">
  <p:tag name="MH" val="20170803175132"/>
  <p:tag name="MH_LIBRARY" val="GRAPHIC"/>
  <p:tag name="MH_TYPE" val="Other"/>
  <p:tag name="MH_ORDER" val="13"/>
</p:tagLst>
</file>

<file path=ppt/tags/tag65.xml><?xml version="1.0" encoding="utf-8"?>
<p:tagLst xmlns:p="http://schemas.openxmlformats.org/presentationml/2006/main">
  <p:tag name="MH" val="20170803175132"/>
  <p:tag name="MH_LIBRARY" val="GRAPHIC"/>
  <p:tag name="MH_TYPE" val="Other"/>
  <p:tag name="MH_ORDER" val="14"/>
</p:tagLst>
</file>

<file path=ppt/tags/tag66.xml><?xml version="1.0" encoding="utf-8"?>
<p:tagLst xmlns:p="http://schemas.openxmlformats.org/presentationml/2006/main">
  <p:tag name="MH" val="20170803175132"/>
  <p:tag name="MH_LIBRARY" val="GRAPHIC"/>
  <p:tag name="MH_TYPE" val="Other"/>
  <p:tag name="MH_ORDER" val="15"/>
</p:tagLst>
</file>

<file path=ppt/tags/tag67.xml><?xml version="1.0" encoding="utf-8"?>
<p:tagLst xmlns:p="http://schemas.openxmlformats.org/presentationml/2006/main">
  <p:tag name="MH" val="20170803175132"/>
  <p:tag name="MH_LIBRARY" val="GRAPHIC"/>
  <p:tag name="MH_TYPE" val="Other"/>
  <p:tag name="MH_ORDER" val="16"/>
</p:tagLst>
</file>

<file path=ppt/tags/tag68.xml><?xml version="1.0" encoding="utf-8"?>
<p:tagLst xmlns:p="http://schemas.openxmlformats.org/presentationml/2006/main">
  <p:tag name="MH" val="20170803175132"/>
  <p:tag name="MH_LIBRARY" val="GRAPHIC"/>
  <p:tag name="MH_TYPE" val="Title"/>
  <p:tag name="MH_ORDER" val="1"/>
</p:tagLst>
</file>

<file path=ppt/tags/tag69.xml><?xml version="1.0" encoding="utf-8"?>
<p:tagLst xmlns:p="http://schemas.openxmlformats.org/presentationml/2006/main">
  <p:tag name="MH" val="20170803175132"/>
  <p:tag name="MH_LIBRARY" val="GRAPHIC"/>
  <p:tag name="MH_TYPE" val="SubTitle"/>
  <p:tag name="MH_ORDER" val="5"/>
</p:tagLst>
</file>

<file path=ppt/tags/tag70.xml><?xml version="1.0" encoding="utf-8"?>
<p:tagLst xmlns:p="http://schemas.openxmlformats.org/presentationml/2006/main">
  <p:tag name="MH" val="20170803175132"/>
  <p:tag name="MH_LIBRARY" val="GRAPHIC"/>
  <p:tag name="MH_TYPE" val="SubTitle"/>
  <p:tag name="MH_ORDER" val="2"/>
</p:tagLst>
</file>

<file path=ppt/tags/tag71.xml><?xml version="1.0" encoding="utf-8"?>
<p:tagLst xmlns:p="http://schemas.openxmlformats.org/presentationml/2006/main">
  <p:tag name="MH" val="20170803175132"/>
  <p:tag name="MH_LIBRARY" val="GRAPHIC"/>
  <p:tag name="MH_TYPE" val="SubTitle"/>
  <p:tag name="MH_ORDER" val="3"/>
</p:tagLst>
</file>

<file path=ppt/tags/tag72.xml><?xml version="1.0" encoding="utf-8"?>
<p:tagLst xmlns:p="http://schemas.openxmlformats.org/presentationml/2006/main">
  <p:tag name="MH" val="20170803175132"/>
  <p:tag name="MH_LIBRARY" val="GRAPHIC"/>
  <p:tag name="MH_TYPE" val="SubTitle"/>
  <p:tag name="MH_ORDER" val="4"/>
</p:tagLst>
</file>

<file path=ppt/tags/tag73.xml><?xml version="1.0" encoding="utf-8"?>
<p:tagLst xmlns:p="http://schemas.openxmlformats.org/presentationml/2006/main">
  <p:tag name="MH" val="20170803175132"/>
  <p:tag name="MH_LIBRARY" val="GRAPHIC"/>
  <p:tag name="MH_TYPE" val="SubTitle"/>
  <p:tag name="MH_ORDER" val="8"/>
</p:tagLst>
</file>

<file path=ppt/tags/tag74.xml><?xml version="1.0" encoding="utf-8"?>
<p:tagLst xmlns:p="http://schemas.openxmlformats.org/presentationml/2006/main">
  <p:tag name="MH" val="20170803175132"/>
  <p:tag name="MH_LIBRARY" val="GRAPHIC"/>
  <p:tag name="MH_TYPE" val="SubTitle"/>
  <p:tag name="MH_ORDER" val="7"/>
</p:tagLst>
</file>

<file path=ppt/tags/tag75.xml><?xml version="1.0" encoding="utf-8"?>
<p:tagLst xmlns:p="http://schemas.openxmlformats.org/presentationml/2006/main">
  <p:tag name="MH" val="20170803175132"/>
  <p:tag name="MH_LIBRARY" val="GRAPHIC"/>
  <p:tag name="MH_TYPE" val="SubTitle"/>
  <p:tag name="MH_ORDER" val="6"/>
</p:tagLst>
</file>

<file path=ppt/tags/tag76.xml><?xml version="1.0" encoding="utf-8"?>
<p:tagLst xmlns:p="http://schemas.openxmlformats.org/presentationml/2006/main">
  <p:tag name="MH" val="20170803220138"/>
  <p:tag name="MH_LIBRARY" val="GRAPHIC"/>
  <p:tag name="MH_TYPE" val="Other"/>
  <p:tag name="MH_ORDER" val="1"/>
</p:tagLst>
</file>

<file path=ppt/tags/tag77.xml><?xml version="1.0" encoding="utf-8"?>
<p:tagLst xmlns:p="http://schemas.openxmlformats.org/presentationml/2006/main">
  <p:tag name="MH" val="20170803220138"/>
  <p:tag name="MH_LIBRARY" val="GRAPHIC"/>
  <p:tag name="MH_TYPE" val="Other"/>
  <p:tag name="MH_ORDER" val="2"/>
</p:tagLst>
</file>

<file path=ppt/tags/tag78.xml><?xml version="1.0" encoding="utf-8"?>
<p:tagLst xmlns:p="http://schemas.openxmlformats.org/presentationml/2006/main">
  <p:tag name="MH" val="20170803220138"/>
  <p:tag name="MH_LIBRARY" val="GRAPHIC"/>
  <p:tag name="MH_TYPE" val="Other"/>
  <p:tag name="MH_ORDER" val="3"/>
</p:tagLst>
</file>

<file path=ppt/tags/tag79.xml><?xml version="1.0" encoding="utf-8"?>
<p:tagLst xmlns:p="http://schemas.openxmlformats.org/presentationml/2006/main">
  <p:tag name="MH" val="20170803220138"/>
  <p:tag name="MH_LIBRARY" val="GRAPHIC"/>
  <p:tag name="MH_TYPE" val="Other"/>
  <p:tag name="MH_ORDER" val="4"/>
</p:tagLst>
</file>

<file path=ppt/tags/tag80.xml><?xml version="1.0" encoding="utf-8"?>
<p:tagLst xmlns:p="http://schemas.openxmlformats.org/presentationml/2006/main">
  <p:tag name="MH" val="20170803220138"/>
  <p:tag name="MH_LIBRARY" val="GRAPHIC"/>
  <p:tag name="MH_TYPE" val="Text"/>
  <p:tag name="MH_ORDER" val="1"/>
</p:tagLst>
</file>

<file path=ppt/tags/tag81.xml><?xml version="1.0" encoding="utf-8"?>
<p:tagLst xmlns:p="http://schemas.openxmlformats.org/presentationml/2006/main">
  <p:tag name="MH" val="20170803220138"/>
  <p:tag name="MH_LIBRARY" val="GRAPHIC"/>
  <p:tag name="MH_TYPE" val="Text"/>
  <p:tag name="MH_ORDER" val="2"/>
</p:tagLst>
</file>

<file path=ppt/tags/tag82.xml><?xml version="1.0" encoding="utf-8"?>
<p:tagLst xmlns:p="http://schemas.openxmlformats.org/presentationml/2006/main">
  <p:tag name="MH" val="20170803220138"/>
  <p:tag name="MH_LIBRARY" val="GRAPHIC"/>
  <p:tag name="MH_TYPE" val="SubTitle"/>
  <p:tag name="MH_ORDER" val="1"/>
</p:tagLst>
</file>

<file path=ppt/tags/tag83.xml><?xml version="1.0" encoding="utf-8"?>
<p:tagLst xmlns:p="http://schemas.openxmlformats.org/presentationml/2006/main">
  <p:tag name="MH" val="20170803220138"/>
  <p:tag name="MH_LIBRARY" val="GRAPHIC"/>
  <p:tag name="MH_TYPE" val="SubTitle"/>
  <p:tag name="MH_ORDER" val="2"/>
</p:tagLst>
</file>

<file path=ppt/tags/tag84.xml><?xml version="1.0" encoding="utf-8"?>
<p:tagLst xmlns:p="http://schemas.openxmlformats.org/presentationml/2006/main">
  <p:tag name="MH" val="20170804005627"/>
  <p:tag name="MH_LIBRARY" val="GRAPHIC"/>
  <p:tag name="MH_TYPE" val="Other"/>
  <p:tag name="MH_ORDER" val="4"/>
</p:tagLst>
</file>

<file path=ppt/tags/tag85.xml><?xml version="1.0" encoding="utf-8"?>
<p:tagLst xmlns:p="http://schemas.openxmlformats.org/presentationml/2006/main">
  <p:tag name="MH" val="20170804005627"/>
  <p:tag name="MH_LIBRARY" val="GRAPHIC"/>
  <p:tag name="MH_TYPE" val="Other"/>
  <p:tag name="MH_ORDER" val="7"/>
</p:tagLst>
</file>

<file path=ppt/tags/tag86.xml><?xml version="1.0" encoding="utf-8"?>
<p:tagLst xmlns:p="http://schemas.openxmlformats.org/presentationml/2006/main">
  <p:tag name="MH" val="20170804005627"/>
  <p:tag name="MH_LIBRARY" val="GRAPHIC"/>
  <p:tag name="MH_TYPE" val="Other"/>
  <p:tag name="MH_ORDER" val="8"/>
</p:tagLst>
</file>

<file path=ppt/tags/tag87.xml><?xml version="1.0" encoding="utf-8"?>
<p:tagLst xmlns:p="http://schemas.openxmlformats.org/presentationml/2006/main">
  <p:tag name="MH" val="20170804005627"/>
  <p:tag name="MH_LIBRARY" val="GRAPHIC"/>
  <p:tag name="MH_TYPE" val="Other"/>
  <p:tag name="MH_ORDER" val="9"/>
</p:tagLst>
</file>

<file path=ppt/tags/tag88.xml><?xml version="1.0" encoding="utf-8"?>
<p:tagLst xmlns:p="http://schemas.openxmlformats.org/presentationml/2006/main">
  <p:tag name="MH" val="20170804005627"/>
  <p:tag name="MH_LIBRARY" val="GRAPHIC"/>
  <p:tag name="MH_TYPE" val="Other"/>
  <p:tag name="MH_ORDER" val="5"/>
</p:tagLst>
</file>

<file path=ppt/tags/tag89.xml><?xml version="1.0" encoding="utf-8"?>
<p:tagLst xmlns:p="http://schemas.openxmlformats.org/presentationml/2006/main">
  <p:tag name="MH" val="20170804005627"/>
  <p:tag name="MH_LIBRARY" val="GRAPHIC"/>
  <p:tag name="MH_TYPE" val="Other"/>
  <p:tag name="MH_ORDER" val="6"/>
</p:tagLst>
</file>

<file path=ppt/tags/tag90.xml><?xml version="1.0" encoding="utf-8"?>
<p:tagLst xmlns:p="http://schemas.openxmlformats.org/presentationml/2006/main">
  <p:tag name="MH" val="20170804005627"/>
  <p:tag name="MH_LIBRARY" val="GRAPHIC"/>
  <p:tag name="MH_TYPE" val="Other"/>
  <p:tag name="MH_ORDER" val="10"/>
</p:tagLst>
</file>

<file path=ppt/tags/tag91.xml><?xml version="1.0" encoding="utf-8"?>
<p:tagLst xmlns:p="http://schemas.openxmlformats.org/presentationml/2006/main">
  <p:tag name="MH" val="20170804005627"/>
  <p:tag name="MH_LIBRARY" val="GRAPHIC"/>
  <p:tag name="MH_TYPE" val="Other"/>
  <p:tag name="MH_ORDER" val="11"/>
</p:tagLst>
</file>

<file path=ppt/tags/tag92.xml><?xml version="1.0" encoding="utf-8"?>
<p:tagLst xmlns:p="http://schemas.openxmlformats.org/presentationml/2006/main">
  <p:tag name="MH" val="20170804005627"/>
  <p:tag name="MH_LIBRARY" val="GRAPHIC"/>
  <p:tag name="MH_TYPE" val="Other"/>
  <p:tag name="MH_ORDER" val="12"/>
</p:tagLst>
</file>

<file path=ppt/tags/tag93.xml><?xml version="1.0" encoding="utf-8"?>
<p:tagLst xmlns:p="http://schemas.openxmlformats.org/presentationml/2006/main">
  <p:tag name="MH" val="20170804005627"/>
  <p:tag name="MH_LIBRARY" val="GRAPHIC"/>
  <p:tag name="MH_TYPE" val="Other"/>
  <p:tag name="MH_ORDER" val="3"/>
</p:tagLst>
</file>

<file path=ppt/tags/tag94.xml><?xml version="1.0" encoding="utf-8"?>
<p:tagLst xmlns:p="http://schemas.openxmlformats.org/presentationml/2006/main">
  <p:tag name="MH" val="20170804005627"/>
  <p:tag name="MH_LIBRARY" val="GRAPHIC"/>
  <p:tag name="MH_TYPE" val="Other"/>
  <p:tag name="MH_ORDER" val="13"/>
</p:tagLst>
</file>

<file path=ppt/tags/tag95.xml><?xml version="1.0" encoding="utf-8"?>
<p:tagLst xmlns:p="http://schemas.openxmlformats.org/presentationml/2006/main">
  <p:tag name="MH" val="20170804005627"/>
  <p:tag name="MH_LIBRARY" val="GRAPHIC"/>
  <p:tag name="MH_TYPE" val="Other"/>
  <p:tag name="MH_ORDER" val="14"/>
</p:tagLst>
</file>

<file path=ppt/tags/tag96.xml><?xml version="1.0" encoding="utf-8"?>
<p:tagLst xmlns:p="http://schemas.openxmlformats.org/presentationml/2006/main">
  <p:tag name="MH" val="20170804005627"/>
  <p:tag name="MH_LIBRARY" val="GRAPHIC"/>
  <p:tag name="MH_TYPE" val="Other"/>
  <p:tag name="MH_ORDER" val="15"/>
</p:tagLst>
</file>

<file path=ppt/tags/tag97.xml><?xml version="1.0" encoding="utf-8"?>
<p:tagLst xmlns:p="http://schemas.openxmlformats.org/presentationml/2006/main">
  <p:tag name="MH" val="20170804005627"/>
  <p:tag name="MH_LIBRARY" val="GRAPHIC"/>
  <p:tag name="MH_TYPE" val="Other"/>
  <p:tag name="MH_ORDER" val="16"/>
</p:tagLst>
</file>

<file path=ppt/tags/tag98.xml><?xml version="1.0" encoding="utf-8"?>
<p:tagLst xmlns:p="http://schemas.openxmlformats.org/presentationml/2006/main">
  <p:tag name="MH" val="20170804005627"/>
  <p:tag name="MH_LIBRARY" val="GRAPHIC"/>
  <p:tag name="MH_TYPE" val="Other"/>
  <p:tag name="MH_ORDER" val="2"/>
</p:tagLst>
</file>

<file path=ppt/tags/tag99.xml><?xml version="1.0" encoding="utf-8"?>
<p:tagLst xmlns:p="http://schemas.openxmlformats.org/presentationml/2006/main">
  <p:tag name="MH" val="20170804005627"/>
  <p:tag name="MH_LIBRARY" val="GRAPHIC"/>
  <p:tag name="MH_TYPE" val="Other"/>
  <p:tag name="MH_ORDER" val="17"/>
</p:tagLst>
</file>

<file path=ppt/tags/tag100.xml><?xml version="1.0" encoding="utf-8"?>
<p:tagLst xmlns:p="http://schemas.openxmlformats.org/presentationml/2006/main">
  <p:tag name="MH" val="20170804005627"/>
  <p:tag name="MH_LIBRARY" val="GRAPHIC"/>
  <p:tag name="MH_TYPE" val="Other"/>
  <p:tag name="MH_ORDER" val="18"/>
</p:tagLst>
</file>

<file path=ppt/tags/tag101.xml><?xml version="1.0" encoding="utf-8"?>
<p:tagLst xmlns:p="http://schemas.openxmlformats.org/presentationml/2006/main">
  <p:tag name="MH" val="20170804005627"/>
  <p:tag name="MH_LIBRARY" val="GRAPHIC"/>
  <p:tag name="MH_TYPE" val="Other"/>
  <p:tag name="MH_ORDER" val="19"/>
</p:tagLst>
</file>

<file path=ppt/tags/tag102.xml><?xml version="1.0" encoding="utf-8"?>
<p:tagLst xmlns:p="http://schemas.openxmlformats.org/presentationml/2006/main">
  <p:tag name="MH" val="20170804005627"/>
  <p:tag name="MH_LIBRARY" val="GRAPHIC"/>
  <p:tag name="MH_TYPE" val="Other"/>
  <p:tag name="MH_ORDER" val="20"/>
</p:tagLst>
</file>

<file path=ppt/tags/tag103.xml><?xml version="1.0" encoding="utf-8"?>
<p:tagLst xmlns:p="http://schemas.openxmlformats.org/presentationml/2006/main">
  <p:tag name="MH" val="20170804005627"/>
  <p:tag name="MH_LIBRARY" val="GRAPHIC"/>
  <p:tag name="MH_TYPE" val="Other"/>
  <p:tag name="MH_ORDER" val="21"/>
</p:tagLst>
</file>

<file path=ppt/tags/tag104.xml><?xml version="1.0" encoding="utf-8"?>
<p:tagLst xmlns:p="http://schemas.openxmlformats.org/presentationml/2006/main">
  <p:tag name="MH" val="20170804005627"/>
  <p:tag name="MH_LIBRARY" val="GRAPHIC"/>
  <p:tag name="MH_TYPE" val="Other"/>
  <p:tag name="MH_ORDER" val="22"/>
</p:tagLst>
</file>

<file path=ppt/tags/tag105.xml><?xml version="1.0" encoding="utf-8"?>
<p:tagLst xmlns:p="http://schemas.openxmlformats.org/presentationml/2006/main">
  <p:tag name="MH" val="20170804005627"/>
  <p:tag name="MH_LIBRARY" val="GRAPHIC"/>
  <p:tag name="MH_TYPE" val="Other"/>
  <p:tag name="MH_ORDER" val="1"/>
</p:tagLst>
</file>

<file path=ppt/tags/tag106.xml><?xml version="1.0" encoding="utf-8"?>
<p:tagLst xmlns:p="http://schemas.openxmlformats.org/presentationml/2006/main">
  <p:tag name="MH" val="20170804005627"/>
  <p:tag name="MH_LIBRARY" val="GRAPHIC"/>
  <p:tag name="MH_TYPE" val="Other"/>
  <p:tag name="MH_ORDER" val="23"/>
</p:tagLst>
</file>

<file path=ppt/tags/tag107.xml><?xml version="1.0" encoding="utf-8"?>
<p:tagLst xmlns:p="http://schemas.openxmlformats.org/presentationml/2006/main">
  <p:tag name="MH" val="20170804005627"/>
  <p:tag name="MH_LIBRARY" val="GRAPHIC"/>
  <p:tag name="MH_TYPE" val="Other"/>
  <p:tag name="MH_ORDER" val="24"/>
</p:tagLst>
</file>

<file path=ppt/tags/tag108.xml><?xml version="1.0" encoding="utf-8"?>
<p:tagLst xmlns:p="http://schemas.openxmlformats.org/presentationml/2006/main">
  <p:tag name="MH" val="20170804005627"/>
  <p:tag name="MH_LIBRARY" val="GRAPHIC"/>
  <p:tag name="MH_TYPE" val="Other"/>
  <p:tag name="MH_ORDER" val="25"/>
</p:tagLst>
</file>

<file path=ppt/tags/tag109.xml><?xml version="1.0" encoding="utf-8"?>
<p:tagLst xmlns:p="http://schemas.openxmlformats.org/presentationml/2006/main">
  <p:tag name="MH" val="20170804005627"/>
  <p:tag name="MH_LIBRARY" val="GRAPHIC"/>
  <p:tag name="MH_TYPE" val="Other"/>
  <p:tag name="MH_ORDER" val="26"/>
</p:tagLst>
</file>

<file path=ppt/tags/tag110.xml><?xml version="1.0" encoding="utf-8"?>
<p:tagLst xmlns:p="http://schemas.openxmlformats.org/presentationml/2006/main">
  <p:tag name="MH" val="20170804005627"/>
  <p:tag name="MH_LIBRARY" val="GRAPHIC"/>
  <p:tag name="MH_TYPE" val="Other"/>
  <p:tag name="MH_ORDER" val="27"/>
</p:tagLst>
</file>

<file path=ppt/tags/tag111.xml><?xml version="1.0" encoding="utf-8"?>
<p:tagLst xmlns:p="http://schemas.openxmlformats.org/presentationml/2006/main">
  <p:tag name="MH" val="20170804005627"/>
  <p:tag name="MH_LIBRARY" val="GRAPHIC"/>
  <p:tag name="MH_TYPE" val="Other"/>
  <p:tag name="MH_ORDER" val="28"/>
</p:tagLst>
</file>

<file path=ppt/tags/tag112.xml><?xml version="1.0" encoding="utf-8"?>
<p:tagLst xmlns:p="http://schemas.openxmlformats.org/presentationml/2006/main">
  <p:tag name="MH" val="20170804005627"/>
  <p:tag name="MH_LIBRARY" val="GRAPHIC"/>
  <p:tag name="MH_TYPE" val="SubTitle"/>
  <p:tag name="MH_ORDER" val="1"/>
</p:tagLst>
</file>

<file path=ppt/tags/tag113.xml><?xml version="1.0" encoding="utf-8"?>
<p:tagLst xmlns:p="http://schemas.openxmlformats.org/presentationml/2006/main">
  <p:tag name="MH" val="20170804005627"/>
  <p:tag name="MH_LIBRARY" val="GRAPHIC"/>
  <p:tag name="MH_TYPE" val="SubTitle"/>
  <p:tag name="MH_ORDER" val="2"/>
</p:tagLst>
</file>

<file path=ppt/tags/tag114.xml><?xml version="1.0" encoding="utf-8"?>
<p:tagLst xmlns:p="http://schemas.openxmlformats.org/presentationml/2006/main">
  <p:tag name="MH" val="20170804005627"/>
  <p:tag name="MH_LIBRARY" val="GRAPHIC"/>
  <p:tag name="MH_TYPE" val="SubTitle"/>
  <p:tag name="MH_ORDER" val="3"/>
</p:tagLst>
</file>

<file path=ppt/tags/tag115.xml><?xml version="1.0" encoding="utf-8"?>
<p:tagLst xmlns:p="http://schemas.openxmlformats.org/presentationml/2006/main">
  <p:tag name="MH" val="20170804005627"/>
  <p:tag name="MH_LIBRARY" val="GRAPHIC"/>
  <p:tag name="MH_TYPE" val="SubTitle"/>
  <p:tag name="MH_ORDER" val="4"/>
</p:tagLst>
</file>

<file path=ppt/tags/tag116.xml><?xml version="1.0" encoding="utf-8"?>
<p:tagLst xmlns:p="http://schemas.openxmlformats.org/presentationml/2006/main">
  <p:tag name="MH" val="20170804005627"/>
  <p:tag name="MH_LIBRARY" val="GRAPHIC"/>
  <p:tag name="MH_TYPE" val="SubTitle"/>
  <p:tag name="MH_ORDER" val="5"/>
</p:tagLst>
</file>

<file path=ppt/tags/tag117.xml><?xml version="1.0" encoding="utf-8"?>
<p:tagLst xmlns:p="http://schemas.openxmlformats.org/presentationml/2006/main">
  <p:tag name="MH" val="20170804005627"/>
  <p:tag name="MH_LIBRARY" val="GRAPHIC"/>
  <p:tag name="MH_TYPE" val="SubTitle"/>
  <p:tag name="MH_ORDER" val="6"/>
</p:tagLst>
</file>

<file path=ppt/theme/theme1.xml><?xml version="1.0" encoding="utf-8"?>
<a:theme xmlns:a="http://schemas.openxmlformats.org/drawingml/2006/main" name="Office 主题​​">
  <a:themeElements>
    <a:clrScheme name="红橙色">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6633</Words>
  <Application>WPS 演示</Application>
  <PresentationFormat>宽屏</PresentationFormat>
  <Paragraphs>493</Paragraphs>
  <Slides>25</Slides>
  <Notes>1</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25</vt:i4>
      </vt:variant>
    </vt:vector>
  </HeadingPairs>
  <TitlesOfParts>
    <vt:vector size="43" baseType="lpstr">
      <vt:lpstr>Arial</vt:lpstr>
      <vt:lpstr>宋体</vt:lpstr>
      <vt:lpstr>Wingdings</vt:lpstr>
      <vt:lpstr>微软雅黑</vt:lpstr>
      <vt:lpstr>Baskerville Old Face</vt:lpstr>
      <vt:lpstr>华文隶书</vt:lpstr>
      <vt:lpstr>Microsoft New Tai Lue</vt:lpstr>
      <vt:lpstr>Calibri</vt:lpstr>
      <vt:lpstr>华文中宋</vt:lpstr>
      <vt:lpstr>幼圆</vt:lpstr>
      <vt:lpstr>Times New Roman</vt:lpstr>
      <vt:lpstr>黑体</vt:lpstr>
      <vt:lpstr>Agency FB</vt:lpstr>
      <vt:lpstr>华文细黑</vt:lpstr>
      <vt:lpstr>等线</vt:lpstr>
      <vt:lpstr>Arial Unicode MS</vt:lpstr>
      <vt:lpstr>等线 Light</vt:lpstr>
      <vt:lpstr>Office 主题​​</vt:lpstr>
      <vt:lpstr>C程序设计</vt:lpstr>
      <vt:lpstr>课前介绍</vt:lpstr>
      <vt:lpstr>PowerPoint 演示文稿</vt:lpstr>
      <vt:lpstr>计算机程序</vt:lpstr>
      <vt:lpstr>计算机语言</vt:lpstr>
      <vt:lpstr>高级语言的发展</vt:lpstr>
      <vt:lpstr>C语言的设计者   Dennis M. Ritchie</vt:lpstr>
      <vt:lpstr>Ritchie和Thompson在开发UNIX</vt:lpstr>
      <vt:lpstr>和Unix的设计者Ken Thompson 接受美国国家技术勋章</vt:lpstr>
      <vt:lpstr>C语言的特点</vt:lpstr>
      <vt:lpstr>最简单的C语言程序</vt:lpstr>
      <vt:lpstr>最简单的C语言程序</vt:lpstr>
      <vt:lpstr>最简单的C语言程序</vt:lpstr>
      <vt:lpstr>最简单的C语言程序</vt:lpstr>
      <vt:lpstr>最简单的C语言程序</vt:lpstr>
      <vt:lpstr>注释</vt:lpstr>
      <vt:lpstr>注释</vt:lpstr>
      <vt:lpstr>最简单的C语言程序</vt:lpstr>
      <vt:lpstr>最简单的C语言程序</vt:lpstr>
      <vt:lpstr>最简单的C语言程序</vt:lpstr>
      <vt:lpstr>最简单的C语言程序</vt:lpstr>
      <vt:lpstr>最简单的C语言程序</vt:lpstr>
      <vt:lpstr>C语言程序的结构</vt:lpstr>
      <vt:lpstr>运行C程序的步骤与方法</vt:lpstr>
      <vt:lpstr>程序设计的任务</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C程序设计</dc:title>
  <dc:creator>zi jin</dc:creator>
  <cp:lastModifiedBy>韩咏</cp:lastModifiedBy>
  <cp:revision>88</cp:revision>
  <dcterms:created xsi:type="dcterms:W3CDTF">2017-08-03T06:51:00Z</dcterms:created>
  <dcterms:modified xsi:type="dcterms:W3CDTF">2025-10-13T13:02:18Z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A9287C6369FF417DBA147789CF89B815</vt:lpwstr>
  </property>
</Properties>
</file>