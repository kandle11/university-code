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sldIdLst>
    <p:sldId id="256" r:id="rId4"/>
    <p:sldId id="257" r:id="rId6"/>
    <p:sldId id="394" r:id="rId7"/>
    <p:sldId id="395" r:id="rId8"/>
    <p:sldId id="396" r:id="rId9"/>
    <p:sldId id="313" r:id="rId10"/>
    <p:sldId id="399" r:id="rId11"/>
    <p:sldId id="403" r:id="rId12"/>
    <p:sldId id="404" r:id="rId13"/>
    <p:sldId id="407" r:id="rId14"/>
    <p:sldId id="392" r:id="rId15"/>
    <p:sldId id="398" r:id="rId16"/>
    <p:sldId id="400" r:id="rId17"/>
    <p:sldId id="401" r:id="rId18"/>
    <p:sldId id="402" r:id="rId19"/>
    <p:sldId id="285" r:id="rId20"/>
    <p:sldId id="397" r:id="rId21"/>
    <p:sldId id="408" r:id="rId22"/>
    <p:sldId id="409" r:id="rId23"/>
    <p:sldId id="393" r:id="rId24"/>
    <p:sldId id="310" r:id="rId25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" userDrawn="1">
          <p15:clr>
            <a:srgbClr val="A4A3A4"/>
          </p15:clr>
        </p15:guide>
        <p15:guide id="2" orient="horz" pos="4219" userDrawn="1">
          <p15:clr>
            <a:srgbClr val="A4A3A4"/>
          </p15:clr>
        </p15:guide>
        <p15:guide id="3" orient="horz" pos="548" userDrawn="1">
          <p15:clr>
            <a:srgbClr val="A4A3A4"/>
          </p15:clr>
        </p15:guide>
        <p15:guide id="4" orient="horz" pos="666" userDrawn="1">
          <p15:clr>
            <a:srgbClr val="A4A3A4"/>
          </p15:clr>
        </p15:guide>
        <p15:guide id="5" orient="horz" pos="4005" userDrawn="1">
          <p15:clr>
            <a:srgbClr val="A4A3A4"/>
          </p15:clr>
        </p15:guide>
        <p15:guide id="6" orient="horz" pos="3860" userDrawn="1">
          <p15:clr>
            <a:srgbClr val="A4A3A4"/>
          </p15:clr>
        </p15:guide>
        <p15:guide id="7" pos="280" userDrawn="1">
          <p15:clr>
            <a:srgbClr val="A4A3A4"/>
          </p15:clr>
        </p15:guide>
        <p15:guide id="8" pos="74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5208"/>
    <a:srgbClr val="1A7496"/>
    <a:srgbClr val="FFFFFF"/>
    <a:srgbClr val="44BE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51" autoAdjust="0"/>
    <p:restoredTop sz="94618" autoAdjust="0"/>
  </p:normalViewPr>
  <p:slideViewPr>
    <p:cSldViewPr snapToGrid="0" showGuides="1">
      <p:cViewPr varScale="1">
        <p:scale>
          <a:sx n="115" d="100"/>
          <a:sy n="115" d="100"/>
        </p:scale>
        <p:origin x="132" y="132"/>
      </p:cViewPr>
      <p:guideLst>
        <p:guide orient="horz" pos="157"/>
        <p:guide orient="horz" pos="4219"/>
        <p:guide orient="horz" pos="548"/>
        <p:guide orient="horz" pos="666"/>
        <p:guide orient="horz" pos="4005"/>
        <p:guide orient="horz" pos="3860"/>
        <p:guide pos="280"/>
        <p:guide pos="744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gs" Target="tags/tag20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43F9-9B08-422F-9ECE-BE7148BC7D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C0232-94FA-4EBE-BB9B-79FBE486032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模板部分元素使用了幻灯片母版制作。如果需要修改，点击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视图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幻灯片母版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修改 完成后关闭编辑母版即可。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上一小节讲到不同进数制的数符对应关系时说道，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上一小节讲到不同进数制的数符对应关系时说道，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上一小节讲到不同进数制的数符对应关系时说道，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需要选择其他进制作为过渡，由于二进制与八进制、十六进制间存在对应关系，可以快速实现转化，所以一般。</a:t>
            </a:r>
            <a:endParaRPr lang="zh-CN" altLang="en-US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去掉小数末尾无意义的</a:t>
            </a:r>
            <a:r>
              <a:rPr lang="en-US" altLang="zh-CN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，整理后的到对应的二进制数为</a:t>
            </a:r>
            <a:endParaRPr lang="zh-CN" altLang="en-US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大概五分半</a:t>
            </a:r>
            <a:endParaRPr lang="zh-CN" altLang="en-US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上一小节讲到不同进数制的数符对应关系时说道，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选择二进制是因为二进制与八进制、十六进制间存在对应关系，可以快速实现转化。</a:t>
            </a:r>
            <a:endParaRPr lang="zh-CN" altLang="en-US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选择二进制是因为二进制与八进制、十六进制间存在对应关系，可以快速实现转化。</a:t>
            </a:r>
            <a:endParaRPr lang="zh-CN" altLang="en-US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上一小节讲到不同进数制的数符对应关系时说道，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选择二进制是因为二进制与八进制、十六进制间存在对应关系，可以快速实现转化。</a:t>
            </a:r>
            <a:endParaRPr lang="zh-CN" altLang="en-US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选择二进制是因为二进制与八进制、十六进制间存在对应关系，可以快速实现转化。</a:t>
            </a:r>
            <a:endParaRPr lang="zh-CN" altLang="en-US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选择二进制是因为二进制与八进制、十六进制间存在对应关系，可以快速实现转化。</a:t>
            </a:r>
            <a:endParaRPr lang="zh-CN" altLang="en-US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计算机中除了可以进行加减乘除等基本算术运算，还可以进行逻辑运算，又称布尔运算</a:t>
            </a:r>
            <a:endParaRPr lang="zh-CN" altLang="en-US"/>
          </a:p>
          <a:p>
            <a:r>
              <a:rPr lang="zh-CN" altLang="en-US"/>
              <a:t>其他复杂的逻辑关系，如异或、同或、或非等，都可以由这三种基本关系组成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选择二进制是因为二进制与八进制、十六进制间存在对应关系，可以快速实现转化。</a:t>
            </a:r>
            <a:endParaRPr lang="zh-CN" altLang="en-US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选择二进制是因为二进制与八进制、十六进制间存在对应关系，可以快速实现转化。</a:t>
            </a:r>
            <a:endParaRPr lang="zh-CN" altLang="en-US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选择二进制是因为二进制与八进制、十六进制间存在对应关系，可以快速实现转化。</a:t>
            </a:r>
            <a:endParaRPr lang="zh-CN" altLang="en-US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上一小节讲到不同进数制的转换方式，在应用中要根据实际需要灵活掌握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计算机就是一种能进行算术运算和逻辑运算的电子部件</a:t>
            </a:r>
            <a:endParaRPr lang="zh-CN" altLang="en-US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它将输入的二进制数码经过计算，转换为另一组二进制数码并输出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213" y="1670727"/>
            <a:ext cx="5427827" cy="44285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矩形 2"/>
          <p:cNvSpPr/>
          <p:nvPr userDrawn="1"/>
        </p:nvSpPr>
        <p:spPr>
          <a:xfrm>
            <a:off x="0" y="6193766"/>
            <a:ext cx="12192000" cy="6642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PA_文本框 10"/>
          <p:cNvSpPr txBox="1"/>
          <p:nvPr userDrawn="1">
            <p:custDataLst>
              <p:tags r:id="rId3"/>
            </p:custDataLst>
          </p:nvPr>
        </p:nvSpPr>
        <p:spPr>
          <a:xfrm>
            <a:off x="1450304" y="1500795"/>
            <a:ext cx="5528278" cy="1419860"/>
          </a:xfrm>
          <a:prstGeom prst="rect">
            <a:avLst/>
          </a:prstGeom>
          <a:noFill/>
        </p:spPr>
        <p:txBody>
          <a:bodyPr wrap="none" lIns="65009" tIns="32504" rIns="65009" bIns="32504">
            <a:spAutoFit/>
          </a:bodyPr>
          <a:lstStyle/>
          <a:p>
            <a:pPr>
              <a:defRPr/>
            </a:pPr>
            <a:r>
              <a:rPr lang="zh-CN" altLang="en-US" sz="4400" b="1" spc="284" dirty="0" smtClean="0">
                <a:solidFill>
                  <a:schemeClr val="accent2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  <a:cs typeface="Arial" panose="020B0604020202020204" pitchFamily="34" charset="0"/>
              </a:rPr>
              <a:t>大 学 计 算 机</a:t>
            </a:r>
            <a:endParaRPr lang="en-US" altLang="zh-CN" sz="4400" b="1" spc="284" dirty="0" smtClean="0">
              <a:solidFill>
                <a:schemeClr val="accent2"/>
              </a:solidFill>
              <a:latin typeface="方正粗宋简体" panose="03000509000000000000" pitchFamily="65" charset="-122"/>
              <a:ea typeface="方正粗宋简体" panose="03000509000000000000" pitchFamily="65" charset="-122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CN" sz="4400" b="1" spc="284" dirty="0" smtClean="0">
                <a:solidFill>
                  <a:schemeClr val="accent2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  <a:cs typeface="Arial" panose="020B0604020202020204" pitchFamily="34" charset="0"/>
              </a:rPr>
              <a:t>       </a:t>
            </a:r>
            <a:r>
              <a:rPr lang="en-US" altLang="zh-CN" sz="3600" b="1" spc="284" dirty="0" smtClean="0">
                <a:solidFill>
                  <a:schemeClr val="accent2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  <a:cs typeface="Arial" panose="020B0604020202020204" pitchFamily="34" charset="0"/>
              </a:rPr>
              <a:t>——</a:t>
            </a:r>
            <a:r>
              <a:rPr lang="zh-CN" altLang="en-US" sz="3600" b="1" spc="284" dirty="0" smtClean="0">
                <a:solidFill>
                  <a:schemeClr val="accent2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  <a:cs typeface="Arial" panose="020B0604020202020204" pitchFamily="34" charset="0"/>
              </a:rPr>
              <a:t>计算思维视角</a:t>
            </a:r>
            <a:endParaRPr lang="id-ID" altLang="zh-CN" sz="3600" b="1" spc="284" dirty="0">
              <a:solidFill>
                <a:schemeClr val="accent2"/>
              </a:solidFill>
              <a:latin typeface="方正粗宋简体" panose="03000509000000000000" pitchFamily="65" charset="-122"/>
              <a:ea typeface="方正粗宋简体" panose="03000509000000000000" pitchFamily="65" charset="-122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1450304" y="962460"/>
            <a:ext cx="3809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Heilongjiang Institute of Technology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Click="0" advTm="5000">
        <p14:warp dir="in"/>
      </p:transition>
    </mc:Choice>
    <mc:Fallback>
      <p:transition spd="slow" advClick="0" advTm="5000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8" fill="hold" grpId="0" nodeType="withEffect" p14:presetBounceEnd="21000">
                                      <p:stCondLst>
                                        <p:cond delay="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1000">
                                          <p:cBhvr additive="base">
                                            <p:cTn id="21" dur="8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1000">
                                          <p:cBhvr additive="base">
                                            <p:cTn id="22" dur="8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4" grpId="0"/>
          <p:bldP spid="5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8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8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4" grpId="0"/>
          <p:bldP spid="5" grpId="0"/>
        </p:bldLst>
      </p:timing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9"/>
          <p:cNvSpPr/>
          <p:nvPr userDrawn="1"/>
        </p:nvSpPr>
        <p:spPr bwMode="auto">
          <a:xfrm>
            <a:off x="1458289" y="-120301"/>
            <a:ext cx="1829633" cy="7280977"/>
          </a:xfrm>
          <a:custGeom>
            <a:avLst/>
            <a:gdLst>
              <a:gd name="T0" fmla="*/ 0 w 1703"/>
              <a:gd name="T1" fmla="*/ 0 h 9079"/>
              <a:gd name="T2" fmla="*/ 1703 w 1703"/>
              <a:gd name="T3" fmla="*/ 4539 h 9079"/>
              <a:gd name="T4" fmla="*/ 0 w 1703"/>
              <a:gd name="T5" fmla="*/ 9079 h 90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03" h="9079">
                <a:moveTo>
                  <a:pt x="0" y="0"/>
                </a:moveTo>
                <a:cubicBezTo>
                  <a:pt x="1060" y="1213"/>
                  <a:pt x="1703" y="2801"/>
                  <a:pt x="1703" y="4539"/>
                </a:cubicBezTo>
                <a:cubicBezTo>
                  <a:pt x="1703" y="6277"/>
                  <a:pt x="1060" y="7865"/>
                  <a:pt x="0" y="9079"/>
                </a:cubicBezTo>
              </a:path>
            </a:pathLst>
          </a:custGeom>
          <a:noFill/>
          <a:ln w="8" cap="flat">
            <a:solidFill>
              <a:srgbClr val="2E2C2C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8791" tIns="54395" rIns="108791" bIns="54395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" name="TextBox 76"/>
          <p:cNvSpPr txBox="1"/>
          <p:nvPr userDrawn="1"/>
        </p:nvSpPr>
        <p:spPr>
          <a:xfrm>
            <a:off x="-69011" y="176093"/>
            <a:ext cx="1848324" cy="940849"/>
          </a:xfrm>
          <a:prstGeom prst="rect">
            <a:avLst/>
          </a:prstGeom>
          <a:noFill/>
        </p:spPr>
        <p:txBody>
          <a:bodyPr wrap="square" lIns="108791" tIns="54395" rIns="108791" bIns="54395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目录</a:t>
            </a:r>
            <a:endParaRPr kumimoji="0" lang="zh-CN" altLang="en-US" sz="5400" b="1" i="0" u="none" strike="noStrike" kern="1200" cap="none" spc="-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TextBox 77"/>
          <p:cNvSpPr txBox="1"/>
          <p:nvPr userDrawn="1"/>
        </p:nvSpPr>
        <p:spPr>
          <a:xfrm>
            <a:off x="16149" y="1168952"/>
            <a:ext cx="1859579" cy="602295"/>
          </a:xfrm>
          <a:prstGeom prst="rect">
            <a:avLst/>
          </a:prstGeom>
          <a:noFill/>
        </p:spPr>
        <p:txBody>
          <a:bodyPr wrap="none" lIns="108791" tIns="54395" rIns="108791" bIns="5439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Contents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pic>
        <p:nvPicPr>
          <p:cNvPr id="5" name="PA_图片 2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83" y="2406195"/>
            <a:ext cx="2432778" cy="19849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5000">
        <p14:prism dir="u" isInverted="1"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3" presetClass="entr" presetSubtype="3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过度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A_图片 2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21" y="128348"/>
            <a:ext cx="643645" cy="5251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矩形 5"/>
          <p:cNvSpPr/>
          <p:nvPr userDrawn="1"/>
        </p:nvSpPr>
        <p:spPr>
          <a:xfrm>
            <a:off x="2508" y="6444342"/>
            <a:ext cx="12189492" cy="413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769023"/>
            <a:ext cx="12189492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Click="0" advTm="5000">
        <p15:prstTrans prst="prestige"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udongh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A_图片 2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21" y="128348"/>
            <a:ext cx="643645" cy="5251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矩形 5"/>
          <p:cNvSpPr/>
          <p:nvPr userDrawn="1"/>
        </p:nvSpPr>
        <p:spPr>
          <a:xfrm>
            <a:off x="2508" y="6444342"/>
            <a:ext cx="12189492" cy="413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769023"/>
            <a:ext cx="12189492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Click="0" advTm="5000">
        <p15:prstTrans prst="prestige"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_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 cstate="print"/>
            <a:srcRect/>
            <a:tile tx="0" ty="0" sx="100000" sy="100000" flip="none" algn="tl"/>
          </a:blip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5504" y="3112704"/>
            <a:ext cx="12191336" cy="3745296"/>
            <a:chOff x="664" y="3112704"/>
            <a:chExt cx="12191336" cy="3745296"/>
          </a:xfrm>
        </p:grpSpPr>
        <p:sp>
          <p:nvSpPr>
            <p:cNvPr id="7" name="Bent Arrow 44"/>
            <p:cNvSpPr/>
            <p:nvPr/>
          </p:nvSpPr>
          <p:spPr>
            <a:xfrm rot="10800000">
              <a:off x="668" y="3839311"/>
              <a:ext cx="5445907" cy="1523917"/>
            </a:xfrm>
            <a:prstGeom prst="bentArrow">
              <a:avLst>
                <a:gd name="adj1" fmla="val 25000"/>
                <a:gd name="adj2" fmla="val 3719"/>
                <a:gd name="adj3" fmla="val 0"/>
                <a:gd name="adj4" fmla="val 3002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5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8" name="Bent Arrow 48"/>
            <p:cNvSpPr/>
            <p:nvPr/>
          </p:nvSpPr>
          <p:spPr>
            <a:xfrm rot="10800000">
              <a:off x="666" y="4614932"/>
              <a:ext cx="4425545" cy="1523917"/>
            </a:xfrm>
            <a:prstGeom prst="bentArrow">
              <a:avLst>
                <a:gd name="adj1" fmla="val 25000"/>
                <a:gd name="adj2" fmla="val 3719"/>
                <a:gd name="adj3" fmla="val 0"/>
                <a:gd name="adj4" fmla="val 3002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5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9" name="Bent Arrow 52"/>
            <p:cNvSpPr/>
            <p:nvPr/>
          </p:nvSpPr>
          <p:spPr>
            <a:xfrm rot="10800000">
              <a:off x="664" y="5334083"/>
              <a:ext cx="3224527" cy="1523917"/>
            </a:xfrm>
            <a:prstGeom prst="bentArrow">
              <a:avLst>
                <a:gd name="adj1" fmla="val 25000"/>
                <a:gd name="adj2" fmla="val 3719"/>
                <a:gd name="adj3" fmla="val 0"/>
                <a:gd name="adj4" fmla="val 3002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5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grpSp>
          <p:nvGrpSpPr>
            <p:cNvPr id="10" name="Group 64"/>
            <p:cNvGrpSpPr/>
            <p:nvPr/>
          </p:nvGrpSpPr>
          <p:grpSpPr>
            <a:xfrm>
              <a:off x="4803214" y="3112704"/>
              <a:ext cx="1177898" cy="1178882"/>
              <a:chOff x="3621156" y="1140216"/>
              <a:chExt cx="883472" cy="884210"/>
            </a:xfrm>
          </p:grpSpPr>
          <p:sp>
            <p:nvSpPr>
              <p:cNvPr id="29" name="Oval 46"/>
              <p:cNvSpPr>
                <a:spLocks noChangeAspect="1"/>
              </p:cNvSpPr>
              <p:nvPr/>
            </p:nvSpPr>
            <p:spPr>
              <a:xfrm>
                <a:off x="3621156" y="1140216"/>
                <a:ext cx="883472" cy="884210"/>
              </a:xfrm>
              <a:prstGeom prst="ellipse">
                <a:avLst/>
              </a:prstGeom>
              <a:solidFill>
                <a:schemeClr val="accent3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3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30" name="Freeform 5"/>
              <p:cNvSpPr>
                <a:spLocks noEditPoints="1"/>
              </p:cNvSpPr>
              <p:nvPr/>
            </p:nvSpPr>
            <p:spPr bwMode="auto">
              <a:xfrm>
                <a:off x="3898696" y="1397136"/>
                <a:ext cx="370370" cy="370370"/>
              </a:xfrm>
              <a:custGeom>
                <a:avLst/>
                <a:gdLst/>
                <a:ahLst/>
                <a:cxnLst>
                  <a:cxn ang="0">
                    <a:pos x="0" y="192"/>
                  </a:cxn>
                  <a:cxn ang="0">
                    <a:pos x="255" y="135"/>
                  </a:cxn>
                  <a:cxn ang="0">
                    <a:pos x="277" y="122"/>
                  </a:cxn>
                  <a:cxn ang="0">
                    <a:pos x="303" y="116"/>
                  </a:cxn>
                  <a:cxn ang="0">
                    <a:pos x="296" y="105"/>
                  </a:cxn>
                  <a:cxn ang="0">
                    <a:pos x="278" y="89"/>
                  </a:cxn>
                  <a:cxn ang="0">
                    <a:pos x="265" y="90"/>
                  </a:cxn>
                  <a:cxn ang="0">
                    <a:pos x="256" y="82"/>
                  </a:cxn>
                  <a:cxn ang="0">
                    <a:pos x="231" y="73"/>
                  </a:cxn>
                  <a:cxn ang="0">
                    <a:pos x="234" y="98"/>
                  </a:cxn>
                  <a:cxn ang="0">
                    <a:pos x="224" y="118"/>
                  </a:cxn>
                  <a:cxn ang="0">
                    <a:pos x="205" y="103"/>
                  </a:cxn>
                  <a:cxn ang="0">
                    <a:pos x="175" y="89"/>
                  </a:cxn>
                  <a:cxn ang="0">
                    <a:pos x="183" y="68"/>
                  </a:cxn>
                  <a:cxn ang="0">
                    <a:pos x="212" y="58"/>
                  </a:cxn>
                  <a:cxn ang="0">
                    <a:pos x="207" y="47"/>
                  </a:cxn>
                  <a:cxn ang="0">
                    <a:pos x="188" y="50"/>
                  </a:cxn>
                  <a:cxn ang="0">
                    <a:pos x="168" y="37"/>
                  </a:cxn>
                  <a:cxn ang="0">
                    <a:pos x="171" y="52"/>
                  </a:cxn>
                  <a:cxn ang="0">
                    <a:pos x="157" y="52"/>
                  </a:cxn>
                  <a:cxn ang="0">
                    <a:pos x="141" y="40"/>
                  </a:cxn>
                  <a:cxn ang="0">
                    <a:pos x="126" y="47"/>
                  </a:cxn>
                  <a:cxn ang="0">
                    <a:pos x="143" y="51"/>
                  </a:cxn>
                  <a:cxn ang="0">
                    <a:pos x="131" y="58"/>
                  </a:cxn>
                  <a:cxn ang="0">
                    <a:pos x="56" y="107"/>
                  </a:cxn>
                  <a:cxn ang="0">
                    <a:pos x="65" y="118"/>
                  </a:cxn>
                  <a:cxn ang="0">
                    <a:pos x="79" y="135"/>
                  </a:cxn>
                  <a:cxn ang="0">
                    <a:pos x="74" y="158"/>
                  </a:cxn>
                  <a:cxn ang="0">
                    <a:pos x="88" y="185"/>
                  </a:cxn>
                  <a:cxn ang="0">
                    <a:pos x="108" y="214"/>
                  </a:cxn>
                  <a:cxn ang="0">
                    <a:pos x="118" y="227"/>
                  </a:cxn>
                  <a:cxn ang="0">
                    <a:pos x="105" y="197"/>
                  </a:cxn>
                  <a:cxn ang="0">
                    <a:pos x="125" y="225"/>
                  </a:cxn>
                  <a:cxn ang="0">
                    <a:pos x="150" y="255"/>
                  </a:cxn>
                  <a:cxn ang="0">
                    <a:pos x="184" y="269"/>
                  </a:cxn>
                  <a:cxn ang="0">
                    <a:pos x="213" y="290"/>
                  </a:cxn>
                  <a:cxn ang="0">
                    <a:pos x="224" y="288"/>
                  </a:cxn>
                  <a:cxn ang="0">
                    <a:pos x="212" y="268"/>
                  </a:cxn>
                  <a:cxn ang="0">
                    <a:pos x="197" y="262"/>
                  </a:cxn>
                  <a:cxn ang="0">
                    <a:pos x="194" y="239"/>
                  </a:cxn>
                  <a:cxn ang="0">
                    <a:pos x="171" y="250"/>
                  </a:cxn>
                  <a:cxn ang="0">
                    <a:pos x="168" y="210"/>
                  </a:cxn>
                  <a:cxn ang="0">
                    <a:pos x="184" y="206"/>
                  </a:cxn>
                  <a:cxn ang="0">
                    <a:pos x="196" y="202"/>
                  </a:cxn>
                  <a:cxn ang="0">
                    <a:pos x="214" y="211"/>
                  </a:cxn>
                  <a:cxn ang="0">
                    <a:pos x="221" y="205"/>
                  </a:cxn>
                  <a:cxn ang="0">
                    <a:pos x="234" y="179"/>
                  </a:cxn>
                  <a:cxn ang="0">
                    <a:pos x="233" y="171"/>
                  </a:cxn>
                  <a:cxn ang="0">
                    <a:pos x="252" y="157"/>
                  </a:cxn>
                  <a:cxn ang="0">
                    <a:pos x="266" y="143"/>
                  </a:cxn>
                  <a:cxn ang="0">
                    <a:pos x="273" y="131"/>
                  </a:cxn>
                  <a:cxn ang="0">
                    <a:pos x="255" y="135"/>
                  </a:cxn>
                  <a:cxn ang="0">
                    <a:pos x="295" y="298"/>
                  </a:cxn>
                  <a:cxn ang="0">
                    <a:pos x="272" y="288"/>
                  </a:cxn>
                  <a:cxn ang="0">
                    <a:pos x="251" y="288"/>
                  </a:cxn>
                  <a:cxn ang="0">
                    <a:pos x="236" y="286"/>
                  </a:cxn>
                  <a:cxn ang="0">
                    <a:pos x="230" y="307"/>
                  </a:cxn>
                  <a:cxn ang="0">
                    <a:pos x="223" y="335"/>
                  </a:cxn>
                  <a:cxn ang="0">
                    <a:pos x="308" y="302"/>
                  </a:cxn>
                </a:cxnLst>
                <a:rect l="0" t="0" r="r" b="b"/>
                <a:pathLst>
                  <a:path w="384" h="384">
                    <a:moveTo>
                      <a:pt x="384" y="192"/>
                    </a:moveTo>
                    <a:cubicBezTo>
                      <a:pt x="384" y="298"/>
                      <a:pt x="298" y="384"/>
                      <a:pt x="192" y="384"/>
                    </a:cubicBezTo>
                    <a:cubicBezTo>
                      <a:pt x="86" y="384"/>
                      <a:pt x="0" y="298"/>
                      <a:pt x="0" y="192"/>
                    </a:cubicBezTo>
                    <a:cubicBezTo>
                      <a:pt x="0" y="86"/>
                      <a:pt x="86" y="0"/>
                      <a:pt x="192" y="0"/>
                    </a:cubicBezTo>
                    <a:cubicBezTo>
                      <a:pt x="298" y="0"/>
                      <a:pt x="384" y="86"/>
                      <a:pt x="384" y="192"/>
                    </a:cubicBezTo>
                    <a:close/>
                    <a:moveTo>
                      <a:pt x="255" y="135"/>
                    </a:moveTo>
                    <a:cubicBezTo>
                      <a:pt x="256" y="135"/>
                      <a:pt x="257" y="130"/>
                      <a:pt x="258" y="129"/>
                    </a:cubicBezTo>
                    <a:cubicBezTo>
                      <a:pt x="260" y="127"/>
                      <a:pt x="262" y="126"/>
                      <a:pt x="264" y="125"/>
                    </a:cubicBezTo>
                    <a:cubicBezTo>
                      <a:pt x="268" y="124"/>
                      <a:pt x="272" y="123"/>
                      <a:pt x="277" y="122"/>
                    </a:cubicBezTo>
                    <a:cubicBezTo>
                      <a:pt x="281" y="121"/>
                      <a:pt x="286" y="121"/>
                      <a:pt x="289" y="125"/>
                    </a:cubicBezTo>
                    <a:cubicBezTo>
                      <a:pt x="289" y="124"/>
                      <a:pt x="295" y="119"/>
                      <a:pt x="295" y="119"/>
                    </a:cubicBezTo>
                    <a:cubicBezTo>
                      <a:pt x="298" y="118"/>
                      <a:pt x="301" y="118"/>
                      <a:pt x="303" y="116"/>
                    </a:cubicBezTo>
                    <a:cubicBezTo>
                      <a:pt x="303" y="115"/>
                      <a:pt x="303" y="110"/>
                      <a:pt x="303" y="110"/>
                    </a:cubicBezTo>
                    <a:cubicBezTo>
                      <a:pt x="299" y="111"/>
                      <a:pt x="298" y="107"/>
                      <a:pt x="297" y="103"/>
                    </a:cubicBezTo>
                    <a:cubicBezTo>
                      <a:pt x="297" y="104"/>
                      <a:pt x="297" y="104"/>
                      <a:pt x="296" y="105"/>
                    </a:cubicBezTo>
                    <a:cubicBezTo>
                      <a:pt x="296" y="102"/>
                      <a:pt x="291" y="104"/>
                      <a:pt x="290" y="104"/>
                    </a:cubicBezTo>
                    <a:cubicBezTo>
                      <a:pt x="284" y="102"/>
                      <a:pt x="285" y="98"/>
                      <a:pt x="283" y="94"/>
                    </a:cubicBezTo>
                    <a:cubicBezTo>
                      <a:pt x="282" y="92"/>
                      <a:pt x="279" y="91"/>
                      <a:pt x="278" y="89"/>
                    </a:cubicBezTo>
                    <a:cubicBezTo>
                      <a:pt x="277" y="87"/>
                      <a:pt x="277" y="84"/>
                      <a:pt x="274" y="84"/>
                    </a:cubicBezTo>
                    <a:cubicBezTo>
                      <a:pt x="273" y="84"/>
                      <a:pt x="270" y="89"/>
                      <a:pt x="270" y="89"/>
                    </a:cubicBezTo>
                    <a:cubicBezTo>
                      <a:pt x="267" y="88"/>
                      <a:pt x="266" y="89"/>
                      <a:pt x="265" y="90"/>
                    </a:cubicBezTo>
                    <a:cubicBezTo>
                      <a:pt x="263" y="91"/>
                      <a:pt x="262" y="91"/>
                      <a:pt x="260" y="92"/>
                    </a:cubicBezTo>
                    <a:cubicBezTo>
                      <a:pt x="265" y="90"/>
                      <a:pt x="258" y="88"/>
                      <a:pt x="256" y="88"/>
                    </a:cubicBezTo>
                    <a:cubicBezTo>
                      <a:pt x="260" y="87"/>
                      <a:pt x="258" y="83"/>
                      <a:pt x="256" y="82"/>
                    </a:cubicBezTo>
                    <a:cubicBezTo>
                      <a:pt x="256" y="82"/>
                      <a:pt x="257" y="82"/>
                      <a:pt x="257" y="82"/>
                    </a:cubicBezTo>
                    <a:cubicBezTo>
                      <a:pt x="257" y="79"/>
                      <a:pt x="250" y="77"/>
                      <a:pt x="247" y="76"/>
                    </a:cubicBezTo>
                    <a:cubicBezTo>
                      <a:pt x="245" y="74"/>
                      <a:pt x="233" y="72"/>
                      <a:pt x="231" y="73"/>
                    </a:cubicBezTo>
                    <a:cubicBezTo>
                      <a:pt x="228" y="75"/>
                      <a:pt x="231" y="80"/>
                      <a:pt x="231" y="83"/>
                    </a:cubicBezTo>
                    <a:cubicBezTo>
                      <a:pt x="232" y="86"/>
                      <a:pt x="228" y="86"/>
                      <a:pt x="228" y="89"/>
                    </a:cubicBezTo>
                    <a:cubicBezTo>
                      <a:pt x="228" y="93"/>
                      <a:pt x="236" y="92"/>
                      <a:pt x="234" y="98"/>
                    </a:cubicBezTo>
                    <a:cubicBezTo>
                      <a:pt x="233" y="102"/>
                      <a:pt x="228" y="102"/>
                      <a:pt x="226" y="105"/>
                    </a:cubicBezTo>
                    <a:cubicBezTo>
                      <a:pt x="224" y="108"/>
                      <a:pt x="227" y="112"/>
                      <a:pt x="229" y="114"/>
                    </a:cubicBezTo>
                    <a:cubicBezTo>
                      <a:pt x="231" y="115"/>
                      <a:pt x="225" y="118"/>
                      <a:pt x="224" y="118"/>
                    </a:cubicBezTo>
                    <a:cubicBezTo>
                      <a:pt x="220" y="120"/>
                      <a:pt x="217" y="114"/>
                      <a:pt x="216" y="110"/>
                    </a:cubicBezTo>
                    <a:cubicBezTo>
                      <a:pt x="215" y="108"/>
                      <a:pt x="215" y="104"/>
                      <a:pt x="212" y="103"/>
                    </a:cubicBezTo>
                    <a:cubicBezTo>
                      <a:pt x="210" y="102"/>
                      <a:pt x="206" y="102"/>
                      <a:pt x="205" y="103"/>
                    </a:cubicBezTo>
                    <a:cubicBezTo>
                      <a:pt x="203" y="99"/>
                      <a:pt x="198" y="98"/>
                      <a:pt x="194" y="97"/>
                    </a:cubicBezTo>
                    <a:cubicBezTo>
                      <a:pt x="189" y="95"/>
                      <a:pt x="185" y="95"/>
                      <a:pt x="180" y="96"/>
                    </a:cubicBezTo>
                    <a:cubicBezTo>
                      <a:pt x="181" y="95"/>
                      <a:pt x="179" y="88"/>
                      <a:pt x="175" y="89"/>
                    </a:cubicBezTo>
                    <a:cubicBezTo>
                      <a:pt x="176" y="86"/>
                      <a:pt x="176" y="84"/>
                      <a:pt x="176" y="81"/>
                    </a:cubicBezTo>
                    <a:cubicBezTo>
                      <a:pt x="177" y="79"/>
                      <a:pt x="178" y="77"/>
                      <a:pt x="179" y="75"/>
                    </a:cubicBezTo>
                    <a:cubicBezTo>
                      <a:pt x="180" y="74"/>
                      <a:pt x="185" y="69"/>
                      <a:pt x="183" y="68"/>
                    </a:cubicBezTo>
                    <a:cubicBezTo>
                      <a:pt x="188" y="69"/>
                      <a:pt x="193" y="69"/>
                      <a:pt x="196" y="66"/>
                    </a:cubicBezTo>
                    <a:cubicBezTo>
                      <a:pt x="198" y="63"/>
                      <a:pt x="199" y="60"/>
                      <a:pt x="202" y="57"/>
                    </a:cubicBezTo>
                    <a:cubicBezTo>
                      <a:pt x="205" y="53"/>
                      <a:pt x="209" y="58"/>
                      <a:pt x="212" y="58"/>
                    </a:cubicBezTo>
                    <a:cubicBezTo>
                      <a:pt x="217" y="59"/>
                      <a:pt x="217" y="53"/>
                      <a:pt x="214" y="51"/>
                    </a:cubicBezTo>
                    <a:cubicBezTo>
                      <a:pt x="218" y="51"/>
                      <a:pt x="215" y="45"/>
                      <a:pt x="213" y="44"/>
                    </a:cubicBezTo>
                    <a:cubicBezTo>
                      <a:pt x="211" y="43"/>
                      <a:pt x="202" y="46"/>
                      <a:pt x="207" y="47"/>
                    </a:cubicBezTo>
                    <a:cubicBezTo>
                      <a:pt x="206" y="47"/>
                      <a:pt x="200" y="59"/>
                      <a:pt x="196" y="53"/>
                    </a:cubicBezTo>
                    <a:cubicBezTo>
                      <a:pt x="195" y="52"/>
                      <a:pt x="195" y="47"/>
                      <a:pt x="193" y="46"/>
                    </a:cubicBezTo>
                    <a:cubicBezTo>
                      <a:pt x="190" y="46"/>
                      <a:pt x="189" y="49"/>
                      <a:pt x="188" y="50"/>
                    </a:cubicBezTo>
                    <a:cubicBezTo>
                      <a:pt x="190" y="47"/>
                      <a:pt x="181" y="45"/>
                      <a:pt x="180" y="44"/>
                    </a:cubicBezTo>
                    <a:cubicBezTo>
                      <a:pt x="183" y="42"/>
                      <a:pt x="180" y="39"/>
                      <a:pt x="178" y="38"/>
                    </a:cubicBezTo>
                    <a:cubicBezTo>
                      <a:pt x="176" y="36"/>
                      <a:pt x="169" y="35"/>
                      <a:pt x="168" y="37"/>
                    </a:cubicBezTo>
                    <a:cubicBezTo>
                      <a:pt x="163" y="43"/>
                      <a:pt x="173" y="44"/>
                      <a:pt x="175" y="45"/>
                    </a:cubicBezTo>
                    <a:cubicBezTo>
                      <a:pt x="176" y="46"/>
                      <a:pt x="179" y="48"/>
                      <a:pt x="177" y="49"/>
                    </a:cubicBezTo>
                    <a:cubicBezTo>
                      <a:pt x="176" y="50"/>
                      <a:pt x="171" y="51"/>
                      <a:pt x="171" y="52"/>
                    </a:cubicBezTo>
                    <a:cubicBezTo>
                      <a:pt x="169" y="54"/>
                      <a:pt x="172" y="57"/>
                      <a:pt x="170" y="59"/>
                    </a:cubicBezTo>
                    <a:cubicBezTo>
                      <a:pt x="168" y="57"/>
                      <a:pt x="168" y="53"/>
                      <a:pt x="166" y="50"/>
                    </a:cubicBezTo>
                    <a:cubicBezTo>
                      <a:pt x="168" y="53"/>
                      <a:pt x="157" y="52"/>
                      <a:pt x="157" y="52"/>
                    </a:cubicBezTo>
                    <a:cubicBezTo>
                      <a:pt x="154" y="52"/>
                      <a:pt x="148" y="54"/>
                      <a:pt x="145" y="50"/>
                    </a:cubicBezTo>
                    <a:cubicBezTo>
                      <a:pt x="144" y="49"/>
                      <a:pt x="144" y="44"/>
                      <a:pt x="146" y="45"/>
                    </a:cubicBezTo>
                    <a:cubicBezTo>
                      <a:pt x="144" y="43"/>
                      <a:pt x="142" y="41"/>
                      <a:pt x="141" y="40"/>
                    </a:cubicBezTo>
                    <a:cubicBezTo>
                      <a:pt x="132" y="43"/>
                      <a:pt x="125" y="47"/>
                      <a:pt x="117" y="51"/>
                    </a:cubicBezTo>
                    <a:cubicBezTo>
                      <a:pt x="118" y="51"/>
                      <a:pt x="119" y="51"/>
                      <a:pt x="120" y="50"/>
                    </a:cubicBezTo>
                    <a:cubicBezTo>
                      <a:pt x="122" y="50"/>
                      <a:pt x="124" y="48"/>
                      <a:pt x="126" y="47"/>
                    </a:cubicBezTo>
                    <a:cubicBezTo>
                      <a:pt x="128" y="46"/>
                      <a:pt x="134" y="43"/>
                      <a:pt x="136" y="46"/>
                    </a:cubicBezTo>
                    <a:cubicBezTo>
                      <a:pt x="137" y="45"/>
                      <a:pt x="137" y="45"/>
                      <a:pt x="138" y="44"/>
                    </a:cubicBezTo>
                    <a:cubicBezTo>
                      <a:pt x="139" y="46"/>
                      <a:pt x="141" y="48"/>
                      <a:pt x="143" y="51"/>
                    </a:cubicBezTo>
                    <a:cubicBezTo>
                      <a:pt x="141" y="50"/>
                      <a:pt x="137" y="50"/>
                      <a:pt x="135" y="50"/>
                    </a:cubicBezTo>
                    <a:cubicBezTo>
                      <a:pt x="133" y="51"/>
                      <a:pt x="130" y="51"/>
                      <a:pt x="130" y="53"/>
                    </a:cubicBezTo>
                    <a:cubicBezTo>
                      <a:pt x="130" y="55"/>
                      <a:pt x="131" y="57"/>
                      <a:pt x="131" y="58"/>
                    </a:cubicBezTo>
                    <a:cubicBezTo>
                      <a:pt x="128" y="56"/>
                      <a:pt x="125" y="52"/>
                      <a:pt x="121" y="51"/>
                    </a:cubicBezTo>
                    <a:cubicBezTo>
                      <a:pt x="119" y="51"/>
                      <a:pt x="117" y="51"/>
                      <a:pt x="115" y="52"/>
                    </a:cubicBezTo>
                    <a:cubicBezTo>
                      <a:pt x="91" y="65"/>
                      <a:pt x="71" y="84"/>
                      <a:pt x="56" y="107"/>
                    </a:cubicBezTo>
                    <a:cubicBezTo>
                      <a:pt x="57" y="108"/>
                      <a:pt x="58" y="109"/>
                      <a:pt x="59" y="109"/>
                    </a:cubicBezTo>
                    <a:cubicBezTo>
                      <a:pt x="62" y="110"/>
                      <a:pt x="59" y="117"/>
                      <a:pt x="64" y="113"/>
                    </a:cubicBezTo>
                    <a:cubicBezTo>
                      <a:pt x="66" y="115"/>
                      <a:pt x="66" y="116"/>
                      <a:pt x="65" y="118"/>
                    </a:cubicBezTo>
                    <a:cubicBezTo>
                      <a:pt x="65" y="118"/>
                      <a:pt x="75" y="124"/>
                      <a:pt x="76" y="125"/>
                    </a:cubicBezTo>
                    <a:cubicBezTo>
                      <a:pt x="78" y="126"/>
                      <a:pt x="80" y="128"/>
                      <a:pt x="81" y="130"/>
                    </a:cubicBezTo>
                    <a:cubicBezTo>
                      <a:pt x="82" y="132"/>
                      <a:pt x="80" y="134"/>
                      <a:pt x="79" y="135"/>
                    </a:cubicBezTo>
                    <a:cubicBezTo>
                      <a:pt x="78" y="134"/>
                      <a:pt x="75" y="130"/>
                      <a:pt x="74" y="131"/>
                    </a:cubicBezTo>
                    <a:cubicBezTo>
                      <a:pt x="73" y="133"/>
                      <a:pt x="74" y="139"/>
                      <a:pt x="77" y="139"/>
                    </a:cubicBezTo>
                    <a:cubicBezTo>
                      <a:pt x="73" y="139"/>
                      <a:pt x="75" y="155"/>
                      <a:pt x="74" y="158"/>
                    </a:cubicBezTo>
                    <a:cubicBezTo>
                      <a:pt x="74" y="158"/>
                      <a:pt x="74" y="158"/>
                      <a:pt x="74" y="158"/>
                    </a:cubicBezTo>
                    <a:cubicBezTo>
                      <a:pt x="73" y="161"/>
                      <a:pt x="76" y="173"/>
                      <a:pt x="81" y="172"/>
                    </a:cubicBezTo>
                    <a:cubicBezTo>
                      <a:pt x="78" y="172"/>
                      <a:pt x="87" y="184"/>
                      <a:pt x="88" y="185"/>
                    </a:cubicBezTo>
                    <a:cubicBezTo>
                      <a:pt x="91" y="187"/>
                      <a:pt x="95" y="188"/>
                      <a:pt x="97" y="192"/>
                    </a:cubicBezTo>
                    <a:cubicBezTo>
                      <a:pt x="100" y="195"/>
                      <a:pt x="100" y="201"/>
                      <a:pt x="103" y="203"/>
                    </a:cubicBezTo>
                    <a:cubicBezTo>
                      <a:pt x="102" y="206"/>
                      <a:pt x="108" y="210"/>
                      <a:pt x="108" y="214"/>
                    </a:cubicBezTo>
                    <a:cubicBezTo>
                      <a:pt x="108" y="214"/>
                      <a:pt x="107" y="214"/>
                      <a:pt x="107" y="215"/>
                    </a:cubicBezTo>
                    <a:cubicBezTo>
                      <a:pt x="108" y="218"/>
                      <a:pt x="113" y="218"/>
                      <a:pt x="115" y="221"/>
                    </a:cubicBezTo>
                    <a:cubicBezTo>
                      <a:pt x="116" y="223"/>
                      <a:pt x="115" y="228"/>
                      <a:pt x="118" y="227"/>
                    </a:cubicBezTo>
                    <a:cubicBezTo>
                      <a:pt x="118" y="222"/>
                      <a:pt x="115" y="216"/>
                      <a:pt x="112" y="212"/>
                    </a:cubicBezTo>
                    <a:cubicBezTo>
                      <a:pt x="110" y="209"/>
                      <a:pt x="109" y="207"/>
                      <a:pt x="108" y="204"/>
                    </a:cubicBezTo>
                    <a:cubicBezTo>
                      <a:pt x="106" y="202"/>
                      <a:pt x="106" y="199"/>
                      <a:pt x="105" y="197"/>
                    </a:cubicBezTo>
                    <a:cubicBezTo>
                      <a:pt x="106" y="197"/>
                      <a:pt x="112" y="199"/>
                      <a:pt x="111" y="200"/>
                    </a:cubicBezTo>
                    <a:cubicBezTo>
                      <a:pt x="109" y="205"/>
                      <a:pt x="119" y="214"/>
                      <a:pt x="122" y="217"/>
                    </a:cubicBezTo>
                    <a:cubicBezTo>
                      <a:pt x="123" y="218"/>
                      <a:pt x="128" y="225"/>
                      <a:pt x="125" y="225"/>
                    </a:cubicBezTo>
                    <a:cubicBezTo>
                      <a:pt x="129" y="225"/>
                      <a:pt x="133" y="230"/>
                      <a:pt x="135" y="233"/>
                    </a:cubicBezTo>
                    <a:cubicBezTo>
                      <a:pt x="137" y="236"/>
                      <a:pt x="136" y="241"/>
                      <a:pt x="138" y="245"/>
                    </a:cubicBezTo>
                    <a:cubicBezTo>
                      <a:pt x="139" y="250"/>
                      <a:pt x="146" y="252"/>
                      <a:pt x="150" y="255"/>
                    </a:cubicBezTo>
                    <a:cubicBezTo>
                      <a:pt x="154" y="256"/>
                      <a:pt x="157" y="259"/>
                      <a:pt x="160" y="260"/>
                    </a:cubicBezTo>
                    <a:cubicBezTo>
                      <a:pt x="166" y="262"/>
                      <a:pt x="167" y="260"/>
                      <a:pt x="171" y="260"/>
                    </a:cubicBezTo>
                    <a:cubicBezTo>
                      <a:pt x="178" y="259"/>
                      <a:pt x="179" y="266"/>
                      <a:pt x="184" y="269"/>
                    </a:cubicBezTo>
                    <a:cubicBezTo>
                      <a:pt x="187" y="270"/>
                      <a:pt x="194" y="273"/>
                      <a:pt x="198" y="271"/>
                    </a:cubicBezTo>
                    <a:cubicBezTo>
                      <a:pt x="196" y="272"/>
                      <a:pt x="203" y="282"/>
                      <a:pt x="204" y="283"/>
                    </a:cubicBezTo>
                    <a:cubicBezTo>
                      <a:pt x="206" y="286"/>
                      <a:pt x="210" y="287"/>
                      <a:pt x="213" y="290"/>
                    </a:cubicBezTo>
                    <a:cubicBezTo>
                      <a:pt x="213" y="290"/>
                      <a:pt x="214" y="289"/>
                      <a:pt x="214" y="288"/>
                    </a:cubicBezTo>
                    <a:cubicBezTo>
                      <a:pt x="213" y="291"/>
                      <a:pt x="218" y="296"/>
                      <a:pt x="221" y="296"/>
                    </a:cubicBezTo>
                    <a:cubicBezTo>
                      <a:pt x="223" y="295"/>
                      <a:pt x="224" y="290"/>
                      <a:pt x="224" y="288"/>
                    </a:cubicBezTo>
                    <a:cubicBezTo>
                      <a:pt x="219" y="290"/>
                      <a:pt x="215" y="288"/>
                      <a:pt x="212" y="283"/>
                    </a:cubicBezTo>
                    <a:cubicBezTo>
                      <a:pt x="211" y="282"/>
                      <a:pt x="207" y="275"/>
                      <a:pt x="211" y="275"/>
                    </a:cubicBezTo>
                    <a:cubicBezTo>
                      <a:pt x="216" y="275"/>
                      <a:pt x="212" y="271"/>
                      <a:pt x="212" y="268"/>
                    </a:cubicBezTo>
                    <a:cubicBezTo>
                      <a:pt x="211" y="264"/>
                      <a:pt x="208" y="262"/>
                      <a:pt x="206" y="259"/>
                    </a:cubicBezTo>
                    <a:cubicBezTo>
                      <a:pt x="205" y="262"/>
                      <a:pt x="200" y="261"/>
                      <a:pt x="198" y="259"/>
                    </a:cubicBezTo>
                    <a:cubicBezTo>
                      <a:pt x="198" y="259"/>
                      <a:pt x="197" y="261"/>
                      <a:pt x="197" y="262"/>
                    </a:cubicBezTo>
                    <a:cubicBezTo>
                      <a:pt x="196" y="262"/>
                      <a:pt x="195" y="262"/>
                      <a:pt x="194" y="261"/>
                    </a:cubicBezTo>
                    <a:cubicBezTo>
                      <a:pt x="194" y="258"/>
                      <a:pt x="194" y="255"/>
                      <a:pt x="195" y="251"/>
                    </a:cubicBezTo>
                    <a:cubicBezTo>
                      <a:pt x="196" y="247"/>
                      <a:pt x="205" y="238"/>
                      <a:pt x="194" y="239"/>
                    </a:cubicBezTo>
                    <a:cubicBezTo>
                      <a:pt x="190" y="239"/>
                      <a:pt x="188" y="240"/>
                      <a:pt x="187" y="244"/>
                    </a:cubicBezTo>
                    <a:cubicBezTo>
                      <a:pt x="186" y="247"/>
                      <a:pt x="186" y="249"/>
                      <a:pt x="183" y="251"/>
                    </a:cubicBezTo>
                    <a:cubicBezTo>
                      <a:pt x="181" y="252"/>
                      <a:pt x="173" y="251"/>
                      <a:pt x="171" y="250"/>
                    </a:cubicBezTo>
                    <a:cubicBezTo>
                      <a:pt x="166" y="247"/>
                      <a:pt x="163" y="239"/>
                      <a:pt x="163" y="234"/>
                    </a:cubicBezTo>
                    <a:cubicBezTo>
                      <a:pt x="163" y="227"/>
                      <a:pt x="166" y="221"/>
                      <a:pt x="163" y="215"/>
                    </a:cubicBezTo>
                    <a:cubicBezTo>
                      <a:pt x="164" y="213"/>
                      <a:pt x="166" y="211"/>
                      <a:pt x="168" y="210"/>
                    </a:cubicBezTo>
                    <a:cubicBezTo>
                      <a:pt x="169" y="209"/>
                      <a:pt x="171" y="210"/>
                      <a:pt x="172" y="207"/>
                    </a:cubicBezTo>
                    <a:cubicBezTo>
                      <a:pt x="171" y="207"/>
                      <a:pt x="170" y="206"/>
                      <a:pt x="170" y="206"/>
                    </a:cubicBezTo>
                    <a:cubicBezTo>
                      <a:pt x="173" y="208"/>
                      <a:pt x="180" y="203"/>
                      <a:pt x="184" y="206"/>
                    </a:cubicBezTo>
                    <a:cubicBezTo>
                      <a:pt x="186" y="207"/>
                      <a:pt x="188" y="208"/>
                      <a:pt x="189" y="205"/>
                    </a:cubicBezTo>
                    <a:cubicBezTo>
                      <a:pt x="189" y="205"/>
                      <a:pt x="187" y="202"/>
                      <a:pt x="188" y="200"/>
                    </a:cubicBezTo>
                    <a:cubicBezTo>
                      <a:pt x="189" y="204"/>
                      <a:pt x="192" y="205"/>
                      <a:pt x="196" y="202"/>
                    </a:cubicBezTo>
                    <a:cubicBezTo>
                      <a:pt x="197" y="203"/>
                      <a:pt x="201" y="203"/>
                      <a:pt x="204" y="204"/>
                    </a:cubicBezTo>
                    <a:cubicBezTo>
                      <a:pt x="207" y="206"/>
                      <a:pt x="207" y="209"/>
                      <a:pt x="211" y="205"/>
                    </a:cubicBezTo>
                    <a:cubicBezTo>
                      <a:pt x="213" y="208"/>
                      <a:pt x="213" y="208"/>
                      <a:pt x="214" y="211"/>
                    </a:cubicBezTo>
                    <a:cubicBezTo>
                      <a:pt x="214" y="214"/>
                      <a:pt x="216" y="221"/>
                      <a:pt x="218" y="222"/>
                    </a:cubicBezTo>
                    <a:cubicBezTo>
                      <a:pt x="224" y="225"/>
                      <a:pt x="222" y="217"/>
                      <a:pt x="222" y="214"/>
                    </a:cubicBezTo>
                    <a:cubicBezTo>
                      <a:pt x="222" y="213"/>
                      <a:pt x="222" y="205"/>
                      <a:pt x="221" y="205"/>
                    </a:cubicBezTo>
                    <a:cubicBezTo>
                      <a:pt x="213" y="203"/>
                      <a:pt x="216" y="197"/>
                      <a:pt x="221" y="193"/>
                    </a:cubicBezTo>
                    <a:cubicBezTo>
                      <a:pt x="222" y="192"/>
                      <a:pt x="227" y="190"/>
                      <a:pt x="230" y="188"/>
                    </a:cubicBezTo>
                    <a:cubicBezTo>
                      <a:pt x="232" y="186"/>
                      <a:pt x="235" y="183"/>
                      <a:pt x="234" y="179"/>
                    </a:cubicBezTo>
                    <a:cubicBezTo>
                      <a:pt x="235" y="179"/>
                      <a:pt x="236" y="178"/>
                      <a:pt x="236" y="177"/>
                    </a:cubicBezTo>
                    <a:cubicBezTo>
                      <a:pt x="236" y="177"/>
                      <a:pt x="233" y="174"/>
                      <a:pt x="232" y="175"/>
                    </a:cubicBezTo>
                    <a:cubicBezTo>
                      <a:pt x="234" y="174"/>
                      <a:pt x="234" y="172"/>
                      <a:pt x="233" y="171"/>
                    </a:cubicBezTo>
                    <a:cubicBezTo>
                      <a:pt x="235" y="169"/>
                      <a:pt x="234" y="166"/>
                      <a:pt x="236" y="165"/>
                    </a:cubicBezTo>
                    <a:cubicBezTo>
                      <a:pt x="239" y="169"/>
                      <a:pt x="245" y="165"/>
                      <a:pt x="242" y="162"/>
                    </a:cubicBezTo>
                    <a:cubicBezTo>
                      <a:pt x="244" y="158"/>
                      <a:pt x="250" y="160"/>
                      <a:pt x="252" y="157"/>
                    </a:cubicBezTo>
                    <a:cubicBezTo>
                      <a:pt x="255" y="158"/>
                      <a:pt x="253" y="153"/>
                      <a:pt x="255" y="150"/>
                    </a:cubicBezTo>
                    <a:cubicBezTo>
                      <a:pt x="256" y="148"/>
                      <a:pt x="259" y="148"/>
                      <a:pt x="262" y="147"/>
                    </a:cubicBezTo>
                    <a:cubicBezTo>
                      <a:pt x="262" y="147"/>
                      <a:pt x="268" y="143"/>
                      <a:pt x="266" y="143"/>
                    </a:cubicBezTo>
                    <a:cubicBezTo>
                      <a:pt x="270" y="144"/>
                      <a:pt x="279" y="139"/>
                      <a:pt x="272" y="135"/>
                    </a:cubicBezTo>
                    <a:cubicBezTo>
                      <a:pt x="273" y="133"/>
                      <a:pt x="270" y="132"/>
                      <a:pt x="268" y="132"/>
                    </a:cubicBezTo>
                    <a:cubicBezTo>
                      <a:pt x="269" y="131"/>
                      <a:pt x="272" y="132"/>
                      <a:pt x="273" y="131"/>
                    </a:cubicBezTo>
                    <a:cubicBezTo>
                      <a:pt x="276" y="129"/>
                      <a:pt x="274" y="128"/>
                      <a:pt x="271" y="127"/>
                    </a:cubicBezTo>
                    <a:cubicBezTo>
                      <a:pt x="268" y="126"/>
                      <a:pt x="263" y="128"/>
                      <a:pt x="261" y="130"/>
                    </a:cubicBezTo>
                    <a:cubicBezTo>
                      <a:pt x="259" y="132"/>
                      <a:pt x="257" y="134"/>
                      <a:pt x="255" y="135"/>
                    </a:cubicBezTo>
                    <a:close/>
                    <a:moveTo>
                      <a:pt x="308" y="302"/>
                    </a:moveTo>
                    <a:cubicBezTo>
                      <a:pt x="306" y="301"/>
                      <a:pt x="303" y="301"/>
                      <a:pt x="301" y="300"/>
                    </a:cubicBezTo>
                    <a:cubicBezTo>
                      <a:pt x="299" y="300"/>
                      <a:pt x="298" y="299"/>
                      <a:pt x="295" y="298"/>
                    </a:cubicBezTo>
                    <a:cubicBezTo>
                      <a:pt x="296" y="293"/>
                      <a:pt x="290" y="292"/>
                      <a:pt x="287" y="289"/>
                    </a:cubicBezTo>
                    <a:cubicBezTo>
                      <a:pt x="284" y="287"/>
                      <a:pt x="282" y="284"/>
                      <a:pt x="277" y="285"/>
                    </a:cubicBezTo>
                    <a:cubicBezTo>
                      <a:pt x="276" y="285"/>
                      <a:pt x="271" y="287"/>
                      <a:pt x="272" y="288"/>
                    </a:cubicBezTo>
                    <a:cubicBezTo>
                      <a:pt x="269" y="285"/>
                      <a:pt x="268" y="284"/>
                      <a:pt x="263" y="282"/>
                    </a:cubicBezTo>
                    <a:cubicBezTo>
                      <a:pt x="259" y="281"/>
                      <a:pt x="257" y="276"/>
                      <a:pt x="253" y="281"/>
                    </a:cubicBezTo>
                    <a:cubicBezTo>
                      <a:pt x="251" y="283"/>
                      <a:pt x="252" y="286"/>
                      <a:pt x="251" y="288"/>
                    </a:cubicBezTo>
                    <a:cubicBezTo>
                      <a:pt x="247" y="285"/>
                      <a:pt x="254" y="282"/>
                      <a:pt x="251" y="279"/>
                    </a:cubicBezTo>
                    <a:cubicBezTo>
                      <a:pt x="248" y="275"/>
                      <a:pt x="243" y="281"/>
                      <a:pt x="240" y="282"/>
                    </a:cubicBezTo>
                    <a:cubicBezTo>
                      <a:pt x="239" y="284"/>
                      <a:pt x="237" y="284"/>
                      <a:pt x="236" y="286"/>
                    </a:cubicBezTo>
                    <a:cubicBezTo>
                      <a:pt x="235" y="287"/>
                      <a:pt x="234" y="290"/>
                      <a:pt x="233" y="291"/>
                    </a:cubicBezTo>
                    <a:cubicBezTo>
                      <a:pt x="233" y="289"/>
                      <a:pt x="228" y="290"/>
                      <a:pt x="228" y="288"/>
                    </a:cubicBezTo>
                    <a:cubicBezTo>
                      <a:pt x="229" y="294"/>
                      <a:pt x="229" y="301"/>
                      <a:pt x="230" y="307"/>
                    </a:cubicBezTo>
                    <a:cubicBezTo>
                      <a:pt x="231" y="310"/>
                      <a:pt x="230" y="316"/>
                      <a:pt x="227" y="319"/>
                    </a:cubicBezTo>
                    <a:cubicBezTo>
                      <a:pt x="224" y="321"/>
                      <a:pt x="221" y="324"/>
                      <a:pt x="220" y="329"/>
                    </a:cubicBezTo>
                    <a:cubicBezTo>
                      <a:pt x="220" y="332"/>
                      <a:pt x="220" y="334"/>
                      <a:pt x="223" y="335"/>
                    </a:cubicBezTo>
                    <a:cubicBezTo>
                      <a:pt x="223" y="339"/>
                      <a:pt x="219" y="342"/>
                      <a:pt x="219" y="346"/>
                    </a:cubicBezTo>
                    <a:cubicBezTo>
                      <a:pt x="219" y="346"/>
                      <a:pt x="220" y="348"/>
                      <a:pt x="220" y="350"/>
                    </a:cubicBezTo>
                    <a:cubicBezTo>
                      <a:pt x="254" y="344"/>
                      <a:pt x="285" y="327"/>
                      <a:pt x="308" y="302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121913" tIns="60956" rIns="121913" bIns="60956" numCol="1" anchor="t" anchorCtr="0" compatLnSpc="1"/>
              <a:lstStyle/>
              <a:p>
                <a:endParaRPr lang="en-US" sz="170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11" name="Group 66"/>
            <p:cNvGrpSpPr/>
            <p:nvPr/>
          </p:nvGrpSpPr>
          <p:grpSpPr>
            <a:xfrm>
              <a:off x="2568959" y="4649978"/>
              <a:ext cx="1177898" cy="1178882"/>
              <a:chOff x="1926323" y="2293234"/>
              <a:chExt cx="883472" cy="884210"/>
            </a:xfrm>
          </p:grpSpPr>
          <p:sp>
            <p:nvSpPr>
              <p:cNvPr id="27" name="Oval 54"/>
              <p:cNvSpPr>
                <a:spLocks noChangeAspect="1"/>
              </p:cNvSpPr>
              <p:nvPr/>
            </p:nvSpPr>
            <p:spPr>
              <a:xfrm>
                <a:off x="1926323" y="2293234"/>
                <a:ext cx="883472" cy="884210"/>
              </a:xfrm>
              <a:prstGeom prst="ellipse">
                <a:avLst/>
              </a:prstGeom>
              <a:solidFill>
                <a:schemeClr val="accent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3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8" name="Freeform 216"/>
              <p:cNvSpPr>
                <a:spLocks noEditPoints="1"/>
              </p:cNvSpPr>
              <p:nvPr/>
            </p:nvSpPr>
            <p:spPr bwMode="auto">
              <a:xfrm>
                <a:off x="2198512" y="2564639"/>
                <a:ext cx="339094" cy="341400"/>
              </a:xfrm>
              <a:custGeom>
                <a:avLst/>
                <a:gdLst/>
                <a:ahLst/>
                <a:cxnLst>
                  <a:cxn ang="0">
                    <a:pos x="68" y="34"/>
                  </a:cxn>
                  <a:cxn ang="0">
                    <a:pos x="34" y="68"/>
                  </a:cxn>
                  <a:cxn ang="0">
                    <a:pos x="0" y="34"/>
                  </a:cxn>
                  <a:cxn ang="0">
                    <a:pos x="34" y="0"/>
                  </a:cxn>
                  <a:cxn ang="0">
                    <a:pos x="68" y="34"/>
                  </a:cxn>
                  <a:cxn ang="0">
                    <a:pos x="15" y="40"/>
                  </a:cxn>
                  <a:cxn ang="0">
                    <a:pos x="14" y="34"/>
                  </a:cxn>
                  <a:cxn ang="0">
                    <a:pos x="15" y="27"/>
                  </a:cxn>
                  <a:cxn ang="0">
                    <a:pos x="8" y="20"/>
                  </a:cxn>
                  <a:cxn ang="0">
                    <a:pos x="5" y="34"/>
                  </a:cxn>
                  <a:cxn ang="0">
                    <a:pos x="8" y="47"/>
                  </a:cxn>
                  <a:cxn ang="0">
                    <a:pos x="15" y="40"/>
                  </a:cxn>
                  <a:cxn ang="0">
                    <a:pos x="48" y="34"/>
                  </a:cxn>
                  <a:cxn ang="0">
                    <a:pos x="34" y="19"/>
                  </a:cxn>
                  <a:cxn ang="0">
                    <a:pos x="19" y="34"/>
                  </a:cxn>
                  <a:cxn ang="0">
                    <a:pos x="34" y="48"/>
                  </a:cxn>
                  <a:cxn ang="0">
                    <a:pos x="48" y="34"/>
                  </a:cxn>
                  <a:cxn ang="0">
                    <a:pos x="20" y="8"/>
                  </a:cxn>
                  <a:cxn ang="0">
                    <a:pos x="27" y="15"/>
                  </a:cxn>
                  <a:cxn ang="0">
                    <a:pos x="34" y="14"/>
                  </a:cxn>
                  <a:cxn ang="0">
                    <a:pos x="40" y="15"/>
                  </a:cxn>
                  <a:cxn ang="0">
                    <a:pos x="47" y="8"/>
                  </a:cxn>
                  <a:cxn ang="0">
                    <a:pos x="34" y="5"/>
                  </a:cxn>
                  <a:cxn ang="0">
                    <a:pos x="20" y="8"/>
                  </a:cxn>
                  <a:cxn ang="0">
                    <a:pos x="47" y="59"/>
                  </a:cxn>
                  <a:cxn ang="0">
                    <a:pos x="40" y="52"/>
                  </a:cxn>
                  <a:cxn ang="0">
                    <a:pos x="34" y="53"/>
                  </a:cxn>
                  <a:cxn ang="0">
                    <a:pos x="27" y="52"/>
                  </a:cxn>
                  <a:cxn ang="0">
                    <a:pos x="20" y="59"/>
                  </a:cxn>
                  <a:cxn ang="0">
                    <a:pos x="34" y="63"/>
                  </a:cxn>
                  <a:cxn ang="0">
                    <a:pos x="47" y="59"/>
                  </a:cxn>
                  <a:cxn ang="0">
                    <a:pos x="60" y="47"/>
                  </a:cxn>
                  <a:cxn ang="0">
                    <a:pos x="63" y="34"/>
                  </a:cxn>
                  <a:cxn ang="0">
                    <a:pos x="60" y="20"/>
                  </a:cxn>
                  <a:cxn ang="0">
                    <a:pos x="52" y="27"/>
                  </a:cxn>
                  <a:cxn ang="0">
                    <a:pos x="53" y="34"/>
                  </a:cxn>
                  <a:cxn ang="0">
                    <a:pos x="52" y="40"/>
                  </a:cxn>
                  <a:cxn ang="0">
                    <a:pos x="60" y="47"/>
                  </a:cxn>
                </a:cxnLst>
                <a:rect l="0" t="0" r="r" b="b"/>
                <a:pathLst>
                  <a:path w="68" h="68">
                    <a:moveTo>
                      <a:pt x="68" y="34"/>
                    </a:moveTo>
                    <a:cubicBezTo>
                      <a:pt x="68" y="52"/>
                      <a:pt x="53" y="68"/>
                      <a:pt x="34" y="68"/>
                    </a:cubicBezTo>
                    <a:cubicBezTo>
                      <a:pt x="15" y="68"/>
                      <a:pt x="0" y="52"/>
                      <a:pt x="0" y="34"/>
                    </a:cubicBezTo>
                    <a:cubicBezTo>
                      <a:pt x="0" y="15"/>
                      <a:pt x="15" y="0"/>
                      <a:pt x="34" y="0"/>
                    </a:cubicBezTo>
                    <a:cubicBezTo>
                      <a:pt x="53" y="0"/>
                      <a:pt x="68" y="15"/>
                      <a:pt x="68" y="34"/>
                    </a:cubicBezTo>
                    <a:close/>
                    <a:moveTo>
                      <a:pt x="15" y="40"/>
                    </a:moveTo>
                    <a:cubicBezTo>
                      <a:pt x="15" y="38"/>
                      <a:pt x="14" y="36"/>
                      <a:pt x="14" y="34"/>
                    </a:cubicBezTo>
                    <a:cubicBezTo>
                      <a:pt x="14" y="31"/>
                      <a:pt x="15" y="29"/>
                      <a:pt x="15" y="27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6" y="24"/>
                      <a:pt x="5" y="29"/>
                      <a:pt x="5" y="34"/>
                    </a:cubicBezTo>
                    <a:cubicBezTo>
                      <a:pt x="5" y="39"/>
                      <a:pt x="6" y="43"/>
                      <a:pt x="8" y="47"/>
                    </a:cubicBezTo>
                    <a:lnTo>
                      <a:pt x="15" y="40"/>
                    </a:lnTo>
                    <a:close/>
                    <a:moveTo>
                      <a:pt x="48" y="34"/>
                    </a:moveTo>
                    <a:cubicBezTo>
                      <a:pt x="48" y="26"/>
                      <a:pt x="42" y="19"/>
                      <a:pt x="34" y="19"/>
                    </a:cubicBezTo>
                    <a:cubicBezTo>
                      <a:pt x="26" y="19"/>
                      <a:pt x="19" y="26"/>
                      <a:pt x="19" y="34"/>
                    </a:cubicBezTo>
                    <a:cubicBezTo>
                      <a:pt x="19" y="42"/>
                      <a:pt x="26" y="48"/>
                      <a:pt x="34" y="48"/>
                    </a:cubicBezTo>
                    <a:cubicBezTo>
                      <a:pt x="42" y="48"/>
                      <a:pt x="48" y="42"/>
                      <a:pt x="48" y="34"/>
                    </a:cubicBezTo>
                    <a:close/>
                    <a:moveTo>
                      <a:pt x="20" y="8"/>
                    </a:moveTo>
                    <a:cubicBezTo>
                      <a:pt x="27" y="15"/>
                      <a:pt x="27" y="15"/>
                      <a:pt x="27" y="15"/>
                    </a:cubicBezTo>
                    <a:cubicBezTo>
                      <a:pt x="29" y="15"/>
                      <a:pt x="32" y="14"/>
                      <a:pt x="34" y="14"/>
                    </a:cubicBezTo>
                    <a:cubicBezTo>
                      <a:pt x="36" y="14"/>
                      <a:pt x="38" y="15"/>
                      <a:pt x="40" y="15"/>
                    </a:cubicBezTo>
                    <a:cubicBezTo>
                      <a:pt x="47" y="8"/>
                      <a:pt x="47" y="8"/>
                      <a:pt x="47" y="8"/>
                    </a:cubicBezTo>
                    <a:cubicBezTo>
                      <a:pt x="43" y="6"/>
                      <a:pt x="39" y="5"/>
                      <a:pt x="34" y="5"/>
                    </a:cubicBezTo>
                    <a:cubicBezTo>
                      <a:pt x="29" y="5"/>
                      <a:pt x="24" y="6"/>
                      <a:pt x="20" y="8"/>
                    </a:cubicBezTo>
                    <a:close/>
                    <a:moveTo>
                      <a:pt x="47" y="59"/>
                    </a:moveTo>
                    <a:cubicBezTo>
                      <a:pt x="40" y="52"/>
                      <a:pt x="40" y="52"/>
                      <a:pt x="40" y="52"/>
                    </a:cubicBezTo>
                    <a:cubicBezTo>
                      <a:pt x="38" y="53"/>
                      <a:pt x="36" y="53"/>
                      <a:pt x="34" y="53"/>
                    </a:cubicBezTo>
                    <a:cubicBezTo>
                      <a:pt x="32" y="53"/>
                      <a:pt x="29" y="53"/>
                      <a:pt x="27" y="52"/>
                    </a:cubicBezTo>
                    <a:cubicBezTo>
                      <a:pt x="20" y="59"/>
                      <a:pt x="20" y="59"/>
                      <a:pt x="20" y="59"/>
                    </a:cubicBezTo>
                    <a:cubicBezTo>
                      <a:pt x="24" y="62"/>
                      <a:pt x="29" y="63"/>
                      <a:pt x="34" y="63"/>
                    </a:cubicBezTo>
                    <a:cubicBezTo>
                      <a:pt x="39" y="63"/>
                      <a:pt x="43" y="62"/>
                      <a:pt x="47" y="59"/>
                    </a:cubicBezTo>
                    <a:close/>
                    <a:moveTo>
                      <a:pt x="60" y="47"/>
                    </a:moveTo>
                    <a:cubicBezTo>
                      <a:pt x="62" y="43"/>
                      <a:pt x="63" y="39"/>
                      <a:pt x="63" y="34"/>
                    </a:cubicBezTo>
                    <a:cubicBezTo>
                      <a:pt x="63" y="29"/>
                      <a:pt x="62" y="24"/>
                      <a:pt x="60" y="20"/>
                    </a:cubicBezTo>
                    <a:cubicBezTo>
                      <a:pt x="52" y="27"/>
                      <a:pt x="52" y="27"/>
                      <a:pt x="52" y="27"/>
                    </a:cubicBezTo>
                    <a:cubicBezTo>
                      <a:pt x="53" y="29"/>
                      <a:pt x="53" y="32"/>
                      <a:pt x="53" y="34"/>
                    </a:cubicBezTo>
                    <a:cubicBezTo>
                      <a:pt x="53" y="36"/>
                      <a:pt x="53" y="38"/>
                      <a:pt x="52" y="40"/>
                    </a:cubicBezTo>
                    <a:lnTo>
                      <a:pt x="60" y="47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121913" tIns="60956" rIns="121913" bIns="60956" numCol="1" anchor="t" anchorCtr="0" compatLnSpc="1"/>
              <a:lstStyle/>
              <a:p>
                <a:endParaRPr lang="en-US" sz="170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12" name="Group 65"/>
            <p:cNvGrpSpPr/>
            <p:nvPr/>
          </p:nvGrpSpPr>
          <p:grpSpPr>
            <a:xfrm>
              <a:off x="3757281" y="3876036"/>
              <a:ext cx="1177898" cy="1178882"/>
              <a:chOff x="2827138" y="1712746"/>
              <a:chExt cx="883472" cy="884210"/>
            </a:xfrm>
          </p:grpSpPr>
          <p:sp>
            <p:nvSpPr>
              <p:cNvPr id="25" name="Oval 50"/>
              <p:cNvSpPr>
                <a:spLocks noChangeAspect="1"/>
              </p:cNvSpPr>
              <p:nvPr/>
            </p:nvSpPr>
            <p:spPr>
              <a:xfrm>
                <a:off x="2827138" y="1712746"/>
                <a:ext cx="883472" cy="884210"/>
              </a:xfrm>
              <a:prstGeom prst="ellipse">
                <a:avLst/>
              </a:prstGeom>
              <a:solidFill>
                <a:schemeClr val="accent2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3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6" name="Freeform 135"/>
              <p:cNvSpPr>
                <a:spLocks noEditPoints="1"/>
              </p:cNvSpPr>
              <p:nvPr/>
            </p:nvSpPr>
            <p:spPr bwMode="auto">
              <a:xfrm>
                <a:off x="3117194" y="2012771"/>
                <a:ext cx="303361" cy="284161"/>
              </a:xfrm>
              <a:custGeom>
                <a:avLst/>
                <a:gdLst/>
                <a:ahLst/>
                <a:cxnLst>
                  <a:cxn ang="0">
                    <a:pos x="13" y="39"/>
                  </a:cxn>
                  <a:cxn ang="0">
                    <a:pos x="8" y="39"/>
                  </a:cxn>
                  <a:cxn ang="0">
                    <a:pos x="0" y="33"/>
                  </a:cxn>
                  <a:cxn ang="0">
                    <a:pos x="5" y="19"/>
                  </a:cxn>
                  <a:cxn ang="0">
                    <a:pos x="15" y="22"/>
                  </a:cxn>
                  <a:cxn ang="0">
                    <a:pos x="20" y="21"/>
                  </a:cxn>
                  <a:cxn ang="0">
                    <a:pos x="20" y="24"/>
                  </a:cxn>
                  <a:cxn ang="0">
                    <a:pos x="23" y="34"/>
                  </a:cxn>
                  <a:cxn ang="0">
                    <a:pos x="13" y="39"/>
                  </a:cxn>
                  <a:cxn ang="0">
                    <a:pos x="15" y="19"/>
                  </a:cxn>
                  <a:cxn ang="0">
                    <a:pos x="5" y="9"/>
                  </a:cxn>
                  <a:cxn ang="0">
                    <a:pos x="15" y="0"/>
                  </a:cxn>
                  <a:cxn ang="0">
                    <a:pos x="25" y="9"/>
                  </a:cxn>
                  <a:cxn ang="0">
                    <a:pos x="15" y="19"/>
                  </a:cxn>
                  <a:cxn ang="0">
                    <a:pos x="53" y="68"/>
                  </a:cxn>
                  <a:cxn ang="0">
                    <a:pos x="20" y="68"/>
                  </a:cxn>
                  <a:cxn ang="0">
                    <a:pos x="10" y="58"/>
                  </a:cxn>
                  <a:cxn ang="0">
                    <a:pos x="23" y="36"/>
                  </a:cxn>
                  <a:cxn ang="0">
                    <a:pos x="37" y="41"/>
                  </a:cxn>
                  <a:cxn ang="0">
                    <a:pos x="50" y="36"/>
                  </a:cxn>
                  <a:cxn ang="0">
                    <a:pos x="64" y="58"/>
                  </a:cxn>
                  <a:cxn ang="0">
                    <a:pos x="53" y="68"/>
                  </a:cxn>
                  <a:cxn ang="0">
                    <a:pos x="37" y="39"/>
                  </a:cxn>
                  <a:cxn ang="0">
                    <a:pos x="22" y="24"/>
                  </a:cxn>
                  <a:cxn ang="0">
                    <a:pos x="37" y="9"/>
                  </a:cxn>
                  <a:cxn ang="0">
                    <a:pos x="51" y="24"/>
                  </a:cxn>
                  <a:cxn ang="0">
                    <a:pos x="37" y="39"/>
                  </a:cxn>
                  <a:cxn ang="0">
                    <a:pos x="59" y="19"/>
                  </a:cxn>
                  <a:cxn ang="0">
                    <a:pos x="49" y="9"/>
                  </a:cxn>
                  <a:cxn ang="0">
                    <a:pos x="59" y="0"/>
                  </a:cxn>
                  <a:cxn ang="0">
                    <a:pos x="68" y="9"/>
                  </a:cxn>
                  <a:cxn ang="0">
                    <a:pos x="59" y="19"/>
                  </a:cxn>
                  <a:cxn ang="0">
                    <a:pos x="66" y="39"/>
                  </a:cxn>
                  <a:cxn ang="0">
                    <a:pos x="61" y="39"/>
                  </a:cxn>
                  <a:cxn ang="0">
                    <a:pos x="51" y="34"/>
                  </a:cxn>
                  <a:cxn ang="0">
                    <a:pos x="54" y="24"/>
                  </a:cxn>
                  <a:cxn ang="0">
                    <a:pos x="54" y="21"/>
                  </a:cxn>
                  <a:cxn ang="0">
                    <a:pos x="59" y="22"/>
                  </a:cxn>
                  <a:cxn ang="0">
                    <a:pos x="69" y="19"/>
                  </a:cxn>
                  <a:cxn ang="0">
                    <a:pos x="73" y="33"/>
                  </a:cxn>
                  <a:cxn ang="0">
                    <a:pos x="66" y="39"/>
                  </a:cxn>
                </a:cxnLst>
                <a:rect l="0" t="0" r="r" b="b"/>
                <a:pathLst>
                  <a:path w="73" h="68">
                    <a:moveTo>
                      <a:pt x="13" y="39"/>
                    </a:moveTo>
                    <a:cubicBezTo>
                      <a:pt x="8" y="39"/>
                      <a:pt x="8" y="39"/>
                      <a:pt x="8" y="39"/>
                    </a:cubicBezTo>
                    <a:cubicBezTo>
                      <a:pt x="4" y="39"/>
                      <a:pt x="0" y="37"/>
                      <a:pt x="0" y="33"/>
                    </a:cubicBezTo>
                    <a:cubicBezTo>
                      <a:pt x="0" y="29"/>
                      <a:pt x="0" y="19"/>
                      <a:pt x="5" y="19"/>
                    </a:cubicBezTo>
                    <a:cubicBezTo>
                      <a:pt x="6" y="19"/>
                      <a:pt x="10" y="22"/>
                      <a:pt x="15" y="22"/>
                    </a:cubicBezTo>
                    <a:cubicBezTo>
                      <a:pt x="17" y="22"/>
                      <a:pt x="18" y="22"/>
                      <a:pt x="20" y="21"/>
                    </a:cubicBezTo>
                    <a:cubicBezTo>
                      <a:pt x="20" y="22"/>
                      <a:pt x="20" y="23"/>
                      <a:pt x="20" y="24"/>
                    </a:cubicBezTo>
                    <a:cubicBezTo>
                      <a:pt x="20" y="27"/>
                      <a:pt x="21" y="31"/>
                      <a:pt x="23" y="34"/>
                    </a:cubicBezTo>
                    <a:cubicBezTo>
                      <a:pt x="19" y="34"/>
                      <a:pt x="15" y="36"/>
                      <a:pt x="13" y="39"/>
                    </a:cubicBezTo>
                    <a:close/>
                    <a:moveTo>
                      <a:pt x="15" y="19"/>
                    </a:moveTo>
                    <a:cubicBezTo>
                      <a:pt x="10" y="19"/>
                      <a:pt x="5" y="15"/>
                      <a:pt x="5" y="9"/>
                    </a:cubicBezTo>
                    <a:cubicBezTo>
                      <a:pt x="5" y="4"/>
                      <a:pt x="10" y="0"/>
                      <a:pt x="15" y="0"/>
                    </a:cubicBezTo>
                    <a:cubicBezTo>
                      <a:pt x="20" y="0"/>
                      <a:pt x="25" y="4"/>
                      <a:pt x="25" y="9"/>
                    </a:cubicBezTo>
                    <a:cubicBezTo>
                      <a:pt x="25" y="15"/>
                      <a:pt x="20" y="19"/>
                      <a:pt x="15" y="19"/>
                    </a:cubicBezTo>
                    <a:close/>
                    <a:moveTo>
                      <a:pt x="53" y="68"/>
                    </a:moveTo>
                    <a:cubicBezTo>
                      <a:pt x="20" y="68"/>
                      <a:pt x="20" y="68"/>
                      <a:pt x="20" y="68"/>
                    </a:cubicBezTo>
                    <a:cubicBezTo>
                      <a:pt x="14" y="68"/>
                      <a:pt x="10" y="64"/>
                      <a:pt x="10" y="58"/>
                    </a:cubicBezTo>
                    <a:cubicBezTo>
                      <a:pt x="10" y="49"/>
                      <a:pt x="12" y="36"/>
                      <a:pt x="23" y="36"/>
                    </a:cubicBezTo>
                    <a:cubicBezTo>
                      <a:pt x="25" y="36"/>
                      <a:pt x="29" y="41"/>
                      <a:pt x="37" y="41"/>
                    </a:cubicBezTo>
                    <a:cubicBezTo>
                      <a:pt x="44" y="41"/>
                      <a:pt x="49" y="36"/>
                      <a:pt x="50" y="36"/>
                    </a:cubicBezTo>
                    <a:cubicBezTo>
                      <a:pt x="62" y="36"/>
                      <a:pt x="64" y="49"/>
                      <a:pt x="64" y="58"/>
                    </a:cubicBezTo>
                    <a:cubicBezTo>
                      <a:pt x="64" y="64"/>
                      <a:pt x="60" y="68"/>
                      <a:pt x="53" y="68"/>
                    </a:cubicBezTo>
                    <a:close/>
                    <a:moveTo>
                      <a:pt x="37" y="39"/>
                    </a:moveTo>
                    <a:cubicBezTo>
                      <a:pt x="29" y="39"/>
                      <a:pt x="22" y="32"/>
                      <a:pt x="22" y="24"/>
                    </a:cubicBezTo>
                    <a:cubicBezTo>
                      <a:pt x="22" y="16"/>
                      <a:pt x="29" y="9"/>
                      <a:pt x="37" y="9"/>
                    </a:cubicBezTo>
                    <a:cubicBezTo>
                      <a:pt x="45" y="9"/>
                      <a:pt x="51" y="16"/>
                      <a:pt x="51" y="24"/>
                    </a:cubicBezTo>
                    <a:cubicBezTo>
                      <a:pt x="51" y="32"/>
                      <a:pt x="45" y="39"/>
                      <a:pt x="37" y="39"/>
                    </a:cubicBezTo>
                    <a:close/>
                    <a:moveTo>
                      <a:pt x="59" y="19"/>
                    </a:moveTo>
                    <a:cubicBezTo>
                      <a:pt x="53" y="19"/>
                      <a:pt x="49" y="15"/>
                      <a:pt x="49" y="9"/>
                    </a:cubicBezTo>
                    <a:cubicBezTo>
                      <a:pt x="49" y="4"/>
                      <a:pt x="53" y="0"/>
                      <a:pt x="59" y="0"/>
                    </a:cubicBezTo>
                    <a:cubicBezTo>
                      <a:pt x="64" y="0"/>
                      <a:pt x="68" y="4"/>
                      <a:pt x="68" y="9"/>
                    </a:cubicBezTo>
                    <a:cubicBezTo>
                      <a:pt x="68" y="15"/>
                      <a:pt x="64" y="19"/>
                      <a:pt x="59" y="19"/>
                    </a:cubicBezTo>
                    <a:close/>
                    <a:moveTo>
                      <a:pt x="66" y="39"/>
                    </a:moveTo>
                    <a:cubicBezTo>
                      <a:pt x="61" y="39"/>
                      <a:pt x="61" y="39"/>
                      <a:pt x="61" y="39"/>
                    </a:cubicBezTo>
                    <a:cubicBezTo>
                      <a:pt x="58" y="36"/>
                      <a:pt x="55" y="34"/>
                      <a:pt x="51" y="34"/>
                    </a:cubicBezTo>
                    <a:cubicBezTo>
                      <a:pt x="53" y="31"/>
                      <a:pt x="54" y="27"/>
                      <a:pt x="54" y="24"/>
                    </a:cubicBezTo>
                    <a:cubicBezTo>
                      <a:pt x="54" y="23"/>
                      <a:pt x="54" y="22"/>
                      <a:pt x="54" y="21"/>
                    </a:cubicBezTo>
                    <a:cubicBezTo>
                      <a:pt x="55" y="22"/>
                      <a:pt x="57" y="22"/>
                      <a:pt x="59" y="22"/>
                    </a:cubicBezTo>
                    <a:cubicBezTo>
                      <a:pt x="64" y="22"/>
                      <a:pt x="68" y="19"/>
                      <a:pt x="69" y="19"/>
                    </a:cubicBezTo>
                    <a:cubicBezTo>
                      <a:pt x="73" y="19"/>
                      <a:pt x="73" y="29"/>
                      <a:pt x="73" y="33"/>
                    </a:cubicBezTo>
                    <a:cubicBezTo>
                      <a:pt x="73" y="37"/>
                      <a:pt x="70" y="39"/>
                      <a:pt x="66" y="39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121913" tIns="60956" rIns="121913" bIns="60956" numCol="1" anchor="t" anchorCtr="0" compatLnSpc="1"/>
              <a:lstStyle/>
              <a:p>
                <a:endParaRPr lang="en-US" sz="170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  <p:sp>
          <p:nvSpPr>
            <p:cNvPr id="13" name="Bent Arrow 104"/>
            <p:cNvSpPr/>
            <p:nvPr/>
          </p:nvSpPr>
          <p:spPr>
            <a:xfrm rot="10800000" flipH="1">
              <a:off x="6746090" y="3839311"/>
              <a:ext cx="5445907" cy="1523917"/>
            </a:xfrm>
            <a:prstGeom prst="bentArrow">
              <a:avLst>
                <a:gd name="adj1" fmla="val 25000"/>
                <a:gd name="adj2" fmla="val 3719"/>
                <a:gd name="adj3" fmla="val 0"/>
                <a:gd name="adj4" fmla="val 3002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5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4" name="Bent Arrow 107"/>
            <p:cNvSpPr/>
            <p:nvPr/>
          </p:nvSpPr>
          <p:spPr>
            <a:xfrm rot="10800000" flipH="1">
              <a:off x="7766455" y="4614932"/>
              <a:ext cx="4425545" cy="1523917"/>
            </a:xfrm>
            <a:prstGeom prst="bentArrow">
              <a:avLst>
                <a:gd name="adj1" fmla="val 25000"/>
                <a:gd name="adj2" fmla="val 3719"/>
                <a:gd name="adj3" fmla="val 0"/>
                <a:gd name="adj4" fmla="val 3002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5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5" name="Bent Arrow 108"/>
            <p:cNvSpPr/>
            <p:nvPr/>
          </p:nvSpPr>
          <p:spPr>
            <a:xfrm rot="10800000" flipH="1">
              <a:off x="8967473" y="5334083"/>
              <a:ext cx="3224527" cy="1523917"/>
            </a:xfrm>
            <a:prstGeom prst="bentArrow">
              <a:avLst>
                <a:gd name="adj1" fmla="val 25000"/>
                <a:gd name="adj2" fmla="val 3719"/>
                <a:gd name="adj3" fmla="val 0"/>
                <a:gd name="adj4" fmla="val 3002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5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grpSp>
          <p:nvGrpSpPr>
            <p:cNvPr id="16" name="Group 140"/>
            <p:cNvGrpSpPr/>
            <p:nvPr/>
          </p:nvGrpSpPr>
          <p:grpSpPr>
            <a:xfrm>
              <a:off x="8445807" y="4649978"/>
              <a:ext cx="1177898" cy="1178882"/>
              <a:chOff x="6334201" y="2293234"/>
              <a:chExt cx="883472" cy="884210"/>
            </a:xfrm>
          </p:grpSpPr>
          <p:sp>
            <p:nvSpPr>
              <p:cNvPr id="23" name="Oval 120"/>
              <p:cNvSpPr>
                <a:spLocks noChangeAspect="1"/>
              </p:cNvSpPr>
              <p:nvPr/>
            </p:nvSpPr>
            <p:spPr>
              <a:xfrm flipH="1">
                <a:off x="6334201" y="2293234"/>
                <a:ext cx="883472" cy="884210"/>
              </a:xfrm>
              <a:prstGeom prst="ellipse">
                <a:avLst/>
              </a:prstGeom>
              <a:solidFill>
                <a:schemeClr val="accent3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3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4" name="Freeform 56"/>
              <p:cNvSpPr>
                <a:spLocks noEditPoints="1"/>
              </p:cNvSpPr>
              <p:nvPr/>
            </p:nvSpPr>
            <p:spPr bwMode="auto">
              <a:xfrm>
                <a:off x="6585437" y="2544839"/>
                <a:ext cx="381000" cy="381000"/>
              </a:xfrm>
              <a:custGeom>
                <a:avLst/>
                <a:gdLst/>
                <a:ahLst/>
                <a:cxnLst>
                  <a:cxn ang="0">
                    <a:pos x="64" y="42"/>
                  </a:cxn>
                  <a:cxn ang="0">
                    <a:pos x="63" y="44"/>
                  </a:cxn>
                  <a:cxn ang="0">
                    <a:pos x="33" y="64"/>
                  </a:cxn>
                  <a:cxn ang="0">
                    <a:pos x="32" y="64"/>
                  </a:cxn>
                  <a:cxn ang="0">
                    <a:pos x="30" y="64"/>
                  </a:cxn>
                  <a:cxn ang="0">
                    <a:pos x="1" y="44"/>
                  </a:cxn>
                  <a:cxn ang="0">
                    <a:pos x="0" y="42"/>
                  </a:cxn>
                  <a:cxn ang="0">
                    <a:pos x="0" y="23"/>
                  </a:cxn>
                  <a:cxn ang="0">
                    <a:pos x="1" y="20"/>
                  </a:cxn>
                  <a:cxn ang="0">
                    <a:pos x="30" y="1"/>
                  </a:cxn>
                  <a:cxn ang="0">
                    <a:pos x="32" y="0"/>
                  </a:cxn>
                  <a:cxn ang="0">
                    <a:pos x="33" y="1"/>
                  </a:cxn>
                  <a:cxn ang="0">
                    <a:pos x="63" y="20"/>
                  </a:cxn>
                  <a:cxn ang="0">
                    <a:pos x="64" y="23"/>
                  </a:cxn>
                  <a:cxn ang="0">
                    <a:pos x="64" y="42"/>
                  </a:cxn>
                  <a:cxn ang="0">
                    <a:pos x="12" y="32"/>
                  </a:cxn>
                  <a:cxn ang="0">
                    <a:pos x="5" y="28"/>
                  </a:cxn>
                  <a:cxn ang="0">
                    <a:pos x="5" y="37"/>
                  </a:cxn>
                  <a:cxn ang="0">
                    <a:pos x="12" y="32"/>
                  </a:cxn>
                  <a:cxn ang="0">
                    <a:pos x="29" y="21"/>
                  </a:cxn>
                  <a:cxn ang="0">
                    <a:pos x="29" y="8"/>
                  </a:cxn>
                  <a:cxn ang="0">
                    <a:pos x="7" y="23"/>
                  </a:cxn>
                  <a:cxn ang="0">
                    <a:pos x="17" y="29"/>
                  </a:cxn>
                  <a:cxn ang="0">
                    <a:pos x="29" y="21"/>
                  </a:cxn>
                  <a:cxn ang="0">
                    <a:pos x="29" y="56"/>
                  </a:cxn>
                  <a:cxn ang="0">
                    <a:pos x="29" y="44"/>
                  </a:cxn>
                  <a:cxn ang="0">
                    <a:pos x="17" y="36"/>
                  </a:cxn>
                  <a:cxn ang="0">
                    <a:pos x="7" y="42"/>
                  </a:cxn>
                  <a:cxn ang="0">
                    <a:pos x="29" y="56"/>
                  </a:cxn>
                  <a:cxn ang="0">
                    <a:pos x="41" y="32"/>
                  </a:cxn>
                  <a:cxn ang="0">
                    <a:pos x="32" y="26"/>
                  </a:cxn>
                  <a:cxn ang="0">
                    <a:pos x="22" y="32"/>
                  </a:cxn>
                  <a:cxn ang="0">
                    <a:pos x="32" y="39"/>
                  </a:cxn>
                  <a:cxn ang="0">
                    <a:pos x="41" y="32"/>
                  </a:cxn>
                  <a:cxn ang="0">
                    <a:pos x="56" y="23"/>
                  </a:cxn>
                  <a:cxn ang="0">
                    <a:pos x="35" y="8"/>
                  </a:cxn>
                  <a:cxn ang="0">
                    <a:pos x="35" y="21"/>
                  </a:cxn>
                  <a:cxn ang="0">
                    <a:pos x="46" y="29"/>
                  </a:cxn>
                  <a:cxn ang="0">
                    <a:pos x="56" y="23"/>
                  </a:cxn>
                  <a:cxn ang="0">
                    <a:pos x="56" y="42"/>
                  </a:cxn>
                  <a:cxn ang="0">
                    <a:pos x="46" y="36"/>
                  </a:cxn>
                  <a:cxn ang="0">
                    <a:pos x="35" y="44"/>
                  </a:cxn>
                  <a:cxn ang="0">
                    <a:pos x="35" y="56"/>
                  </a:cxn>
                  <a:cxn ang="0">
                    <a:pos x="56" y="42"/>
                  </a:cxn>
                  <a:cxn ang="0">
                    <a:pos x="58" y="37"/>
                  </a:cxn>
                  <a:cxn ang="0">
                    <a:pos x="58" y="28"/>
                  </a:cxn>
                  <a:cxn ang="0">
                    <a:pos x="51" y="32"/>
                  </a:cxn>
                  <a:cxn ang="0">
                    <a:pos x="58" y="37"/>
                  </a:cxn>
                </a:cxnLst>
                <a:rect l="0" t="0" r="r" b="b"/>
                <a:pathLst>
                  <a:path w="64" h="64">
                    <a:moveTo>
                      <a:pt x="64" y="42"/>
                    </a:moveTo>
                    <a:cubicBezTo>
                      <a:pt x="64" y="43"/>
                      <a:pt x="63" y="44"/>
                      <a:pt x="63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33" y="64"/>
                      <a:pt x="32" y="64"/>
                      <a:pt x="32" y="64"/>
                    </a:cubicBezTo>
                    <a:cubicBezTo>
                      <a:pt x="31" y="64"/>
                      <a:pt x="31" y="64"/>
                      <a:pt x="30" y="64"/>
                    </a:cubicBezTo>
                    <a:cubicBezTo>
                      <a:pt x="1" y="44"/>
                      <a:pt x="1" y="44"/>
                      <a:pt x="1" y="44"/>
                    </a:cubicBezTo>
                    <a:cubicBezTo>
                      <a:pt x="0" y="44"/>
                      <a:pt x="0" y="43"/>
                      <a:pt x="0" y="4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2"/>
                      <a:pt x="0" y="21"/>
                      <a:pt x="1" y="20"/>
                    </a:cubicBezTo>
                    <a:cubicBezTo>
                      <a:pt x="30" y="1"/>
                      <a:pt x="30" y="1"/>
                      <a:pt x="30" y="1"/>
                    </a:cubicBezTo>
                    <a:cubicBezTo>
                      <a:pt x="31" y="1"/>
                      <a:pt x="31" y="0"/>
                      <a:pt x="32" y="0"/>
                    </a:cubicBezTo>
                    <a:cubicBezTo>
                      <a:pt x="32" y="0"/>
                      <a:pt x="33" y="1"/>
                      <a:pt x="33" y="1"/>
                    </a:cubicBezTo>
                    <a:cubicBezTo>
                      <a:pt x="63" y="20"/>
                      <a:pt x="63" y="20"/>
                      <a:pt x="63" y="20"/>
                    </a:cubicBezTo>
                    <a:cubicBezTo>
                      <a:pt x="63" y="21"/>
                      <a:pt x="64" y="22"/>
                      <a:pt x="64" y="23"/>
                    </a:cubicBezTo>
                    <a:lnTo>
                      <a:pt x="64" y="42"/>
                    </a:lnTo>
                    <a:close/>
                    <a:moveTo>
                      <a:pt x="12" y="32"/>
                    </a:moveTo>
                    <a:cubicBezTo>
                      <a:pt x="5" y="28"/>
                      <a:pt x="5" y="28"/>
                      <a:pt x="5" y="28"/>
                    </a:cubicBezTo>
                    <a:cubicBezTo>
                      <a:pt x="5" y="37"/>
                      <a:pt x="5" y="37"/>
                      <a:pt x="5" y="37"/>
                    </a:cubicBezTo>
                    <a:lnTo>
                      <a:pt x="12" y="32"/>
                    </a:lnTo>
                    <a:close/>
                    <a:moveTo>
                      <a:pt x="29" y="21"/>
                    </a:moveTo>
                    <a:cubicBezTo>
                      <a:pt x="29" y="8"/>
                      <a:pt x="29" y="8"/>
                      <a:pt x="29" y="8"/>
                    </a:cubicBezTo>
                    <a:cubicBezTo>
                      <a:pt x="7" y="23"/>
                      <a:pt x="7" y="23"/>
                      <a:pt x="7" y="23"/>
                    </a:cubicBezTo>
                    <a:cubicBezTo>
                      <a:pt x="17" y="29"/>
                      <a:pt x="17" y="29"/>
                      <a:pt x="17" y="29"/>
                    </a:cubicBezTo>
                    <a:lnTo>
                      <a:pt x="29" y="21"/>
                    </a:lnTo>
                    <a:close/>
                    <a:moveTo>
                      <a:pt x="29" y="56"/>
                    </a:moveTo>
                    <a:cubicBezTo>
                      <a:pt x="29" y="44"/>
                      <a:pt x="29" y="44"/>
                      <a:pt x="29" y="44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7" y="42"/>
                      <a:pt x="7" y="42"/>
                      <a:pt x="7" y="42"/>
                    </a:cubicBezTo>
                    <a:lnTo>
                      <a:pt x="29" y="56"/>
                    </a:lnTo>
                    <a:close/>
                    <a:moveTo>
                      <a:pt x="41" y="32"/>
                    </a:moveTo>
                    <a:cubicBezTo>
                      <a:pt x="32" y="26"/>
                      <a:pt x="32" y="26"/>
                      <a:pt x="32" y="26"/>
                    </a:cubicBezTo>
                    <a:cubicBezTo>
                      <a:pt x="22" y="32"/>
                      <a:pt x="22" y="32"/>
                      <a:pt x="22" y="32"/>
                    </a:cubicBezTo>
                    <a:cubicBezTo>
                      <a:pt x="32" y="39"/>
                      <a:pt x="32" y="39"/>
                      <a:pt x="32" y="39"/>
                    </a:cubicBezTo>
                    <a:lnTo>
                      <a:pt x="41" y="32"/>
                    </a:lnTo>
                    <a:close/>
                    <a:moveTo>
                      <a:pt x="56" y="23"/>
                    </a:moveTo>
                    <a:cubicBezTo>
                      <a:pt x="35" y="8"/>
                      <a:pt x="35" y="8"/>
                      <a:pt x="35" y="8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46" y="29"/>
                      <a:pt x="46" y="29"/>
                      <a:pt x="46" y="29"/>
                    </a:cubicBezTo>
                    <a:lnTo>
                      <a:pt x="56" y="23"/>
                    </a:lnTo>
                    <a:close/>
                    <a:moveTo>
                      <a:pt x="56" y="42"/>
                    </a:moveTo>
                    <a:cubicBezTo>
                      <a:pt x="46" y="36"/>
                      <a:pt x="46" y="36"/>
                      <a:pt x="46" y="36"/>
                    </a:cubicBezTo>
                    <a:cubicBezTo>
                      <a:pt x="35" y="44"/>
                      <a:pt x="35" y="44"/>
                      <a:pt x="35" y="44"/>
                    </a:cubicBezTo>
                    <a:cubicBezTo>
                      <a:pt x="35" y="56"/>
                      <a:pt x="35" y="56"/>
                      <a:pt x="35" y="56"/>
                    </a:cubicBezTo>
                    <a:lnTo>
                      <a:pt x="56" y="42"/>
                    </a:lnTo>
                    <a:close/>
                    <a:moveTo>
                      <a:pt x="58" y="37"/>
                    </a:moveTo>
                    <a:cubicBezTo>
                      <a:pt x="58" y="28"/>
                      <a:pt x="58" y="28"/>
                      <a:pt x="58" y="28"/>
                    </a:cubicBezTo>
                    <a:cubicBezTo>
                      <a:pt x="51" y="32"/>
                      <a:pt x="51" y="32"/>
                      <a:pt x="51" y="32"/>
                    </a:cubicBezTo>
                    <a:lnTo>
                      <a:pt x="58" y="37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121913" tIns="60956" rIns="121913" bIns="60956" numCol="1" anchor="t" anchorCtr="0" compatLnSpc="1"/>
              <a:lstStyle/>
              <a:p>
                <a:endParaRPr lang="en-US" sz="170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17" name="Group 142"/>
            <p:cNvGrpSpPr/>
            <p:nvPr/>
          </p:nvGrpSpPr>
          <p:grpSpPr>
            <a:xfrm>
              <a:off x="6224252" y="3112704"/>
              <a:ext cx="1177898" cy="1178882"/>
              <a:chOff x="4639368" y="1140216"/>
              <a:chExt cx="883472" cy="884210"/>
            </a:xfrm>
          </p:grpSpPr>
          <p:sp>
            <p:nvSpPr>
              <p:cNvPr id="21" name="Oval 132"/>
              <p:cNvSpPr>
                <a:spLocks noChangeAspect="1"/>
              </p:cNvSpPr>
              <p:nvPr/>
            </p:nvSpPr>
            <p:spPr>
              <a:xfrm flipH="1">
                <a:off x="4639368" y="1140216"/>
                <a:ext cx="883472" cy="884210"/>
              </a:xfrm>
              <a:prstGeom prst="ellipse">
                <a:avLst/>
              </a:prstGeom>
              <a:solidFill>
                <a:schemeClr val="accent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3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2" name="Freeform 152"/>
              <p:cNvSpPr>
                <a:spLocks noEditPoints="1"/>
              </p:cNvSpPr>
              <p:nvPr/>
            </p:nvSpPr>
            <p:spPr bwMode="auto">
              <a:xfrm>
                <a:off x="4880717" y="1397136"/>
                <a:ext cx="400775" cy="370370"/>
              </a:xfrm>
              <a:custGeom>
                <a:avLst/>
                <a:gdLst/>
                <a:ahLst/>
                <a:cxnLst>
                  <a:cxn ang="0">
                    <a:pos x="67" y="20"/>
                  </a:cxn>
                  <a:cxn ang="0">
                    <a:pos x="46" y="36"/>
                  </a:cxn>
                  <a:cxn ang="0">
                    <a:pos x="42" y="40"/>
                  </a:cxn>
                  <a:cxn ang="0">
                    <a:pos x="39" y="47"/>
                  </a:cxn>
                  <a:cxn ang="0">
                    <a:pos x="44" y="52"/>
                  </a:cxn>
                  <a:cxn ang="0">
                    <a:pos x="52" y="58"/>
                  </a:cxn>
                  <a:cxn ang="0">
                    <a:pos x="52" y="61"/>
                  </a:cxn>
                  <a:cxn ang="0">
                    <a:pos x="51" y="62"/>
                  </a:cxn>
                  <a:cxn ang="0">
                    <a:pos x="17" y="62"/>
                  </a:cxn>
                  <a:cxn ang="0">
                    <a:pos x="16" y="61"/>
                  </a:cxn>
                  <a:cxn ang="0">
                    <a:pos x="16" y="58"/>
                  </a:cxn>
                  <a:cxn ang="0">
                    <a:pos x="24" y="52"/>
                  </a:cxn>
                  <a:cxn ang="0">
                    <a:pos x="29" y="47"/>
                  </a:cxn>
                  <a:cxn ang="0">
                    <a:pos x="26" y="40"/>
                  </a:cxn>
                  <a:cxn ang="0">
                    <a:pos x="22" y="36"/>
                  </a:cxn>
                  <a:cxn ang="0">
                    <a:pos x="0" y="20"/>
                  </a:cxn>
                  <a:cxn ang="0">
                    <a:pos x="0" y="15"/>
                  </a:cxn>
                  <a:cxn ang="0">
                    <a:pos x="4" y="11"/>
                  </a:cxn>
                  <a:cxn ang="0">
                    <a:pos x="16" y="11"/>
                  </a:cxn>
                  <a:cxn ang="0">
                    <a:pos x="16" y="7"/>
                  </a:cxn>
                  <a:cxn ang="0">
                    <a:pos x="22" y="0"/>
                  </a:cxn>
                  <a:cxn ang="0">
                    <a:pos x="45" y="0"/>
                  </a:cxn>
                  <a:cxn ang="0">
                    <a:pos x="52" y="7"/>
                  </a:cxn>
                  <a:cxn ang="0">
                    <a:pos x="52" y="11"/>
                  </a:cxn>
                  <a:cxn ang="0">
                    <a:pos x="63" y="11"/>
                  </a:cxn>
                  <a:cxn ang="0">
                    <a:pos x="67" y="15"/>
                  </a:cxn>
                  <a:cxn ang="0">
                    <a:pos x="67" y="20"/>
                  </a:cxn>
                  <a:cxn ang="0">
                    <a:pos x="16" y="16"/>
                  </a:cxn>
                  <a:cxn ang="0">
                    <a:pos x="6" y="16"/>
                  </a:cxn>
                  <a:cxn ang="0">
                    <a:pos x="6" y="20"/>
                  </a:cxn>
                  <a:cxn ang="0">
                    <a:pos x="19" y="31"/>
                  </a:cxn>
                  <a:cxn ang="0">
                    <a:pos x="16" y="16"/>
                  </a:cxn>
                  <a:cxn ang="0">
                    <a:pos x="62" y="16"/>
                  </a:cxn>
                  <a:cxn ang="0">
                    <a:pos x="52" y="16"/>
                  </a:cxn>
                  <a:cxn ang="0">
                    <a:pos x="49" y="31"/>
                  </a:cxn>
                  <a:cxn ang="0">
                    <a:pos x="62" y="20"/>
                  </a:cxn>
                  <a:cxn ang="0">
                    <a:pos x="62" y="16"/>
                  </a:cxn>
                </a:cxnLst>
                <a:rect l="0" t="0" r="r" b="b"/>
                <a:pathLst>
                  <a:path w="67" h="62">
                    <a:moveTo>
                      <a:pt x="67" y="20"/>
                    </a:moveTo>
                    <a:cubicBezTo>
                      <a:pt x="67" y="27"/>
                      <a:pt x="58" y="36"/>
                      <a:pt x="46" y="36"/>
                    </a:cubicBezTo>
                    <a:cubicBezTo>
                      <a:pt x="44" y="38"/>
                      <a:pt x="42" y="40"/>
                      <a:pt x="42" y="40"/>
                    </a:cubicBezTo>
                    <a:cubicBezTo>
                      <a:pt x="40" y="42"/>
                      <a:pt x="39" y="44"/>
                      <a:pt x="39" y="47"/>
                    </a:cubicBezTo>
                    <a:cubicBezTo>
                      <a:pt x="39" y="49"/>
                      <a:pt x="40" y="52"/>
                      <a:pt x="44" y="52"/>
                    </a:cubicBezTo>
                    <a:cubicBezTo>
                      <a:pt x="48" y="52"/>
                      <a:pt x="52" y="54"/>
                      <a:pt x="52" y="58"/>
                    </a:cubicBezTo>
                    <a:cubicBezTo>
                      <a:pt x="52" y="61"/>
                      <a:pt x="52" y="61"/>
                      <a:pt x="52" y="61"/>
                    </a:cubicBezTo>
                    <a:cubicBezTo>
                      <a:pt x="52" y="62"/>
                      <a:pt x="51" y="62"/>
                      <a:pt x="51" y="62"/>
                    </a:cubicBezTo>
                    <a:cubicBezTo>
                      <a:pt x="17" y="62"/>
                      <a:pt x="17" y="62"/>
                      <a:pt x="17" y="62"/>
                    </a:cubicBezTo>
                    <a:cubicBezTo>
                      <a:pt x="16" y="62"/>
                      <a:pt x="16" y="62"/>
                      <a:pt x="16" y="61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6" y="54"/>
                      <a:pt x="20" y="52"/>
                      <a:pt x="24" y="52"/>
                    </a:cubicBezTo>
                    <a:cubicBezTo>
                      <a:pt x="27" y="52"/>
                      <a:pt x="29" y="49"/>
                      <a:pt x="29" y="47"/>
                    </a:cubicBezTo>
                    <a:cubicBezTo>
                      <a:pt x="29" y="44"/>
                      <a:pt x="28" y="42"/>
                      <a:pt x="26" y="40"/>
                    </a:cubicBezTo>
                    <a:cubicBezTo>
                      <a:pt x="25" y="40"/>
                      <a:pt x="24" y="38"/>
                      <a:pt x="22" y="36"/>
                    </a:cubicBezTo>
                    <a:cubicBezTo>
                      <a:pt x="10" y="36"/>
                      <a:pt x="0" y="27"/>
                      <a:pt x="0" y="20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2"/>
                      <a:pt x="2" y="11"/>
                      <a:pt x="4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7"/>
                      <a:pt x="16" y="7"/>
                      <a:pt x="16" y="7"/>
                    </a:cubicBezTo>
                    <a:cubicBezTo>
                      <a:pt x="16" y="3"/>
                      <a:pt x="19" y="0"/>
                      <a:pt x="22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9" y="0"/>
                      <a:pt x="52" y="3"/>
                      <a:pt x="52" y="7"/>
                    </a:cubicBezTo>
                    <a:cubicBezTo>
                      <a:pt x="52" y="11"/>
                      <a:pt x="52" y="11"/>
                      <a:pt x="52" y="11"/>
                    </a:cubicBezTo>
                    <a:cubicBezTo>
                      <a:pt x="63" y="11"/>
                      <a:pt x="63" y="11"/>
                      <a:pt x="63" y="11"/>
                    </a:cubicBezTo>
                    <a:cubicBezTo>
                      <a:pt x="66" y="11"/>
                      <a:pt x="67" y="12"/>
                      <a:pt x="67" y="15"/>
                    </a:cubicBezTo>
                    <a:lnTo>
                      <a:pt x="67" y="20"/>
                    </a:lnTo>
                    <a:close/>
                    <a:moveTo>
                      <a:pt x="16" y="16"/>
                    </a:moveTo>
                    <a:cubicBezTo>
                      <a:pt x="6" y="16"/>
                      <a:pt x="6" y="16"/>
                      <a:pt x="6" y="16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6" y="24"/>
                      <a:pt x="11" y="29"/>
                      <a:pt x="19" y="31"/>
                    </a:cubicBezTo>
                    <a:cubicBezTo>
                      <a:pt x="17" y="27"/>
                      <a:pt x="16" y="22"/>
                      <a:pt x="16" y="16"/>
                    </a:cubicBezTo>
                    <a:close/>
                    <a:moveTo>
                      <a:pt x="62" y="16"/>
                    </a:moveTo>
                    <a:cubicBezTo>
                      <a:pt x="52" y="16"/>
                      <a:pt x="52" y="16"/>
                      <a:pt x="52" y="16"/>
                    </a:cubicBezTo>
                    <a:cubicBezTo>
                      <a:pt x="52" y="22"/>
                      <a:pt x="51" y="27"/>
                      <a:pt x="49" y="31"/>
                    </a:cubicBezTo>
                    <a:cubicBezTo>
                      <a:pt x="57" y="29"/>
                      <a:pt x="62" y="24"/>
                      <a:pt x="62" y="20"/>
                    </a:cubicBezTo>
                    <a:lnTo>
                      <a:pt x="62" y="16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121913" tIns="60956" rIns="121913" bIns="60956" numCol="1" anchor="t" anchorCtr="0" compatLnSpc="1"/>
              <a:lstStyle/>
              <a:p>
                <a:endParaRPr lang="en-US" sz="170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18" name="Group 141"/>
            <p:cNvGrpSpPr/>
            <p:nvPr/>
          </p:nvGrpSpPr>
          <p:grpSpPr>
            <a:xfrm>
              <a:off x="7244787" y="3876036"/>
              <a:ext cx="1177898" cy="1178882"/>
              <a:chOff x="5433386" y="1712746"/>
              <a:chExt cx="883472" cy="884210"/>
            </a:xfrm>
          </p:grpSpPr>
          <p:sp>
            <p:nvSpPr>
              <p:cNvPr id="19" name="Oval 117"/>
              <p:cNvSpPr>
                <a:spLocks noChangeAspect="1"/>
              </p:cNvSpPr>
              <p:nvPr/>
            </p:nvSpPr>
            <p:spPr>
              <a:xfrm flipH="1">
                <a:off x="5433386" y="1712746"/>
                <a:ext cx="883472" cy="884210"/>
              </a:xfrm>
              <a:prstGeom prst="ellipse">
                <a:avLst/>
              </a:prstGeom>
              <a:solidFill>
                <a:schemeClr val="accent2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3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0" name="Freeform 66"/>
              <p:cNvSpPr>
                <a:spLocks noEditPoints="1"/>
              </p:cNvSpPr>
              <p:nvPr/>
            </p:nvSpPr>
            <p:spPr bwMode="auto">
              <a:xfrm>
                <a:off x="5641291" y="1973482"/>
                <a:ext cx="467662" cy="362739"/>
              </a:xfrm>
              <a:custGeom>
                <a:avLst/>
                <a:gdLst/>
                <a:ahLst/>
                <a:cxnLst>
                  <a:cxn ang="0">
                    <a:pos x="29" y="41"/>
                  </a:cxn>
                  <a:cxn ang="0">
                    <a:pos x="22" y="40"/>
                  </a:cxn>
                  <a:cxn ang="0">
                    <a:pos x="11" y="45"/>
                  </a:cxn>
                  <a:cxn ang="0">
                    <a:pos x="7" y="46"/>
                  </a:cxn>
                  <a:cxn ang="0">
                    <a:pos x="7" y="46"/>
                  </a:cxn>
                  <a:cxn ang="0">
                    <a:pos x="6" y="45"/>
                  </a:cxn>
                  <a:cxn ang="0">
                    <a:pos x="6" y="43"/>
                  </a:cxn>
                  <a:cxn ang="0">
                    <a:pos x="11" y="36"/>
                  </a:cxn>
                  <a:cxn ang="0">
                    <a:pos x="0" y="20"/>
                  </a:cxn>
                  <a:cxn ang="0">
                    <a:pos x="29" y="0"/>
                  </a:cxn>
                  <a:cxn ang="0">
                    <a:pos x="57" y="20"/>
                  </a:cxn>
                  <a:cxn ang="0">
                    <a:pos x="29" y="41"/>
                  </a:cxn>
                  <a:cxn ang="0">
                    <a:pos x="62" y="47"/>
                  </a:cxn>
                  <a:cxn ang="0">
                    <a:pos x="66" y="53"/>
                  </a:cxn>
                  <a:cxn ang="0">
                    <a:pos x="67" y="55"/>
                  </a:cxn>
                  <a:cxn ang="0">
                    <a:pos x="66" y="56"/>
                  </a:cxn>
                  <a:cxn ang="0">
                    <a:pos x="62" y="55"/>
                  </a:cxn>
                  <a:cxn ang="0">
                    <a:pos x="51" y="50"/>
                  </a:cxn>
                  <a:cxn ang="0">
                    <a:pos x="44" y="51"/>
                  </a:cxn>
                  <a:cxn ang="0">
                    <a:pos x="25" y="46"/>
                  </a:cxn>
                  <a:cxn ang="0">
                    <a:pos x="29" y="46"/>
                  </a:cxn>
                  <a:cxn ang="0">
                    <a:pos x="52" y="39"/>
                  </a:cxn>
                  <a:cxn ang="0">
                    <a:pos x="62" y="20"/>
                  </a:cxn>
                  <a:cxn ang="0">
                    <a:pos x="61" y="14"/>
                  </a:cxn>
                  <a:cxn ang="0">
                    <a:pos x="72" y="30"/>
                  </a:cxn>
                  <a:cxn ang="0">
                    <a:pos x="62" y="47"/>
                  </a:cxn>
                </a:cxnLst>
                <a:rect l="0" t="0" r="r" b="b"/>
                <a:pathLst>
                  <a:path w="72" h="56">
                    <a:moveTo>
                      <a:pt x="29" y="41"/>
                    </a:moveTo>
                    <a:cubicBezTo>
                      <a:pt x="26" y="41"/>
                      <a:pt x="24" y="40"/>
                      <a:pt x="22" y="40"/>
                    </a:cubicBezTo>
                    <a:cubicBezTo>
                      <a:pt x="18" y="42"/>
                      <a:pt x="15" y="44"/>
                      <a:pt x="11" y="45"/>
                    </a:cubicBezTo>
                    <a:cubicBezTo>
                      <a:pt x="9" y="45"/>
                      <a:pt x="8" y="46"/>
                      <a:pt x="7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6"/>
                      <a:pt x="6" y="45"/>
                      <a:pt x="6" y="45"/>
                    </a:cubicBezTo>
                    <a:cubicBezTo>
                      <a:pt x="5" y="44"/>
                      <a:pt x="6" y="43"/>
                      <a:pt x="6" y="43"/>
                    </a:cubicBezTo>
                    <a:cubicBezTo>
                      <a:pt x="8" y="41"/>
                      <a:pt x="10" y="40"/>
                      <a:pt x="11" y="36"/>
                    </a:cubicBezTo>
                    <a:cubicBezTo>
                      <a:pt x="5" y="32"/>
                      <a:pt x="0" y="27"/>
                      <a:pt x="0" y="20"/>
                    </a:cubicBezTo>
                    <a:cubicBezTo>
                      <a:pt x="0" y="9"/>
                      <a:pt x="13" y="0"/>
                      <a:pt x="29" y="0"/>
                    </a:cubicBezTo>
                    <a:cubicBezTo>
                      <a:pt x="44" y="0"/>
                      <a:pt x="57" y="9"/>
                      <a:pt x="57" y="20"/>
                    </a:cubicBezTo>
                    <a:cubicBezTo>
                      <a:pt x="57" y="32"/>
                      <a:pt x="44" y="41"/>
                      <a:pt x="29" y="41"/>
                    </a:cubicBezTo>
                    <a:close/>
                    <a:moveTo>
                      <a:pt x="62" y="47"/>
                    </a:moveTo>
                    <a:cubicBezTo>
                      <a:pt x="63" y="50"/>
                      <a:pt x="65" y="51"/>
                      <a:pt x="66" y="53"/>
                    </a:cubicBezTo>
                    <a:cubicBezTo>
                      <a:pt x="67" y="54"/>
                      <a:pt x="67" y="54"/>
                      <a:pt x="67" y="55"/>
                    </a:cubicBezTo>
                    <a:cubicBezTo>
                      <a:pt x="67" y="56"/>
                      <a:pt x="67" y="56"/>
                      <a:pt x="66" y="56"/>
                    </a:cubicBezTo>
                    <a:cubicBezTo>
                      <a:pt x="65" y="56"/>
                      <a:pt x="63" y="56"/>
                      <a:pt x="62" y="55"/>
                    </a:cubicBezTo>
                    <a:cubicBezTo>
                      <a:pt x="58" y="54"/>
                      <a:pt x="55" y="53"/>
                      <a:pt x="51" y="50"/>
                    </a:cubicBezTo>
                    <a:cubicBezTo>
                      <a:pt x="49" y="51"/>
                      <a:pt x="47" y="51"/>
                      <a:pt x="44" y="51"/>
                    </a:cubicBezTo>
                    <a:cubicBezTo>
                      <a:pt x="37" y="51"/>
                      <a:pt x="30" y="49"/>
                      <a:pt x="25" y="46"/>
                    </a:cubicBezTo>
                    <a:cubicBezTo>
                      <a:pt x="26" y="46"/>
                      <a:pt x="28" y="46"/>
                      <a:pt x="29" y="46"/>
                    </a:cubicBezTo>
                    <a:cubicBezTo>
                      <a:pt x="37" y="46"/>
                      <a:pt x="46" y="43"/>
                      <a:pt x="52" y="39"/>
                    </a:cubicBezTo>
                    <a:cubicBezTo>
                      <a:pt x="58" y="34"/>
                      <a:pt x="62" y="27"/>
                      <a:pt x="62" y="20"/>
                    </a:cubicBezTo>
                    <a:cubicBezTo>
                      <a:pt x="62" y="18"/>
                      <a:pt x="62" y="16"/>
                      <a:pt x="61" y="14"/>
                    </a:cubicBezTo>
                    <a:cubicBezTo>
                      <a:pt x="68" y="18"/>
                      <a:pt x="72" y="24"/>
                      <a:pt x="72" y="30"/>
                    </a:cubicBezTo>
                    <a:cubicBezTo>
                      <a:pt x="72" y="37"/>
                      <a:pt x="68" y="43"/>
                      <a:pt x="62" y="4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vert="horz" wrap="square" lIns="121913" tIns="60956" rIns="121913" bIns="60956" numCol="1" anchor="t" anchorCtr="0" compatLnSpc="1"/>
              <a:lstStyle/>
              <a:p>
                <a:endParaRPr lang="en-US" sz="170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</p:grpSp>
      <p:sp>
        <p:nvSpPr>
          <p:cNvPr id="32" name="矩形 31"/>
          <p:cNvSpPr/>
          <p:nvPr userDrawn="1"/>
        </p:nvSpPr>
        <p:spPr>
          <a:xfrm>
            <a:off x="-17179" y="0"/>
            <a:ext cx="12203008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1000"/>
                  <a:lumOff val="9000"/>
                  <a:alpha val="41000"/>
                </a:schemeClr>
              </a:gs>
              <a:gs pos="30000">
                <a:schemeClr val="bg1">
                  <a:lumMod val="95000"/>
                  <a:alpha val="75000"/>
                </a:schemeClr>
              </a:gs>
              <a:gs pos="83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直接连接符 32"/>
          <p:cNvCxnSpPr/>
          <p:nvPr userDrawn="1"/>
        </p:nvCxnSpPr>
        <p:spPr>
          <a:xfrm>
            <a:off x="-17179" y="702255"/>
            <a:ext cx="1217322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Click="0" advTm="5000">
        <p14:warp dir="in"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A_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 cstate="print"/>
            <a:srcRect/>
            <a:tile tx="0" ty="0" sx="100000" sy="100000" flip="none" algn="tl"/>
          </a:blip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9" name="Group 20"/>
          <p:cNvGrpSpPr/>
          <p:nvPr/>
        </p:nvGrpSpPr>
        <p:grpSpPr>
          <a:xfrm>
            <a:off x="11100971" y="254421"/>
            <a:ext cx="464293" cy="465087"/>
            <a:chOff x="9145588" y="4435475"/>
            <a:chExt cx="464344" cy="465138"/>
          </a:xfrm>
          <a:solidFill>
            <a:srgbClr val="00B0F0"/>
          </a:solidFill>
        </p:grpSpPr>
        <p:sp>
          <p:nvSpPr>
            <p:cNvPr id="31" name="AutoShape 7"/>
            <p:cNvSpPr/>
            <p:nvPr/>
          </p:nvSpPr>
          <p:spPr bwMode="auto">
            <a:xfrm>
              <a:off x="9145588" y="4435475"/>
              <a:ext cx="464344" cy="465138"/>
            </a:xfrm>
            <a:custGeom>
              <a:avLst/>
              <a:gdLst>
                <a:gd name="T0" fmla="+- 0 10800 1271"/>
                <a:gd name="T1" fmla="*/ T0 w 19058"/>
                <a:gd name="T2" fmla="+- 0 10799 1270"/>
                <a:gd name="T3" fmla="*/ 10799 h 19059"/>
                <a:gd name="T4" fmla="+- 0 10800 1271"/>
                <a:gd name="T5" fmla="*/ T4 w 19058"/>
                <a:gd name="T6" fmla="+- 0 10799 1270"/>
                <a:gd name="T7" fmla="*/ 10799 h 19059"/>
                <a:gd name="T8" fmla="+- 0 10800 1271"/>
                <a:gd name="T9" fmla="*/ T8 w 19058"/>
                <a:gd name="T10" fmla="+- 0 10799 1270"/>
                <a:gd name="T11" fmla="*/ 10799 h 19059"/>
                <a:gd name="T12" fmla="+- 0 10800 1271"/>
                <a:gd name="T13" fmla="*/ T12 w 19058"/>
                <a:gd name="T14" fmla="+- 0 10799 1270"/>
                <a:gd name="T15" fmla="*/ 10799 h 1905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058" h="19059">
                  <a:moveTo>
                    <a:pt x="6430" y="17268"/>
                  </a:moveTo>
                  <a:cubicBezTo>
                    <a:pt x="2162" y="15559"/>
                    <a:pt x="82" y="10698"/>
                    <a:pt x="1790" y="6431"/>
                  </a:cubicBezTo>
                  <a:cubicBezTo>
                    <a:pt x="3499" y="2164"/>
                    <a:pt x="8360" y="81"/>
                    <a:pt x="12627" y="1791"/>
                  </a:cubicBezTo>
                  <a:cubicBezTo>
                    <a:pt x="16894" y="3499"/>
                    <a:pt x="18975" y="8361"/>
                    <a:pt x="17267" y="12628"/>
                  </a:cubicBezTo>
                  <a:cubicBezTo>
                    <a:pt x="15558" y="16895"/>
                    <a:pt x="10696" y="18976"/>
                    <a:pt x="6430" y="17268"/>
                  </a:cubicBezTo>
                  <a:moveTo>
                    <a:pt x="13070" y="685"/>
                  </a:moveTo>
                  <a:cubicBezTo>
                    <a:pt x="8186" y="-1270"/>
                    <a:pt x="2641" y="1103"/>
                    <a:pt x="685" y="5987"/>
                  </a:cubicBezTo>
                  <a:cubicBezTo>
                    <a:pt x="-1271" y="10872"/>
                    <a:pt x="1103" y="16418"/>
                    <a:pt x="5987" y="18373"/>
                  </a:cubicBezTo>
                  <a:cubicBezTo>
                    <a:pt x="10871" y="20330"/>
                    <a:pt x="16416" y="17955"/>
                    <a:pt x="18373" y="13071"/>
                  </a:cubicBezTo>
                  <a:cubicBezTo>
                    <a:pt x="20329" y="8186"/>
                    <a:pt x="17954" y="2641"/>
                    <a:pt x="13070" y="68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lIns="19048" tIns="19048" rIns="19048" bIns="19048" anchor="ctr"/>
            <a:lstStyle/>
            <a:p>
              <a:pPr algn="ctr" defTabSz="228600" hangingPunct="0">
                <a:lnSpc>
                  <a:spcPct val="120000"/>
                </a:lnSpc>
              </a:pPr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2" name="AutoShape 8"/>
            <p:cNvSpPr/>
            <p:nvPr/>
          </p:nvSpPr>
          <p:spPr bwMode="auto">
            <a:xfrm>
              <a:off x="9348788" y="4638675"/>
              <a:ext cx="57944" cy="57944"/>
            </a:xfrm>
            <a:custGeom>
              <a:avLst/>
              <a:gdLst>
                <a:gd name="T0" fmla="+- 0 10801 1272"/>
                <a:gd name="T1" fmla="*/ T0 w 19059"/>
                <a:gd name="T2" fmla="+- 0 10800 1272"/>
                <a:gd name="T3" fmla="*/ 10800 h 19056"/>
                <a:gd name="T4" fmla="+- 0 10801 1272"/>
                <a:gd name="T5" fmla="*/ T4 w 19059"/>
                <a:gd name="T6" fmla="+- 0 10800 1272"/>
                <a:gd name="T7" fmla="*/ 10800 h 19056"/>
                <a:gd name="T8" fmla="+- 0 10801 1272"/>
                <a:gd name="T9" fmla="*/ T8 w 19059"/>
                <a:gd name="T10" fmla="+- 0 10800 1272"/>
                <a:gd name="T11" fmla="*/ 10800 h 19056"/>
                <a:gd name="T12" fmla="+- 0 10801 1272"/>
                <a:gd name="T13" fmla="*/ T12 w 19059"/>
                <a:gd name="T14" fmla="+- 0 10800 1272"/>
                <a:gd name="T15" fmla="*/ 10800 h 19056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059" h="19056">
                  <a:moveTo>
                    <a:pt x="7753" y="13951"/>
                  </a:moveTo>
                  <a:cubicBezTo>
                    <a:pt x="5315" y="12969"/>
                    <a:pt x="4129" y="10197"/>
                    <a:pt x="5101" y="7755"/>
                  </a:cubicBezTo>
                  <a:cubicBezTo>
                    <a:pt x="6083" y="5323"/>
                    <a:pt x="8860" y="4132"/>
                    <a:pt x="11298" y="5104"/>
                  </a:cubicBezTo>
                  <a:cubicBezTo>
                    <a:pt x="13735" y="6081"/>
                    <a:pt x="14926" y="8858"/>
                    <a:pt x="13949" y="11300"/>
                  </a:cubicBezTo>
                  <a:cubicBezTo>
                    <a:pt x="12972" y="13737"/>
                    <a:pt x="10195" y="14923"/>
                    <a:pt x="7753" y="13951"/>
                  </a:cubicBezTo>
                  <a:moveTo>
                    <a:pt x="13070" y="686"/>
                  </a:moveTo>
                  <a:cubicBezTo>
                    <a:pt x="8190" y="-1272"/>
                    <a:pt x="2640" y="1104"/>
                    <a:pt x="686" y="5988"/>
                  </a:cubicBezTo>
                  <a:cubicBezTo>
                    <a:pt x="-1272" y="10872"/>
                    <a:pt x="1105" y="16416"/>
                    <a:pt x="5985" y="18369"/>
                  </a:cubicBezTo>
                  <a:cubicBezTo>
                    <a:pt x="10870" y="20328"/>
                    <a:pt x="16415" y="17951"/>
                    <a:pt x="18374" y="13072"/>
                  </a:cubicBezTo>
                  <a:cubicBezTo>
                    <a:pt x="20328" y="8188"/>
                    <a:pt x="17960" y="2644"/>
                    <a:pt x="13070" y="68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lIns="19048" tIns="19048" rIns="19048" bIns="19048" anchor="ctr"/>
            <a:lstStyle/>
            <a:p>
              <a:pPr algn="ctr" defTabSz="228600" hangingPunct="0">
                <a:lnSpc>
                  <a:spcPct val="120000"/>
                </a:lnSpc>
              </a:pPr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3" name="AutoShape 9"/>
            <p:cNvSpPr/>
            <p:nvPr/>
          </p:nvSpPr>
          <p:spPr bwMode="auto">
            <a:xfrm>
              <a:off x="9290050" y="4580732"/>
              <a:ext cx="174625" cy="174625"/>
            </a:xfrm>
            <a:custGeom>
              <a:avLst/>
              <a:gdLst>
                <a:gd name="T0" fmla="+- 0 10800 1271"/>
                <a:gd name="T1" fmla="*/ T0 w 19059"/>
                <a:gd name="T2" fmla="+- 0 10800 1271"/>
                <a:gd name="T3" fmla="*/ 10800 h 19058"/>
                <a:gd name="T4" fmla="+- 0 10800 1271"/>
                <a:gd name="T5" fmla="*/ T4 w 19059"/>
                <a:gd name="T6" fmla="+- 0 10800 1271"/>
                <a:gd name="T7" fmla="*/ 10800 h 19058"/>
                <a:gd name="T8" fmla="+- 0 10800 1271"/>
                <a:gd name="T9" fmla="*/ T8 w 19059"/>
                <a:gd name="T10" fmla="+- 0 10800 1271"/>
                <a:gd name="T11" fmla="*/ 10800 h 19058"/>
                <a:gd name="T12" fmla="+- 0 10800 1271"/>
                <a:gd name="T13" fmla="*/ T12 w 19059"/>
                <a:gd name="T14" fmla="+- 0 10800 1271"/>
                <a:gd name="T15" fmla="*/ 10800 h 1905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059" h="19058">
                  <a:moveTo>
                    <a:pt x="7169" y="15424"/>
                  </a:moveTo>
                  <a:cubicBezTo>
                    <a:pt x="3916" y="14123"/>
                    <a:pt x="2331" y="10417"/>
                    <a:pt x="3632" y="7167"/>
                  </a:cubicBezTo>
                  <a:cubicBezTo>
                    <a:pt x="4934" y="3917"/>
                    <a:pt x="8638" y="2331"/>
                    <a:pt x="11889" y="3632"/>
                  </a:cubicBezTo>
                  <a:cubicBezTo>
                    <a:pt x="15141" y="4934"/>
                    <a:pt x="16728" y="8640"/>
                    <a:pt x="15425" y="11890"/>
                  </a:cubicBezTo>
                  <a:cubicBezTo>
                    <a:pt x="14124" y="15140"/>
                    <a:pt x="10419" y="16728"/>
                    <a:pt x="7169" y="15424"/>
                  </a:cubicBezTo>
                  <a:moveTo>
                    <a:pt x="13071" y="685"/>
                  </a:moveTo>
                  <a:cubicBezTo>
                    <a:pt x="8186" y="-1271"/>
                    <a:pt x="2639" y="1104"/>
                    <a:pt x="686" y="5987"/>
                  </a:cubicBezTo>
                  <a:cubicBezTo>
                    <a:pt x="-1271" y="10871"/>
                    <a:pt x="1104" y="16416"/>
                    <a:pt x="5987" y="18372"/>
                  </a:cubicBezTo>
                  <a:cubicBezTo>
                    <a:pt x="10874" y="20329"/>
                    <a:pt x="16418" y="17955"/>
                    <a:pt x="18375" y="13070"/>
                  </a:cubicBezTo>
                  <a:cubicBezTo>
                    <a:pt x="20328" y="8186"/>
                    <a:pt x="17956" y="2641"/>
                    <a:pt x="13071" y="68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lIns="19048" tIns="19048" rIns="19048" bIns="19048" anchor="ctr"/>
            <a:lstStyle/>
            <a:p>
              <a:pPr algn="ctr" defTabSz="228600" hangingPunct="0">
                <a:lnSpc>
                  <a:spcPct val="120000"/>
                </a:lnSpc>
              </a:pPr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4" name="AutoShape 10"/>
            <p:cNvSpPr/>
            <p:nvPr/>
          </p:nvSpPr>
          <p:spPr bwMode="auto">
            <a:xfrm>
              <a:off x="9406732" y="4696619"/>
              <a:ext cx="72231" cy="74613"/>
            </a:xfrm>
            <a:custGeom>
              <a:avLst/>
              <a:gdLst>
                <a:gd name="T0" fmla="+- 0 10804 288"/>
                <a:gd name="T1" fmla="*/ T0 w 21033"/>
                <a:gd name="T2" fmla="+- 0 10798 277"/>
                <a:gd name="T3" fmla="*/ 10798 h 21043"/>
                <a:gd name="T4" fmla="+- 0 10804 288"/>
                <a:gd name="T5" fmla="*/ T4 w 21033"/>
                <a:gd name="T6" fmla="+- 0 10798 277"/>
                <a:gd name="T7" fmla="*/ 10798 h 21043"/>
                <a:gd name="T8" fmla="+- 0 10804 288"/>
                <a:gd name="T9" fmla="*/ T8 w 21033"/>
                <a:gd name="T10" fmla="+- 0 10798 277"/>
                <a:gd name="T11" fmla="*/ 10798 h 21043"/>
                <a:gd name="T12" fmla="+- 0 10804 288"/>
                <a:gd name="T13" fmla="*/ T12 w 21033"/>
                <a:gd name="T14" fmla="+- 0 10798 277"/>
                <a:gd name="T15" fmla="*/ 10798 h 21043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033" h="21043">
                  <a:moveTo>
                    <a:pt x="20881" y="2825"/>
                  </a:moveTo>
                  <a:cubicBezTo>
                    <a:pt x="21312" y="1771"/>
                    <a:pt x="20787" y="572"/>
                    <a:pt x="19713" y="149"/>
                  </a:cubicBezTo>
                  <a:cubicBezTo>
                    <a:pt x="18636" y="-277"/>
                    <a:pt x="17414" y="238"/>
                    <a:pt x="16984" y="1296"/>
                  </a:cubicBezTo>
                  <a:lnTo>
                    <a:pt x="16980" y="1292"/>
                  </a:lnTo>
                  <a:cubicBezTo>
                    <a:pt x="13964" y="8692"/>
                    <a:pt x="8182" y="14184"/>
                    <a:pt x="1269" y="17089"/>
                  </a:cubicBezTo>
                  <a:cubicBezTo>
                    <a:pt x="207" y="17536"/>
                    <a:pt x="-288" y="18747"/>
                    <a:pt x="170" y="19789"/>
                  </a:cubicBezTo>
                  <a:cubicBezTo>
                    <a:pt x="629" y="20840"/>
                    <a:pt x="1863" y="21323"/>
                    <a:pt x="2924" y="20876"/>
                  </a:cubicBezTo>
                  <a:cubicBezTo>
                    <a:pt x="2961" y="20860"/>
                    <a:pt x="2982" y="20828"/>
                    <a:pt x="3014" y="20815"/>
                  </a:cubicBezTo>
                  <a:cubicBezTo>
                    <a:pt x="10874" y="17480"/>
                    <a:pt x="17451" y="11227"/>
                    <a:pt x="20877" y="2825"/>
                  </a:cubicBezTo>
                  <a:cubicBezTo>
                    <a:pt x="20877" y="2825"/>
                    <a:pt x="20881" y="2825"/>
                    <a:pt x="20881" y="2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lIns="19048" tIns="19048" rIns="19048" bIns="19048" anchor="ctr"/>
            <a:lstStyle/>
            <a:p>
              <a:pPr algn="ctr" defTabSz="228600" hangingPunct="0">
                <a:lnSpc>
                  <a:spcPct val="120000"/>
                </a:lnSpc>
              </a:pPr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5" name="AutoShape 11"/>
            <p:cNvSpPr/>
            <p:nvPr/>
          </p:nvSpPr>
          <p:spPr bwMode="auto">
            <a:xfrm>
              <a:off x="9435307" y="4725988"/>
              <a:ext cx="103981" cy="106363"/>
            </a:xfrm>
            <a:custGeom>
              <a:avLst/>
              <a:gdLst>
                <a:gd name="T0" fmla="+- 0 10803 203"/>
                <a:gd name="T1" fmla="*/ T0 w 21201"/>
                <a:gd name="T2" fmla="+- 0 10798 194"/>
                <a:gd name="T3" fmla="*/ 10798 h 21209"/>
                <a:gd name="T4" fmla="+- 0 10803 203"/>
                <a:gd name="T5" fmla="*/ T4 w 21201"/>
                <a:gd name="T6" fmla="+- 0 10798 194"/>
                <a:gd name="T7" fmla="*/ 10798 h 21209"/>
                <a:gd name="T8" fmla="+- 0 10803 203"/>
                <a:gd name="T9" fmla="*/ T8 w 21201"/>
                <a:gd name="T10" fmla="+- 0 10798 194"/>
                <a:gd name="T11" fmla="*/ 10798 h 21209"/>
                <a:gd name="T12" fmla="+- 0 10803 203"/>
                <a:gd name="T13" fmla="*/ T12 w 21201"/>
                <a:gd name="T14" fmla="+- 0 10798 194"/>
                <a:gd name="T15" fmla="*/ 10798 h 2120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201" h="21209">
                  <a:moveTo>
                    <a:pt x="20267" y="104"/>
                  </a:moveTo>
                  <a:cubicBezTo>
                    <a:pt x="19508" y="-194"/>
                    <a:pt x="18645" y="169"/>
                    <a:pt x="18339" y="912"/>
                  </a:cubicBezTo>
                  <a:cubicBezTo>
                    <a:pt x="14991" y="9110"/>
                    <a:pt x="8568" y="15198"/>
                    <a:pt x="894" y="18420"/>
                  </a:cubicBezTo>
                  <a:cubicBezTo>
                    <a:pt x="144" y="18735"/>
                    <a:pt x="-203" y="19589"/>
                    <a:pt x="121" y="20327"/>
                  </a:cubicBezTo>
                  <a:cubicBezTo>
                    <a:pt x="442" y="21068"/>
                    <a:pt x="1314" y="21406"/>
                    <a:pt x="2067" y="21090"/>
                  </a:cubicBezTo>
                  <a:cubicBezTo>
                    <a:pt x="2102" y="21073"/>
                    <a:pt x="2125" y="21042"/>
                    <a:pt x="2159" y="21025"/>
                  </a:cubicBezTo>
                  <a:cubicBezTo>
                    <a:pt x="10491" y="17500"/>
                    <a:pt x="17461" y="10881"/>
                    <a:pt x="21095" y="1994"/>
                  </a:cubicBezTo>
                  <a:cubicBezTo>
                    <a:pt x="21397" y="1250"/>
                    <a:pt x="21026" y="404"/>
                    <a:pt x="20267" y="10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lIns="19048" tIns="19048" rIns="19048" bIns="19048" anchor="ctr"/>
            <a:lstStyle/>
            <a:p>
              <a:pPr algn="ctr" defTabSz="228600" hangingPunct="0">
                <a:lnSpc>
                  <a:spcPct val="120000"/>
                </a:lnSpc>
              </a:pPr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6" name="AutoShape 12"/>
            <p:cNvSpPr/>
            <p:nvPr/>
          </p:nvSpPr>
          <p:spPr bwMode="auto">
            <a:xfrm>
              <a:off x="9421019" y="4711700"/>
              <a:ext cx="88106" cy="89694"/>
            </a:xfrm>
            <a:custGeom>
              <a:avLst/>
              <a:gdLst>
                <a:gd name="T0" fmla="+- 0 10802 238"/>
                <a:gd name="T1" fmla="*/ T0 w 21128"/>
                <a:gd name="T2" fmla="+- 0 10797 227"/>
                <a:gd name="T3" fmla="*/ 10797 h 21141"/>
                <a:gd name="T4" fmla="+- 0 10802 238"/>
                <a:gd name="T5" fmla="*/ T4 w 21128"/>
                <a:gd name="T6" fmla="+- 0 10797 227"/>
                <a:gd name="T7" fmla="*/ 10797 h 21141"/>
                <a:gd name="T8" fmla="+- 0 10802 238"/>
                <a:gd name="T9" fmla="*/ T8 w 21128"/>
                <a:gd name="T10" fmla="+- 0 10797 227"/>
                <a:gd name="T11" fmla="*/ 10797 h 21141"/>
                <a:gd name="T12" fmla="+- 0 10802 238"/>
                <a:gd name="T13" fmla="*/ T12 w 21128"/>
                <a:gd name="T14" fmla="+- 0 10797 227"/>
                <a:gd name="T15" fmla="*/ 10797 h 21141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28" h="21141">
                  <a:moveTo>
                    <a:pt x="20035" y="122"/>
                  </a:moveTo>
                  <a:cubicBezTo>
                    <a:pt x="19142" y="-227"/>
                    <a:pt x="18134" y="195"/>
                    <a:pt x="17778" y="1071"/>
                  </a:cubicBezTo>
                  <a:cubicBezTo>
                    <a:pt x="14571" y="8936"/>
                    <a:pt x="8412" y="14778"/>
                    <a:pt x="1051" y="17867"/>
                  </a:cubicBezTo>
                  <a:lnTo>
                    <a:pt x="1054" y="17867"/>
                  </a:lnTo>
                  <a:cubicBezTo>
                    <a:pt x="172" y="18240"/>
                    <a:pt x="-238" y="19242"/>
                    <a:pt x="142" y="20108"/>
                  </a:cubicBezTo>
                  <a:cubicBezTo>
                    <a:pt x="522" y="20973"/>
                    <a:pt x="1543" y="21372"/>
                    <a:pt x="2425" y="21003"/>
                  </a:cubicBezTo>
                  <a:cubicBezTo>
                    <a:pt x="2459" y="20986"/>
                    <a:pt x="2476" y="20956"/>
                    <a:pt x="2514" y="20936"/>
                  </a:cubicBezTo>
                  <a:cubicBezTo>
                    <a:pt x="10651" y="17491"/>
                    <a:pt x="17459" y="11027"/>
                    <a:pt x="21002" y="2339"/>
                  </a:cubicBezTo>
                  <a:cubicBezTo>
                    <a:pt x="21361" y="1463"/>
                    <a:pt x="20927" y="472"/>
                    <a:pt x="20035" y="12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lIns="19048" tIns="19048" rIns="19048" bIns="19048" anchor="ctr"/>
            <a:lstStyle/>
            <a:p>
              <a:pPr algn="ctr" defTabSz="228600" hangingPunct="0">
                <a:lnSpc>
                  <a:spcPct val="120000"/>
                </a:lnSpc>
              </a:pPr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7" name="AutoShape 13"/>
            <p:cNvSpPr/>
            <p:nvPr/>
          </p:nvSpPr>
          <p:spPr bwMode="auto">
            <a:xfrm>
              <a:off x="9275763" y="4566444"/>
              <a:ext cx="73025" cy="73819"/>
            </a:xfrm>
            <a:custGeom>
              <a:avLst/>
              <a:gdLst>
                <a:gd name="T0" fmla="+- 0 10797 278"/>
                <a:gd name="T1" fmla="*/ T0 w 21039"/>
                <a:gd name="T2" fmla="+- 0 10803 281"/>
                <a:gd name="T3" fmla="*/ 10803 h 21044"/>
                <a:gd name="T4" fmla="+- 0 10797 278"/>
                <a:gd name="T5" fmla="*/ T4 w 21039"/>
                <a:gd name="T6" fmla="+- 0 10803 281"/>
                <a:gd name="T7" fmla="*/ 10803 h 21044"/>
                <a:gd name="T8" fmla="+- 0 10797 278"/>
                <a:gd name="T9" fmla="*/ T8 w 21039"/>
                <a:gd name="T10" fmla="+- 0 10803 281"/>
                <a:gd name="T11" fmla="*/ 10803 h 21044"/>
                <a:gd name="T12" fmla="+- 0 10797 278"/>
                <a:gd name="T13" fmla="*/ T12 w 21039"/>
                <a:gd name="T14" fmla="+- 0 10803 281"/>
                <a:gd name="T15" fmla="*/ 10803 h 21044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039" h="21044">
                  <a:moveTo>
                    <a:pt x="20871" y="1248"/>
                  </a:moveTo>
                  <a:cubicBezTo>
                    <a:pt x="20411" y="197"/>
                    <a:pt x="19177" y="-281"/>
                    <a:pt x="18112" y="169"/>
                  </a:cubicBezTo>
                  <a:cubicBezTo>
                    <a:pt x="18075" y="181"/>
                    <a:pt x="18050" y="214"/>
                    <a:pt x="18021" y="226"/>
                  </a:cubicBezTo>
                  <a:cubicBezTo>
                    <a:pt x="10159" y="3562"/>
                    <a:pt x="3583" y="9820"/>
                    <a:pt x="152" y="18220"/>
                  </a:cubicBezTo>
                  <a:lnTo>
                    <a:pt x="148" y="18220"/>
                  </a:lnTo>
                  <a:cubicBezTo>
                    <a:pt x="-278" y="19278"/>
                    <a:pt x="242" y="20473"/>
                    <a:pt x="1320" y="20896"/>
                  </a:cubicBezTo>
                  <a:cubicBezTo>
                    <a:pt x="2398" y="21318"/>
                    <a:pt x="3620" y="20803"/>
                    <a:pt x="4046" y="19749"/>
                  </a:cubicBezTo>
                  <a:lnTo>
                    <a:pt x="4051" y="19749"/>
                  </a:lnTo>
                  <a:cubicBezTo>
                    <a:pt x="7068" y="12356"/>
                    <a:pt x="12856" y="6858"/>
                    <a:pt x="19764" y="3956"/>
                  </a:cubicBezTo>
                  <a:cubicBezTo>
                    <a:pt x="20830" y="3506"/>
                    <a:pt x="21322" y="2298"/>
                    <a:pt x="20871" y="124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lIns="19048" tIns="19048" rIns="19048" bIns="19048" anchor="ctr"/>
            <a:lstStyle/>
            <a:p>
              <a:pPr algn="ctr" defTabSz="228600" hangingPunct="0">
                <a:lnSpc>
                  <a:spcPct val="120000"/>
                </a:lnSpc>
              </a:pPr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8" name="AutoShape 14"/>
            <p:cNvSpPr/>
            <p:nvPr/>
          </p:nvSpPr>
          <p:spPr bwMode="auto">
            <a:xfrm>
              <a:off x="9217819" y="4508500"/>
              <a:ext cx="103981" cy="105569"/>
            </a:xfrm>
            <a:custGeom>
              <a:avLst/>
              <a:gdLst>
                <a:gd name="T0" fmla="+- 0 10797 198"/>
                <a:gd name="T1" fmla="*/ T0 w 21199"/>
                <a:gd name="T2" fmla="+- 0 10802 198"/>
                <a:gd name="T3" fmla="*/ 10802 h 21208"/>
                <a:gd name="T4" fmla="+- 0 10797 198"/>
                <a:gd name="T5" fmla="*/ T4 w 21199"/>
                <a:gd name="T6" fmla="+- 0 10802 198"/>
                <a:gd name="T7" fmla="*/ 10802 h 21208"/>
                <a:gd name="T8" fmla="+- 0 10797 198"/>
                <a:gd name="T9" fmla="*/ T8 w 21199"/>
                <a:gd name="T10" fmla="+- 0 10802 198"/>
                <a:gd name="T11" fmla="*/ 10802 h 21208"/>
                <a:gd name="T12" fmla="+- 0 10797 198"/>
                <a:gd name="T13" fmla="*/ T12 w 21199"/>
                <a:gd name="T14" fmla="+- 0 10802 198"/>
                <a:gd name="T15" fmla="*/ 10802 h 21208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99" h="21208">
                  <a:moveTo>
                    <a:pt x="21077" y="880"/>
                  </a:moveTo>
                  <a:cubicBezTo>
                    <a:pt x="20753" y="142"/>
                    <a:pt x="19881" y="-198"/>
                    <a:pt x="19129" y="117"/>
                  </a:cubicBezTo>
                  <a:cubicBezTo>
                    <a:pt x="19097" y="131"/>
                    <a:pt x="19071" y="162"/>
                    <a:pt x="19039" y="179"/>
                  </a:cubicBezTo>
                  <a:cubicBezTo>
                    <a:pt x="10706" y="3707"/>
                    <a:pt x="3739" y="10322"/>
                    <a:pt x="106" y="19208"/>
                  </a:cubicBezTo>
                  <a:cubicBezTo>
                    <a:pt x="-198" y="19957"/>
                    <a:pt x="172" y="20803"/>
                    <a:pt x="934" y="21101"/>
                  </a:cubicBezTo>
                  <a:cubicBezTo>
                    <a:pt x="1689" y="21401"/>
                    <a:pt x="2552" y="21041"/>
                    <a:pt x="2859" y="20292"/>
                  </a:cubicBezTo>
                  <a:cubicBezTo>
                    <a:pt x="6206" y="12096"/>
                    <a:pt x="12625" y="6008"/>
                    <a:pt x="20301" y="2787"/>
                  </a:cubicBezTo>
                  <a:cubicBezTo>
                    <a:pt x="21051" y="2469"/>
                    <a:pt x="21402" y="1618"/>
                    <a:pt x="21077" y="88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lIns="19048" tIns="19048" rIns="19048" bIns="19048" anchor="ctr"/>
            <a:lstStyle/>
            <a:p>
              <a:pPr algn="ctr" defTabSz="228600" hangingPunct="0">
                <a:lnSpc>
                  <a:spcPct val="120000"/>
                </a:lnSpc>
              </a:pPr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9" name="AutoShape 15"/>
            <p:cNvSpPr/>
            <p:nvPr/>
          </p:nvSpPr>
          <p:spPr bwMode="auto">
            <a:xfrm>
              <a:off x="9247188" y="4537075"/>
              <a:ext cx="88107" cy="90488"/>
            </a:xfrm>
            <a:custGeom>
              <a:avLst/>
              <a:gdLst>
                <a:gd name="T0" fmla="+- 0 10796 232"/>
                <a:gd name="T1" fmla="*/ T0 w 21129"/>
                <a:gd name="T2" fmla="+- 0 10804 234"/>
                <a:gd name="T3" fmla="*/ 10804 h 21141"/>
                <a:gd name="T4" fmla="+- 0 10796 232"/>
                <a:gd name="T5" fmla="*/ T4 w 21129"/>
                <a:gd name="T6" fmla="+- 0 10804 234"/>
                <a:gd name="T7" fmla="*/ 10804 h 21141"/>
                <a:gd name="T8" fmla="+- 0 10796 232"/>
                <a:gd name="T9" fmla="*/ T8 w 21129"/>
                <a:gd name="T10" fmla="+- 0 10804 234"/>
                <a:gd name="T11" fmla="*/ 10804 h 21141"/>
                <a:gd name="T12" fmla="+- 0 10796 232"/>
                <a:gd name="T13" fmla="*/ T12 w 21129"/>
                <a:gd name="T14" fmla="+- 0 10804 234"/>
                <a:gd name="T15" fmla="*/ 10804 h 21141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1129" h="21141">
                  <a:moveTo>
                    <a:pt x="20075" y="3267"/>
                  </a:moveTo>
                  <a:cubicBezTo>
                    <a:pt x="20953" y="2898"/>
                    <a:pt x="21368" y="1899"/>
                    <a:pt x="20987" y="1030"/>
                  </a:cubicBezTo>
                  <a:cubicBezTo>
                    <a:pt x="20611" y="168"/>
                    <a:pt x="19589" y="-234"/>
                    <a:pt x="18707" y="138"/>
                  </a:cubicBezTo>
                  <a:cubicBezTo>
                    <a:pt x="18670" y="152"/>
                    <a:pt x="18649" y="185"/>
                    <a:pt x="18615" y="198"/>
                  </a:cubicBezTo>
                  <a:cubicBezTo>
                    <a:pt x="10481" y="3647"/>
                    <a:pt x="3673" y="10118"/>
                    <a:pt x="124" y="18802"/>
                  </a:cubicBezTo>
                  <a:cubicBezTo>
                    <a:pt x="-232" y="19678"/>
                    <a:pt x="205" y="20666"/>
                    <a:pt x="1094" y="21019"/>
                  </a:cubicBezTo>
                  <a:cubicBezTo>
                    <a:pt x="1983" y="21366"/>
                    <a:pt x="2991" y="20946"/>
                    <a:pt x="3354" y="20071"/>
                  </a:cubicBezTo>
                  <a:cubicBezTo>
                    <a:pt x="6561" y="12205"/>
                    <a:pt x="12717" y="6360"/>
                    <a:pt x="20075" y="3274"/>
                  </a:cubicBezTo>
                  <a:cubicBezTo>
                    <a:pt x="20075" y="3274"/>
                    <a:pt x="20075" y="3267"/>
                    <a:pt x="20075" y="32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lIns="19048" tIns="19048" rIns="19048" bIns="19048" anchor="ctr"/>
            <a:lstStyle/>
            <a:p>
              <a:pPr algn="ctr" defTabSz="228600" hangingPunct="0">
                <a:lnSpc>
                  <a:spcPct val="120000"/>
                </a:lnSpc>
              </a:pPr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1" name="AutoShape 59"/>
          <p:cNvSpPr/>
          <p:nvPr/>
        </p:nvSpPr>
        <p:spPr bwMode="auto">
          <a:xfrm>
            <a:off x="10364352" y="214341"/>
            <a:ext cx="465087" cy="464293"/>
          </a:xfrm>
          <a:custGeom>
            <a:avLst/>
            <a:gdLst>
              <a:gd name="T0" fmla="+- 0 10794 23"/>
              <a:gd name="T1" fmla="*/ T0 w 21543"/>
              <a:gd name="T2" fmla="*/ 10800 h 21600"/>
              <a:gd name="T3" fmla="+- 0 10794 23"/>
              <a:gd name="T4" fmla="*/ T3 w 21543"/>
              <a:gd name="T5" fmla="*/ 10800 h 21600"/>
              <a:gd name="T6" fmla="+- 0 10794 23"/>
              <a:gd name="T7" fmla="*/ T6 w 21543"/>
              <a:gd name="T8" fmla="*/ 10800 h 21600"/>
              <a:gd name="T9" fmla="+- 0 10794 23"/>
              <a:gd name="T10" fmla="*/ T9 w 21543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43" h="21600">
                <a:moveTo>
                  <a:pt x="16976" y="19986"/>
                </a:moveTo>
                <a:lnTo>
                  <a:pt x="11226" y="17680"/>
                </a:lnTo>
                <a:cubicBezTo>
                  <a:pt x="11088" y="17626"/>
                  <a:pt x="10946" y="17608"/>
                  <a:pt x="10806" y="17600"/>
                </a:cubicBezTo>
                <a:lnTo>
                  <a:pt x="19660" y="3837"/>
                </a:lnTo>
                <a:cubicBezTo>
                  <a:pt x="19660" y="3837"/>
                  <a:pt x="16976" y="19986"/>
                  <a:pt x="16976" y="19986"/>
                </a:cubicBezTo>
                <a:close/>
                <a:moveTo>
                  <a:pt x="6859" y="16244"/>
                </a:moveTo>
                <a:cubicBezTo>
                  <a:pt x="6858" y="16242"/>
                  <a:pt x="6855" y="16240"/>
                  <a:pt x="6854" y="16238"/>
                </a:cubicBezTo>
                <a:lnTo>
                  <a:pt x="19606" y="2552"/>
                </a:lnTo>
                <a:lnTo>
                  <a:pt x="8735" y="19536"/>
                </a:lnTo>
                <a:cubicBezTo>
                  <a:pt x="8735" y="19536"/>
                  <a:pt x="6859" y="16244"/>
                  <a:pt x="6859" y="16244"/>
                </a:cubicBezTo>
                <a:close/>
                <a:moveTo>
                  <a:pt x="2111" y="14024"/>
                </a:moveTo>
                <a:lnTo>
                  <a:pt x="17712" y="3595"/>
                </a:lnTo>
                <a:lnTo>
                  <a:pt x="6369" y="15770"/>
                </a:lnTo>
                <a:cubicBezTo>
                  <a:pt x="6309" y="15734"/>
                  <a:pt x="6256" y="15687"/>
                  <a:pt x="6190" y="15660"/>
                </a:cubicBezTo>
                <a:cubicBezTo>
                  <a:pt x="6190" y="15660"/>
                  <a:pt x="2111" y="14024"/>
                  <a:pt x="2111" y="14024"/>
                </a:cubicBezTo>
                <a:close/>
                <a:moveTo>
                  <a:pt x="21234" y="108"/>
                </a:moveTo>
                <a:cubicBezTo>
                  <a:pt x="21123" y="35"/>
                  <a:pt x="20996" y="0"/>
                  <a:pt x="20868" y="0"/>
                </a:cubicBezTo>
                <a:cubicBezTo>
                  <a:pt x="20738" y="0"/>
                  <a:pt x="20608" y="36"/>
                  <a:pt x="20495" y="113"/>
                </a:cubicBezTo>
                <a:lnTo>
                  <a:pt x="299" y="13613"/>
                </a:lnTo>
                <a:cubicBezTo>
                  <a:pt x="91" y="13751"/>
                  <a:pt x="-23" y="13995"/>
                  <a:pt x="3" y="14244"/>
                </a:cubicBezTo>
                <a:cubicBezTo>
                  <a:pt x="28" y="14494"/>
                  <a:pt x="190" y="14708"/>
                  <a:pt x="422" y="14801"/>
                </a:cubicBezTo>
                <a:lnTo>
                  <a:pt x="5689" y="16914"/>
                </a:lnTo>
                <a:lnTo>
                  <a:pt x="8166" y="21259"/>
                </a:lnTo>
                <a:cubicBezTo>
                  <a:pt x="8284" y="21468"/>
                  <a:pt x="8505" y="21597"/>
                  <a:pt x="8743" y="21599"/>
                </a:cubicBezTo>
                <a:lnTo>
                  <a:pt x="8751" y="21599"/>
                </a:lnTo>
                <a:cubicBezTo>
                  <a:pt x="8987" y="21599"/>
                  <a:pt x="9206" y="21474"/>
                  <a:pt x="9328" y="21271"/>
                </a:cubicBezTo>
                <a:lnTo>
                  <a:pt x="10726" y="18934"/>
                </a:lnTo>
                <a:lnTo>
                  <a:pt x="17253" y="21551"/>
                </a:lnTo>
                <a:cubicBezTo>
                  <a:pt x="17332" y="21584"/>
                  <a:pt x="17418" y="21599"/>
                  <a:pt x="17502" y="21599"/>
                </a:cubicBezTo>
                <a:cubicBezTo>
                  <a:pt x="17617" y="21599"/>
                  <a:pt x="17731" y="21571"/>
                  <a:pt x="17832" y="21512"/>
                </a:cubicBezTo>
                <a:cubicBezTo>
                  <a:pt x="18010" y="21412"/>
                  <a:pt x="18133" y="21238"/>
                  <a:pt x="18167" y="21035"/>
                </a:cubicBezTo>
                <a:lnTo>
                  <a:pt x="21533" y="785"/>
                </a:lnTo>
                <a:cubicBezTo>
                  <a:pt x="21576" y="520"/>
                  <a:pt x="21459" y="254"/>
                  <a:pt x="21234" y="108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19048" tIns="19048" rIns="19048" bIns="19048" anchor="ctr"/>
          <a:lstStyle/>
          <a:p>
            <a:pPr algn="ctr" defTabSz="228600" hangingPunct="0">
              <a:lnSpc>
                <a:spcPct val="120000"/>
              </a:lnSpc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+mn-ea"/>
              <a:sym typeface="Arial" panose="020B0604020202020204" pitchFamily="34" charset="0"/>
            </a:endParaRPr>
          </a:p>
        </p:txBody>
      </p:sp>
      <p:grpSp>
        <p:nvGrpSpPr>
          <p:cNvPr id="55" name="组合 54"/>
          <p:cNvGrpSpPr/>
          <p:nvPr userDrawn="1"/>
        </p:nvGrpSpPr>
        <p:grpSpPr>
          <a:xfrm>
            <a:off x="3117258" y="5891841"/>
            <a:ext cx="9044560" cy="893097"/>
            <a:chOff x="1282872" y="2028681"/>
            <a:chExt cx="9341585" cy="1073146"/>
          </a:xfrm>
        </p:grpSpPr>
        <p:grpSp>
          <p:nvGrpSpPr>
            <p:cNvPr id="3" name="Group 3"/>
            <p:cNvGrpSpPr/>
            <p:nvPr/>
          </p:nvGrpSpPr>
          <p:grpSpPr>
            <a:xfrm>
              <a:off x="1282872" y="2569928"/>
              <a:ext cx="1499613" cy="396287"/>
              <a:chOff x="1424694" y="3437117"/>
              <a:chExt cx="1499779" cy="396331"/>
            </a:xfrm>
            <a:solidFill>
              <a:srgbClr val="0070C0"/>
            </a:solidFill>
          </p:grpSpPr>
          <p:sp>
            <p:nvSpPr>
              <p:cNvPr id="50" name="Round Same Side Corner Rectangle 4"/>
              <p:cNvSpPr/>
              <p:nvPr/>
            </p:nvSpPr>
            <p:spPr>
              <a:xfrm rot="16200000">
                <a:off x="2049734" y="2958708"/>
                <a:ext cx="249700" cy="149977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GB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1" name="Oval 13"/>
              <p:cNvSpPr/>
              <p:nvPr/>
            </p:nvSpPr>
            <p:spPr>
              <a:xfrm>
                <a:off x="2014338" y="3437117"/>
                <a:ext cx="320492" cy="32049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GB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4" name="Group 10"/>
            <p:cNvGrpSpPr/>
            <p:nvPr/>
          </p:nvGrpSpPr>
          <p:grpSpPr>
            <a:xfrm>
              <a:off x="2851267" y="2716541"/>
              <a:ext cx="1499613" cy="385285"/>
              <a:chOff x="2993261" y="3583747"/>
              <a:chExt cx="1499779" cy="385328"/>
            </a:xfrm>
            <a:solidFill>
              <a:srgbClr val="00B0F0"/>
            </a:solidFill>
          </p:grpSpPr>
          <p:sp>
            <p:nvSpPr>
              <p:cNvPr id="48" name="Round Same Side Corner Rectangle 6"/>
              <p:cNvSpPr/>
              <p:nvPr/>
            </p:nvSpPr>
            <p:spPr>
              <a:xfrm rot="5400000" flipH="1">
                <a:off x="3618301" y="2958707"/>
                <a:ext cx="249700" cy="1499779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GB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9" name="Oval 14"/>
              <p:cNvSpPr/>
              <p:nvPr/>
            </p:nvSpPr>
            <p:spPr>
              <a:xfrm>
                <a:off x="3582905" y="3648583"/>
                <a:ext cx="320492" cy="32049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GB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5" name="Group 11"/>
            <p:cNvGrpSpPr/>
            <p:nvPr/>
          </p:nvGrpSpPr>
          <p:grpSpPr>
            <a:xfrm>
              <a:off x="4419660" y="2569928"/>
              <a:ext cx="1499613" cy="396287"/>
              <a:chOff x="4561827" y="3437117"/>
              <a:chExt cx="1499779" cy="396330"/>
            </a:xfrm>
            <a:solidFill>
              <a:srgbClr val="0070C0"/>
            </a:solidFill>
          </p:grpSpPr>
          <p:sp>
            <p:nvSpPr>
              <p:cNvPr id="46" name="Round Same Side Corner Rectangle 7"/>
              <p:cNvSpPr/>
              <p:nvPr/>
            </p:nvSpPr>
            <p:spPr>
              <a:xfrm rot="5400000" flipH="1">
                <a:off x="5186867" y="2958707"/>
                <a:ext cx="249700" cy="1499779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GB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7" name="Oval 15"/>
              <p:cNvSpPr/>
              <p:nvPr/>
            </p:nvSpPr>
            <p:spPr>
              <a:xfrm>
                <a:off x="5220257" y="3437117"/>
                <a:ext cx="320492" cy="32049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GB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" name="Group 12"/>
            <p:cNvGrpSpPr/>
            <p:nvPr/>
          </p:nvGrpSpPr>
          <p:grpSpPr>
            <a:xfrm>
              <a:off x="5988056" y="2716541"/>
              <a:ext cx="1499613" cy="385285"/>
              <a:chOff x="6130393" y="3583747"/>
              <a:chExt cx="1499779" cy="385328"/>
            </a:xfrm>
            <a:solidFill>
              <a:srgbClr val="00B0F0"/>
            </a:solidFill>
          </p:grpSpPr>
          <p:sp>
            <p:nvSpPr>
              <p:cNvPr id="44" name="Round Same Side Corner Rectangle 8"/>
              <p:cNvSpPr/>
              <p:nvPr/>
            </p:nvSpPr>
            <p:spPr>
              <a:xfrm rot="5400000" flipH="1">
                <a:off x="6755433" y="2958707"/>
                <a:ext cx="249700" cy="1499779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GB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5" name="Oval 16"/>
              <p:cNvSpPr/>
              <p:nvPr/>
            </p:nvSpPr>
            <p:spPr>
              <a:xfrm>
                <a:off x="6720037" y="3648583"/>
                <a:ext cx="320492" cy="32049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GB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7" name="Group 35"/>
            <p:cNvGrpSpPr/>
            <p:nvPr/>
          </p:nvGrpSpPr>
          <p:grpSpPr>
            <a:xfrm>
              <a:off x="9124844" y="2716542"/>
              <a:ext cx="1499613" cy="385285"/>
              <a:chOff x="9267526" y="3583748"/>
              <a:chExt cx="1499779" cy="385327"/>
            </a:xfrm>
            <a:solidFill>
              <a:srgbClr val="00B0F0"/>
            </a:solidFill>
          </p:grpSpPr>
          <p:sp>
            <p:nvSpPr>
              <p:cNvPr id="42" name="Round Same Side Corner Rectangle 5"/>
              <p:cNvSpPr/>
              <p:nvPr/>
            </p:nvSpPr>
            <p:spPr>
              <a:xfrm rot="5400000" flipH="1">
                <a:off x="9892566" y="2958708"/>
                <a:ext cx="249700" cy="149977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GB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3" name="Oval 17"/>
              <p:cNvSpPr/>
              <p:nvPr/>
            </p:nvSpPr>
            <p:spPr>
              <a:xfrm>
                <a:off x="9857169" y="3648583"/>
                <a:ext cx="320492" cy="32049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GB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8" name="Group 19"/>
            <p:cNvGrpSpPr/>
            <p:nvPr/>
          </p:nvGrpSpPr>
          <p:grpSpPr>
            <a:xfrm>
              <a:off x="7556450" y="2569928"/>
              <a:ext cx="1499613" cy="396287"/>
              <a:chOff x="7698960" y="3437117"/>
              <a:chExt cx="1499779" cy="396331"/>
            </a:xfrm>
            <a:solidFill>
              <a:srgbClr val="0070C0"/>
            </a:solidFill>
          </p:grpSpPr>
          <p:sp>
            <p:nvSpPr>
              <p:cNvPr id="40" name="Round Same Side Corner Rectangle 9"/>
              <p:cNvSpPr/>
              <p:nvPr/>
            </p:nvSpPr>
            <p:spPr>
              <a:xfrm rot="5400000" flipH="1">
                <a:off x="8324000" y="2958708"/>
                <a:ext cx="249700" cy="1499779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GB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1" name="Oval 18"/>
              <p:cNvSpPr/>
              <p:nvPr/>
            </p:nvSpPr>
            <p:spPr>
              <a:xfrm>
                <a:off x="8357389" y="3437117"/>
                <a:ext cx="320492" cy="32049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GB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0" name="Group 30"/>
            <p:cNvGrpSpPr/>
            <p:nvPr/>
          </p:nvGrpSpPr>
          <p:grpSpPr>
            <a:xfrm>
              <a:off x="8142888" y="2035112"/>
              <a:ext cx="464293" cy="464293"/>
              <a:chOff x="7287419" y="2577307"/>
              <a:chExt cx="464344" cy="464344"/>
            </a:xfrm>
            <a:solidFill>
              <a:srgbClr val="0070C0"/>
            </a:solidFill>
          </p:grpSpPr>
          <p:sp>
            <p:nvSpPr>
              <p:cNvPr id="28" name="AutoShape 56"/>
              <p:cNvSpPr/>
              <p:nvPr/>
            </p:nvSpPr>
            <p:spPr bwMode="auto">
              <a:xfrm>
                <a:off x="7287419" y="2577307"/>
                <a:ext cx="145256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988" y="7316"/>
                    </a:moveTo>
                    <a:cubicBezTo>
                      <a:pt x="16954" y="7352"/>
                      <a:pt x="16923" y="7387"/>
                      <a:pt x="16883" y="7423"/>
                    </a:cubicBezTo>
                    <a:cubicBezTo>
                      <a:pt x="16677" y="7601"/>
                      <a:pt x="16414" y="7770"/>
                      <a:pt x="16066" y="7920"/>
                    </a:cubicBezTo>
                    <a:cubicBezTo>
                      <a:pt x="16057" y="7924"/>
                      <a:pt x="16044" y="7927"/>
                      <a:pt x="16038" y="7931"/>
                    </a:cubicBezTo>
                    <a:cubicBezTo>
                      <a:pt x="15662" y="8092"/>
                      <a:pt x="15214" y="8234"/>
                      <a:pt x="14705" y="8354"/>
                    </a:cubicBezTo>
                    <a:cubicBezTo>
                      <a:pt x="14697" y="8357"/>
                      <a:pt x="14692" y="8358"/>
                      <a:pt x="14686" y="8359"/>
                    </a:cubicBezTo>
                    <a:cubicBezTo>
                      <a:pt x="14163" y="8482"/>
                      <a:pt x="13584" y="8581"/>
                      <a:pt x="12960" y="8649"/>
                    </a:cubicBezTo>
                    <a:cubicBezTo>
                      <a:pt x="12279" y="8726"/>
                      <a:pt x="11560" y="8774"/>
                      <a:pt x="10800" y="8774"/>
                    </a:cubicBezTo>
                    <a:cubicBezTo>
                      <a:pt x="10037" y="8774"/>
                      <a:pt x="9318" y="8726"/>
                      <a:pt x="8640" y="8649"/>
                    </a:cubicBezTo>
                    <a:cubicBezTo>
                      <a:pt x="8016" y="8581"/>
                      <a:pt x="7435" y="8482"/>
                      <a:pt x="6914" y="8359"/>
                    </a:cubicBezTo>
                    <a:cubicBezTo>
                      <a:pt x="6908" y="8358"/>
                      <a:pt x="6901" y="8357"/>
                      <a:pt x="6893" y="8354"/>
                    </a:cubicBezTo>
                    <a:cubicBezTo>
                      <a:pt x="6385" y="8234"/>
                      <a:pt x="5937" y="8092"/>
                      <a:pt x="5562" y="7931"/>
                    </a:cubicBezTo>
                    <a:cubicBezTo>
                      <a:pt x="5553" y="7927"/>
                      <a:pt x="5541" y="7924"/>
                      <a:pt x="5531" y="7920"/>
                    </a:cubicBezTo>
                    <a:cubicBezTo>
                      <a:pt x="5184" y="7770"/>
                      <a:pt x="4921" y="7601"/>
                      <a:pt x="4715" y="7423"/>
                    </a:cubicBezTo>
                    <a:cubicBezTo>
                      <a:pt x="4676" y="7387"/>
                      <a:pt x="4644" y="7352"/>
                      <a:pt x="4612" y="7316"/>
                    </a:cubicBezTo>
                    <a:cubicBezTo>
                      <a:pt x="4437" y="7136"/>
                      <a:pt x="4320" y="6947"/>
                      <a:pt x="4320" y="6750"/>
                    </a:cubicBezTo>
                    <a:cubicBezTo>
                      <a:pt x="4320" y="6550"/>
                      <a:pt x="4437" y="6362"/>
                      <a:pt x="4612" y="6181"/>
                    </a:cubicBezTo>
                    <a:cubicBezTo>
                      <a:pt x="4644" y="6146"/>
                      <a:pt x="4676" y="6110"/>
                      <a:pt x="4715" y="6076"/>
                    </a:cubicBezTo>
                    <a:cubicBezTo>
                      <a:pt x="4921" y="5898"/>
                      <a:pt x="5184" y="5729"/>
                      <a:pt x="5531" y="5577"/>
                    </a:cubicBezTo>
                    <a:cubicBezTo>
                      <a:pt x="5541" y="5574"/>
                      <a:pt x="5553" y="5571"/>
                      <a:pt x="5562" y="5567"/>
                    </a:cubicBezTo>
                    <a:cubicBezTo>
                      <a:pt x="5937" y="5407"/>
                      <a:pt x="6385" y="5264"/>
                      <a:pt x="6893" y="5144"/>
                    </a:cubicBezTo>
                    <a:cubicBezTo>
                      <a:pt x="6901" y="5142"/>
                      <a:pt x="6908" y="5140"/>
                      <a:pt x="6914" y="5138"/>
                    </a:cubicBezTo>
                    <a:cubicBezTo>
                      <a:pt x="7435" y="5017"/>
                      <a:pt x="8016" y="4918"/>
                      <a:pt x="8640" y="4848"/>
                    </a:cubicBezTo>
                    <a:cubicBezTo>
                      <a:pt x="9318" y="4773"/>
                      <a:pt x="10037" y="4725"/>
                      <a:pt x="10800" y="4725"/>
                    </a:cubicBezTo>
                    <a:cubicBezTo>
                      <a:pt x="11560" y="4725"/>
                      <a:pt x="12279" y="4773"/>
                      <a:pt x="12960" y="4848"/>
                    </a:cubicBezTo>
                    <a:cubicBezTo>
                      <a:pt x="13584" y="4918"/>
                      <a:pt x="14163" y="5017"/>
                      <a:pt x="14686" y="5138"/>
                    </a:cubicBezTo>
                    <a:cubicBezTo>
                      <a:pt x="14692" y="5140"/>
                      <a:pt x="14697" y="5142"/>
                      <a:pt x="14705" y="5144"/>
                    </a:cubicBezTo>
                    <a:cubicBezTo>
                      <a:pt x="15214" y="5264"/>
                      <a:pt x="15662" y="5407"/>
                      <a:pt x="16038" y="5567"/>
                    </a:cubicBezTo>
                    <a:cubicBezTo>
                      <a:pt x="16044" y="5571"/>
                      <a:pt x="16057" y="5574"/>
                      <a:pt x="16066" y="5577"/>
                    </a:cubicBezTo>
                    <a:cubicBezTo>
                      <a:pt x="16414" y="5729"/>
                      <a:pt x="16677" y="5898"/>
                      <a:pt x="16883" y="6076"/>
                    </a:cubicBezTo>
                    <a:cubicBezTo>
                      <a:pt x="16923" y="6110"/>
                      <a:pt x="16954" y="6146"/>
                      <a:pt x="16988" y="6181"/>
                    </a:cubicBezTo>
                    <a:cubicBezTo>
                      <a:pt x="17161" y="6362"/>
                      <a:pt x="17280" y="6550"/>
                      <a:pt x="17280" y="6750"/>
                    </a:cubicBezTo>
                    <a:cubicBezTo>
                      <a:pt x="17280" y="6947"/>
                      <a:pt x="17161" y="7136"/>
                      <a:pt x="16988" y="7316"/>
                    </a:cubicBezTo>
                    <a:moveTo>
                      <a:pt x="12960" y="19575"/>
                    </a:moveTo>
                    <a:cubicBezTo>
                      <a:pt x="12960" y="19948"/>
                      <a:pt x="11992" y="20249"/>
                      <a:pt x="10800" y="20249"/>
                    </a:cubicBezTo>
                    <a:cubicBezTo>
                      <a:pt x="9606" y="20249"/>
                      <a:pt x="8640" y="19948"/>
                      <a:pt x="8640" y="19575"/>
                    </a:cubicBezTo>
                    <a:lnTo>
                      <a:pt x="8640" y="10056"/>
                    </a:lnTo>
                    <a:cubicBezTo>
                      <a:pt x="9338" y="10101"/>
                      <a:pt x="10059" y="10124"/>
                      <a:pt x="10800" y="10124"/>
                    </a:cubicBezTo>
                    <a:cubicBezTo>
                      <a:pt x="11541" y="10124"/>
                      <a:pt x="12262" y="10101"/>
                      <a:pt x="12960" y="10056"/>
                    </a:cubicBezTo>
                    <a:cubicBezTo>
                      <a:pt x="12960" y="10056"/>
                      <a:pt x="12960" y="19575"/>
                      <a:pt x="12960" y="19575"/>
                    </a:cubicBezTo>
                    <a:close/>
                    <a:moveTo>
                      <a:pt x="8640" y="2025"/>
                    </a:moveTo>
                    <a:cubicBezTo>
                      <a:pt x="8640" y="1651"/>
                      <a:pt x="9606" y="1350"/>
                      <a:pt x="10800" y="1350"/>
                    </a:cubicBezTo>
                    <a:cubicBezTo>
                      <a:pt x="11992" y="1350"/>
                      <a:pt x="12960" y="1651"/>
                      <a:pt x="12960" y="2025"/>
                    </a:cubicBezTo>
                    <a:lnTo>
                      <a:pt x="12960" y="3442"/>
                    </a:lnTo>
                    <a:cubicBezTo>
                      <a:pt x="12262" y="3398"/>
                      <a:pt x="11541" y="3375"/>
                      <a:pt x="10800" y="3375"/>
                    </a:cubicBezTo>
                    <a:cubicBezTo>
                      <a:pt x="10059" y="3375"/>
                      <a:pt x="9338" y="3398"/>
                      <a:pt x="8640" y="3442"/>
                    </a:cubicBezTo>
                    <a:cubicBezTo>
                      <a:pt x="8640" y="3442"/>
                      <a:pt x="8640" y="2025"/>
                      <a:pt x="8640" y="2025"/>
                    </a:cubicBezTo>
                    <a:close/>
                    <a:moveTo>
                      <a:pt x="17280" y="4064"/>
                    </a:moveTo>
                    <a:lnTo>
                      <a:pt x="17280" y="2025"/>
                    </a:lnTo>
                    <a:cubicBezTo>
                      <a:pt x="17280" y="908"/>
                      <a:pt x="14373" y="0"/>
                      <a:pt x="10800" y="0"/>
                    </a:cubicBezTo>
                    <a:cubicBezTo>
                      <a:pt x="7225" y="0"/>
                      <a:pt x="4320" y="908"/>
                      <a:pt x="4320" y="2025"/>
                    </a:cubicBezTo>
                    <a:lnTo>
                      <a:pt x="4320" y="4064"/>
                    </a:lnTo>
                    <a:cubicBezTo>
                      <a:pt x="1710" y="4681"/>
                      <a:pt x="0" y="5649"/>
                      <a:pt x="0" y="6750"/>
                    </a:cubicBezTo>
                    <a:cubicBezTo>
                      <a:pt x="0" y="7850"/>
                      <a:pt x="1710" y="8818"/>
                      <a:pt x="4320" y="9434"/>
                    </a:cubicBezTo>
                    <a:lnTo>
                      <a:pt x="4320" y="19575"/>
                    </a:lnTo>
                    <a:cubicBezTo>
                      <a:pt x="4320" y="20691"/>
                      <a:pt x="7225" y="21599"/>
                      <a:pt x="10800" y="21599"/>
                    </a:cubicBezTo>
                    <a:cubicBezTo>
                      <a:pt x="14373" y="21599"/>
                      <a:pt x="17280" y="20691"/>
                      <a:pt x="17280" y="19575"/>
                    </a:cubicBezTo>
                    <a:lnTo>
                      <a:pt x="17280" y="9434"/>
                    </a:lnTo>
                    <a:cubicBezTo>
                      <a:pt x="19889" y="8818"/>
                      <a:pt x="21600" y="7850"/>
                      <a:pt x="21600" y="6750"/>
                    </a:cubicBezTo>
                    <a:cubicBezTo>
                      <a:pt x="21600" y="5649"/>
                      <a:pt x="19889" y="4681"/>
                      <a:pt x="17280" y="406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lIns="19048" tIns="19048" rIns="19048" bIns="19048" anchor="ctr"/>
              <a:lstStyle/>
              <a:p>
                <a:pPr algn="ctr" defTabSz="228600" hangingPunct="0">
                  <a:lnSpc>
                    <a:spcPct val="120000"/>
                  </a:lnSpc>
                </a:pPr>
                <a:endParaRPr 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9" name="AutoShape 57"/>
              <p:cNvSpPr/>
              <p:nvPr/>
            </p:nvSpPr>
            <p:spPr bwMode="auto">
              <a:xfrm>
                <a:off x="7606507" y="2577307"/>
                <a:ext cx="145256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988" y="7316"/>
                    </a:moveTo>
                    <a:cubicBezTo>
                      <a:pt x="16954" y="7352"/>
                      <a:pt x="16923" y="7387"/>
                      <a:pt x="16883" y="7423"/>
                    </a:cubicBezTo>
                    <a:cubicBezTo>
                      <a:pt x="16677" y="7601"/>
                      <a:pt x="16414" y="7770"/>
                      <a:pt x="16066" y="7920"/>
                    </a:cubicBezTo>
                    <a:cubicBezTo>
                      <a:pt x="16057" y="7924"/>
                      <a:pt x="16044" y="7927"/>
                      <a:pt x="16038" y="7931"/>
                    </a:cubicBezTo>
                    <a:cubicBezTo>
                      <a:pt x="15662" y="8092"/>
                      <a:pt x="15214" y="8234"/>
                      <a:pt x="14705" y="8354"/>
                    </a:cubicBezTo>
                    <a:cubicBezTo>
                      <a:pt x="14697" y="8357"/>
                      <a:pt x="14692" y="8358"/>
                      <a:pt x="14686" y="8359"/>
                    </a:cubicBezTo>
                    <a:cubicBezTo>
                      <a:pt x="14163" y="8482"/>
                      <a:pt x="13584" y="8581"/>
                      <a:pt x="12960" y="8649"/>
                    </a:cubicBezTo>
                    <a:cubicBezTo>
                      <a:pt x="12279" y="8726"/>
                      <a:pt x="11560" y="8774"/>
                      <a:pt x="10800" y="8774"/>
                    </a:cubicBezTo>
                    <a:cubicBezTo>
                      <a:pt x="10037" y="8774"/>
                      <a:pt x="9318" y="8726"/>
                      <a:pt x="8640" y="8649"/>
                    </a:cubicBezTo>
                    <a:cubicBezTo>
                      <a:pt x="8016" y="8581"/>
                      <a:pt x="7435" y="8482"/>
                      <a:pt x="6914" y="8359"/>
                    </a:cubicBezTo>
                    <a:cubicBezTo>
                      <a:pt x="6908" y="8358"/>
                      <a:pt x="6901" y="8357"/>
                      <a:pt x="6893" y="8354"/>
                    </a:cubicBezTo>
                    <a:cubicBezTo>
                      <a:pt x="6385" y="8234"/>
                      <a:pt x="5937" y="8092"/>
                      <a:pt x="5562" y="7931"/>
                    </a:cubicBezTo>
                    <a:cubicBezTo>
                      <a:pt x="5553" y="7927"/>
                      <a:pt x="5541" y="7924"/>
                      <a:pt x="5531" y="7920"/>
                    </a:cubicBezTo>
                    <a:cubicBezTo>
                      <a:pt x="5184" y="7770"/>
                      <a:pt x="4921" y="7601"/>
                      <a:pt x="4715" y="7423"/>
                    </a:cubicBezTo>
                    <a:cubicBezTo>
                      <a:pt x="4676" y="7387"/>
                      <a:pt x="4644" y="7352"/>
                      <a:pt x="4612" y="7316"/>
                    </a:cubicBezTo>
                    <a:cubicBezTo>
                      <a:pt x="4437" y="7136"/>
                      <a:pt x="4320" y="6947"/>
                      <a:pt x="4320" y="6750"/>
                    </a:cubicBezTo>
                    <a:cubicBezTo>
                      <a:pt x="4320" y="6550"/>
                      <a:pt x="4437" y="6362"/>
                      <a:pt x="4612" y="6181"/>
                    </a:cubicBezTo>
                    <a:cubicBezTo>
                      <a:pt x="4644" y="6146"/>
                      <a:pt x="4676" y="6110"/>
                      <a:pt x="4715" y="6076"/>
                    </a:cubicBezTo>
                    <a:cubicBezTo>
                      <a:pt x="4921" y="5898"/>
                      <a:pt x="5184" y="5729"/>
                      <a:pt x="5531" y="5577"/>
                    </a:cubicBezTo>
                    <a:cubicBezTo>
                      <a:pt x="5541" y="5574"/>
                      <a:pt x="5553" y="5571"/>
                      <a:pt x="5562" y="5567"/>
                    </a:cubicBezTo>
                    <a:cubicBezTo>
                      <a:pt x="5937" y="5407"/>
                      <a:pt x="6385" y="5264"/>
                      <a:pt x="6893" y="5144"/>
                    </a:cubicBezTo>
                    <a:cubicBezTo>
                      <a:pt x="6901" y="5142"/>
                      <a:pt x="6908" y="5140"/>
                      <a:pt x="6914" y="5138"/>
                    </a:cubicBezTo>
                    <a:cubicBezTo>
                      <a:pt x="7435" y="5017"/>
                      <a:pt x="8016" y="4918"/>
                      <a:pt x="8640" y="4848"/>
                    </a:cubicBezTo>
                    <a:cubicBezTo>
                      <a:pt x="9318" y="4773"/>
                      <a:pt x="10037" y="4725"/>
                      <a:pt x="10800" y="4725"/>
                    </a:cubicBezTo>
                    <a:cubicBezTo>
                      <a:pt x="11560" y="4725"/>
                      <a:pt x="12279" y="4773"/>
                      <a:pt x="12960" y="4848"/>
                    </a:cubicBezTo>
                    <a:cubicBezTo>
                      <a:pt x="13584" y="4918"/>
                      <a:pt x="14163" y="5017"/>
                      <a:pt x="14686" y="5138"/>
                    </a:cubicBezTo>
                    <a:cubicBezTo>
                      <a:pt x="14692" y="5140"/>
                      <a:pt x="14697" y="5142"/>
                      <a:pt x="14705" y="5144"/>
                    </a:cubicBezTo>
                    <a:cubicBezTo>
                      <a:pt x="15214" y="5264"/>
                      <a:pt x="15662" y="5407"/>
                      <a:pt x="16038" y="5567"/>
                    </a:cubicBezTo>
                    <a:cubicBezTo>
                      <a:pt x="16044" y="5571"/>
                      <a:pt x="16057" y="5574"/>
                      <a:pt x="16066" y="5577"/>
                    </a:cubicBezTo>
                    <a:cubicBezTo>
                      <a:pt x="16414" y="5729"/>
                      <a:pt x="16677" y="5898"/>
                      <a:pt x="16883" y="6076"/>
                    </a:cubicBezTo>
                    <a:cubicBezTo>
                      <a:pt x="16923" y="6110"/>
                      <a:pt x="16954" y="6146"/>
                      <a:pt x="16988" y="6181"/>
                    </a:cubicBezTo>
                    <a:cubicBezTo>
                      <a:pt x="17161" y="6362"/>
                      <a:pt x="17280" y="6550"/>
                      <a:pt x="17280" y="6750"/>
                    </a:cubicBezTo>
                    <a:cubicBezTo>
                      <a:pt x="17280" y="6947"/>
                      <a:pt x="17161" y="7136"/>
                      <a:pt x="16988" y="7316"/>
                    </a:cubicBezTo>
                    <a:moveTo>
                      <a:pt x="12960" y="19575"/>
                    </a:moveTo>
                    <a:cubicBezTo>
                      <a:pt x="12960" y="19948"/>
                      <a:pt x="11992" y="20249"/>
                      <a:pt x="10800" y="20249"/>
                    </a:cubicBezTo>
                    <a:cubicBezTo>
                      <a:pt x="9606" y="20249"/>
                      <a:pt x="8640" y="19948"/>
                      <a:pt x="8640" y="19575"/>
                    </a:cubicBezTo>
                    <a:lnTo>
                      <a:pt x="8640" y="10056"/>
                    </a:lnTo>
                    <a:cubicBezTo>
                      <a:pt x="9338" y="10101"/>
                      <a:pt x="10059" y="10124"/>
                      <a:pt x="10800" y="10124"/>
                    </a:cubicBezTo>
                    <a:cubicBezTo>
                      <a:pt x="11541" y="10124"/>
                      <a:pt x="12262" y="10101"/>
                      <a:pt x="12960" y="10056"/>
                    </a:cubicBezTo>
                    <a:cubicBezTo>
                      <a:pt x="12960" y="10056"/>
                      <a:pt x="12960" y="19575"/>
                      <a:pt x="12960" y="19575"/>
                    </a:cubicBezTo>
                    <a:close/>
                    <a:moveTo>
                      <a:pt x="8640" y="2025"/>
                    </a:moveTo>
                    <a:cubicBezTo>
                      <a:pt x="8640" y="1651"/>
                      <a:pt x="9606" y="1350"/>
                      <a:pt x="10800" y="1350"/>
                    </a:cubicBezTo>
                    <a:cubicBezTo>
                      <a:pt x="11992" y="1350"/>
                      <a:pt x="12960" y="1651"/>
                      <a:pt x="12960" y="2025"/>
                    </a:cubicBezTo>
                    <a:lnTo>
                      <a:pt x="12960" y="3442"/>
                    </a:lnTo>
                    <a:cubicBezTo>
                      <a:pt x="12262" y="3398"/>
                      <a:pt x="11541" y="3375"/>
                      <a:pt x="10800" y="3375"/>
                    </a:cubicBezTo>
                    <a:cubicBezTo>
                      <a:pt x="10059" y="3375"/>
                      <a:pt x="9338" y="3398"/>
                      <a:pt x="8640" y="3442"/>
                    </a:cubicBezTo>
                    <a:cubicBezTo>
                      <a:pt x="8640" y="3442"/>
                      <a:pt x="8640" y="2025"/>
                      <a:pt x="8640" y="2025"/>
                    </a:cubicBezTo>
                    <a:close/>
                    <a:moveTo>
                      <a:pt x="17280" y="4064"/>
                    </a:moveTo>
                    <a:lnTo>
                      <a:pt x="17280" y="2025"/>
                    </a:lnTo>
                    <a:cubicBezTo>
                      <a:pt x="17280" y="908"/>
                      <a:pt x="14373" y="0"/>
                      <a:pt x="10800" y="0"/>
                    </a:cubicBezTo>
                    <a:cubicBezTo>
                      <a:pt x="7225" y="0"/>
                      <a:pt x="4320" y="908"/>
                      <a:pt x="4320" y="2025"/>
                    </a:cubicBezTo>
                    <a:lnTo>
                      <a:pt x="4320" y="4064"/>
                    </a:lnTo>
                    <a:cubicBezTo>
                      <a:pt x="1710" y="4681"/>
                      <a:pt x="0" y="5649"/>
                      <a:pt x="0" y="6750"/>
                    </a:cubicBezTo>
                    <a:cubicBezTo>
                      <a:pt x="0" y="7850"/>
                      <a:pt x="1710" y="8818"/>
                      <a:pt x="4320" y="9434"/>
                    </a:cubicBezTo>
                    <a:lnTo>
                      <a:pt x="4320" y="19575"/>
                    </a:lnTo>
                    <a:cubicBezTo>
                      <a:pt x="4320" y="20691"/>
                      <a:pt x="7225" y="21599"/>
                      <a:pt x="10800" y="21599"/>
                    </a:cubicBezTo>
                    <a:cubicBezTo>
                      <a:pt x="14373" y="21599"/>
                      <a:pt x="17280" y="20691"/>
                      <a:pt x="17280" y="19575"/>
                    </a:cubicBezTo>
                    <a:lnTo>
                      <a:pt x="17280" y="9434"/>
                    </a:lnTo>
                    <a:cubicBezTo>
                      <a:pt x="19889" y="8818"/>
                      <a:pt x="21600" y="7850"/>
                      <a:pt x="21600" y="6750"/>
                    </a:cubicBezTo>
                    <a:cubicBezTo>
                      <a:pt x="21600" y="5649"/>
                      <a:pt x="19889" y="4681"/>
                      <a:pt x="17280" y="406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lIns="19048" tIns="19048" rIns="19048" bIns="19048" anchor="ctr"/>
              <a:lstStyle/>
              <a:p>
                <a:pPr algn="ctr" defTabSz="228600" hangingPunct="0">
                  <a:lnSpc>
                    <a:spcPct val="120000"/>
                  </a:lnSpc>
                </a:pPr>
                <a:endParaRPr 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0" name="AutoShape 58"/>
              <p:cNvSpPr/>
              <p:nvPr/>
            </p:nvSpPr>
            <p:spPr bwMode="auto">
              <a:xfrm>
                <a:off x="7446963" y="2577307"/>
                <a:ext cx="145257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988" y="15416"/>
                    </a:moveTo>
                    <a:cubicBezTo>
                      <a:pt x="16954" y="15452"/>
                      <a:pt x="16923" y="15487"/>
                      <a:pt x="16883" y="15523"/>
                    </a:cubicBezTo>
                    <a:cubicBezTo>
                      <a:pt x="16677" y="15701"/>
                      <a:pt x="16414" y="15870"/>
                      <a:pt x="16066" y="16020"/>
                    </a:cubicBezTo>
                    <a:cubicBezTo>
                      <a:pt x="16057" y="16024"/>
                      <a:pt x="16044" y="16027"/>
                      <a:pt x="16038" y="16031"/>
                    </a:cubicBezTo>
                    <a:cubicBezTo>
                      <a:pt x="15662" y="16192"/>
                      <a:pt x="15214" y="16334"/>
                      <a:pt x="14705" y="16454"/>
                    </a:cubicBezTo>
                    <a:cubicBezTo>
                      <a:pt x="14697" y="16457"/>
                      <a:pt x="14692" y="16458"/>
                      <a:pt x="14686" y="16459"/>
                    </a:cubicBezTo>
                    <a:cubicBezTo>
                      <a:pt x="14163" y="16582"/>
                      <a:pt x="13584" y="16681"/>
                      <a:pt x="12960" y="16749"/>
                    </a:cubicBezTo>
                    <a:cubicBezTo>
                      <a:pt x="12279" y="16826"/>
                      <a:pt x="11560" y="16875"/>
                      <a:pt x="10800" y="16875"/>
                    </a:cubicBezTo>
                    <a:cubicBezTo>
                      <a:pt x="10037" y="16875"/>
                      <a:pt x="9318" y="16826"/>
                      <a:pt x="8640" y="16749"/>
                    </a:cubicBezTo>
                    <a:cubicBezTo>
                      <a:pt x="8016" y="16681"/>
                      <a:pt x="7435" y="16582"/>
                      <a:pt x="6914" y="16459"/>
                    </a:cubicBezTo>
                    <a:cubicBezTo>
                      <a:pt x="6908" y="16458"/>
                      <a:pt x="6901" y="16457"/>
                      <a:pt x="6893" y="16454"/>
                    </a:cubicBezTo>
                    <a:cubicBezTo>
                      <a:pt x="6385" y="16334"/>
                      <a:pt x="5937" y="16192"/>
                      <a:pt x="5562" y="16031"/>
                    </a:cubicBezTo>
                    <a:cubicBezTo>
                      <a:pt x="5553" y="16027"/>
                      <a:pt x="5541" y="16024"/>
                      <a:pt x="5531" y="16020"/>
                    </a:cubicBezTo>
                    <a:cubicBezTo>
                      <a:pt x="5184" y="15870"/>
                      <a:pt x="4921" y="15701"/>
                      <a:pt x="4715" y="15523"/>
                    </a:cubicBezTo>
                    <a:cubicBezTo>
                      <a:pt x="4676" y="15487"/>
                      <a:pt x="4644" y="15452"/>
                      <a:pt x="4612" y="15416"/>
                    </a:cubicBezTo>
                    <a:cubicBezTo>
                      <a:pt x="4437" y="15236"/>
                      <a:pt x="4320" y="15047"/>
                      <a:pt x="4320" y="14850"/>
                    </a:cubicBezTo>
                    <a:cubicBezTo>
                      <a:pt x="4320" y="14650"/>
                      <a:pt x="4437" y="14462"/>
                      <a:pt x="4612" y="14281"/>
                    </a:cubicBezTo>
                    <a:cubicBezTo>
                      <a:pt x="4644" y="14246"/>
                      <a:pt x="4676" y="14210"/>
                      <a:pt x="4715" y="14176"/>
                    </a:cubicBezTo>
                    <a:cubicBezTo>
                      <a:pt x="4921" y="13998"/>
                      <a:pt x="5184" y="13829"/>
                      <a:pt x="5531" y="13677"/>
                    </a:cubicBezTo>
                    <a:cubicBezTo>
                      <a:pt x="5541" y="13674"/>
                      <a:pt x="5553" y="13671"/>
                      <a:pt x="5562" y="13667"/>
                    </a:cubicBezTo>
                    <a:cubicBezTo>
                      <a:pt x="5937" y="13507"/>
                      <a:pt x="6385" y="13364"/>
                      <a:pt x="6893" y="13244"/>
                    </a:cubicBezTo>
                    <a:cubicBezTo>
                      <a:pt x="6901" y="13242"/>
                      <a:pt x="6908" y="13240"/>
                      <a:pt x="6914" y="13238"/>
                    </a:cubicBezTo>
                    <a:cubicBezTo>
                      <a:pt x="7435" y="13117"/>
                      <a:pt x="8016" y="13018"/>
                      <a:pt x="8640" y="12948"/>
                    </a:cubicBezTo>
                    <a:cubicBezTo>
                      <a:pt x="9318" y="12873"/>
                      <a:pt x="10037" y="12825"/>
                      <a:pt x="10800" y="12825"/>
                    </a:cubicBezTo>
                    <a:cubicBezTo>
                      <a:pt x="11560" y="12825"/>
                      <a:pt x="12279" y="12873"/>
                      <a:pt x="12960" y="12948"/>
                    </a:cubicBezTo>
                    <a:cubicBezTo>
                      <a:pt x="13584" y="13018"/>
                      <a:pt x="14163" y="13117"/>
                      <a:pt x="14686" y="13238"/>
                    </a:cubicBezTo>
                    <a:cubicBezTo>
                      <a:pt x="14692" y="13240"/>
                      <a:pt x="14697" y="13242"/>
                      <a:pt x="14705" y="13244"/>
                    </a:cubicBezTo>
                    <a:cubicBezTo>
                      <a:pt x="15214" y="13364"/>
                      <a:pt x="15662" y="13507"/>
                      <a:pt x="16038" y="13667"/>
                    </a:cubicBezTo>
                    <a:cubicBezTo>
                      <a:pt x="16044" y="13671"/>
                      <a:pt x="16057" y="13674"/>
                      <a:pt x="16066" y="13677"/>
                    </a:cubicBezTo>
                    <a:cubicBezTo>
                      <a:pt x="16414" y="13829"/>
                      <a:pt x="16677" y="13998"/>
                      <a:pt x="16883" y="14176"/>
                    </a:cubicBezTo>
                    <a:cubicBezTo>
                      <a:pt x="16923" y="14210"/>
                      <a:pt x="16954" y="14246"/>
                      <a:pt x="16988" y="14281"/>
                    </a:cubicBezTo>
                    <a:cubicBezTo>
                      <a:pt x="17161" y="14462"/>
                      <a:pt x="17280" y="14650"/>
                      <a:pt x="17280" y="14850"/>
                    </a:cubicBezTo>
                    <a:cubicBezTo>
                      <a:pt x="17280" y="15047"/>
                      <a:pt x="17161" y="15236"/>
                      <a:pt x="16988" y="15416"/>
                    </a:cubicBezTo>
                    <a:moveTo>
                      <a:pt x="12960" y="19575"/>
                    </a:moveTo>
                    <a:cubicBezTo>
                      <a:pt x="12960" y="19948"/>
                      <a:pt x="11992" y="20249"/>
                      <a:pt x="10800" y="20249"/>
                    </a:cubicBezTo>
                    <a:cubicBezTo>
                      <a:pt x="9606" y="20249"/>
                      <a:pt x="8640" y="19948"/>
                      <a:pt x="8640" y="19575"/>
                    </a:cubicBezTo>
                    <a:lnTo>
                      <a:pt x="8640" y="18156"/>
                    </a:lnTo>
                    <a:cubicBezTo>
                      <a:pt x="9338" y="18201"/>
                      <a:pt x="10059" y="18225"/>
                      <a:pt x="10800" y="18225"/>
                    </a:cubicBezTo>
                    <a:cubicBezTo>
                      <a:pt x="11541" y="18225"/>
                      <a:pt x="12262" y="18201"/>
                      <a:pt x="12960" y="18156"/>
                    </a:cubicBezTo>
                    <a:cubicBezTo>
                      <a:pt x="12960" y="18156"/>
                      <a:pt x="12960" y="19575"/>
                      <a:pt x="12960" y="19575"/>
                    </a:cubicBezTo>
                    <a:close/>
                    <a:moveTo>
                      <a:pt x="8640" y="2025"/>
                    </a:moveTo>
                    <a:cubicBezTo>
                      <a:pt x="8640" y="1651"/>
                      <a:pt x="9606" y="1350"/>
                      <a:pt x="10800" y="1350"/>
                    </a:cubicBezTo>
                    <a:cubicBezTo>
                      <a:pt x="11992" y="1350"/>
                      <a:pt x="12960" y="1651"/>
                      <a:pt x="12960" y="2025"/>
                    </a:cubicBezTo>
                    <a:lnTo>
                      <a:pt x="12960" y="11542"/>
                    </a:lnTo>
                    <a:cubicBezTo>
                      <a:pt x="12262" y="11498"/>
                      <a:pt x="11541" y="11475"/>
                      <a:pt x="10800" y="11475"/>
                    </a:cubicBezTo>
                    <a:cubicBezTo>
                      <a:pt x="10059" y="11475"/>
                      <a:pt x="9338" y="11498"/>
                      <a:pt x="8640" y="11542"/>
                    </a:cubicBezTo>
                    <a:cubicBezTo>
                      <a:pt x="8640" y="11542"/>
                      <a:pt x="8640" y="2025"/>
                      <a:pt x="8640" y="2025"/>
                    </a:cubicBezTo>
                    <a:close/>
                    <a:moveTo>
                      <a:pt x="17280" y="12164"/>
                    </a:moveTo>
                    <a:lnTo>
                      <a:pt x="17280" y="2025"/>
                    </a:lnTo>
                    <a:cubicBezTo>
                      <a:pt x="17280" y="908"/>
                      <a:pt x="14373" y="0"/>
                      <a:pt x="10800" y="0"/>
                    </a:cubicBezTo>
                    <a:cubicBezTo>
                      <a:pt x="7225" y="0"/>
                      <a:pt x="4320" y="908"/>
                      <a:pt x="4320" y="2025"/>
                    </a:cubicBezTo>
                    <a:lnTo>
                      <a:pt x="4320" y="12164"/>
                    </a:lnTo>
                    <a:cubicBezTo>
                      <a:pt x="1710" y="12781"/>
                      <a:pt x="0" y="13749"/>
                      <a:pt x="0" y="14850"/>
                    </a:cubicBezTo>
                    <a:cubicBezTo>
                      <a:pt x="0" y="15950"/>
                      <a:pt x="1710" y="16918"/>
                      <a:pt x="4320" y="17534"/>
                    </a:cubicBezTo>
                    <a:lnTo>
                      <a:pt x="4320" y="19575"/>
                    </a:lnTo>
                    <a:cubicBezTo>
                      <a:pt x="4320" y="20691"/>
                      <a:pt x="7225" y="21599"/>
                      <a:pt x="10800" y="21599"/>
                    </a:cubicBezTo>
                    <a:cubicBezTo>
                      <a:pt x="14373" y="21599"/>
                      <a:pt x="17280" y="20691"/>
                      <a:pt x="17280" y="19575"/>
                    </a:cubicBezTo>
                    <a:lnTo>
                      <a:pt x="17280" y="17534"/>
                    </a:lnTo>
                    <a:cubicBezTo>
                      <a:pt x="19889" y="16918"/>
                      <a:pt x="21600" y="15950"/>
                      <a:pt x="21600" y="14850"/>
                    </a:cubicBezTo>
                    <a:cubicBezTo>
                      <a:pt x="21600" y="13749"/>
                      <a:pt x="19889" y="12781"/>
                      <a:pt x="17280" y="1216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lIns="19048" tIns="19048" rIns="19048" bIns="19048" anchor="ctr"/>
              <a:lstStyle/>
              <a:p>
                <a:pPr algn="ctr" defTabSz="228600" hangingPunct="0">
                  <a:lnSpc>
                    <a:spcPct val="120000"/>
                  </a:lnSpc>
                </a:pPr>
                <a:endParaRPr 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2" name="Group 38"/>
            <p:cNvGrpSpPr/>
            <p:nvPr/>
          </p:nvGrpSpPr>
          <p:grpSpPr>
            <a:xfrm>
              <a:off x="5005703" y="2028681"/>
              <a:ext cx="465087" cy="391276"/>
              <a:chOff x="5368132" y="2625725"/>
              <a:chExt cx="465138" cy="391319"/>
            </a:xfrm>
            <a:solidFill>
              <a:srgbClr val="0070C0"/>
            </a:solidFill>
          </p:grpSpPr>
          <p:sp>
            <p:nvSpPr>
              <p:cNvPr id="25" name="AutoShape 120"/>
              <p:cNvSpPr/>
              <p:nvPr/>
            </p:nvSpPr>
            <p:spPr bwMode="auto">
              <a:xfrm>
                <a:off x="5484813" y="2727325"/>
                <a:ext cx="231775" cy="23177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948" y="16070"/>
                    </a:moveTo>
                    <a:cubicBezTo>
                      <a:pt x="14037" y="19468"/>
                      <a:pt x="8925" y="19859"/>
                      <a:pt x="5529" y="16948"/>
                    </a:cubicBezTo>
                    <a:cubicBezTo>
                      <a:pt x="2130" y="14038"/>
                      <a:pt x="1740" y="8924"/>
                      <a:pt x="4651" y="5527"/>
                    </a:cubicBezTo>
                    <a:cubicBezTo>
                      <a:pt x="7559" y="2131"/>
                      <a:pt x="12674" y="1740"/>
                      <a:pt x="16070" y="4650"/>
                    </a:cubicBezTo>
                    <a:cubicBezTo>
                      <a:pt x="19466" y="7560"/>
                      <a:pt x="19859" y="12673"/>
                      <a:pt x="16948" y="16070"/>
                    </a:cubicBezTo>
                    <a:moveTo>
                      <a:pt x="10800" y="0"/>
                    </a:moveTo>
                    <a:cubicBezTo>
                      <a:pt x="4833" y="0"/>
                      <a:pt x="0" y="4834"/>
                      <a:pt x="0" y="10800"/>
                    </a:cubicBezTo>
                    <a:cubicBezTo>
                      <a:pt x="0" y="16765"/>
                      <a:pt x="4833" y="21599"/>
                      <a:pt x="10800" y="21599"/>
                    </a:cubicBezTo>
                    <a:cubicBezTo>
                      <a:pt x="16764" y="21599"/>
                      <a:pt x="21600" y="16765"/>
                      <a:pt x="21600" y="10800"/>
                    </a:cubicBezTo>
                    <a:cubicBezTo>
                      <a:pt x="21600" y="4834"/>
                      <a:pt x="16764" y="0"/>
                      <a:pt x="1080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lIns="19048" tIns="19048" rIns="19048" bIns="19048" anchor="ctr"/>
              <a:lstStyle/>
              <a:p>
                <a:pPr algn="ctr" defTabSz="228600" hangingPunct="0">
                  <a:lnSpc>
                    <a:spcPct val="120000"/>
                  </a:lnSpc>
                </a:pPr>
                <a:endParaRPr 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6" name="AutoShape 121"/>
              <p:cNvSpPr/>
              <p:nvPr/>
            </p:nvSpPr>
            <p:spPr bwMode="auto">
              <a:xfrm>
                <a:off x="5542757" y="2785269"/>
                <a:ext cx="65088" cy="6508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200" y="0"/>
                    </a:moveTo>
                    <a:cubicBezTo>
                      <a:pt x="8596" y="0"/>
                      <a:pt x="0" y="8596"/>
                      <a:pt x="0" y="19195"/>
                    </a:cubicBezTo>
                    <a:lnTo>
                      <a:pt x="0" y="19199"/>
                    </a:lnTo>
                    <a:cubicBezTo>
                      <a:pt x="0" y="20524"/>
                      <a:pt x="1068" y="21599"/>
                      <a:pt x="2400" y="21599"/>
                    </a:cubicBezTo>
                    <a:cubicBezTo>
                      <a:pt x="3721" y="21599"/>
                      <a:pt x="4800" y="20524"/>
                      <a:pt x="4800" y="19199"/>
                    </a:cubicBezTo>
                    <a:lnTo>
                      <a:pt x="4800" y="19195"/>
                    </a:lnTo>
                    <a:cubicBezTo>
                      <a:pt x="4800" y="11247"/>
                      <a:pt x="11240" y="4799"/>
                      <a:pt x="19200" y="4799"/>
                    </a:cubicBezTo>
                    <a:cubicBezTo>
                      <a:pt x="20521" y="4799"/>
                      <a:pt x="21600" y="3724"/>
                      <a:pt x="21600" y="2399"/>
                    </a:cubicBezTo>
                    <a:cubicBezTo>
                      <a:pt x="21600" y="1075"/>
                      <a:pt x="20521" y="0"/>
                      <a:pt x="1920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lIns="19048" tIns="19048" rIns="19048" bIns="19048" anchor="ctr"/>
              <a:lstStyle/>
              <a:p>
                <a:pPr algn="ctr" defTabSz="228600" hangingPunct="0">
                  <a:lnSpc>
                    <a:spcPct val="120000"/>
                  </a:lnSpc>
                </a:pPr>
                <a:endParaRPr 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7" name="AutoShape 122"/>
              <p:cNvSpPr/>
              <p:nvPr/>
            </p:nvSpPr>
            <p:spPr bwMode="auto">
              <a:xfrm>
                <a:off x="5368132" y="2625725"/>
                <a:ext cx="465138" cy="391319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0249" y="19199"/>
                    </a:moveTo>
                    <a:cubicBezTo>
                      <a:pt x="20249" y="19642"/>
                      <a:pt x="19948" y="19999"/>
                      <a:pt x="19575" y="19999"/>
                    </a:cubicBezTo>
                    <a:lnTo>
                      <a:pt x="2024" y="19999"/>
                    </a:lnTo>
                    <a:cubicBezTo>
                      <a:pt x="1651" y="19999"/>
                      <a:pt x="1349" y="19642"/>
                      <a:pt x="1349" y="19199"/>
                    </a:cubicBezTo>
                    <a:lnTo>
                      <a:pt x="1349" y="7200"/>
                    </a:lnTo>
                    <a:cubicBezTo>
                      <a:pt x="1349" y="6809"/>
                      <a:pt x="1588" y="6475"/>
                      <a:pt x="1914" y="6411"/>
                    </a:cubicBezTo>
                    <a:lnTo>
                      <a:pt x="5588" y="5684"/>
                    </a:lnTo>
                    <a:lnTo>
                      <a:pt x="6797" y="2103"/>
                    </a:lnTo>
                    <a:cubicBezTo>
                      <a:pt x="6900" y="1799"/>
                      <a:pt x="7148" y="1600"/>
                      <a:pt x="7424" y="1600"/>
                    </a:cubicBezTo>
                    <a:lnTo>
                      <a:pt x="14174" y="1600"/>
                    </a:lnTo>
                    <a:cubicBezTo>
                      <a:pt x="14450" y="1600"/>
                      <a:pt x="14698" y="1799"/>
                      <a:pt x="14801" y="2103"/>
                    </a:cubicBezTo>
                    <a:lnTo>
                      <a:pt x="16010" y="5684"/>
                    </a:lnTo>
                    <a:lnTo>
                      <a:pt x="19685" y="6411"/>
                    </a:lnTo>
                    <a:cubicBezTo>
                      <a:pt x="20011" y="6475"/>
                      <a:pt x="20249" y="6809"/>
                      <a:pt x="20249" y="7200"/>
                    </a:cubicBezTo>
                    <a:cubicBezTo>
                      <a:pt x="20249" y="7200"/>
                      <a:pt x="20249" y="19199"/>
                      <a:pt x="20249" y="19199"/>
                    </a:cubicBezTo>
                    <a:close/>
                    <a:moveTo>
                      <a:pt x="19907" y="4832"/>
                    </a:moveTo>
                    <a:lnTo>
                      <a:pt x="16981" y="4254"/>
                    </a:lnTo>
                    <a:lnTo>
                      <a:pt x="16054" y="1507"/>
                    </a:lnTo>
                    <a:cubicBezTo>
                      <a:pt x="15745" y="591"/>
                      <a:pt x="15006" y="0"/>
                      <a:pt x="14174" y="0"/>
                    </a:cubicBezTo>
                    <a:lnTo>
                      <a:pt x="7424" y="0"/>
                    </a:lnTo>
                    <a:cubicBezTo>
                      <a:pt x="6593" y="0"/>
                      <a:pt x="5854" y="591"/>
                      <a:pt x="5543" y="1509"/>
                    </a:cubicBezTo>
                    <a:lnTo>
                      <a:pt x="4618" y="4254"/>
                    </a:lnTo>
                    <a:lnTo>
                      <a:pt x="1692" y="4832"/>
                    </a:lnTo>
                    <a:cubicBezTo>
                      <a:pt x="711" y="5025"/>
                      <a:pt x="0" y="6020"/>
                      <a:pt x="0" y="7200"/>
                    </a:cubicBezTo>
                    <a:lnTo>
                      <a:pt x="0" y="19199"/>
                    </a:lnTo>
                    <a:cubicBezTo>
                      <a:pt x="0" y="20523"/>
                      <a:pt x="908" y="21600"/>
                      <a:pt x="2024" y="21600"/>
                    </a:cubicBezTo>
                    <a:lnTo>
                      <a:pt x="19575" y="21600"/>
                    </a:lnTo>
                    <a:cubicBezTo>
                      <a:pt x="20691" y="21600"/>
                      <a:pt x="21600" y="20523"/>
                      <a:pt x="21600" y="19199"/>
                    </a:cubicBezTo>
                    <a:lnTo>
                      <a:pt x="21600" y="7200"/>
                    </a:lnTo>
                    <a:cubicBezTo>
                      <a:pt x="21600" y="6020"/>
                      <a:pt x="20888" y="5025"/>
                      <a:pt x="19907" y="483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lIns="19048" tIns="19048" rIns="19048" bIns="19048" anchor="ctr"/>
              <a:lstStyle/>
              <a:p>
                <a:pPr algn="ctr" defTabSz="228600" hangingPunct="0">
                  <a:lnSpc>
                    <a:spcPct val="120000"/>
                  </a:lnSpc>
                </a:pPr>
                <a:endParaRPr 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3" name="Group 42"/>
            <p:cNvGrpSpPr/>
            <p:nvPr/>
          </p:nvGrpSpPr>
          <p:grpSpPr>
            <a:xfrm>
              <a:off x="1800534" y="2034715"/>
              <a:ext cx="464293" cy="362705"/>
              <a:chOff x="2581275" y="1710532"/>
              <a:chExt cx="464344" cy="362744"/>
            </a:xfrm>
            <a:solidFill>
              <a:srgbClr val="0070C0"/>
            </a:solidFill>
          </p:grpSpPr>
          <p:sp>
            <p:nvSpPr>
              <p:cNvPr id="18" name="AutoShape 140"/>
              <p:cNvSpPr/>
              <p:nvPr/>
            </p:nvSpPr>
            <p:spPr bwMode="auto">
              <a:xfrm>
                <a:off x="2639219" y="1768475"/>
                <a:ext cx="290513" cy="235744"/>
              </a:xfrm>
              <a:custGeom>
                <a:avLst/>
                <a:gdLst>
                  <a:gd name="T0" fmla="+- 0 10800 376"/>
                  <a:gd name="T1" fmla="*/ T0 w 20848"/>
                  <a:gd name="T2" fmla="*/ 10800 h 21600"/>
                  <a:gd name="T3" fmla="+- 0 10800 376"/>
                  <a:gd name="T4" fmla="*/ T3 w 20848"/>
                  <a:gd name="T5" fmla="*/ 10800 h 21600"/>
                  <a:gd name="T6" fmla="+- 0 10800 376"/>
                  <a:gd name="T7" fmla="*/ T6 w 20848"/>
                  <a:gd name="T8" fmla="*/ 10800 h 21600"/>
                  <a:gd name="T9" fmla="+- 0 10800 376"/>
                  <a:gd name="T10" fmla="*/ T9 w 20848"/>
                  <a:gd name="T11" fmla="*/ 10800 h 21600"/>
                </a:gdLst>
                <a:ahLst/>
                <a:cxnLst>
                  <a:cxn ang="0">
                    <a:pos x="T1" y="T2"/>
                  </a:cxn>
                  <a:cxn ang="0">
                    <a:pos x="T4" y="T5"/>
                  </a:cxn>
                  <a:cxn ang="0">
                    <a:pos x="T7" y="T8"/>
                  </a:cxn>
                  <a:cxn ang="0">
                    <a:pos x="T10" y="T11"/>
                  </a:cxn>
                </a:cxnLst>
                <a:rect l="0" t="0" r="r" b="b"/>
                <a:pathLst>
                  <a:path w="20848" h="21600">
                    <a:moveTo>
                      <a:pt x="18728" y="19178"/>
                    </a:moveTo>
                    <a:cubicBezTo>
                      <a:pt x="13191" y="20631"/>
                      <a:pt x="7654" y="20631"/>
                      <a:pt x="2118" y="19178"/>
                    </a:cubicBezTo>
                    <a:cubicBezTo>
                      <a:pt x="678" y="13592"/>
                      <a:pt x="678" y="8008"/>
                      <a:pt x="2118" y="2421"/>
                    </a:cubicBezTo>
                    <a:cubicBezTo>
                      <a:pt x="7654" y="968"/>
                      <a:pt x="13191" y="968"/>
                      <a:pt x="18728" y="2421"/>
                    </a:cubicBezTo>
                    <a:cubicBezTo>
                      <a:pt x="20168" y="8008"/>
                      <a:pt x="20168" y="13592"/>
                      <a:pt x="18728" y="19178"/>
                    </a:cubicBezTo>
                    <a:moveTo>
                      <a:pt x="18938" y="1116"/>
                    </a:moveTo>
                    <a:cubicBezTo>
                      <a:pt x="16114" y="375"/>
                      <a:pt x="13249" y="0"/>
                      <a:pt x="10423" y="0"/>
                    </a:cubicBezTo>
                    <a:cubicBezTo>
                      <a:pt x="7597" y="0"/>
                      <a:pt x="4732" y="375"/>
                      <a:pt x="1908" y="1116"/>
                    </a:cubicBezTo>
                    <a:cubicBezTo>
                      <a:pt x="1543" y="1213"/>
                      <a:pt x="1244" y="1552"/>
                      <a:pt x="1127" y="2004"/>
                    </a:cubicBezTo>
                    <a:cubicBezTo>
                      <a:pt x="-376" y="7841"/>
                      <a:pt x="-376" y="13759"/>
                      <a:pt x="1127" y="19593"/>
                    </a:cubicBezTo>
                    <a:cubicBezTo>
                      <a:pt x="1244" y="20047"/>
                      <a:pt x="1543" y="20386"/>
                      <a:pt x="1908" y="20482"/>
                    </a:cubicBezTo>
                    <a:cubicBezTo>
                      <a:pt x="4732" y="21224"/>
                      <a:pt x="7597" y="21600"/>
                      <a:pt x="10423" y="21600"/>
                    </a:cubicBezTo>
                    <a:cubicBezTo>
                      <a:pt x="13249" y="21600"/>
                      <a:pt x="16114" y="21224"/>
                      <a:pt x="18938" y="20482"/>
                    </a:cubicBezTo>
                    <a:cubicBezTo>
                      <a:pt x="19303" y="20386"/>
                      <a:pt x="19602" y="20047"/>
                      <a:pt x="19719" y="19593"/>
                    </a:cubicBezTo>
                    <a:cubicBezTo>
                      <a:pt x="21223" y="13759"/>
                      <a:pt x="21223" y="7841"/>
                      <a:pt x="19719" y="2004"/>
                    </a:cubicBezTo>
                    <a:cubicBezTo>
                      <a:pt x="19602" y="1552"/>
                      <a:pt x="19303" y="1213"/>
                      <a:pt x="18938" y="1116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lIns="19048" tIns="19048" rIns="19048" bIns="19048" anchor="ctr"/>
              <a:lstStyle/>
              <a:p>
                <a:pPr algn="ctr" defTabSz="228600" hangingPunct="0">
                  <a:lnSpc>
                    <a:spcPct val="120000"/>
                  </a:lnSpc>
                </a:pPr>
                <a:endParaRPr 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9" name="AutoShape 141"/>
              <p:cNvSpPr/>
              <p:nvPr/>
            </p:nvSpPr>
            <p:spPr bwMode="auto">
              <a:xfrm>
                <a:off x="2581275" y="1710532"/>
                <a:ext cx="464344" cy="362744"/>
              </a:xfrm>
              <a:custGeom>
                <a:avLst/>
                <a:gdLst>
                  <a:gd name="T0" fmla="+- 0 10800 252"/>
                  <a:gd name="T1" fmla="*/ T0 w 21096"/>
                  <a:gd name="T2" fmla="*/ 10800 h 21600"/>
                  <a:gd name="T3" fmla="+- 0 10800 252"/>
                  <a:gd name="T4" fmla="*/ T3 w 21096"/>
                  <a:gd name="T5" fmla="*/ 10800 h 21600"/>
                  <a:gd name="T6" fmla="+- 0 10800 252"/>
                  <a:gd name="T7" fmla="*/ T6 w 21096"/>
                  <a:gd name="T8" fmla="*/ 10800 h 21600"/>
                  <a:gd name="T9" fmla="+- 0 10800 252"/>
                  <a:gd name="T10" fmla="*/ T9 w 21096"/>
                  <a:gd name="T11" fmla="*/ 10800 h 21600"/>
                </a:gdLst>
                <a:ahLst/>
                <a:cxnLst>
                  <a:cxn ang="0">
                    <a:pos x="T1" y="T2"/>
                  </a:cxn>
                  <a:cxn ang="0">
                    <a:pos x="T4" y="T5"/>
                  </a:cxn>
                  <a:cxn ang="0">
                    <a:pos x="T7" y="T8"/>
                  </a:cxn>
                  <a:cxn ang="0">
                    <a:pos x="T10" y="T11"/>
                  </a:cxn>
                </a:cxnLst>
                <a:rect l="0" t="0" r="r" b="b"/>
                <a:pathLst>
                  <a:path w="21096" h="21600">
                    <a:moveTo>
                      <a:pt x="19056" y="18331"/>
                    </a:moveTo>
                    <a:cubicBezTo>
                      <a:pt x="13383" y="19233"/>
                      <a:pt x="7711" y="19233"/>
                      <a:pt x="2038" y="18331"/>
                    </a:cubicBezTo>
                    <a:cubicBezTo>
                      <a:pt x="1074" y="13022"/>
                      <a:pt x="1074" y="7713"/>
                      <a:pt x="2038" y="2404"/>
                    </a:cubicBezTo>
                    <a:cubicBezTo>
                      <a:pt x="7711" y="1502"/>
                      <a:pt x="13383" y="1502"/>
                      <a:pt x="19056" y="2404"/>
                    </a:cubicBezTo>
                    <a:cubicBezTo>
                      <a:pt x="20021" y="7713"/>
                      <a:pt x="20021" y="13022"/>
                      <a:pt x="19056" y="18331"/>
                    </a:cubicBezTo>
                    <a:moveTo>
                      <a:pt x="20338" y="2005"/>
                    </a:moveTo>
                    <a:cubicBezTo>
                      <a:pt x="20211" y="1301"/>
                      <a:pt x="19762" y="776"/>
                      <a:pt x="19215" y="689"/>
                    </a:cubicBezTo>
                    <a:cubicBezTo>
                      <a:pt x="16339" y="232"/>
                      <a:pt x="13423" y="0"/>
                      <a:pt x="10547" y="0"/>
                    </a:cubicBezTo>
                    <a:cubicBezTo>
                      <a:pt x="7671" y="0"/>
                      <a:pt x="4755" y="232"/>
                      <a:pt x="1879" y="689"/>
                    </a:cubicBezTo>
                    <a:cubicBezTo>
                      <a:pt x="1332" y="776"/>
                      <a:pt x="883" y="1301"/>
                      <a:pt x="756" y="2005"/>
                    </a:cubicBezTo>
                    <a:cubicBezTo>
                      <a:pt x="-252" y="7553"/>
                      <a:pt x="-252" y="13181"/>
                      <a:pt x="756" y="18731"/>
                    </a:cubicBezTo>
                    <a:cubicBezTo>
                      <a:pt x="883" y="19434"/>
                      <a:pt x="1332" y="19959"/>
                      <a:pt x="1879" y="20046"/>
                    </a:cubicBezTo>
                    <a:cubicBezTo>
                      <a:pt x="3265" y="20266"/>
                      <a:pt x="4660" y="20429"/>
                      <a:pt x="6055" y="20544"/>
                    </a:cubicBezTo>
                    <a:cubicBezTo>
                      <a:pt x="5979" y="20606"/>
                      <a:pt x="5931" y="20670"/>
                      <a:pt x="5931" y="20735"/>
                    </a:cubicBezTo>
                    <a:cubicBezTo>
                      <a:pt x="5931" y="21213"/>
                      <a:pt x="7997" y="21599"/>
                      <a:pt x="10547" y="21599"/>
                    </a:cubicBezTo>
                    <a:cubicBezTo>
                      <a:pt x="13097" y="21599"/>
                      <a:pt x="15164" y="21213"/>
                      <a:pt x="15164" y="20735"/>
                    </a:cubicBezTo>
                    <a:cubicBezTo>
                      <a:pt x="15164" y="20670"/>
                      <a:pt x="15115" y="20606"/>
                      <a:pt x="15040" y="20544"/>
                    </a:cubicBezTo>
                    <a:cubicBezTo>
                      <a:pt x="16434" y="20429"/>
                      <a:pt x="17830" y="20266"/>
                      <a:pt x="19215" y="20046"/>
                    </a:cubicBezTo>
                    <a:cubicBezTo>
                      <a:pt x="19762" y="19959"/>
                      <a:pt x="20211" y="19434"/>
                      <a:pt x="20338" y="18731"/>
                    </a:cubicBezTo>
                    <a:cubicBezTo>
                      <a:pt x="21347" y="13181"/>
                      <a:pt x="21347" y="7553"/>
                      <a:pt x="20338" y="200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lIns="19048" tIns="19048" rIns="19048" bIns="19048" anchor="ctr"/>
              <a:lstStyle/>
              <a:p>
                <a:pPr algn="ctr" defTabSz="228600" hangingPunct="0">
                  <a:lnSpc>
                    <a:spcPct val="120000"/>
                  </a:lnSpc>
                </a:pPr>
                <a:endParaRPr 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0" name="AutoShape 142"/>
              <p:cNvSpPr/>
              <p:nvPr/>
            </p:nvSpPr>
            <p:spPr bwMode="auto">
              <a:xfrm>
                <a:off x="2944019" y="1783557"/>
                <a:ext cx="43656" cy="42863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7200"/>
                    </a:moveTo>
                    <a:cubicBezTo>
                      <a:pt x="12779" y="7200"/>
                      <a:pt x="14399" y="8820"/>
                      <a:pt x="14399" y="10800"/>
                    </a:cubicBezTo>
                    <a:cubicBezTo>
                      <a:pt x="14399" y="12779"/>
                      <a:pt x="12779" y="14400"/>
                      <a:pt x="10800" y="14400"/>
                    </a:cubicBezTo>
                    <a:cubicBezTo>
                      <a:pt x="8820" y="14400"/>
                      <a:pt x="7199" y="12779"/>
                      <a:pt x="7199" y="10800"/>
                    </a:cubicBezTo>
                    <a:cubicBezTo>
                      <a:pt x="7199" y="8820"/>
                      <a:pt x="8820" y="7200"/>
                      <a:pt x="10800" y="7200"/>
                    </a:cubicBezTo>
                    <a:moveTo>
                      <a:pt x="10800" y="21599"/>
                    </a:moveTo>
                    <a:cubicBezTo>
                      <a:pt x="16762" y="21599"/>
                      <a:pt x="21600" y="16762"/>
                      <a:pt x="21600" y="10800"/>
                    </a:cubicBezTo>
                    <a:cubicBezTo>
                      <a:pt x="21600" y="4837"/>
                      <a:pt x="16762" y="0"/>
                      <a:pt x="10800" y="0"/>
                    </a:cubicBezTo>
                    <a:cubicBezTo>
                      <a:pt x="4837" y="0"/>
                      <a:pt x="0" y="4837"/>
                      <a:pt x="0" y="10800"/>
                    </a:cubicBezTo>
                    <a:cubicBezTo>
                      <a:pt x="0" y="16762"/>
                      <a:pt x="4837" y="21599"/>
                      <a:pt x="10800" y="21599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lIns="19048" tIns="19048" rIns="19048" bIns="19048" anchor="ctr"/>
              <a:lstStyle/>
              <a:p>
                <a:pPr algn="ctr" defTabSz="228600" hangingPunct="0">
                  <a:lnSpc>
                    <a:spcPct val="120000"/>
                  </a:lnSpc>
                </a:pPr>
                <a:endParaRPr 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1" name="AutoShape 143"/>
              <p:cNvSpPr/>
              <p:nvPr/>
            </p:nvSpPr>
            <p:spPr bwMode="auto">
              <a:xfrm>
                <a:off x="2929732" y="1971675"/>
                <a:ext cx="57944" cy="15082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8899" y="0"/>
                    </a:moveTo>
                    <a:lnTo>
                      <a:pt x="2699" y="0"/>
                    </a:lnTo>
                    <a:cubicBezTo>
                      <a:pt x="1210" y="0"/>
                      <a:pt x="0" y="4841"/>
                      <a:pt x="0" y="10800"/>
                    </a:cubicBezTo>
                    <a:cubicBezTo>
                      <a:pt x="0" y="16758"/>
                      <a:pt x="1210" y="21599"/>
                      <a:pt x="2699" y="21599"/>
                    </a:cubicBezTo>
                    <a:lnTo>
                      <a:pt x="18899" y="21599"/>
                    </a:lnTo>
                    <a:cubicBezTo>
                      <a:pt x="20389" y="21599"/>
                      <a:pt x="21600" y="16758"/>
                      <a:pt x="21600" y="10800"/>
                    </a:cubicBezTo>
                    <a:cubicBezTo>
                      <a:pt x="21600" y="4841"/>
                      <a:pt x="20389" y="0"/>
                      <a:pt x="18899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lIns="19048" tIns="19048" rIns="19048" bIns="19048" anchor="ctr"/>
              <a:lstStyle/>
              <a:p>
                <a:pPr algn="ctr" defTabSz="228600" hangingPunct="0">
                  <a:lnSpc>
                    <a:spcPct val="120000"/>
                  </a:lnSpc>
                </a:pPr>
                <a:endParaRPr 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2" name="AutoShape 144"/>
              <p:cNvSpPr/>
              <p:nvPr/>
            </p:nvSpPr>
            <p:spPr bwMode="auto">
              <a:xfrm>
                <a:off x="2944019" y="1928019"/>
                <a:ext cx="58738" cy="150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8899" y="0"/>
                    </a:moveTo>
                    <a:lnTo>
                      <a:pt x="2699" y="0"/>
                    </a:lnTo>
                    <a:cubicBezTo>
                      <a:pt x="1210" y="0"/>
                      <a:pt x="0" y="4841"/>
                      <a:pt x="0" y="10800"/>
                    </a:cubicBezTo>
                    <a:cubicBezTo>
                      <a:pt x="0" y="16758"/>
                      <a:pt x="1210" y="21599"/>
                      <a:pt x="2699" y="21599"/>
                    </a:cubicBezTo>
                    <a:lnTo>
                      <a:pt x="18899" y="21599"/>
                    </a:lnTo>
                    <a:cubicBezTo>
                      <a:pt x="20389" y="21599"/>
                      <a:pt x="21600" y="16758"/>
                      <a:pt x="21600" y="10800"/>
                    </a:cubicBezTo>
                    <a:cubicBezTo>
                      <a:pt x="21600" y="4841"/>
                      <a:pt x="20389" y="0"/>
                      <a:pt x="18899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lIns="19048" tIns="19048" rIns="19048" bIns="19048" anchor="ctr"/>
              <a:lstStyle/>
              <a:p>
                <a:pPr algn="ctr" defTabSz="228600" hangingPunct="0">
                  <a:lnSpc>
                    <a:spcPct val="120000"/>
                  </a:lnSpc>
                </a:pPr>
                <a:endParaRPr 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3" name="AutoShape 145"/>
              <p:cNvSpPr/>
              <p:nvPr/>
            </p:nvSpPr>
            <p:spPr bwMode="auto">
              <a:xfrm>
                <a:off x="2944019" y="1885157"/>
                <a:ext cx="58738" cy="1428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8899" y="0"/>
                    </a:moveTo>
                    <a:lnTo>
                      <a:pt x="2699" y="0"/>
                    </a:lnTo>
                    <a:cubicBezTo>
                      <a:pt x="1210" y="0"/>
                      <a:pt x="0" y="4841"/>
                      <a:pt x="0" y="10800"/>
                    </a:cubicBezTo>
                    <a:cubicBezTo>
                      <a:pt x="0" y="16758"/>
                      <a:pt x="1210" y="21599"/>
                      <a:pt x="2699" y="21599"/>
                    </a:cubicBezTo>
                    <a:lnTo>
                      <a:pt x="18899" y="21599"/>
                    </a:lnTo>
                    <a:cubicBezTo>
                      <a:pt x="20389" y="21599"/>
                      <a:pt x="21600" y="16758"/>
                      <a:pt x="21600" y="10800"/>
                    </a:cubicBezTo>
                    <a:cubicBezTo>
                      <a:pt x="21600" y="4841"/>
                      <a:pt x="20389" y="0"/>
                      <a:pt x="18899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lIns="19048" tIns="19048" rIns="19048" bIns="19048" anchor="ctr"/>
              <a:lstStyle/>
              <a:p>
                <a:pPr algn="ctr" defTabSz="228600" hangingPunct="0">
                  <a:lnSpc>
                    <a:spcPct val="120000"/>
                  </a:lnSpc>
                </a:pPr>
                <a:endParaRPr 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4" name="AutoShape 146"/>
              <p:cNvSpPr/>
              <p:nvPr/>
            </p:nvSpPr>
            <p:spPr bwMode="auto">
              <a:xfrm>
                <a:off x="2697957" y="1826419"/>
                <a:ext cx="86519" cy="61119"/>
              </a:xfrm>
              <a:custGeom>
                <a:avLst/>
                <a:gdLst>
                  <a:gd name="T0" fmla="+- 0 10822 44"/>
                  <a:gd name="T1" fmla="*/ T0 w 21556"/>
                  <a:gd name="T2" fmla="+- 0 10826 53"/>
                  <a:gd name="T3" fmla="*/ 10826 h 21547"/>
                  <a:gd name="T4" fmla="+- 0 10822 44"/>
                  <a:gd name="T5" fmla="*/ T4 w 21556"/>
                  <a:gd name="T6" fmla="+- 0 10826 53"/>
                  <a:gd name="T7" fmla="*/ 10826 h 21547"/>
                  <a:gd name="T8" fmla="+- 0 10822 44"/>
                  <a:gd name="T9" fmla="*/ T8 w 21556"/>
                  <a:gd name="T10" fmla="+- 0 10826 53"/>
                  <a:gd name="T11" fmla="*/ 10826 h 21547"/>
                  <a:gd name="T12" fmla="+- 0 10822 44"/>
                  <a:gd name="T13" fmla="*/ T12 w 21556"/>
                  <a:gd name="T14" fmla="+- 0 10826 53"/>
                  <a:gd name="T15" fmla="*/ 10826 h 21547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21556" h="21547">
                    <a:moveTo>
                      <a:pt x="19751" y="2"/>
                    </a:moveTo>
                    <a:lnTo>
                      <a:pt x="3200" y="1845"/>
                    </a:lnTo>
                    <a:cubicBezTo>
                      <a:pt x="2215" y="2010"/>
                      <a:pt x="1272" y="3284"/>
                      <a:pt x="1106" y="4676"/>
                    </a:cubicBezTo>
                    <a:lnTo>
                      <a:pt x="1" y="18986"/>
                    </a:lnTo>
                    <a:cubicBezTo>
                      <a:pt x="-44" y="20398"/>
                      <a:pt x="724" y="21547"/>
                      <a:pt x="1712" y="21547"/>
                    </a:cubicBezTo>
                    <a:cubicBezTo>
                      <a:pt x="2698" y="21547"/>
                      <a:pt x="3542" y="20398"/>
                      <a:pt x="3582" y="18978"/>
                    </a:cubicBezTo>
                    <a:lnTo>
                      <a:pt x="4185" y="9251"/>
                    </a:lnTo>
                    <a:cubicBezTo>
                      <a:pt x="4319" y="7849"/>
                      <a:pt x="5235" y="6592"/>
                      <a:pt x="6220" y="6447"/>
                    </a:cubicBezTo>
                    <a:lnTo>
                      <a:pt x="19751" y="5128"/>
                    </a:lnTo>
                    <a:cubicBezTo>
                      <a:pt x="20743" y="5078"/>
                      <a:pt x="21556" y="3884"/>
                      <a:pt x="21556" y="2467"/>
                    </a:cubicBezTo>
                    <a:cubicBezTo>
                      <a:pt x="21556" y="1055"/>
                      <a:pt x="20743" y="-53"/>
                      <a:pt x="19751" y="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lIns="19048" tIns="19048" rIns="19048" bIns="19048" anchor="ctr"/>
              <a:lstStyle/>
              <a:p>
                <a:pPr algn="ctr" defTabSz="228600" hangingPunct="0">
                  <a:lnSpc>
                    <a:spcPct val="120000"/>
                  </a:lnSpc>
                </a:pPr>
                <a:endParaRPr 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14" name="Group 52"/>
          <p:cNvGrpSpPr/>
          <p:nvPr/>
        </p:nvGrpSpPr>
        <p:grpSpPr>
          <a:xfrm>
            <a:off x="11842765" y="254421"/>
            <a:ext cx="319053" cy="465087"/>
            <a:chOff x="5441157" y="4440238"/>
            <a:chExt cx="319088" cy="465138"/>
          </a:xfrm>
          <a:solidFill>
            <a:srgbClr val="00B0F0"/>
          </a:solidFill>
        </p:grpSpPr>
        <p:sp>
          <p:nvSpPr>
            <p:cNvPr id="15" name="AutoShape 97"/>
            <p:cNvSpPr/>
            <p:nvPr/>
          </p:nvSpPr>
          <p:spPr bwMode="auto">
            <a:xfrm>
              <a:off x="5441157" y="4440238"/>
              <a:ext cx="319088" cy="46513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636" y="3374"/>
                  </a:moveTo>
                  <a:lnTo>
                    <a:pt x="1963" y="3375"/>
                  </a:lnTo>
                  <a:lnTo>
                    <a:pt x="1963" y="2025"/>
                  </a:lnTo>
                  <a:cubicBezTo>
                    <a:pt x="1963" y="1653"/>
                    <a:pt x="2402" y="1350"/>
                    <a:pt x="2945" y="1350"/>
                  </a:cubicBezTo>
                  <a:lnTo>
                    <a:pt x="18654" y="1349"/>
                  </a:lnTo>
                  <a:cubicBezTo>
                    <a:pt x="19195" y="1349"/>
                    <a:pt x="19636" y="1652"/>
                    <a:pt x="19636" y="2024"/>
                  </a:cubicBezTo>
                  <a:cubicBezTo>
                    <a:pt x="19636" y="2024"/>
                    <a:pt x="19636" y="3374"/>
                    <a:pt x="19636" y="3374"/>
                  </a:cubicBezTo>
                  <a:close/>
                  <a:moveTo>
                    <a:pt x="19636" y="17546"/>
                  </a:moveTo>
                  <a:lnTo>
                    <a:pt x="1963" y="17547"/>
                  </a:lnTo>
                  <a:lnTo>
                    <a:pt x="1963" y="4050"/>
                  </a:lnTo>
                  <a:lnTo>
                    <a:pt x="19636" y="4049"/>
                  </a:lnTo>
                  <a:cubicBezTo>
                    <a:pt x="19636" y="4049"/>
                    <a:pt x="19636" y="17546"/>
                    <a:pt x="19636" y="17546"/>
                  </a:cubicBezTo>
                  <a:close/>
                  <a:moveTo>
                    <a:pt x="19636" y="19574"/>
                  </a:moveTo>
                  <a:cubicBezTo>
                    <a:pt x="19636" y="19946"/>
                    <a:pt x="19195" y="20249"/>
                    <a:pt x="18654" y="20249"/>
                  </a:cubicBezTo>
                  <a:lnTo>
                    <a:pt x="2945" y="20250"/>
                  </a:lnTo>
                  <a:cubicBezTo>
                    <a:pt x="2402" y="20250"/>
                    <a:pt x="1963" y="19947"/>
                    <a:pt x="1963" y="19575"/>
                  </a:cubicBezTo>
                  <a:lnTo>
                    <a:pt x="1963" y="18222"/>
                  </a:lnTo>
                  <a:lnTo>
                    <a:pt x="19636" y="18221"/>
                  </a:lnTo>
                  <a:cubicBezTo>
                    <a:pt x="19636" y="18221"/>
                    <a:pt x="19636" y="19574"/>
                    <a:pt x="19636" y="19574"/>
                  </a:cubicBezTo>
                  <a:close/>
                  <a:moveTo>
                    <a:pt x="18654" y="0"/>
                  </a:moveTo>
                  <a:lnTo>
                    <a:pt x="2945" y="0"/>
                  </a:lnTo>
                  <a:cubicBezTo>
                    <a:pt x="1317" y="0"/>
                    <a:pt x="0" y="907"/>
                    <a:pt x="0" y="2025"/>
                  </a:cubicBezTo>
                  <a:lnTo>
                    <a:pt x="0" y="19575"/>
                  </a:lnTo>
                  <a:cubicBezTo>
                    <a:pt x="0" y="20693"/>
                    <a:pt x="1317" y="21600"/>
                    <a:pt x="2945" y="21600"/>
                  </a:cubicBezTo>
                  <a:lnTo>
                    <a:pt x="18654" y="21599"/>
                  </a:lnTo>
                  <a:cubicBezTo>
                    <a:pt x="20280" y="21599"/>
                    <a:pt x="21600" y="20693"/>
                    <a:pt x="21600" y="19574"/>
                  </a:cubicBezTo>
                  <a:lnTo>
                    <a:pt x="21600" y="2024"/>
                  </a:lnTo>
                  <a:cubicBezTo>
                    <a:pt x="21600" y="906"/>
                    <a:pt x="20280" y="0"/>
                    <a:pt x="18654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lIns="19048" tIns="19048" rIns="19048" bIns="19048" anchor="ctr"/>
            <a:lstStyle/>
            <a:p>
              <a:pPr algn="ctr" defTabSz="228600" hangingPunct="0">
                <a:lnSpc>
                  <a:spcPct val="120000"/>
                </a:lnSpc>
              </a:pPr>
              <a:endParaRPr lang="en-US" sz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6" name="AutoShape 98"/>
            <p:cNvSpPr/>
            <p:nvPr/>
          </p:nvSpPr>
          <p:spPr bwMode="auto">
            <a:xfrm>
              <a:off x="5571332" y="4483894"/>
              <a:ext cx="58738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600" y="10800"/>
                  </a:moveTo>
                  <a:cubicBezTo>
                    <a:pt x="21600" y="16758"/>
                    <a:pt x="20387" y="21599"/>
                    <a:pt x="18899" y="21599"/>
                  </a:cubicBezTo>
                  <a:lnTo>
                    <a:pt x="2699" y="21599"/>
                  </a:lnTo>
                  <a:cubicBezTo>
                    <a:pt x="1202" y="21599"/>
                    <a:pt x="0" y="16758"/>
                    <a:pt x="0" y="10800"/>
                  </a:cubicBezTo>
                  <a:cubicBezTo>
                    <a:pt x="0" y="4841"/>
                    <a:pt x="1202" y="0"/>
                    <a:pt x="2699" y="0"/>
                  </a:cubicBezTo>
                  <a:lnTo>
                    <a:pt x="18899" y="0"/>
                  </a:lnTo>
                  <a:cubicBezTo>
                    <a:pt x="20387" y="0"/>
                    <a:pt x="21600" y="4841"/>
                    <a:pt x="21600" y="1080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lIns="19048" tIns="19048" rIns="19048" bIns="19048" anchor="ctr"/>
            <a:lstStyle/>
            <a:p>
              <a:pPr algn="ctr" defTabSz="228600" hangingPunct="0">
                <a:lnSpc>
                  <a:spcPct val="120000"/>
                </a:lnSpc>
              </a:pPr>
              <a:endParaRPr lang="en-US" sz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" name="AutoShape 99"/>
            <p:cNvSpPr/>
            <p:nvPr/>
          </p:nvSpPr>
          <p:spPr bwMode="auto">
            <a:xfrm>
              <a:off x="5586413" y="4847432"/>
              <a:ext cx="28575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600" y="10800"/>
                  </a:moveTo>
                  <a:cubicBezTo>
                    <a:pt x="21600" y="16769"/>
                    <a:pt x="19174" y="21599"/>
                    <a:pt x="16199" y="21599"/>
                  </a:cubicBezTo>
                  <a:lnTo>
                    <a:pt x="5399" y="21599"/>
                  </a:lnTo>
                  <a:cubicBezTo>
                    <a:pt x="2404" y="21599"/>
                    <a:pt x="0" y="16769"/>
                    <a:pt x="0" y="10800"/>
                  </a:cubicBezTo>
                  <a:cubicBezTo>
                    <a:pt x="0" y="4830"/>
                    <a:pt x="2404" y="0"/>
                    <a:pt x="5399" y="0"/>
                  </a:cubicBezTo>
                  <a:lnTo>
                    <a:pt x="16199" y="0"/>
                  </a:lnTo>
                  <a:cubicBezTo>
                    <a:pt x="19174" y="0"/>
                    <a:pt x="21600" y="4830"/>
                    <a:pt x="21600" y="1080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lIns="19048" tIns="19048" rIns="19048" bIns="19048" anchor="ctr"/>
            <a:lstStyle/>
            <a:p>
              <a:pPr algn="ctr" defTabSz="228600" hangingPunct="0">
                <a:lnSpc>
                  <a:spcPct val="120000"/>
                </a:lnSpc>
              </a:pPr>
              <a:endParaRPr lang="en-US" sz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cs typeface="+mn-ea"/>
                <a:sym typeface="Arial" panose="020B0604020202020204" pitchFamily="34" charset="0"/>
              </a:endParaRPr>
            </a:p>
          </p:txBody>
        </p:sp>
      </p:grpSp>
      <p:cxnSp>
        <p:nvCxnSpPr>
          <p:cNvPr id="53" name="直接连接符 52"/>
          <p:cNvCxnSpPr/>
          <p:nvPr userDrawn="1"/>
        </p:nvCxnSpPr>
        <p:spPr>
          <a:xfrm>
            <a:off x="18779" y="719508"/>
            <a:ext cx="1217322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 userDrawn="1"/>
        </p:nvSpPr>
        <p:spPr>
          <a:xfrm>
            <a:off x="589454" y="1186339"/>
            <a:ext cx="10720199" cy="444781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1000"/>
                  <a:lumOff val="9000"/>
                  <a:alpha val="17000"/>
                </a:schemeClr>
              </a:gs>
              <a:gs pos="30000">
                <a:schemeClr val="bg1">
                  <a:lumMod val="95000"/>
                  <a:alpha val="75000"/>
                </a:schemeClr>
              </a:gs>
              <a:gs pos="83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254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5000">
        <p:blinds dir="vert"/>
      </p:transition>
    </mc:Choice>
    <mc:Fallback>
      <p:transition spd="slow" advClick="0" advTm="5000">
        <p:blinds dir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/>
          <p:cNvGrpSpPr/>
          <p:nvPr userDrawn="1"/>
        </p:nvGrpSpPr>
        <p:grpSpPr>
          <a:xfrm>
            <a:off x="372659" y="238440"/>
            <a:ext cx="741973" cy="636233"/>
            <a:chOff x="3546346" y="2339026"/>
            <a:chExt cx="897787" cy="769842"/>
          </a:xfrm>
          <a:solidFill>
            <a:schemeClr val="accent1"/>
          </a:solidFill>
        </p:grpSpPr>
        <p:sp>
          <p:nvSpPr>
            <p:cNvPr id="53" name="Rectangle 227"/>
            <p:cNvSpPr>
              <a:spLocks noChangeArrowheads="1"/>
            </p:cNvSpPr>
            <p:nvPr/>
          </p:nvSpPr>
          <p:spPr bwMode="auto">
            <a:xfrm>
              <a:off x="3561526" y="3077423"/>
              <a:ext cx="882607" cy="31445"/>
            </a:xfrm>
            <a:prstGeom prst="rect">
              <a:avLst/>
            </a:prstGeom>
            <a:grpFill/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54" name="Freeform 228"/>
            <p:cNvSpPr/>
            <p:nvPr/>
          </p:nvSpPr>
          <p:spPr bwMode="auto">
            <a:xfrm>
              <a:off x="3617909" y="2844302"/>
              <a:ext cx="125777" cy="210351"/>
            </a:xfrm>
            <a:custGeom>
              <a:avLst/>
              <a:gdLst>
                <a:gd name="T0" fmla="*/ 6 w 49"/>
                <a:gd name="T1" fmla="*/ 82 h 82"/>
                <a:gd name="T2" fmla="*/ 43 w 49"/>
                <a:gd name="T3" fmla="*/ 82 h 82"/>
                <a:gd name="T4" fmla="*/ 49 w 49"/>
                <a:gd name="T5" fmla="*/ 76 h 82"/>
                <a:gd name="T6" fmla="*/ 49 w 49"/>
                <a:gd name="T7" fmla="*/ 0 h 82"/>
                <a:gd name="T8" fmla="*/ 0 w 49"/>
                <a:gd name="T9" fmla="*/ 49 h 82"/>
                <a:gd name="T10" fmla="*/ 0 w 49"/>
                <a:gd name="T11" fmla="*/ 76 h 82"/>
                <a:gd name="T12" fmla="*/ 6 w 49"/>
                <a:gd name="T13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82">
                  <a:moveTo>
                    <a:pt x="6" y="82"/>
                  </a:moveTo>
                  <a:cubicBezTo>
                    <a:pt x="43" y="82"/>
                    <a:pt x="43" y="82"/>
                    <a:pt x="43" y="82"/>
                  </a:cubicBezTo>
                  <a:cubicBezTo>
                    <a:pt x="46" y="82"/>
                    <a:pt x="49" y="79"/>
                    <a:pt x="49" y="76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9"/>
                    <a:pt x="3" y="82"/>
                    <a:pt x="6" y="82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55" name="Freeform 229"/>
            <p:cNvSpPr/>
            <p:nvPr/>
          </p:nvSpPr>
          <p:spPr bwMode="auto">
            <a:xfrm>
              <a:off x="3779467" y="2682744"/>
              <a:ext cx="122524" cy="371910"/>
            </a:xfrm>
            <a:custGeom>
              <a:avLst/>
              <a:gdLst>
                <a:gd name="T0" fmla="*/ 5 w 48"/>
                <a:gd name="T1" fmla="*/ 145 h 145"/>
                <a:gd name="T2" fmla="*/ 43 w 48"/>
                <a:gd name="T3" fmla="*/ 145 h 145"/>
                <a:gd name="T4" fmla="*/ 48 w 48"/>
                <a:gd name="T5" fmla="*/ 139 h 145"/>
                <a:gd name="T6" fmla="*/ 48 w 48"/>
                <a:gd name="T7" fmla="*/ 0 h 145"/>
                <a:gd name="T8" fmla="*/ 0 w 48"/>
                <a:gd name="T9" fmla="*/ 49 h 145"/>
                <a:gd name="T10" fmla="*/ 0 w 48"/>
                <a:gd name="T11" fmla="*/ 139 h 145"/>
                <a:gd name="T12" fmla="*/ 5 w 48"/>
                <a:gd name="T13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45">
                  <a:moveTo>
                    <a:pt x="5" y="145"/>
                  </a:moveTo>
                  <a:cubicBezTo>
                    <a:pt x="43" y="145"/>
                    <a:pt x="43" y="145"/>
                    <a:pt x="43" y="145"/>
                  </a:cubicBezTo>
                  <a:cubicBezTo>
                    <a:pt x="46" y="145"/>
                    <a:pt x="48" y="142"/>
                    <a:pt x="48" y="139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142"/>
                    <a:pt x="2" y="145"/>
                    <a:pt x="5" y="145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56" name="Freeform 230"/>
            <p:cNvSpPr/>
            <p:nvPr/>
          </p:nvSpPr>
          <p:spPr bwMode="auto">
            <a:xfrm>
              <a:off x="3938857" y="2713104"/>
              <a:ext cx="124693" cy="341550"/>
            </a:xfrm>
            <a:custGeom>
              <a:avLst/>
              <a:gdLst>
                <a:gd name="T0" fmla="*/ 22 w 49"/>
                <a:gd name="T1" fmla="*/ 22 h 133"/>
                <a:gd name="T2" fmla="*/ 0 w 49"/>
                <a:gd name="T3" fmla="*/ 0 h 133"/>
                <a:gd name="T4" fmla="*/ 0 w 49"/>
                <a:gd name="T5" fmla="*/ 127 h 133"/>
                <a:gd name="T6" fmla="*/ 6 w 49"/>
                <a:gd name="T7" fmla="*/ 133 h 133"/>
                <a:gd name="T8" fmla="*/ 43 w 49"/>
                <a:gd name="T9" fmla="*/ 133 h 133"/>
                <a:gd name="T10" fmla="*/ 49 w 49"/>
                <a:gd name="T11" fmla="*/ 127 h 133"/>
                <a:gd name="T12" fmla="*/ 49 w 49"/>
                <a:gd name="T13" fmla="*/ 26 h 133"/>
                <a:gd name="T14" fmla="*/ 38 w 49"/>
                <a:gd name="T15" fmla="*/ 29 h 133"/>
                <a:gd name="T16" fmla="*/ 22 w 49"/>
                <a:gd name="T17" fmla="*/ 22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133">
                  <a:moveTo>
                    <a:pt x="22" y="2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30"/>
                    <a:pt x="3" y="133"/>
                    <a:pt x="6" y="133"/>
                  </a:cubicBezTo>
                  <a:cubicBezTo>
                    <a:pt x="43" y="133"/>
                    <a:pt x="43" y="133"/>
                    <a:pt x="43" y="133"/>
                  </a:cubicBezTo>
                  <a:cubicBezTo>
                    <a:pt x="46" y="133"/>
                    <a:pt x="49" y="130"/>
                    <a:pt x="49" y="127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6" y="28"/>
                    <a:pt x="42" y="29"/>
                    <a:pt x="38" y="29"/>
                  </a:cubicBezTo>
                  <a:cubicBezTo>
                    <a:pt x="32" y="29"/>
                    <a:pt x="27" y="26"/>
                    <a:pt x="22" y="22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57" name="Freeform 231"/>
            <p:cNvSpPr/>
            <p:nvPr/>
          </p:nvSpPr>
          <p:spPr bwMode="auto">
            <a:xfrm>
              <a:off x="4100415" y="2624193"/>
              <a:ext cx="122524" cy="430461"/>
            </a:xfrm>
            <a:custGeom>
              <a:avLst/>
              <a:gdLst>
                <a:gd name="T0" fmla="*/ 5 w 48"/>
                <a:gd name="T1" fmla="*/ 168 h 168"/>
                <a:gd name="T2" fmla="*/ 43 w 48"/>
                <a:gd name="T3" fmla="*/ 168 h 168"/>
                <a:gd name="T4" fmla="*/ 48 w 48"/>
                <a:gd name="T5" fmla="*/ 162 h 168"/>
                <a:gd name="T6" fmla="*/ 48 w 48"/>
                <a:gd name="T7" fmla="*/ 0 h 168"/>
                <a:gd name="T8" fmla="*/ 0 w 48"/>
                <a:gd name="T9" fmla="*/ 48 h 168"/>
                <a:gd name="T10" fmla="*/ 0 w 48"/>
                <a:gd name="T11" fmla="*/ 162 h 168"/>
                <a:gd name="T12" fmla="*/ 5 w 48"/>
                <a:gd name="T13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68">
                  <a:moveTo>
                    <a:pt x="5" y="168"/>
                  </a:moveTo>
                  <a:cubicBezTo>
                    <a:pt x="43" y="168"/>
                    <a:pt x="43" y="168"/>
                    <a:pt x="43" y="168"/>
                  </a:cubicBezTo>
                  <a:cubicBezTo>
                    <a:pt x="46" y="168"/>
                    <a:pt x="48" y="165"/>
                    <a:pt x="48" y="162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0" y="165"/>
                    <a:pt x="2" y="168"/>
                    <a:pt x="5" y="168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58" name="Freeform 232"/>
            <p:cNvSpPr/>
            <p:nvPr/>
          </p:nvSpPr>
          <p:spPr bwMode="auto">
            <a:xfrm>
              <a:off x="4258721" y="2513596"/>
              <a:ext cx="125777" cy="541058"/>
            </a:xfrm>
            <a:custGeom>
              <a:avLst/>
              <a:gdLst>
                <a:gd name="T0" fmla="*/ 29 w 49"/>
                <a:gd name="T1" fmla="*/ 0 h 211"/>
                <a:gd name="T2" fmla="*/ 0 w 49"/>
                <a:gd name="T3" fmla="*/ 29 h 211"/>
                <a:gd name="T4" fmla="*/ 0 w 49"/>
                <a:gd name="T5" fmla="*/ 205 h 211"/>
                <a:gd name="T6" fmla="*/ 6 w 49"/>
                <a:gd name="T7" fmla="*/ 211 h 211"/>
                <a:gd name="T8" fmla="*/ 43 w 49"/>
                <a:gd name="T9" fmla="*/ 211 h 211"/>
                <a:gd name="T10" fmla="*/ 49 w 49"/>
                <a:gd name="T11" fmla="*/ 205 h 211"/>
                <a:gd name="T12" fmla="*/ 49 w 49"/>
                <a:gd name="T13" fmla="*/ 22 h 211"/>
                <a:gd name="T14" fmla="*/ 29 w 49"/>
                <a:gd name="T15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" h="211">
                  <a:moveTo>
                    <a:pt x="29" y="0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0" y="205"/>
                    <a:pt x="0" y="205"/>
                    <a:pt x="0" y="205"/>
                  </a:cubicBezTo>
                  <a:cubicBezTo>
                    <a:pt x="0" y="208"/>
                    <a:pt x="3" y="211"/>
                    <a:pt x="6" y="211"/>
                  </a:cubicBezTo>
                  <a:cubicBezTo>
                    <a:pt x="43" y="211"/>
                    <a:pt x="43" y="211"/>
                    <a:pt x="43" y="211"/>
                  </a:cubicBezTo>
                  <a:cubicBezTo>
                    <a:pt x="46" y="211"/>
                    <a:pt x="49" y="208"/>
                    <a:pt x="49" y="205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38" y="21"/>
                    <a:pt x="29" y="12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59" name="Freeform 233"/>
            <p:cNvSpPr/>
            <p:nvPr/>
          </p:nvSpPr>
          <p:spPr bwMode="auto">
            <a:xfrm>
              <a:off x="3546346" y="2339026"/>
              <a:ext cx="871764" cy="610452"/>
            </a:xfrm>
            <a:custGeom>
              <a:avLst/>
              <a:gdLst>
                <a:gd name="T0" fmla="*/ 20 w 340"/>
                <a:gd name="T1" fmla="*/ 234 h 238"/>
                <a:gd name="T2" fmla="*/ 140 w 340"/>
                <a:gd name="T3" fmla="*/ 113 h 238"/>
                <a:gd name="T4" fmla="*/ 183 w 340"/>
                <a:gd name="T5" fmla="*/ 156 h 238"/>
                <a:gd name="T6" fmla="*/ 199 w 340"/>
                <a:gd name="T7" fmla="*/ 156 h 238"/>
                <a:gd name="T8" fmla="*/ 318 w 340"/>
                <a:gd name="T9" fmla="*/ 37 h 238"/>
                <a:gd name="T10" fmla="*/ 318 w 340"/>
                <a:gd name="T11" fmla="*/ 64 h 238"/>
                <a:gd name="T12" fmla="*/ 329 w 340"/>
                <a:gd name="T13" fmla="*/ 75 h 238"/>
                <a:gd name="T14" fmla="*/ 340 w 340"/>
                <a:gd name="T15" fmla="*/ 64 h 238"/>
                <a:gd name="T16" fmla="*/ 340 w 340"/>
                <a:gd name="T17" fmla="*/ 11 h 238"/>
                <a:gd name="T18" fmla="*/ 337 w 340"/>
                <a:gd name="T19" fmla="*/ 3 h 238"/>
                <a:gd name="T20" fmla="*/ 329 w 340"/>
                <a:gd name="T21" fmla="*/ 0 h 238"/>
                <a:gd name="T22" fmla="*/ 276 w 340"/>
                <a:gd name="T23" fmla="*/ 0 h 238"/>
                <a:gd name="T24" fmla="*/ 265 w 340"/>
                <a:gd name="T25" fmla="*/ 11 h 238"/>
                <a:gd name="T26" fmla="*/ 276 w 340"/>
                <a:gd name="T27" fmla="*/ 22 h 238"/>
                <a:gd name="T28" fmla="*/ 302 w 340"/>
                <a:gd name="T29" fmla="*/ 22 h 238"/>
                <a:gd name="T30" fmla="*/ 191 w 340"/>
                <a:gd name="T31" fmla="*/ 133 h 238"/>
                <a:gd name="T32" fmla="*/ 148 w 340"/>
                <a:gd name="T33" fmla="*/ 90 h 238"/>
                <a:gd name="T34" fmla="*/ 133 w 340"/>
                <a:gd name="T35" fmla="*/ 90 h 238"/>
                <a:gd name="T36" fmla="*/ 4 w 340"/>
                <a:gd name="T37" fmla="*/ 219 h 238"/>
                <a:gd name="T38" fmla="*/ 4 w 340"/>
                <a:gd name="T39" fmla="*/ 234 h 238"/>
                <a:gd name="T40" fmla="*/ 20 w 340"/>
                <a:gd name="T41" fmla="*/ 23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0" h="238">
                  <a:moveTo>
                    <a:pt x="20" y="234"/>
                  </a:moveTo>
                  <a:cubicBezTo>
                    <a:pt x="140" y="113"/>
                    <a:pt x="140" y="113"/>
                    <a:pt x="140" y="113"/>
                  </a:cubicBezTo>
                  <a:cubicBezTo>
                    <a:pt x="183" y="156"/>
                    <a:pt x="183" y="156"/>
                    <a:pt x="183" y="156"/>
                  </a:cubicBezTo>
                  <a:cubicBezTo>
                    <a:pt x="188" y="160"/>
                    <a:pt x="195" y="160"/>
                    <a:pt x="199" y="156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64"/>
                    <a:pt x="318" y="64"/>
                    <a:pt x="318" y="64"/>
                  </a:cubicBezTo>
                  <a:cubicBezTo>
                    <a:pt x="318" y="70"/>
                    <a:pt x="323" y="75"/>
                    <a:pt x="329" y="75"/>
                  </a:cubicBezTo>
                  <a:cubicBezTo>
                    <a:pt x="335" y="75"/>
                    <a:pt x="340" y="70"/>
                    <a:pt x="340" y="64"/>
                  </a:cubicBezTo>
                  <a:cubicBezTo>
                    <a:pt x="340" y="11"/>
                    <a:pt x="340" y="11"/>
                    <a:pt x="340" y="11"/>
                  </a:cubicBezTo>
                  <a:cubicBezTo>
                    <a:pt x="340" y="8"/>
                    <a:pt x="339" y="5"/>
                    <a:pt x="337" y="3"/>
                  </a:cubicBezTo>
                  <a:cubicBezTo>
                    <a:pt x="335" y="1"/>
                    <a:pt x="332" y="0"/>
                    <a:pt x="329" y="0"/>
                  </a:cubicBezTo>
                  <a:cubicBezTo>
                    <a:pt x="276" y="0"/>
                    <a:pt x="276" y="0"/>
                    <a:pt x="276" y="0"/>
                  </a:cubicBezTo>
                  <a:cubicBezTo>
                    <a:pt x="270" y="0"/>
                    <a:pt x="265" y="4"/>
                    <a:pt x="265" y="11"/>
                  </a:cubicBezTo>
                  <a:cubicBezTo>
                    <a:pt x="265" y="17"/>
                    <a:pt x="270" y="22"/>
                    <a:pt x="276" y="22"/>
                  </a:cubicBezTo>
                  <a:cubicBezTo>
                    <a:pt x="302" y="22"/>
                    <a:pt x="302" y="22"/>
                    <a:pt x="302" y="22"/>
                  </a:cubicBezTo>
                  <a:cubicBezTo>
                    <a:pt x="191" y="133"/>
                    <a:pt x="191" y="133"/>
                    <a:pt x="191" y="133"/>
                  </a:cubicBezTo>
                  <a:cubicBezTo>
                    <a:pt x="148" y="90"/>
                    <a:pt x="148" y="90"/>
                    <a:pt x="148" y="90"/>
                  </a:cubicBezTo>
                  <a:cubicBezTo>
                    <a:pt x="144" y="86"/>
                    <a:pt x="137" y="86"/>
                    <a:pt x="133" y="90"/>
                  </a:cubicBezTo>
                  <a:cubicBezTo>
                    <a:pt x="4" y="219"/>
                    <a:pt x="4" y="219"/>
                    <a:pt x="4" y="219"/>
                  </a:cubicBezTo>
                  <a:cubicBezTo>
                    <a:pt x="0" y="223"/>
                    <a:pt x="0" y="230"/>
                    <a:pt x="4" y="234"/>
                  </a:cubicBezTo>
                  <a:cubicBezTo>
                    <a:pt x="8" y="238"/>
                    <a:pt x="15" y="238"/>
                    <a:pt x="20" y="234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60" name="文本框 59"/>
          <p:cNvSpPr txBox="1"/>
          <p:nvPr userDrawn="1"/>
        </p:nvSpPr>
        <p:spPr bwMode="auto">
          <a:xfrm flipH="1">
            <a:off x="0" y="878996"/>
            <a:ext cx="1922797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en-US" altLang="zh-CN" sz="2000" b="1" dirty="0">
                <a:latin typeface="+mn-ea"/>
                <a:cs typeface="+mn-ea"/>
              </a:rPr>
              <a:t>summarize</a:t>
            </a:r>
            <a:endParaRPr lang="id-ID" altLang="zh-CN" sz="2400" b="1" dirty="0">
              <a:cs typeface="+mn-ea"/>
            </a:endParaRPr>
          </a:p>
        </p:txBody>
      </p:sp>
      <p:sp>
        <p:nvSpPr>
          <p:cNvPr id="61" name="Title 1"/>
          <p:cNvSpPr txBox="1"/>
          <p:nvPr userDrawn="1"/>
        </p:nvSpPr>
        <p:spPr>
          <a:xfrm>
            <a:off x="1409925" y="306151"/>
            <a:ext cx="1203191" cy="6560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1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smtClean="0">
                <a:latin typeface="+mn-ea"/>
                <a:ea typeface="+mn-ea"/>
                <a:cs typeface="+mn-ea"/>
              </a:rPr>
              <a:t>小结</a:t>
            </a:r>
            <a:endParaRPr lang="id-ID" sz="2800" b="1" dirty="0">
              <a:ea typeface="+mn-ea"/>
              <a:cs typeface="+mn-ea"/>
            </a:endParaRPr>
          </a:p>
        </p:txBody>
      </p:sp>
      <p:grpSp>
        <p:nvGrpSpPr>
          <p:cNvPr id="62" name="Group 284"/>
          <p:cNvGrpSpPr>
            <a:grpSpLocks noChangeAspect="1"/>
          </p:cNvGrpSpPr>
          <p:nvPr userDrawn="1"/>
        </p:nvGrpSpPr>
        <p:grpSpPr bwMode="auto">
          <a:xfrm rot="16200000">
            <a:off x="7538027" y="2204026"/>
            <a:ext cx="4618419" cy="4689528"/>
            <a:chOff x="3668" y="2044"/>
            <a:chExt cx="2468" cy="2506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3" name="Freeform 285"/>
            <p:cNvSpPr>
              <a:spLocks noEditPoints="1"/>
            </p:cNvSpPr>
            <p:nvPr/>
          </p:nvSpPr>
          <p:spPr bwMode="auto">
            <a:xfrm>
              <a:off x="4210" y="3120"/>
              <a:ext cx="917" cy="937"/>
            </a:xfrm>
            <a:custGeom>
              <a:avLst/>
              <a:gdLst>
                <a:gd name="T0" fmla="*/ 177 w 387"/>
                <a:gd name="T1" fmla="*/ 0 h 396"/>
                <a:gd name="T2" fmla="*/ 10 w 387"/>
                <a:gd name="T3" fmla="*/ 198 h 396"/>
                <a:gd name="T4" fmla="*/ 211 w 387"/>
                <a:gd name="T5" fmla="*/ 396 h 396"/>
                <a:gd name="T6" fmla="*/ 378 w 387"/>
                <a:gd name="T7" fmla="*/ 198 h 396"/>
                <a:gd name="T8" fmla="*/ 177 w 387"/>
                <a:gd name="T9" fmla="*/ 0 h 396"/>
                <a:gd name="T10" fmla="*/ 183 w 387"/>
                <a:gd name="T11" fmla="*/ 70 h 396"/>
                <a:gd name="T12" fmla="*/ 313 w 387"/>
                <a:gd name="T13" fmla="*/ 198 h 396"/>
                <a:gd name="T14" fmla="*/ 205 w 387"/>
                <a:gd name="T15" fmla="*/ 326 h 396"/>
                <a:gd name="T16" fmla="*/ 75 w 387"/>
                <a:gd name="T17" fmla="*/ 198 h 396"/>
                <a:gd name="T18" fmla="*/ 183 w 387"/>
                <a:gd name="T19" fmla="*/ 70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7" h="396">
                  <a:moveTo>
                    <a:pt x="177" y="0"/>
                  </a:moveTo>
                  <a:cubicBezTo>
                    <a:pt x="75" y="0"/>
                    <a:pt x="0" y="88"/>
                    <a:pt x="10" y="198"/>
                  </a:cubicBezTo>
                  <a:cubicBezTo>
                    <a:pt x="19" y="307"/>
                    <a:pt x="109" y="396"/>
                    <a:pt x="211" y="396"/>
                  </a:cubicBezTo>
                  <a:cubicBezTo>
                    <a:pt x="312" y="396"/>
                    <a:pt x="387" y="307"/>
                    <a:pt x="378" y="198"/>
                  </a:cubicBezTo>
                  <a:cubicBezTo>
                    <a:pt x="369" y="88"/>
                    <a:pt x="278" y="0"/>
                    <a:pt x="177" y="0"/>
                  </a:cubicBezTo>
                  <a:close/>
                  <a:moveTo>
                    <a:pt x="183" y="70"/>
                  </a:moveTo>
                  <a:cubicBezTo>
                    <a:pt x="248" y="70"/>
                    <a:pt x="307" y="127"/>
                    <a:pt x="313" y="198"/>
                  </a:cubicBezTo>
                  <a:cubicBezTo>
                    <a:pt x="319" y="269"/>
                    <a:pt x="270" y="326"/>
                    <a:pt x="205" y="326"/>
                  </a:cubicBezTo>
                  <a:cubicBezTo>
                    <a:pt x="139" y="326"/>
                    <a:pt x="81" y="269"/>
                    <a:pt x="75" y="198"/>
                  </a:cubicBezTo>
                  <a:cubicBezTo>
                    <a:pt x="69" y="127"/>
                    <a:pt x="117" y="70"/>
                    <a:pt x="183" y="7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64" name="Freeform 286"/>
            <p:cNvSpPr/>
            <p:nvPr/>
          </p:nvSpPr>
          <p:spPr bwMode="auto">
            <a:xfrm>
              <a:off x="4525" y="3439"/>
              <a:ext cx="289" cy="299"/>
            </a:xfrm>
            <a:custGeom>
              <a:avLst/>
              <a:gdLst>
                <a:gd name="T0" fmla="*/ 119 w 122"/>
                <a:gd name="T1" fmla="*/ 63 h 126"/>
                <a:gd name="T2" fmla="*/ 66 w 122"/>
                <a:gd name="T3" fmla="*/ 126 h 126"/>
                <a:gd name="T4" fmla="*/ 3 w 122"/>
                <a:gd name="T5" fmla="*/ 63 h 126"/>
                <a:gd name="T6" fmla="*/ 55 w 122"/>
                <a:gd name="T7" fmla="*/ 0 h 126"/>
                <a:gd name="T8" fmla="*/ 119 w 122"/>
                <a:gd name="T9" fmla="*/ 6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2" h="126">
                  <a:moveTo>
                    <a:pt x="119" y="63"/>
                  </a:moveTo>
                  <a:cubicBezTo>
                    <a:pt x="122" y="98"/>
                    <a:pt x="98" y="126"/>
                    <a:pt x="66" y="126"/>
                  </a:cubicBezTo>
                  <a:cubicBezTo>
                    <a:pt x="34" y="126"/>
                    <a:pt x="6" y="98"/>
                    <a:pt x="3" y="63"/>
                  </a:cubicBezTo>
                  <a:cubicBezTo>
                    <a:pt x="0" y="28"/>
                    <a:pt x="23" y="0"/>
                    <a:pt x="55" y="0"/>
                  </a:cubicBezTo>
                  <a:cubicBezTo>
                    <a:pt x="88" y="0"/>
                    <a:pt x="116" y="28"/>
                    <a:pt x="119" y="63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65" name="Freeform 287"/>
            <p:cNvSpPr>
              <a:spLocks noEditPoints="1"/>
            </p:cNvSpPr>
            <p:nvPr/>
          </p:nvSpPr>
          <p:spPr bwMode="auto">
            <a:xfrm>
              <a:off x="3737" y="2634"/>
              <a:ext cx="1864" cy="1909"/>
            </a:xfrm>
            <a:custGeom>
              <a:avLst/>
              <a:gdLst>
                <a:gd name="T0" fmla="*/ 359 w 787"/>
                <a:gd name="T1" fmla="*/ 0 h 806"/>
                <a:gd name="T2" fmla="*/ 20 w 787"/>
                <a:gd name="T3" fmla="*/ 403 h 806"/>
                <a:gd name="T4" fmla="*/ 428 w 787"/>
                <a:gd name="T5" fmla="*/ 806 h 806"/>
                <a:gd name="T6" fmla="*/ 768 w 787"/>
                <a:gd name="T7" fmla="*/ 403 h 806"/>
                <a:gd name="T8" fmla="*/ 359 w 787"/>
                <a:gd name="T9" fmla="*/ 0 h 806"/>
                <a:gd name="T10" fmla="*/ 369 w 787"/>
                <a:gd name="T11" fmla="*/ 116 h 806"/>
                <a:gd name="T12" fmla="*/ 661 w 787"/>
                <a:gd name="T13" fmla="*/ 403 h 806"/>
                <a:gd name="T14" fmla="*/ 418 w 787"/>
                <a:gd name="T15" fmla="*/ 690 h 806"/>
                <a:gd name="T16" fmla="*/ 127 w 787"/>
                <a:gd name="T17" fmla="*/ 403 h 806"/>
                <a:gd name="T18" fmla="*/ 369 w 787"/>
                <a:gd name="T19" fmla="*/ 116 h 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87" h="806">
                  <a:moveTo>
                    <a:pt x="359" y="0"/>
                  </a:moveTo>
                  <a:cubicBezTo>
                    <a:pt x="153" y="0"/>
                    <a:pt x="0" y="181"/>
                    <a:pt x="20" y="403"/>
                  </a:cubicBezTo>
                  <a:cubicBezTo>
                    <a:pt x="39" y="625"/>
                    <a:pt x="222" y="806"/>
                    <a:pt x="428" y="806"/>
                  </a:cubicBezTo>
                  <a:cubicBezTo>
                    <a:pt x="635" y="806"/>
                    <a:pt x="787" y="625"/>
                    <a:pt x="768" y="403"/>
                  </a:cubicBezTo>
                  <a:cubicBezTo>
                    <a:pt x="749" y="181"/>
                    <a:pt x="566" y="0"/>
                    <a:pt x="359" y="0"/>
                  </a:cubicBezTo>
                  <a:close/>
                  <a:moveTo>
                    <a:pt x="369" y="116"/>
                  </a:moveTo>
                  <a:cubicBezTo>
                    <a:pt x="517" y="116"/>
                    <a:pt x="647" y="244"/>
                    <a:pt x="661" y="403"/>
                  </a:cubicBezTo>
                  <a:cubicBezTo>
                    <a:pt x="674" y="562"/>
                    <a:pt x="566" y="690"/>
                    <a:pt x="418" y="690"/>
                  </a:cubicBezTo>
                  <a:cubicBezTo>
                    <a:pt x="271" y="690"/>
                    <a:pt x="140" y="562"/>
                    <a:pt x="127" y="403"/>
                  </a:cubicBezTo>
                  <a:cubicBezTo>
                    <a:pt x="113" y="244"/>
                    <a:pt x="222" y="116"/>
                    <a:pt x="369" y="116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66" name="Freeform 288"/>
            <p:cNvSpPr>
              <a:spLocks noEditPoints="1"/>
            </p:cNvSpPr>
            <p:nvPr/>
          </p:nvSpPr>
          <p:spPr bwMode="auto">
            <a:xfrm>
              <a:off x="3668" y="2044"/>
              <a:ext cx="2468" cy="2506"/>
            </a:xfrm>
            <a:custGeom>
              <a:avLst/>
              <a:gdLst>
                <a:gd name="T0" fmla="*/ 367 w 1042"/>
                <a:gd name="T1" fmla="*/ 0 h 1058"/>
                <a:gd name="T2" fmla="*/ 0 w 1042"/>
                <a:gd name="T3" fmla="*/ 144 h 1058"/>
                <a:gd name="T4" fmla="*/ 0 w 1042"/>
                <a:gd name="T5" fmla="*/ 374 h 1058"/>
                <a:gd name="T6" fmla="*/ 379 w 1042"/>
                <a:gd name="T7" fmla="*/ 141 h 1058"/>
                <a:gd name="T8" fmla="*/ 898 w 1042"/>
                <a:gd name="T9" fmla="*/ 652 h 1058"/>
                <a:gd name="T10" fmla="*/ 746 w 1042"/>
                <a:gd name="T11" fmla="*/ 1058 h 1058"/>
                <a:gd name="T12" fmla="*/ 931 w 1042"/>
                <a:gd name="T13" fmla="*/ 1058 h 1058"/>
                <a:gd name="T14" fmla="*/ 1029 w 1042"/>
                <a:gd name="T15" fmla="*/ 652 h 1058"/>
                <a:gd name="T16" fmla="*/ 367 w 1042"/>
                <a:gd name="T17" fmla="*/ 0 h 1058"/>
                <a:gd name="T18" fmla="*/ 0 w 1042"/>
                <a:gd name="T19" fmla="*/ 847 h 1058"/>
                <a:gd name="T20" fmla="*/ 0 w 1042"/>
                <a:gd name="T21" fmla="*/ 1021 h 1058"/>
                <a:gd name="T22" fmla="*/ 36 w 1042"/>
                <a:gd name="T23" fmla="*/ 1058 h 1058"/>
                <a:gd name="T24" fmla="*/ 234 w 1042"/>
                <a:gd name="T25" fmla="*/ 1058 h 1058"/>
                <a:gd name="T26" fmla="*/ 169 w 1042"/>
                <a:gd name="T27" fmla="*/ 1058 h 1058"/>
                <a:gd name="T28" fmla="*/ 0 w 1042"/>
                <a:gd name="T29" fmla="*/ 847 h 1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2" h="1058">
                  <a:moveTo>
                    <a:pt x="367" y="0"/>
                  </a:moveTo>
                  <a:cubicBezTo>
                    <a:pt x="223" y="0"/>
                    <a:pt x="96" y="54"/>
                    <a:pt x="0" y="14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73" y="234"/>
                    <a:pt x="212" y="141"/>
                    <a:pt x="379" y="141"/>
                  </a:cubicBezTo>
                  <a:cubicBezTo>
                    <a:pt x="641" y="141"/>
                    <a:pt x="874" y="370"/>
                    <a:pt x="898" y="652"/>
                  </a:cubicBezTo>
                  <a:cubicBezTo>
                    <a:pt x="912" y="817"/>
                    <a:pt x="852" y="964"/>
                    <a:pt x="746" y="1058"/>
                  </a:cubicBezTo>
                  <a:cubicBezTo>
                    <a:pt x="931" y="1058"/>
                    <a:pt x="931" y="1058"/>
                    <a:pt x="931" y="1058"/>
                  </a:cubicBezTo>
                  <a:cubicBezTo>
                    <a:pt x="1004" y="946"/>
                    <a:pt x="1042" y="805"/>
                    <a:pt x="1029" y="652"/>
                  </a:cubicBezTo>
                  <a:cubicBezTo>
                    <a:pt x="998" y="292"/>
                    <a:pt x="701" y="0"/>
                    <a:pt x="367" y="0"/>
                  </a:cubicBezTo>
                  <a:close/>
                  <a:moveTo>
                    <a:pt x="0" y="847"/>
                  </a:moveTo>
                  <a:cubicBezTo>
                    <a:pt x="0" y="1021"/>
                    <a:pt x="0" y="1021"/>
                    <a:pt x="0" y="1021"/>
                  </a:cubicBezTo>
                  <a:cubicBezTo>
                    <a:pt x="12" y="1034"/>
                    <a:pt x="24" y="1045"/>
                    <a:pt x="36" y="1058"/>
                  </a:cubicBezTo>
                  <a:cubicBezTo>
                    <a:pt x="234" y="1058"/>
                    <a:pt x="234" y="1058"/>
                    <a:pt x="234" y="1058"/>
                  </a:cubicBezTo>
                  <a:cubicBezTo>
                    <a:pt x="169" y="1058"/>
                    <a:pt x="169" y="1058"/>
                    <a:pt x="169" y="1058"/>
                  </a:cubicBezTo>
                  <a:cubicBezTo>
                    <a:pt x="98" y="1003"/>
                    <a:pt x="39" y="931"/>
                    <a:pt x="0" y="847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5000">
        <p:blinds dir="vert"/>
      </p:transition>
    </mc:Choice>
    <mc:Fallback>
      <p:transition spd="slow" advClick="0" advTm="5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5000">
        <p:blinds dir="vert"/>
      </p:transition>
    </mc:Choice>
    <mc:Fallback>
      <p:transition spd="slow" advClick="0" advTm="5000">
        <p:blinds dir="vert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矩形 14"/>
          <p:cNvSpPr/>
          <p:nvPr userDrawn="1"/>
        </p:nvSpPr>
        <p:spPr>
          <a:xfrm>
            <a:off x="875874" y="170094"/>
            <a:ext cx="5072165" cy="5355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875874" y="170095"/>
            <a:ext cx="9138138" cy="5355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marL="0" indent="0">
              <a:buFontTx/>
              <a:buNone/>
              <a:defRPr lang="zh-CN" altLang="en-US" sz="2400" spc="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>
              <a:lnSpc>
                <a:spcPct val="120000"/>
              </a:lnSpc>
            </a:pPr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Click="0" advTm="5000">
        <p14:warp dir="in"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>
        <p:tmplLst>
          <p:tmpl lvl="0">
            <p:tnLst>
              <p:par>
                <p:cTn presetID="53" presetClass="entr" presetSubtype="16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固定模板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Click="0" advTm="5000">
        <p14:warp dir="in"/>
      </p:transition>
    </mc:Choice>
    <mc:Fallback>
      <p:transition spd="slow" advClick="0" advTm="5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母板空白（中文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Click="0" advTm="5000">
        <p14:warp dir="in"/>
      </p:transition>
    </mc:Choice>
    <mc:Fallback>
      <p:transition spd="slow" advClick="0" advTm="5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8427552" y="4032764"/>
            <a:ext cx="3503520" cy="2164429"/>
          </a:xfrm>
          <a:custGeom>
            <a:avLst/>
            <a:gdLst>
              <a:gd name="connsiteX0" fmla="*/ 0 w 3503520"/>
              <a:gd name="connsiteY0" fmla="*/ 0 h 2164429"/>
              <a:gd name="connsiteX1" fmla="*/ 3503520 w 3503520"/>
              <a:gd name="connsiteY1" fmla="*/ 0 h 2164429"/>
              <a:gd name="connsiteX2" fmla="*/ 3503520 w 3503520"/>
              <a:gd name="connsiteY2" fmla="*/ 2164429 h 2164429"/>
              <a:gd name="connsiteX3" fmla="*/ 0 w 3503520"/>
              <a:gd name="connsiteY3" fmla="*/ 2164429 h 2164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3520" h="2164429">
                <a:moveTo>
                  <a:pt x="0" y="0"/>
                </a:moveTo>
                <a:lnTo>
                  <a:pt x="3503520" y="0"/>
                </a:lnTo>
                <a:lnTo>
                  <a:pt x="3503520" y="2164429"/>
                </a:lnTo>
                <a:lnTo>
                  <a:pt x="0" y="2164429"/>
                </a:lnTo>
                <a:close/>
              </a:path>
            </a:pathLst>
          </a:custGeom>
          <a:blipFill>
            <a:blip r:embed="rId2" cstate="print"/>
            <a:tile tx="0" ty="0" sx="100000" sy="100000" flip="none" algn="tl"/>
          </a:blipFill>
        </p:spPr>
        <p:txBody>
          <a:bodyPr wrap="square">
            <a:noAutofit/>
          </a:bodyPr>
          <a:lstStyle>
            <a:lvl1pPr>
              <a:defRPr sz="1000">
                <a:solidFill>
                  <a:srgbClr val="C00000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3"/>
          </p:nvPr>
        </p:nvSpPr>
        <p:spPr>
          <a:xfrm>
            <a:off x="8400256" y="1440473"/>
            <a:ext cx="3503520" cy="2304256"/>
          </a:xfrm>
          <a:custGeom>
            <a:avLst/>
            <a:gdLst>
              <a:gd name="connsiteX0" fmla="*/ 0 w 3503520"/>
              <a:gd name="connsiteY0" fmla="*/ 0 h 2304256"/>
              <a:gd name="connsiteX1" fmla="*/ 3503520 w 3503520"/>
              <a:gd name="connsiteY1" fmla="*/ 0 h 2304256"/>
              <a:gd name="connsiteX2" fmla="*/ 3503520 w 3503520"/>
              <a:gd name="connsiteY2" fmla="*/ 2304256 h 2304256"/>
              <a:gd name="connsiteX3" fmla="*/ 0 w 3503520"/>
              <a:gd name="connsiteY3" fmla="*/ 2304256 h 230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3520" h="2304256">
                <a:moveTo>
                  <a:pt x="0" y="0"/>
                </a:moveTo>
                <a:lnTo>
                  <a:pt x="3503520" y="0"/>
                </a:lnTo>
                <a:lnTo>
                  <a:pt x="3503520" y="2304256"/>
                </a:lnTo>
                <a:lnTo>
                  <a:pt x="0" y="2304256"/>
                </a:lnTo>
                <a:close/>
              </a:path>
            </a:pathLst>
          </a:custGeom>
          <a:blipFill>
            <a:blip r:embed="rId2" cstate="print"/>
            <a:tile tx="0" ty="0" sx="100000" sy="100000" flip="none" algn="tl"/>
          </a:blipFill>
        </p:spPr>
        <p:txBody>
          <a:bodyPr wrap="square">
            <a:noAutofit/>
          </a:bodyPr>
          <a:lstStyle>
            <a:lvl1pPr>
              <a:defRPr sz="1000">
                <a:solidFill>
                  <a:srgbClr val="C00000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4"/>
          </p:nvPr>
        </p:nvSpPr>
        <p:spPr>
          <a:xfrm>
            <a:off x="431372" y="1440475"/>
            <a:ext cx="7008779" cy="4750663"/>
          </a:xfrm>
          <a:custGeom>
            <a:avLst/>
            <a:gdLst>
              <a:gd name="connsiteX0" fmla="*/ 0 w 7008779"/>
              <a:gd name="connsiteY0" fmla="*/ 0 h 4750663"/>
              <a:gd name="connsiteX1" fmla="*/ 7008779 w 7008779"/>
              <a:gd name="connsiteY1" fmla="*/ 0 h 4750663"/>
              <a:gd name="connsiteX2" fmla="*/ 7008779 w 7008779"/>
              <a:gd name="connsiteY2" fmla="*/ 4750663 h 4750663"/>
              <a:gd name="connsiteX3" fmla="*/ 0 w 7008779"/>
              <a:gd name="connsiteY3" fmla="*/ 4750663 h 4750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08779" h="4750663">
                <a:moveTo>
                  <a:pt x="0" y="0"/>
                </a:moveTo>
                <a:lnTo>
                  <a:pt x="7008779" y="0"/>
                </a:lnTo>
                <a:lnTo>
                  <a:pt x="7008779" y="4750663"/>
                </a:lnTo>
                <a:lnTo>
                  <a:pt x="0" y="4750663"/>
                </a:lnTo>
                <a:close/>
              </a:path>
            </a:pathLst>
          </a:custGeom>
          <a:blipFill>
            <a:blip r:embed="rId2" cstate="print"/>
            <a:tile tx="0" ty="0" sx="100000" sy="100000" flip="none" algn="tl"/>
          </a:blipFill>
        </p:spPr>
        <p:txBody>
          <a:bodyPr wrap="square">
            <a:noAutofit/>
          </a:bodyPr>
          <a:lstStyle>
            <a:lvl1pPr>
              <a:defRPr sz="1000">
                <a:solidFill>
                  <a:srgbClr val="C00000"/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 advClick="0" advTm="5000">
        <p14:warp dir="in"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6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5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125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15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5" presetClass="entr" presetSubtype="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5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5" presetClass="entr" presetSubtype="0" fill="hold" grpId="1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4" grpId="0" animBg="1"/>
      <p:bldP spid="14" grpId="1" animBg="1"/>
      <p:bldP spid="13" grpId="0" animBg="1"/>
      <p:bldP spid="13" grpId="1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image" Target="../media/image6.png"/><Relationship Id="rId6" Type="http://schemas.openxmlformats.org/officeDocument/2006/relationships/image" Target="../media/image3.png"/><Relationship Id="rId5" Type="http://schemas.openxmlformats.org/officeDocument/2006/relationships/tags" Target="../tags/tag8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_矩形 1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0" cstate="print"/>
            <a:srcRect/>
            <a:tile tx="0" ty="0" sx="100000" sy="100000" flip="none" algn="tl"/>
          </a:blip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>
    <mc:Choice xmlns:p14="http://schemas.microsoft.com/office/powerpoint/2010/main" Requires="p14">
      <p:transition p14:dur="1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875874" y="613132"/>
            <a:ext cx="9138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Please replace text, click add relevant headline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875874" y="188883"/>
            <a:ext cx="7716583" cy="4979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在此处输入标题文字内容</a:t>
            </a:r>
            <a:endParaRPr lang="en-US" altLang="zh-CN" sz="2400" spc="3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5" name="PA_图片 2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29" y="309502"/>
            <a:ext cx="643645" cy="5251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矩形 1"/>
          <p:cNvSpPr/>
          <p:nvPr userDrawn="1"/>
        </p:nvSpPr>
        <p:spPr>
          <a:xfrm>
            <a:off x="2508" y="6444342"/>
            <a:ext cx="12189492" cy="413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2508" y="950177"/>
            <a:ext cx="12189492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图片包含 事情, 物体&#10;&#10;已生成高可信度的说明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012" y="188883"/>
            <a:ext cx="1816523" cy="7448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</p:sldLayoutIdLst>
  <mc:AlternateContent xmlns:mc="http://schemas.openxmlformats.org/markup-compatibility/2006">
    <mc:Choice xmlns:p14="http://schemas.microsoft.com/office/powerpoint/2010/main" Requires="p14">
      <p:transition spd="slow" p14:dur="900" advClick="0" advTm="5000">
        <p14:warp dir="in"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1" grpId="2"/>
      <p:bldP spid="11" grpId="3"/>
      <p:bldP spid="11" grpId="4"/>
      <p:bldP spid="11" grpId="5"/>
      <p:bldP spid="11" grpId="6"/>
      <p:bldP spid="11" grpId="7"/>
      <p:bldP spid="11" grpId="8"/>
      <p:bldP spid="11" grpId="9"/>
      <p:bldP spid="11" grpId="10"/>
      <p:bldP spid="11" grpId="11"/>
      <p:bldP spid="11" grpId="12"/>
      <p:bldP spid="11" grpId="13"/>
      <p:bldP spid="11" grpId="14"/>
      <p:bldP spid="11" grpId="15"/>
      <p:bldP spid="11" grpId="16"/>
      <p:bldP spid="11" grpId="17"/>
      <p:bldP spid="11" grpId="18"/>
      <p:bldP spid="13" grpId="0"/>
      <p:bldP spid="13" grpId="1"/>
      <p:bldP spid="13" grpId="2"/>
      <p:bldP spid="13" grpId="3"/>
      <p:bldP spid="13" grpId="4"/>
      <p:bldP spid="13" grpId="5"/>
      <p:bldP spid="13" grpId="6"/>
      <p:bldP spid="13" grpId="7"/>
      <p:bldP spid="13" grpId="8"/>
      <p:bldP spid="13" grpId="9"/>
      <p:bldP spid="13" grpId="10"/>
      <p:bldP spid="13" grpId="11"/>
      <p:bldP spid="13" grpId="12"/>
      <p:bldP spid="13" grpId="13"/>
      <p:bldP spid="13" grpId="14"/>
      <p:bldP spid="13" grpId="15"/>
      <p:bldP spid="13" grpId="16"/>
      <p:bldP spid="13" grpId="17"/>
      <p:bldP spid="13" grpId="18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67965" y="4060190"/>
            <a:ext cx="3649345" cy="509905"/>
          </a:xfrm>
          <a:prstGeom prst="rect">
            <a:avLst/>
          </a:prstGeom>
          <a:solidFill>
            <a:srgbClr val="1A74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2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进制转换总结和二进制计算</a:t>
            </a:r>
            <a:endParaRPr lang="zh-CN" sz="2200" dirty="0" smtClean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787015" y="3202305"/>
            <a:ext cx="3630930" cy="509905"/>
          </a:xfrm>
          <a:prstGeom prst="rect">
            <a:avLst/>
          </a:prstGeom>
          <a:solidFill>
            <a:srgbClr val="1A74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方正粗宋简体" panose="03000509000000000000" pitchFamily="65" charset="-122"/>
                <a:ea typeface="方正粗宋简体" panose="03000509000000000000" pitchFamily="65" charset="-122"/>
                <a:sym typeface="+mn-ea"/>
              </a:rPr>
              <a:t>计算机信息表示</a:t>
            </a:r>
            <a:endParaRPr lang="id-ID" altLang="zh-CN" sz="2800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12" name="Title 3"/>
          <p:cNvSpPr txBox="1"/>
          <p:nvPr/>
        </p:nvSpPr>
        <p:spPr>
          <a:xfrm>
            <a:off x="942459" y="3200281"/>
            <a:ext cx="1625095" cy="558085"/>
          </a:xfrm>
          <a:prstGeom prst="rect">
            <a:avLst/>
          </a:prstGeom>
          <a:noFill/>
        </p:spPr>
        <p:txBody>
          <a:bodyPr wrap="none" lIns="65009" tIns="32504" rIns="65009" bIns="32504">
            <a:spAutoFit/>
          </a:bodyPr>
          <a:lstStyle>
            <a:defPPr>
              <a:defRPr lang="zh-CN"/>
            </a:defPPr>
            <a:lvl1pPr>
              <a:defRPr sz="4000" b="0" spc="284">
                <a:solidFill>
                  <a:schemeClr val="accent2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  <a:cs typeface="Arial" panose="020B0604020202020204" pitchFamily="34" charset="0"/>
              </a:defRPr>
            </a:lvl1pPr>
          </a:lstStyle>
          <a:p>
            <a:r>
              <a:rPr lang="zh-CN" altLang="en-US" sz="3200" dirty="0"/>
              <a:t>章 名：</a:t>
            </a:r>
            <a:endParaRPr lang="id-ID" sz="3200" dirty="0"/>
          </a:p>
        </p:txBody>
      </p:sp>
      <p:sp>
        <p:nvSpPr>
          <p:cNvPr id="14" name="Title 3"/>
          <p:cNvSpPr txBox="1"/>
          <p:nvPr/>
        </p:nvSpPr>
        <p:spPr>
          <a:xfrm>
            <a:off x="933163" y="4929847"/>
            <a:ext cx="1509678" cy="434975"/>
          </a:xfrm>
          <a:prstGeom prst="rect">
            <a:avLst/>
          </a:prstGeom>
          <a:noFill/>
        </p:spPr>
        <p:txBody>
          <a:bodyPr wrap="none" lIns="65009" tIns="32504" rIns="65009" bIns="32504">
            <a:spAutoFit/>
          </a:bodyPr>
          <a:lstStyle>
            <a:defPPr>
              <a:defRPr lang="zh-CN"/>
            </a:defPPr>
            <a:lvl1pPr>
              <a:defRPr sz="4000" b="1" spc="284">
                <a:solidFill>
                  <a:schemeClr val="accent2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  <a:cs typeface="Arial" panose="020B0604020202020204" pitchFamily="34" charset="0"/>
              </a:defRPr>
            </a:lvl1pPr>
          </a:lstStyle>
          <a:p>
            <a:r>
              <a:rPr lang="zh-CN" altLang="en-US" sz="2400" b="0" dirty="0"/>
              <a:t>主讲人</a:t>
            </a:r>
            <a:r>
              <a:rPr lang="zh-CN" altLang="en-US" sz="2400" dirty="0"/>
              <a:t>：</a:t>
            </a:r>
            <a:endParaRPr lang="id-ID" sz="2400" dirty="0"/>
          </a:p>
        </p:txBody>
      </p:sp>
      <p:sp>
        <p:nvSpPr>
          <p:cNvPr id="16" name="Title 3"/>
          <p:cNvSpPr txBox="1"/>
          <p:nvPr/>
        </p:nvSpPr>
        <p:spPr>
          <a:xfrm>
            <a:off x="2767965" y="4924425"/>
            <a:ext cx="3649980" cy="509905"/>
          </a:xfrm>
          <a:prstGeom prst="rect">
            <a:avLst/>
          </a:prstGeom>
          <a:solidFill>
            <a:srgbClr val="1A74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3200">
                <a:latin typeface="+mn-ea"/>
              </a:defRPr>
            </a:lvl1pPr>
          </a:lstStyle>
          <a:p>
            <a:endParaRPr lang="zh-CN" sz="2400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18" name="Title 3"/>
          <p:cNvSpPr txBox="1"/>
          <p:nvPr/>
        </p:nvSpPr>
        <p:spPr>
          <a:xfrm>
            <a:off x="933163" y="4062786"/>
            <a:ext cx="1625095" cy="558085"/>
          </a:xfrm>
          <a:prstGeom prst="rect">
            <a:avLst/>
          </a:prstGeom>
          <a:noFill/>
        </p:spPr>
        <p:txBody>
          <a:bodyPr wrap="none" lIns="65009" tIns="32504" rIns="65009" bIns="32504">
            <a:spAutoFit/>
          </a:bodyPr>
          <a:lstStyle>
            <a:defPPr>
              <a:defRPr lang="zh-CN"/>
            </a:defPPr>
            <a:lvl1pPr>
              <a:defRPr sz="4000" b="0" spc="284">
                <a:solidFill>
                  <a:schemeClr val="accent2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  <a:cs typeface="Arial" panose="020B0604020202020204" pitchFamily="34" charset="0"/>
              </a:defRPr>
            </a:lvl1pPr>
          </a:lstStyle>
          <a:p>
            <a:r>
              <a:rPr lang="zh-CN" altLang="en-US" sz="3200" dirty="0"/>
              <a:t>节 名：</a:t>
            </a:r>
            <a:endParaRPr lang="id-ID" sz="32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49"/>
                            </p:stCondLst>
                            <p:childTnLst>
                              <p:par>
                                <p:cTn id="23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649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12" grpId="0"/>
      <p:bldP spid="14" grpId="0"/>
      <p:bldP spid="16" grpId="0" bldLvl="0" animBg="1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>
            <a:spLocks noChangeAspect="1"/>
          </p:cNvSpPr>
          <p:nvPr/>
        </p:nvSpPr>
        <p:spPr bwMode="auto">
          <a:xfrm>
            <a:off x="2567557" y="1583133"/>
            <a:ext cx="767667" cy="729352"/>
          </a:xfrm>
          <a:prstGeom prst="ellips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791" tIns="54395" rIns="108791" bIns="54395" numCol="1" rtlCol="0" anchor="t" anchorCtr="0" compatLnSpc="1"/>
          <a:lstStyle/>
          <a:p>
            <a:pPr marL="0" marR="0" lvl="0" indent="0" algn="l" defTabSz="1087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椭圆 3"/>
          <p:cNvSpPr>
            <a:spLocks noChangeAspect="1"/>
          </p:cNvSpPr>
          <p:nvPr/>
        </p:nvSpPr>
        <p:spPr bwMode="auto">
          <a:xfrm>
            <a:off x="2889990" y="3144713"/>
            <a:ext cx="767667" cy="729352"/>
          </a:xfrm>
          <a:prstGeom prst="ellips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791" tIns="54395" rIns="108791" bIns="54395" numCol="1" rtlCol="0" anchor="t" anchorCtr="0" compatLnSpc="1"/>
          <a:lstStyle/>
          <a:p>
            <a:pPr marL="0" marR="0" lvl="0" indent="0" algn="l" defTabSz="1087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椭圆 4"/>
          <p:cNvSpPr>
            <a:spLocks noChangeAspect="1"/>
          </p:cNvSpPr>
          <p:nvPr/>
        </p:nvSpPr>
        <p:spPr bwMode="auto">
          <a:xfrm>
            <a:off x="2562700" y="4672461"/>
            <a:ext cx="767667" cy="729352"/>
          </a:xfrm>
          <a:prstGeom prst="ellips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791" tIns="54395" rIns="108791" bIns="54395" numCol="1" rtlCol="0" anchor="t" anchorCtr="0" compatLnSpc="1"/>
          <a:lstStyle/>
          <a:p>
            <a:pPr marL="0" marR="0" lvl="0" indent="0" algn="l" defTabSz="1087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圆角矩形 62"/>
          <p:cNvSpPr/>
          <p:nvPr/>
        </p:nvSpPr>
        <p:spPr bwMode="auto">
          <a:xfrm>
            <a:off x="3462240" y="1660631"/>
            <a:ext cx="3743778" cy="608335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791" tIns="54395" rIns="108791" bIns="54395" numCol="1" rtlCol="0" anchor="t" anchorCtr="0" compatLnSpc="1"/>
          <a:lstStyle/>
          <a:p>
            <a:pPr marL="0" marR="0" lvl="0" indent="0" algn="l" defTabSz="1087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圆角矩形 63"/>
          <p:cNvSpPr/>
          <p:nvPr/>
        </p:nvSpPr>
        <p:spPr bwMode="auto">
          <a:xfrm>
            <a:off x="3704590" y="3124835"/>
            <a:ext cx="3858260" cy="608330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791" tIns="54395" rIns="108791" bIns="54395" numCol="1" rtlCol="0" anchor="t" anchorCtr="0" compatLnSpc="1"/>
          <a:lstStyle/>
          <a:p>
            <a:pPr marL="0" marR="0" lvl="0" indent="0" algn="l" defTabSz="1087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圆角矩形 64"/>
          <p:cNvSpPr/>
          <p:nvPr/>
        </p:nvSpPr>
        <p:spPr bwMode="auto">
          <a:xfrm>
            <a:off x="3481070" y="4730750"/>
            <a:ext cx="3697652" cy="608330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791" tIns="54395" rIns="108791" bIns="54395" numCol="1" rtlCol="0" anchor="t" anchorCtr="0" compatLnSpc="1"/>
          <a:lstStyle/>
          <a:p>
            <a:pPr marL="0" marR="0" lvl="0" indent="0" algn="l" defTabSz="10877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1" name="TextBox 66"/>
          <p:cNvSpPr txBox="1"/>
          <p:nvPr/>
        </p:nvSpPr>
        <p:spPr>
          <a:xfrm>
            <a:off x="4119388" y="1695722"/>
            <a:ext cx="2374143" cy="540740"/>
          </a:xfrm>
          <a:prstGeom prst="rect">
            <a:avLst/>
          </a:prstGeom>
          <a:noFill/>
        </p:spPr>
        <p:txBody>
          <a:bodyPr wrap="none" lIns="108791" tIns="54395" rIns="108791" bIns="5439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进制转换总结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TextBox 67"/>
          <p:cNvSpPr txBox="1"/>
          <p:nvPr/>
        </p:nvSpPr>
        <p:spPr>
          <a:xfrm>
            <a:off x="3953351" y="3185270"/>
            <a:ext cx="3161030" cy="538480"/>
          </a:xfrm>
          <a:prstGeom prst="rect">
            <a:avLst/>
          </a:prstGeom>
          <a:noFill/>
        </p:spPr>
        <p:txBody>
          <a:bodyPr wrap="none" lIns="108791" tIns="54395" rIns="108791" bIns="5439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28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二进制的算术运算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TextBox 68"/>
          <p:cNvSpPr txBox="1"/>
          <p:nvPr/>
        </p:nvSpPr>
        <p:spPr>
          <a:xfrm>
            <a:off x="3748728" y="4800912"/>
            <a:ext cx="3092288" cy="540740"/>
          </a:xfrm>
          <a:prstGeom prst="rect">
            <a:avLst/>
          </a:prstGeom>
          <a:noFill/>
        </p:spPr>
        <p:txBody>
          <a:bodyPr wrap="none" lIns="108791" tIns="54395" rIns="108791" bIns="5439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二进制的逻辑运算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5" name="TextBox 70"/>
          <p:cNvSpPr txBox="1"/>
          <p:nvPr/>
        </p:nvSpPr>
        <p:spPr>
          <a:xfrm>
            <a:off x="2702852" y="1672471"/>
            <a:ext cx="476187" cy="663722"/>
          </a:xfrm>
          <a:prstGeom prst="rect">
            <a:avLst/>
          </a:prstGeom>
          <a:noFill/>
        </p:spPr>
        <p:txBody>
          <a:bodyPr wrap="none" lIns="108791" tIns="54395" rIns="108791" bIns="5439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TextBox 71"/>
          <p:cNvSpPr txBox="1"/>
          <p:nvPr/>
        </p:nvSpPr>
        <p:spPr>
          <a:xfrm>
            <a:off x="3004738" y="3177568"/>
            <a:ext cx="476187" cy="663722"/>
          </a:xfrm>
          <a:prstGeom prst="rect">
            <a:avLst/>
          </a:prstGeom>
          <a:noFill/>
        </p:spPr>
        <p:txBody>
          <a:bodyPr wrap="none" lIns="108791" tIns="54395" rIns="108791" bIns="5439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7" name="TextBox 72"/>
          <p:cNvSpPr txBox="1"/>
          <p:nvPr/>
        </p:nvSpPr>
        <p:spPr>
          <a:xfrm>
            <a:off x="2717746" y="4696241"/>
            <a:ext cx="476187" cy="663722"/>
          </a:xfrm>
          <a:prstGeom prst="rect">
            <a:avLst/>
          </a:prstGeom>
          <a:noFill/>
        </p:spPr>
        <p:txBody>
          <a:bodyPr wrap="none" lIns="108791" tIns="54395" rIns="108791" bIns="5439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3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TextBox 73"/>
          <p:cNvSpPr txBox="1"/>
          <p:nvPr/>
        </p:nvSpPr>
        <p:spPr>
          <a:xfrm>
            <a:off x="2413799" y="5816556"/>
            <a:ext cx="476187" cy="663722"/>
          </a:xfrm>
          <a:prstGeom prst="rect">
            <a:avLst/>
          </a:prstGeom>
          <a:noFill/>
        </p:spPr>
        <p:txBody>
          <a:bodyPr wrap="none" lIns="108791" tIns="54395" rIns="108791" bIns="5439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4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521 0.27569 L -1.04167E-6 1.11111E-6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60" y="-13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5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8333 0.079907 L -0.000365 -0.004722 " pathEditMode="relative" rAng="0" ptsTypes="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" y="-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6510 -0.127315 L -0.007917 -0.008611 " pathEditMode="relative" rAng="0" ptsTypes="">
                                      <p:cBhvr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" y="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bldLvl="0" animBg="1"/>
      <p:bldP spid="4" grpId="1" bldLvl="0" animBg="1"/>
      <p:bldP spid="5" grpId="0" bldLvl="0" animBg="1"/>
      <p:bldP spid="5" grpId="1" bldLvl="0" animBg="1"/>
      <p:bldP spid="7" grpId="0" animBg="1"/>
      <p:bldP spid="8" grpId="0" bldLvl="0" animBg="1"/>
      <p:bldP spid="9" grpId="0" bldLvl="0" animBg="1"/>
      <p:bldP spid="11" grpId="0"/>
      <p:bldP spid="12" grpId="0"/>
      <p:bldP spid="13" grpId="0"/>
      <p:bldP spid="15" grpId="0"/>
      <p:bldP spid="16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924693" y="120457"/>
            <a:ext cx="7716583" cy="6076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sz="28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进制转换总结</a:t>
            </a:r>
            <a:endParaRPr lang="zh-CN" sz="2800" spc="300" dirty="0">
              <a:solidFill>
                <a:schemeClr val="tx1">
                  <a:lumMod val="75000"/>
                  <a:lumOff val="25000"/>
                </a:schemeClr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23875" y="1057275"/>
            <a:ext cx="4883150" cy="645160"/>
            <a:chOff x="917" y="4577"/>
            <a:chExt cx="7690" cy="1016"/>
          </a:xfrm>
        </p:grpSpPr>
        <p:sp>
          <p:nvSpPr>
            <p:cNvPr id="6" name="文本框 5"/>
            <p:cNvSpPr txBox="1"/>
            <p:nvPr/>
          </p:nvSpPr>
          <p:spPr>
            <a:xfrm>
              <a:off x="917" y="4577"/>
              <a:ext cx="3100" cy="95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indent="0" algn="l">
                <a:lnSpc>
                  <a:spcPct val="120000"/>
                </a:lnSpc>
                <a:buFont typeface="Wingdings" panose="05000000000000000000" charset="0"/>
                <a:buNone/>
              </a:pPr>
              <a:r>
                <a:rPr lang="zh-CN" altLang="en-US" sz="2800" b="1" dirty="0" smtClean="0">
                  <a:solidFill>
                    <a:srgbClr val="C00000"/>
                  </a:solidFill>
                </a:rPr>
                <a:t>非十进制    </a:t>
              </a:r>
              <a:endParaRPr lang="zh-CN" altLang="en-US" sz="2800" b="1" dirty="0" smtClean="0">
                <a:solidFill>
                  <a:srgbClr val="C00000"/>
                </a:solidFill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507" y="4636"/>
              <a:ext cx="3100" cy="95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indent="0" algn="l">
                <a:lnSpc>
                  <a:spcPct val="120000"/>
                </a:lnSpc>
                <a:buFont typeface="Wingdings" panose="05000000000000000000" charset="0"/>
                <a:buNone/>
              </a:pPr>
              <a:r>
                <a:rPr lang="zh-CN" altLang="en-US" sz="2800" b="1" dirty="0" smtClean="0">
                  <a:solidFill>
                    <a:srgbClr val="C00000"/>
                  </a:solidFill>
                </a:rPr>
                <a:t>十进制     </a:t>
              </a:r>
              <a:endParaRPr lang="zh-CN" altLang="en-US" sz="2800" b="1" dirty="0" smtClean="0">
                <a:solidFill>
                  <a:srgbClr val="C00000"/>
                </a:solidFill>
              </a:endParaRPr>
            </a:p>
          </p:txBody>
        </p:sp>
        <p:sp>
          <p:nvSpPr>
            <p:cNvPr id="11" name="右箭头 10"/>
            <p:cNvSpPr/>
            <p:nvPr/>
          </p:nvSpPr>
          <p:spPr>
            <a:xfrm>
              <a:off x="4075" y="4813"/>
              <a:ext cx="1189" cy="68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23875" y="1702435"/>
            <a:ext cx="4975860" cy="612775"/>
            <a:chOff x="917" y="4577"/>
            <a:chExt cx="7836" cy="965"/>
          </a:xfrm>
        </p:grpSpPr>
        <p:sp>
          <p:nvSpPr>
            <p:cNvPr id="18" name="文本框 17"/>
            <p:cNvSpPr txBox="1"/>
            <p:nvPr/>
          </p:nvSpPr>
          <p:spPr>
            <a:xfrm>
              <a:off x="917" y="4577"/>
              <a:ext cx="3100" cy="95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indent="0" algn="l">
                <a:lnSpc>
                  <a:spcPct val="120000"/>
                </a:lnSpc>
                <a:buFont typeface="Wingdings" panose="05000000000000000000" charset="0"/>
                <a:buNone/>
              </a:pPr>
              <a:r>
                <a:rPr lang="zh-CN" altLang="en-US" sz="2800" b="1" dirty="0" smtClean="0">
                  <a:solidFill>
                    <a:schemeClr val="accent1">
                      <a:lumMod val="90000"/>
                      <a:lumOff val="10000"/>
                    </a:schemeClr>
                  </a:solidFill>
                </a:rPr>
                <a:t>十进制     </a:t>
              </a:r>
              <a:endParaRPr lang="zh-CN" altLang="en-US" sz="28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653" y="4585"/>
              <a:ext cx="3100" cy="95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indent="0" algn="l">
                <a:lnSpc>
                  <a:spcPct val="120000"/>
                </a:lnSpc>
                <a:buFont typeface="Wingdings" panose="05000000000000000000" charset="0"/>
                <a:buNone/>
              </a:pPr>
              <a:r>
                <a:rPr lang="zh-CN" altLang="en-US" sz="2800" b="1" dirty="0" smtClean="0">
                  <a:solidFill>
                    <a:schemeClr val="accent1">
                      <a:lumMod val="90000"/>
                      <a:lumOff val="10000"/>
                    </a:schemeClr>
                  </a:solidFill>
                </a:rPr>
                <a:t>非十进制     </a:t>
              </a:r>
              <a:endParaRPr lang="zh-CN" altLang="en-US" sz="28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13" name="右箭头 12"/>
            <p:cNvSpPr/>
            <p:nvPr/>
          </p:nvSpPr>
          <p:spPr>
            <a:xfrm>
              <a:off x="4075" y="4758"/>
              <a:ext cx="1189" cy="68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523996" y="2372995"/>
            <a:ext cx="6320290" cy="607695"/>
            <a:chOff x="1558" y="7092"/>
            <a:chExt cx="9953" cy="957"/>
          </a:xfrm>
        </p:grpSpPr>
        <p:grpSp>
          <p:nvGrpSpPr>
            <p:cNvPr id="21" name="组合 20"/>
            <p:cNvGrpSpPr/>
            <p:nvPr/>
          </p:nvGrpSpPr>
          <p:grpSpPr>
            <a:xfrm>
              <a:off x="1558" y="7092"/>
              <a:ext cx="9953" cy="957"/>
              <a:chOff x="1111" y="4558"/>
              <a:chExt cx="9015" cy="957"/>
            </a:xfrm>
          </p:grpSpPr>
          <p:sp>
            <p:nvSpPr>
              <p:cNvPr id="14" name="文本框 13"/>
              <p:cNvSpPr txBox="1"/>
              <p:nvPr/>
            </p:nvSpPr>
            <p:spPr>
              <a:xfrm>
                <a:off x="1111" y="4558"/>
                <a:ext cx="2700" cy="95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indent="0" algn="l">
                  <a:lnSpc>
                    <a:spcPct val="120000"/>
                  </a:lnSpc>
                  <a:buFont typeface="Wingdings" panose="05000000000000000000" charset="0"/>
                  <a:buNone/>
                </a:pPr>
                <a:r>
                  <a:rPr lang="zh-CN" altLang="en-US" sz="2800" b="1" dirty="0" smtClean="0">
                    <a:solidFill>
                      <a:schemeClr val="accent1">
                        <a:lumMod val="90000"/>
                        <a:lumOff val="10000"/>
                      </a:schemeClr>
                    </a:solidFill>
                  </a:rPr>
                  <a:t>二进制    </a:t>
                </a:r>
                <a:endParaRPr lang="zh-CN" altLang="en-US" sz="2800" b="1" dirty="0" smtClean="0">
                  <a:solidFill>
                    <a:schemeClr val="accent1">
                      <a:lumMod val="90000"/>
                      <a:lumOff val="10000"/>
                    </a:schemeClr>
                  </a:solidFill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5401" y="4558"/>
                <a:ext cx="4725" cy="95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indent="0" algn="l">
                  <a:lnSpc>
                    <a:spcPct val="120000"/>
                  </a:lnSpc>
                  <a:buFont typeface="Wingdings" panose="05000000000000000000" charset="0"/>
                  <a:buNone/>
                </a:pPr>
                <a:r>
                  <a:rPr lang="zh-CN" altLang="en-US" sz="2800" b="1" dirty="0" smtClean="0">
                    <a:solidFill>
                      <a:schemeClr val="accent1">
                        <a:lumMod val="90000"/>
                        <a:lumOff val="10000"/>
                      </a:schemeClr>
                    </a:solidFill>
                  </a:rPr>
                  <a:t>八、十六进制     </a:t>
                </a:r>
                <a:endParaRPr lang="zh-CN" altLang="en-US" sz="2800" b="1" dirty="0" smtClean="0">
                  <a:solidFill>
                    <a:schemeClr val="accent1">
                      <a:lumMod val="90000"/>
                      <a:lumOff val="10000"/>
                    </a:schemeClr>
                  </a:solidFill>
                </a:endParaRPr>
              </a:p>
            </p:txBody>
          </p:sp>
        </p:grpSp>
        <p:sp>
          <p:nvSpPr>
            <p:cNvPr id="25" name="左右箭头 24"/>
            <p:cNvSpPr/>
            <p:nvPr/>
          </p:nvSpPr>
          <p:spPr>
            <a:xfrm>
              <a:off x="4614" y="7239"/>
              <a:ext cx="1356" cy="701"/>
            </a:xfrm>
            <a:prstGeom prst="left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394970" y="5174933"/>
            <a:ext cx="7005320" cy="9772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indent="0" algn="l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sz="2400" b="1" kern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   </a:t>
            </a:r>
            <a:r>
              <a:rPr lang="zh-CN" altLang="en-US" sz="2400" b="1" kern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（   </a:t>
            </a:r>
            <a:r>
              <a:rPr lang="en-US" altLang="zh-CN" sz="2400" b="1" kern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3    1   3  .  2    5  </a:t>
            </a:r>
            <a:r>
              <a:rPr lang="zh-CN" altLang="en-US" sz="2400" b="1" kern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）</a:t>
            </a:r>
            <a:r>
              <a:rPr lang="en-US" altLang="zh-CN" sz="2400" b="1" kern="0" baseline="-250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10</a:t>
            </a:r>
            <a:endParaRPr lang="en-US" altLang="zh-CN" sz="2400" b="1" kern="0" baseline="-2500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sym typeface="+mn-ea"/>
            </a:endParaRPr>
          </a:p>
          <a:p>
            <a:pPr indent="0" algn="l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sz="2400" b="1" kern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=</a:t>
            </a:r>
            <a:r>
              <a:rPr lang="zh-CN" altLang="en-US" sz="2400" b="1" kern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  </a:t>
            </a:r>
            <a:r>
              <a:rPr lang="en-US" altLang="zh-CN" sz="2400" b="1" kern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3</a:t>
            </a:r>
            <a:r>
              <a:rPr lang="zh-CN" altLang="en-US" sz="24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×</a:t>
            </a:r>
            <a:r>
              <a:rPr lang="en-US" altLang="zh-CN" sz="2400" b="1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</a:t>
            </a:r>
            <a:r>
              <a:rPr lang="en-US" altLang="zh-CN" sz="2400" b="1" baseline="30000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 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en-US" altLang="zh-CN" sz="2400" b="1" kern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 1</a:t>
            </a:r>
            <a:r>
              <a:rPr lang="zh-CN" altLang="en-US" sz="24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×</a:t>
            </a:r>
            <a:r>
              <a:rPr lang="en-US" altLang="zh-CN" sz="2400" b="1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</a:t>
            </a:r>
            <a:r>
              <a:rPr lang="en-US" altLang="zh-CN" sz="2400" b="1" baseline="30000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en-US" altLang="zh-CN" sz="2400" b="1" kern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 3</a:t>
            </a:r>
            <a:r>
              <a:rPr lang="zh-CN" altLang="en-US" sz="24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×</a:t>
            </a:r>
            <a:r>
              <a:rPr lang="en-US" altLang="zh-CN" sz="2400" b="1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</a:t>
            </a:r>
            <a:r>
              <a:rPr lang="en-US" altLang="zh-CN" sz="2400" b="1" baseline="30000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en-US" altLang="zh-CN" sz="2400" b="1" kern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 2</a:t>
            </a:r>
            <a:r>
              <a:rPr lang="zh-CN" altLang="en-US" sz="24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×</a:t>
            </a:r>
            <a:r>
              <a:rPr lang="en-US" altLang="zh-CN" sz="2400" b="1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</a:t>
            </a:r>
            <a:r>
              <a:rPr lang="en-US" altLang="zh-CN" sz="2400" b="1" baseline="30000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en-US" altLang="zh-CN" sz="2400" b="1" kern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 5</a:t>
            </a:r>
            <a:r>
              <a:rPr lang="zh-CN" altLang="en-US" sz="24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×</a:t>
            </a:r>
            <a:r>
              <a:rPr lang="en-US" altLang="zh-CN" sz="2400" b="1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</a:t>
            </a:r>
            <a:r>
              <a:rPr lang="en-US" altLang="zh-CN" sz="2400" b="1" baseline="30000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-2</a:t>
            </a:r>
            <a:endParaRPr lang="en-US" altLang="zh-CN" sz="2400" b="1" kern="0" noProof="0" dirty="0" smtClean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+mn-ea"/>
              <a:sym typeface="+mn-ea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579755" y="2911472"/>
            <a:ext cx="4454789" cy="1262158"/>
            <a:chOff x="540" y="6295"/>
            <a:chExt cx="7015" cy="1749"/>
          </a:xfrm>
        </p:grpSpPr>
        <p:sp>
          <p:nvSpPr>
            <p:cNvPr id="29" name="Rectangle 6"/>
            <p:cNvSpPr/>
            <p:nvPr/>
          </p:nvSpPr>
          <p:spPr>
            <a:xfrm>
              <a:off x="540" y="6437"/>
              <a:ext cx="4985" cy="68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64008" tIns="32004" rIns="64008" bIns="32004" anchor="t">
              <a:spAutoFit/>
            </a:bodyPr>
            <a:lstStyle/>
            <a:p>
              <a:pPr defTabSz="640080"/>
              <a:r>
                <a:rPr lang="zh-CN" sz="2800" b="1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位权展开式</a:t>
              </a:r>
              <a:endParaRPr lang="zh-CN" sz="28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grpSp>
          <p:nvGrpSpPr>
            <p:cNvPr id="30" name="Group 3"/>
            <p:cNvGrpSpPr/>
            <p:nvPr/>
          </p:nvGrpSpPr>
          <p:grpSpPr>
            <a:xfrm>
              <a:off x="3601" y="6295"/>
              <a:ext cx="3954" cy="1749"/>
              <a:chOff x="1983" y="2994"/>
              <a:chExt cx="2182" cy="972"/>
            </a:xfrm>
          </p:grpSpPr>
          <p:graphicFrame>
            <p:nvGraphicFramePr>
              <p:cNvPr id="31" name="Object 4" descr="image33"/>
              <p:cNvGraphicFramePr/>
              <p:nvPr/>
            </p:nvGraphicFramePr>
            <p:xfrm>
              <a:off x="2437" y="2994"/>
              <a:ext cx="1728" cy="9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0" name="" r:id="rId1" imgW="761365" imgH="431800" progId="Equation.2">
                      <p:embed/>
                    </p:oleObj>
                  </mc:Choice>
                  <mc:Fallback>
                    <p:oleObj name="" r:id="rId1" imgW="761365" imgH="431800" progId="Equation.2">
                      <p:embed/>
                      <p:pic>
                        <p:nvPicPr>
                          <p:cNvPr id="0" name="图片 3075" descr="image7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2437" y="2994"/>
                            <a:ext cx="1728" cy="9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3" name="Rectangle 5"/>
              <p:cNvSpPr/>
              <p:nvPr/>
            </p:nvSpPr>
            <p:spPr>
              <a:xfrm>
                <a:off x="1983" y="3308"/>
                <a:ext cx="558" cy="3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64008" tIns="32004" rIns="64008" bIns="32004" anchor="t">
                <a:spAutoFit/>
              </a:bodyPr>
              <a:lstStyle/>
              <a:p>
                <a:pPr algn="just" defTabSz="640080"/>
                <a:r>
                  <a:rPr lang="en-US" altLang="zh-CN" sz="25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N</a:t>
                </a:r>
                <a:endParaRPr lang="en-US" altLang="zh-CN" sz="25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454660" y="4197668"/>
            <a:ext cx="7005320" cy="9772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indent="0" algn="l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sz="2400" b="1" kern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   </a:t>
            </a:r>
            <a:r>
              <a:rPr lang="zh-CN" altLang="en-US" sz="2400" b="1" kern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（   </a:t>
            </a:r>
            <a:r>
              <a:rPr lang="en-US" altLang="zh-CN" sz="2400" b="1" kern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1    0   1  .  0    1  </a:t>
            </a:r>
            <a:r>
              <a:rPr lang="zh-CN" altLang="en-US" sz="2400" b="1" kern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）</a:t>
            </a:r>
            <a:r>
              <a:rPr lang="en-US" altLang="zh-CN" sz="2400" b="1" kern="0" baseline="-250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2</a:t>
            </a:r>
            <a:endParaRPr lang="en-US" altLang="zh-CN" sz="2400" b="1" kern="0" baseline="-2500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  <a:sym typeface="+mn-ea"/>
            </a:endParaRPr>
          </a:p>
          <a:p>
            <a:pPr indent="0" algn="l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sz="2400" b="1" kern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=</a:t>
            </a:r>
            <a:r>
              <a:rPr lang="zh-CN" altLang="en-US" sz="2400" b="1" kern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 </a:t>
            </a:r>
            <a:r>
              <a:rPr lang="en-US" sz="2400" b="1" kern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1</a:t>
            </a:r>
            <a:r>
              <a:rPr lang="zh-CN" altLang="en-US" sz="24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×</a:t>
            </a:r>
            <a:r>
              <a:rPr lang="en-US" altLang="zh-CN" sz="2400" b="1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en-US" altLang="zh-CN" sz="2400" b="1" baseline="30000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 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en-US" altLang="zh-CN" sz="2400" b="1" kern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 0</a:t>
            </a:r>
            <a:r>
              <a:rPr lang="zh-CN" altLang="en-US" sz="24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×</a:t>
            </a:r>
            <a:r>
              <a:rPr lang="en-US" altLang="zh-CN" sz="2400" b="1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en-US" altLang="zh-CN" sz="2400" b="1" baseline="30000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en-US" altLang="zh-CN" sz="2400" b="1" kern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1</a:t>
            </a:r>
            <a:r>
              <a:rPr lang="zh-CN" altLang="en-US" sz="24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×</a:t>
            </a:r>
            <a:r>
              <a:rPr lang="en-US" altLang="zh-CN" sz="2400" b="1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en-US" altLang="zh-CN" sz="2400" b="1" baseline="30000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en-US" altLang="zh-CN" sz="2400" b="1" kern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 0</a:t>
            </a:r>
            <a:r>
              <a:rPr lang="zh-CN" altLang="en-US" sz="24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×</a:t>
            </a:r>
            <a:r>
              <a:rPr lang="en-US" altLang="zh-CN" sz="2400" b="1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en-US" altLang="zh-CN" sz="2400" b="1" baseline="30000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en-US" altLang="zh-CN" sz="2400" b="1" kern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 1</a:t>
            </a:r>
            <a:r>
              <a:rPr lang="zh-CN" altLang="en-US" sz="24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×</a:t>
            </a:r>
            <a:r>
              <a:rPr lang="en-US" altLang="zh-CN" sz="2400" b="1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en-US" altLang="zh-CN" sz="2400" b="1" baseline="30000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-2</a:t>
            </a:r>
            <a:endParaRPr lang="en-US" altLang="zh-CN" sz="2400" b="1" kern="0" noProof="0" dirty="0" smtClean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+mn-ea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172210" y="4652010"/>
            <a:ext cx="2645410" cy="561340"/>
            <a:chOff x="1671" y="2143"/>
            <a:chExt cx="5748" cy="884"/>
          </a:xfrm>
        </p:grpSpPr>
        <p:sp>
          <p:nvSpPr>
            <p:cNvPr id="4" name="椭圆 3"/>
            <p:cNvSpPr/>
            <p:nvPr/>
          </p:nvSpPr>
          <p:spPr>
            <a:xfrm>
              <a:off x="6388" y="2143"/>
              <a:ext cx="1031" cy="884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sp>
          <p:nvSpPr>
            <p:cNvPr id="5" name="椭圆 4"/>
            <p:cNvSpPr/>
            <p:nvPr/>
          </p:nvSpPr>
          <p:spPr>
            <a:xfrm>
              <a:off x="4031" y="2143"/>
              <a:ext cx="1031" cy="884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sp>
          <p:nvSpPr>
            <p:cNvPr id="9" name="椭圆 8"/>
            <p:cNvSpPr/>
            <p:nvPr/>
          </p:nvSpPr>
          <p:spPr>
            <a:xfrm>
              <a:off x="1671" y="2143"/>
              <a:ext cx="1031" cy="884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425950" y="4652010"/>
            <a:ext cx="1570990" cy="561340"/>
            <a:chOff x="8677" y="2144"/>
            <a:chExt cx="3442" cy="884"/>
          </a:xfrm>
        </p:grpSpPr>
        <p:sp>
          <p:nvSpPr>
            <p:cNvPr id="19" name="椭圆 18"/>
            <p:cNvSpPr/>
            <p:nvPr/>
          </p:nvSpPr>
          <p:spPr>
            <a:xfrm>
              <a:off x="8677" y="2144"/>
              <a:ext cx="1031" cy="884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sp>
          <p:nvSpPr>
            <p:cNvPr id="32" name="椭圆 31"/>
            <p:cNvSpPr/>
            <p:nvPr/>
          </p:nvSpPr>
          <p:spPr>
            <a:xfrm>
              <a:off x="11088" y="2144"/>
              <a:ext cx="1031" cy="884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0" grpId="2"/>
      <p:bldP spid="10" grpId="3"/>
      <p:bldP spid="10" grpId="4"/>
      <p:bldP spid="10" grpId="5"/>
      <p:bldP spid="10" grpId="6"/>
      <p:bldP spid="10" grpId="7"/>
      <p:bldP spid="10" grpId="8"/>
      <p:bldP spid="10" grpId="9"/>
      <p:bldP spid="10" grpId="10"/>
      <p:bldP spid="10" grpId="11"/>
      <p:bldP spid="10" grpId="12"/>
      <p:bldP spid="10" grpId="13"/>
      <p:bldP spid="10" grpId="14"/>
      <p:bldP spid="10" grpId="15"/>
      <p:bldP spid="10" grpId="16"/>
      <p:bldP spid="10" grpId="17"/>
      <p:bldP spid="10" grpId="18"/>
      <p:bldP spid="15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924693" y="120457"/>
            <a:ext cx="7716583" cy="6076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sz="28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进制转换总结</a:t>
            </a:r>
            <a:endParaRPr lang="zh-CN" sz="2800" spc="300" dirty="0">
              <a:solidFill>
                <a:schemeClr val="tx1">
                  <a:lumMod val="75000"/>
                  <a:lumOff val="25000"/>
                </a:schemeClr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23875" y="1057275"/>
            <a:ext cx="4883150" cy="645160"/>
            <a:chOff x="917" y="4577"/>
            <a:chExt cx="7690" cy="1016"/>
          </a:xfrm>
        </p:grpSpPr>
        <p:sp>
          <p:nvSpPr>
            <p:cNvPr id="6" name="文本框 5"/>
            <p:cNvSpPr txBox="1"/>
            <p:nvPr/>
          </p:nvSpPr>
          <p:spPr>
            <a:xfrm>
              <a:off x="917" y="4577"/>
              <a:ext cx="3100" cy="95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indent="0" algn="l">
                <a:lnSpc>
                  <a:spcPct val="120000"/>
                </a:lnSpc>
                <a:buFont typeface="Wingdings" panose="05000000000000000000" charset="0"/>
                <a:buNone/>
              </a:pPr>
              <a:r>
                <a:rPr lang="zh-CN" altLang="en-US" sz="2800" b="1" dirty="0" smtClean="0">
                  <a:solidFill>
                    <a:schemeClr val="accent1">
                      <a:lumMod val="90000"/>
                      <a:lumOff val="10000"/>
                    </a:schemeClr>
                  </a:solidFill>
                </a:rPr>
                <a:t>非十进制     </a:t>
              </a:r>
              <a:endParaRPr lang="zh-CN" altLang="en-US" sz="28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507" y="4636"/>
              <a:ext cx="3100" cy="95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indent="0" algn="l">
                <a:lnSpc>
                  <a:spcPct val="120000"/>
                </a:lnSpc>
                <a:buFont typeface="Wingdings" panose="05000000000000000000" charset="0"/>
                <a:buNone/>
              </a:pPr>
              <a:r>
                <a:rPr lang="zh-CN" altLang="en-US" sz="2800" b="1" dirty="0" smtClean="0">
                  <a:solidFill>
                    <a:schemeClr val="accent1">
                      <a:lumMod val="90000"/>
                      <a:lumOff val="10000"/>
                    </a:schemeClr>
                  </a:solidFill>
                </a:rPr>
                <a:t>十进制    </a:t>
              </a:r>
              <a:endParaRPr lang="zh-CN" altLang="en-US" sz="28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11" name="右箭头 10"/>
            <p:cNvSpPr/>
            <p:nvPr/>
          </p:nvSpPr>
          <p:spPr>
            <a:xfrm>
              <a:off x="4075" y="4813"/>
              <a:ext cx="1189" cy="68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23875" y="1702435"/>
            <a:ext cx="4975860" cy="612775"/>
            <a:chOff x="917" y="4577"/>
            <a:chExt cx="7836" cy="965"/>
          </a:xfrm>
        </p:grpSpPr>
        <p:sp>
          <p:nvSpPr>
            <p:cNvPr id="18" name="文本框 17"/>
            <p:cNvSpPr txBox="1"/>
            <p:nvPr/>
          </p:nvSpPr>
          <p:spPr>
            <a:xfrm>
              <a:off x="917" y="4577"/>
              <a:ext cx="3100" cy="95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indent="0" algn="l">
                <a:lnSpc>
                  <a:spcPct val="120000"/>
                </a:lnSpc>
                <a:buFont typeface="Wingdings" panose="05000000000000000000" charset="0"/>
                <a:buNone/>
              </a:pPr>
              <a:r>
                <a:rPr lang="zh-CN" altLang="en-US" sz="2800" b="1" dirty="0" smtClean="0">
                  <a:solidFill>
                    <a:srgbClr val="C00000"/>
                  </a:solidFill>
                </a:rPr>
                <a:t>十进制     </a:t>
              </a:r>
              <a:endParaRPr lang="zh-CN" altLang="en-US" sz="2800" b="1" dirty="0" smtClean="0">
                <a:solidFill>
                  <a:srgbClr val="C00000"/>
                </a:solidFill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653" y="4585"/>
              <a:ext cx="3100" cy="95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indent="0" algn="l">
                <a:lnSpc>
                  <a:spcPct val="120000"/>
                </a:lnSpc>
                <a:buFont typeface="Wingdings" panose="05000000000000000000" charset="0"/>
                <a:buNone/>
              </a:pPr>
              <a:r>
                <a:rPr lang="zh-CN" altLang="en-US" sz="2800" b="1" dirty="0" smtClean="0">
                  <a:solidFill>
                    <a:srgbClr val="C00000"/>
                  </a:solidFill>
                </a:rPr>
                <a:t>非十进制     </a:t>
              </a:r>
              <a:endParaRPr lang="zh-CN" altLang="en-US" sz="2800" b="1" dirty="0" smtClean="0">
                <a:solidFill>
                  <a:srgbClr val="C00000"/>
                </a:solidFill>
              </a:endParaRPr>
            </a:p>
          </p:txBody>
        </p:sp>
        <p:sp>
          <p:nvSpPr>
            <p:cNvPr id="13" name="右箭头 12"/>
            <p:cNvSpPr/>
            <p:nvPr/>
          </p:nvSpPr>
          <p:spPr>
            <a:xfrm>
              <a:off x="4075" y="4758"/>
              <a:ext cx="1189" cy="68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523996" y="2372995"/>
            <a:ext cx="6320290" cy="607695"/>
            <a:chOff x="1558" y="7092"/>
            <a:chExt cx="9953" cy="957"/>
          </a:xfrm>
        </p:grpSpPr>
        <p:grpSp>
          <p:nvGrpSpPr>
            <p:cNvPr id="21" name="组合 20"/>
            <p:cNvGrpSpPr/>
            <p:nvPr/>
          </p:nvGrpSpPr>
          <p:grpSpPr>
            <a:xfrm>
              <a:off x="1558" y="7092"/>
              <a:ext cx="9953" cy="957"/>
              <a:chOff x="1111" y="4558"/>
              <a:chExt cx="9015" cy="957"/>
            </a:xfrm>
          </p:grpSpPr>
          <p:sp>
            <p:nvSpPr>
              <p:cNvPr id="14" name="文本框 13"/>
              <p:cNvSpPr txBox="1"/>
              <p:nvPr/>
            </p:nvSpPr>
            <p:spPr>
              <a:xfrm>
                <a:off x="1111" y="4558"/>
                <a:ext cx="2700" cy="95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indent="0" algn="l">
                  <a:lnSpc>
                    <a:spcPct val="120000"/>
                  </a:lnSpc>
                  <a:buFont typeface="Wingdings" panose="05000000000000000000" charset="0"/>
                  <a:buNone/>
                </a:pPr>
                <a:r>
                  <a:rPr lang="zh-CN" altLang="en-US" sz="2800" b="1" dirty="0" smtClean="0">
                    <a:solidFill>
                      <a:schemeClr val="accent1">
                        <a:lumMod val="90000"/>
                        <a:lumOff val="10000"/>
                      </a:schemeClr>
                    </a:solidFill>
                  </a:rPr>
                  <a:t>二进制    </a:t>
                </a:r>
                <a:endParaRPr lang="zh-CN" altLang="en-US" sz="2800" b="1" dirty="0" smtClean="0">
                  <a:solidFill>
                    <a:schemeClr val="accent1">
                      <a:lumMod val="90000"/>
                      <a:lumOff val="10000"/>
                    </a:schemeClr>
                  </a:solidFill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5401" y="4558"/>
                <a:ext cx="4725" cy="95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indent="0" algn="l">
                  <a:lnSpc>
                    <a:spcPct val="120000"/>
                  </a:lnSpc>
                  <a:buFont typeface="Wingdings" panose="05000000000000000000" charset="0"/>
                  <a:buNone/>
                </a:pPr>
                <a:r>
                  <a:rPr lang="zh-CN" altLang="en-US" sz="2800" b="1" dirty="0" smtClean="0">
                    <a:solidFill>
                      <a:schemeClr val="accent1">
                        <a:lumMod val="90000"/>
                        <a:lumOff val="10000"/>
                      </a:schemeClr>
                    </a:solidFill>
                  </a:rPr>
                  <a:t>八、十六进制     </a:t>
                </a:r>
                <a:endParaRPr lang="zh-CN" altLang="en-US" sz="2800" b="1" dirty="0" smtClean="0">
                  <a:solidFill>
                    <a:schemeClr val="accent1">
                      <a:lumMod val="90000"/>
                      <a:lumOff val="10000"/>
                    </a:schemeClr>
                  </a:solidFill>
                </a:endParaRPr>
              </a:p>
            </p:txBody>
          </p:sp>
        </p:grpSp>
        <p:sp>
          <p:nvSpPr>
            <p:cNvPr id="25" name="左右箭头 24"/>
            <p:cNvSpPr/>
            <p:nvPr/>
          </p:nvSpPr>
          <p:spPr>
            <a:xfrm>
              <a:off x="4614" y="7239"/>
              <a:ext cx="1356" cy="701"/>
            </a:xfrm>
            <a:prstGeom prst="left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295" t="21507" r="20305" b="14174"/>
          <a:stretch>
            <a:fillRect/>
          </a:stretch>
        </p:blipFill>
        <p:spPr>
          <a:xfrm>
            <a:off x="829945" y="3057525"/>
            <a:ext cx="4850765" cy="316801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1"/>
      <p:bldP spid="10" grpId="2"/>
      <p:bldP spid="10" grpId="3"/>
      <p:bldP spid="10" grpId="4"/>
      <p:bldP spid="10" grpId="5"/>
      <p:bldP spid="10" grpId="6"/>
      <p:bldP spid="10" grpId="7"/>
      <p:bldP spid="10" grpId="8"/>
      <p:bldP spid="10" grpId="9"/>
      <p:bldP spid="10" grpId="10"/>
      <p:bldP spid="10" grpId="11"/>
      <p:bldP spid="10" grpId="12"/>
      <p:bldP spid="10" grpId="13"/>
      <p:bldP spid="10" grpId="14"/>
      <p:bldP spid="10" grpId="15"/>
      <p:bldP spid="10" grpId="16"/>
      <p:bldP spid="10" grpId="17"/>
      <p:bldP spid="10" grpId="18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924693" y="120457"/>
            <a:ext cx="7716583" cy="6076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sz="28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进制转换总结</a:t>
            </a:r>
            <a:endParaRPr lang="zh-CN" sz="2800" spc="300" dirty="0">
              <a:solidFill>
                <a:schemeClr val="tx1">
                  <a:lumMod val="75000"/>
                  <a:lumOff val="25000"/>
                </a:schemeClr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23875" y="1057275"/>
            <a:ext cx="4883150" cy="645160"/>
            <a:chOff x="917" y="4577"/>
            <a:chExt cx="7690" cy="1016"/>
          </a:xfrm>
        </p:grpSpPr>
        <p:sp>
          <p:nvSpPr>
            <p:cNvPr id="6" name="文本框 5"/>
            <p:cNvSpPr txBox="1"/>
            <p:nvPr/>
          </p:nvSpPr>
          <p:spPr>
            <a:xfrm>
              <a:off x="917" y="4577"/>
              <a:ext cx="3100" cy="95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indent="0" algn="l">
                <a:lnSpc>
                  <a:spcPct val="120000"/>
                </a:lnSpc>
                <a:buFont typeface="Wingdings" panose="05000000000000000000" charset="0"/>
                <a:buNone/>
              </a:pPr>
              <a:r>
                <a:rPr lang="zh-CN" altLang="en-US" sz="2800" b="1" dirty="0" smtClean="0">
                  <a:solidFill>
                    <a:schemeClr val="accent1">
                      <a:lumMod val="90000"/>
                      <a:lumOff val="10000"/>
                    </a:schemeClr>
                  </a:solidFill>
                </a:rPr>
                <a:t>非十进制     </a:t>
              </a:r>
              <a:endParaRPr lang="zh-CN" altLang="en-US" sz="28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507" y="4636"/>
              <a:ext cx="3100" cy="95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indent="0" algn="l">
                <a:lnSpc>
                  <a:spcPct val="120000"/>
                </a:lnSpc>
                <a:buFont typeface="Wingdings" panose="05000000000000000000" charset="0"/>
                <a:buNone/>
              </a:pPr>
              <a:r>
                <a:rPr lang="zh-CN" altLang="en-US" sz="2800" b="1" dirty="0" smtClean="0">
                  <a:solidFill>
                    <a:schemeClr val="accent1">
                      <a:lumMod val="90000"/>
                      <a:lumOff val="10000"/>
                    </a:schemeClr>
                  </a:solidFill>
                </a:rPr>
                <a:t>十进制     </a:t>
              </a:r>
              <a:endParaRPr lang="zh-CN" altLang="en-US" sz="28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11" name="右箭头 10"/>
            <p:cNvSpPr/>
            <p:nvPr/>
          </p:nvSpPr>
          <p:spPr>
            <a:xfrm>
              <a:off x="4075" y="4813"/>
              <a:ext cx="1189" cy="68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23875" y="1702435"/>
            <a:ext cx="4975860" cy="612775"/>
            <a:chOff x="917" y="4577"/>
            <a:chExt cx="7836" cy="965"/>
          </a:xfrm>
        </p:grpSpPr>
        <p:sp>
          <p:nvSpPr>
            <p:cNvPr id="18" name="文本框 17"/>
            <p:cNvSpPr txBox="1"/>
            <p:nvPr/>
          </p:nvSpPr>
          <p:spPr>
            <a:xfrm>
              <a:off x="917" y="4577"/>
              <a:ext cx="3100" cy="95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indent="0" algn="l">
                <a:lnSpc>
                  <a:spcPct val="120000"/>
                </a:lnSpc>
                <a:buFont typeface="Wingdings" panose="05000000000000000000" charset="0"/>
                <a:buNone/>
              </a:pPr>
              <a:r>
                <a:rPr lang="zh-CN" altLang="en-US" sz="2800" b="1" dirty="0" smtClean="0">
                  <a:solidFill>
                    <a:schemeClr val="accent1">
                      <a:lumMod val="90000"/>
                      <a:lumOff val="10000"/>
                    </a:schemeClr>
                  </a:solidFill>
                </a:rPr>
                <a:t>十进制     </a:t>
              </a:r>
              <a:endParaRPr lang="zh-CN" altLang="en-US" sz="28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653" y="4585"/>
              <a:ext cx="3100" cy="95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indent="0" algn="l">
                <a:lnSpc>
                  <a:spcPct val="120000"/>
                </a:lnSpc>
                <a:buFont typeface="Wingdings" panose="05000000000000000000" charset="0"/>
                <a:buNone/>
              </a:pPr>
              <a:r>
                <a:rPr lang="zh-CN" altLang="en-US" sz="2800" b="1" dirty="0" smtClean="0">
                  <a:solidFill>
                    <a:schemeClr val="accent1">
                      <a:lumMod val="90000"/>
                      <a:lumOff val="10000"/>
                    </a:schemeClr>
                  </a:solidFill>
                </a:rPr>
                <a:t>非十进制     </a:t>
              </a:r>
              <a:endParaRPr lang="zh-CN" altLang="en-US" sz="28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13" name="右箭头 12"/>
            <p:cNvSpPr/>
            <p:nvPr/>
          </p:nvSpPr>
          <p:spPr>
            <a:xfrm>
              <a:off x="4075" y="4758"/>
              <a:ext cx="1189" cy="68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523875" y="3108960"/>
            <a:ext cx="5466080" cy="944880"/>
            <a:chOff x="825" y="4896"/>
            <a:chExt cx="8608" cy="1488"/>
          </a:xfrm>
        </p:grpSpPr>
        <p:grpSp>
          <p:nvGrpSpPr>
            <p:cNvPr id="21" name="组合 20"/>
            <p:cNvGrpSpPr/>
            <p:nvPr/>
          </p:nvGrpSpPr>
          <p:grpSpPr>
            <a:xfrm>
              <a:off x="825" y="5428"/>
              <a:ext cx="8609" cy="957"/>
              <a:chOff x="1111" y="4558"/>
              <a:chExt cx="6753" cy="957"/>
            </a:xfrm>
          </p:grpSpPr>
          <p:sp>
            <p:nvSpPr>
              <p:cNvPr id="14" name="文本框 13"/>
              <p:cNvSpPr txBox="1"/>
              <p:nvPr/>
            </p:nvSpPr>
            <p:spPr>
              <a:xfrm>
                <a:off x="1111" y="4616"/>
                <a:ext cx="2700" cy="84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indent="0" algn="l">
                  <a:lnSpc>
                    <a:spcPct val="120000"/>
                  </a:lnSpc>
                  <a:buFont typeface="Wingdings" panose="05000000000000000000" charset="0"/>
                  <a:buNone/>
                </a:pPr>
                <a:r>
                  <a:rPr lang="zh-CN" altLang="en-US" sz="2400" b="1" dirty="0" smtClean="0">
                    <a:solidFill>
                      <a:srgbClr val="C00000"/>
                    </a:solidFill>
                  </a:rPr>
                  <a:t>二进制数    </a:t>
                </a:r>
                <a:endParaRPr lang="zh-CN" altLang="en-US" sz="2400" b="1" dirty="0" smtClean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5734" y="4558"/>
                <a:ext cx="2130" cy="95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indent="0" algn="l">
                  <a:lnSpc>
                    <a:spcPct val="120000"/>
                  </a:lnSpc>
                  <a:buFont typeface="Wingdings" panose="05000000000000000000" charset="0"/>
                  <a:buNone/>
                </a:pPr>
                <a:r>
                  <a:rPr lang="zh-CN" altLang="en-US" sz="2400" b="1" dirty="0" smtClean="0">
                    <a:solidFill>
                      <a:srgbClr val="C00000"/>
                    </a:solidFill>
                  </a:rPr>
                  <a:t>八进制数</a:t>
                </a:r>
                <a:r>
                  <a:rPr lang="zh-CN" altLang="en-US" sz="2800" b="1" dirty="0" smtClean="0">
                    <a:solidFill>
                      <a:srgbClr val="C00000"/>
                    </a:solidFill>
                  </a:rPr>
                  <a:t>     </a:t>
                </a:r>
                <a:endParaRPr lang="zh-CN" altLang="en-US" sz="2800" b="1" dirty="0" smtClean="0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3677" y="4896"/>
              <a:ext cx="2620" cy="915"/>
              <a:chOff x="3677" y="5354"/>
              <a:chExt cx="2620" cy="915"/>
            </a:xfrm>
          </p:grpSpPr>
          <p:cxnSp>
            <p:nvCxnSpPr>
              <p:cNvPr id="3" name="直接箭头连接符 2"/>
              <p:cNvCxnSpPr/>
              <p:nvPr/>
            </p:nvCxnSpPr>
            <p:spPr>
              <a:xfrm flipV="1">
                <a:off x="3677" y="6255"/>
                <a:ext cx="2621" cy="15"/>
              </a:xfrm>
              <a:prstGeom prst="straightConnector1">
                <a:avLst/>
              </a:prstGeom>
              <a:ln w="38100">
                <a:solidFill>
                  <a:schemeClr val="accent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文本框 4"/>
              <p:cNvSpPr txBox="1"/>
              <p:nvPr/>
            </p:nvSpPr>
            <p:spPr>
              <a:xfrm>
                <a:off x="3744" y="5354"/>
                <a:ext cx="2488" cy="783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200" b="1" dirty="0" smtClean="0">
                    <a:solidFill>
                      <a:srgbClr val="F85208"/>
                    </a:solidFill>
                  </a:rPr>
                  <a:t>三位并一位</a:t>
                </a:r>
                <a:endParaRPr lang="zh-CN" altLang="en-US" sz="2200" b="1" dirty="0" smtClean="0">
                  <a:solidFill>
                    <a:srgbClr val="F85208"/>
                  </a:solidFill>
                </a:endParaRPr>
              </a:p>
            </p:txBody>
          </p:sp>
        </p:grpSp>
      </p:grpSp>
      <p:grpSp>
        <p:nvGrpSpPr>
          <p:cNvPr id="16" name="组合 15"/>
          <p:cNvGrpSpPr/>
          <p:nvPr/>
        </p:nvGrpSpPr>
        <p:grpSpPr>
          <a:xfrm>
            <a:off x="2334895" y="3845560"/>
            <a:ext cx="1664335" cy="496570"/>
            <a:chOff x="3677" y="6514"/>
            <a:chExt cx="2621" cy="782"/>
          </a:xfrm>
        </p:grpSpPr>
        <p:cxnSp>
          <p:nvCxnSpPr>
            <p:cNvPr id="4" name="直接箭头连接符 3"/>
            <p:cNvCxnSpPr/>
            <p:nvPr/>
          </p:nvCxnSpPr>
          <p:spPr>
            <a:xfrm flipH="1">
              <a:off x="3677" y="6514"/>
              <a:ext cx="2529" cy="15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3810" y="6514"/>
              <a:ext cx="2488" cy="783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200" b="1" dirty="0" smtClean="0">
                  <a:solidFill>
                    <a:srgbClr val="F85208"/>
                  </a:solidFill>
                </a:rPr>
                <a:t>一位拆三位</a:t>
              </a:r>
              <a:endParaRPr lang="zh-CN" altLang="en-US" sz="2200" b="1" dirty="0" smtClean="0">
                <a:solidFill>
                  <a:srgbClr val="F85208"/>
                </a:solidFill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523875" y="4416425"/>
            <a:ext cx="5988050" cy="944880"/>
            <a:chOff x="825" y="6955"/>
            <a:chExt cx="9430" cy="1488"/>
          </a:xfrm>
        </p:grpSpPr>
        <p:grpSp>
          <p:nvGrpSpPr>
            <p:cNvPr id="19" name="组合 18"/>
            <p:cNvGrpSpPr/>
            <p:nvPr/>
          </p:nvGrpSpPr>
          <p:grpSpPr>
            <a:xfrm>
              <a:off x="825" y="7487"/>
              <a:ext cx="9430" cy="957"/>
              <a:chOff x="1111" y="4558"/>
              <a:chExt cx="6753" cy="957"/>
            </a:xfrm>
          </p:grpSpPr>
          <p:sp>
            <p:nvSpPr>
              <p:cNvPr id="20" name="文本框 19"/>
              <p:cNvSpPr txBox="1"/>
              <p:nvPr/>
            </p:nvSpPr>
            <p:spPr>
              <a:xfrm>
                <a:off x="1111" y="4558"/>
                <a:ext cx="2700" cy="95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indent="0" algn="l">
                  <a:lnSpc>
                    <a:spcPct val="120000"/>
                  </a:lnSpc>
                  <a:buFont typeface="Wingdings" panose="05000000000000000000" charset="0"/>
                  <a:buNone/>
                </a:pPr>
                <a:r>
                  <a:rPr lang="zh-CN" altLang="en-US" sz="2400" b="1" dirty="0" smtClean="0">
                    <a:solidFill>
                      <a:srgbClr val="C00000"/>
                    </a:solidFill>
                  </a:rPr>
                  <a:t>二进制数</a:t>
                </a:r>
                <a:r>
                  <a:rPr lang="zh-CN" altLang="en-US" sz="2800" b="1" dirty="0" smtClean="0">
                    <a:solidFill>
                      <a:srgbClr val="C00000"/>
                    </a:solidFill>
                  </a:rPr>
                  <a:t>    </a:t>
                </a:r>
                <a:endParaRPr lang="zh-CN" altLang="en-US" sz="2800" b="1" dirty="0" smtClean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5265" y="4558"/>
                <a:ext cx="2599" cy="95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indent="0" algn="l">
                  <a:lnSpc>
                    <a:spcPct val="120000"/>
                  </a:lnSpc>
                  <a:buFont typeface="Wingdings" panose="05000000000000000000" charset="0"/>
                  <a:buNone/>
                </a:pPr>
                <a:r>
                  <a:rPr lang="zh-CN" altLang="en-US" sz="2400" b="1" dirty="0" smtClean="0">
                    <a:solidFill>
                      <a:srgbClr val="C00000"/>
                    </a:solidFill>
                  </a:rPr>
                  <a:t>十六进制数 </a:t>
                </a:r>
                <a:r>
                  <a:rPr lang="zh-CN" altLang="en-US" sz="2800" b="1" dirty="0" smtClean="0">
                    <a:solidFill>
                      <a:srgbClr val="C00000"/>
                    </a:solidFill>
                  </a:rPr>
                  <a:t>    </a:t>
                </a:r>
                <a:endParaRPr lang="zh-CN" altLang="en-US" sz="2800" b="1" dirty="0" smtClean="0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3677" y="6955"/>
              <a:ext cx="2621" cy="916"/>
              <a:chOff x="3677" y="5354"/>
              <a:chExt cx="2621" cy="916"/>
            </a:xfrm>
          </p:grpSpPr>
          <p:cxnSp>
            <p:nvCxnSpPr>
              <p:cNvPr id="27" name="直接箭头连接符 26"/>
              <p:cNvCxnSpPr/>
              <p:nvPr/>
            </p:nvCxnSpPr>
            <p:spPr>
              <a:xfrm flipV="1">
                <a:off x="3677" y="6255"/>
                <a:ext cx="2621" cy="15"/>
              </a:xfrm>
              <a:prstGeom prst="straightConnector1">
                <a:avLst/>
              </a:prstGeom>
              <a:ln w="38100">
                <a:solidFill>
                  <a:schemeClr val="accent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文本框 27"/>
              <p:cNvSpPr txBox="1"/>
              <p:nvPr/>
            </p:nvSpPr>
            <p:spPr>
              <a:xfrm>
                <a:off x="3744" y="5354"/>
                <a:ext cx="2488" cy="783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200" b="1" dirty="0" smtClean="0">
                    <a:solidFill>
                      <a:srgbClr val="F85208"/>
                    </a:solidFill>
                  </a:rPr>
                  <a:t>四位并一位</a:t>
                </a:r>
                <a:endParaRPr lang="zh-CN" altLang="en-US" sz="2200" b="1" dirty="0" smtClean="0">
                  <a:solidFill>
                    <a:srgbClr val="F85208"/>
                  </a:solidFill>
                </a:endParaRPr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2334895" y="5153025"/>
            <a:ext cx="1664335" cy="497205"/>
            <a:chOff x="3677" y="6514"/>
            <a:chExt cx="2621" cy="783"/>
          </a:xfrm>
        </p:grpSpPr>
        <p:cxnSp>
          <p:nvCxnSpPr>
            <p:cNvPr id="30" name="直接箭头连接符 29"/>
            <p:cNvCxnSpPr/>
            <p:nvPr/>
          </p:nvCxnSpPr>
          <p:spPr>
            <a:xfrm flipH="1">
              <a:off x="3677" y="6514"/>
              <a:ext cx="2529" cy="15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/>
            <p:cNvSpPr txBox="1"/>
            <p:nvPr/>
          </p:nvSpPr>
          <p:spPr>
            <a:xfrm>
              <a:off x="3810" y="6514"/>
              <a:ext cx="2488" cy="783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200" b="1" dirty="0" smtClean="0">
                  <a:solidFill>
                    <a:srgbClr val="F85208"/>
                  </a:solidFill>
                </a:rPr>
                <a:t>一位拆四位</a:t>
              </a:r>
              <a:endParaRPr lang="zh-CN" altLang="en-US" sz="2200" b="1" dirty="0" smtClean="0">
                <a:solidFill>
                  <a:srgbClr val="F85208"/>
                </a:solidFill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1259205" y="5776278"/>
            <a:ext cx="3815080" cy="49720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 b="1" dirty="0" smtClean="0">
                <a:solidFill>
                  <a:srgbClr val="F85208"/>
                </a:solidFill>
              </a:rPr>
              <a:t>整数从右向左，小数从左向右</a:t>
            </a:r>
            <a:endParaRPr lang="zh-CN" altLang="en-US" sz="2200" b="1" dirty="0" smtClean="0">
              <a:solidFill>
                <a:srgbClr val="F85208"/>
              </a:solidFill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523996" y="2372995"/>
            <a:ext cx="6320290" cy="607695"/>
            <a:chOff x="1558" y="7092"/>
            <a:chExt cx="9953" cy="957"/>
          </a:xfrm>
        </p:grpSpPr>
        <p:grpSp>
          <p:nvGrpSpPr>
            <p:cNvPr id="34" name="组合 33"/>
            <p:cNvGrpSpPr/>
            <p:nvPr/>
          </p:nvGrpSpPr>
          <p:grpSpPr>
            <a:xfrm>
              <a:off x="1558" y="7092"/>
              <a:ext cx="9953" cy="957"/>
              <a:chOff x="1111" y="4558"/>
              <a:chExt cx="9015" cy="957"/>
            </a:xfrm>
          </p:grpSpPr>
          <p:sp>
            <p:nvSpPr>
              <p:cNvPr id="35" name="文本框 34"/>
              <p:cNvSpPr txBox="1"/>
              <p:nvPr/>
            </p:nvSpPr>
            <p:spPr>
              <a:xfrm>
                <a:off x="1111" y="4558"/>
                <a:ext cx="2700" cy="95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indent="0" algn="l">
                  <a:lnSpc>
                    <a:spcPct val="120000"/>
                  </a:lnSpc>
                  <a:buFont typeface="Wingdings" panose="05000000000000000000" charset="0"/>
                  <a:buNone/>
                </a:pPr>
                <a:r>
                  <a:rPr lang="zh-CN" altLang="en-US" sz="2800" b="1" dirty="0" smtClean="0">
                    <a:solidFill>
                      <a:srgbClr val="C00000"/>
                    </a:solidFill>
                  </a:rPr>
                  <a:t>二进制    </a:t>
                </a:r>
                <a:endParaRPr lang="zh-CN" altLang="en-US" sz="2800" b="1" dirty="0" smtClean="0">
                  <a:solidFill>
                    <a:srgbClr val="C00000"/>
                  </a:solidFill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5401" y="4558"/>
                <a:ext cx="4725" cy="95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indent="0" algn="l">
                  <a:lnSpc>
                    <a:spcPct val="120000"/>
                  </a:lnSpc>
                  <a:buFont typeface="Wingdings" panose="05000000000000000000" charset="0"/>
                  <a:buNone/>
                </a:pPr>
                <a:r>
                  <a:rPr lang="zh-CN" altLang="en-US" sz="2800" b="1" dirty="0" smtClean="0">
                    <a:solidFill>
                      <a:srgbClr val="C00000"/>
                    </a:solidFill>
                  </a:rPr>
                  <a:t>八、十六进制     </a:t>
                </a:r>
                <a:endParaRPr lang="zh-CN" altLang="en-US" sz="2800" b="1" dirty="0" smtClean="0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37" name="左右箭头 36"/>
            <p:cNvSpPr/>
            <p:nvPr/>
          </p:nvSpPr>
          <p:spPr>
            <a:xfrm>
              <a:off x="4614" y="7239"/>
              <a:ext cx="1356" cy="701"/>
            </a:xfrm>
            <a:prstGeom prst="left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1"/>
      <p:bldP spid="10" grpId="2"/>
      <p:bldP spid="10" grpId="3"/>
      <p:bldP spid="10" grpId="4"/>
      <p:bldP spid="10" grpId="5"/>
      <p:bldP spid="10" grpId="6"/>
      <p:bldP spid="10" grpId="7"/>
      <p:bldP spid="10" grpId="8"/>
      <p:bldP spid="10" grpId="9"/>
      <p:bldP spid="10" grpId="10"/>
      <p:bldP spid="10" grpId="11"/>
      <p:bldP spid="10" grpId="12"/>
      <p:bldP spid="10" grpId="13"/>
      <p:bldP spid="10" grpId="14"/>
      <p:bldP spid="10" grpId="15"/>
      <p:bldP spid="10" grpId="16"/>
      <p:bldP spid="10" grpId="17"/>
      <p:bldP spid="10" grpId="18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MH_SubTitle_3"/>
          <p:cNvSpPr/>
          <p:nvPr>
            <p:custDataLst>
              <p:tags r:id="rId1"/>
            </p:custDataLst>
          </p:nvPr>
        </p:nvSpPr>
        <p:spPr>
          <a:xfrm>
            <a:off x="0" y="250190"/>
            <a:ext cx="3656330" cy="388620"/>
          </a:xfrm>
          <a:prstGeom prst="homePlate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进制转换总结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83310" y="2211960"/>
            <a:ext cx="6198235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457200" indent="-457200" algn="l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例：（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715.2</a:t>
            </a:r>
            <a:r>
              <a:rPr 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r>
              <a:rPr lang="en-US" altLang="zh-CN" sz="2800" b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（                    ）</a:t>
            </a:r>
            <a:r>
              <a:rPr lang="en-US" altLang="zh-CN" sz="2800" b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H</a:t>
            </a:r>
            <a:endParaRPr lang="en-US" altLang="zh-CN" sz="2800" b="1" baseline="-25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129665" y="3100705"/>
            <a:ext cx="9429115" cy="2009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57200" indent="-457200" algn="l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由于八进制和十六进制之间并不存在对应关系，也就是说，并不存在</a:t>
            </a:r>
            <a:r>
              <a:rPr lang="en-US" altLang="zh-CN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8</a:t>
            </a:r>
            <a:r>
              <a:rPr lang="zh-CN" altLang="en-US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的</a:t>
            </a:r>
            <a:r>
              <a:rPr lang="en-US" altLang="zh-CN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n</a:t>
            </a:r>
            <a:r>
              <a:rPr lang="zh-CN" altLang="en-US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次幂等于</a:t>
            </a:r>
            <a:r>
              <a:rPr lang="en-US" altLang="zh-CN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16</a:t>
            </a:r>
            <a:endParaRPr lang="en-US" altLang="zh-CN" sz="2600" b="1" dirty="0" smtClean="0">
              <a:solidFill>
                <a:schemeClr val="accent1">
                  <a:lumMod val="90000"/>
                  <a:lumOff val="10000"/>
                </a:schemeClr>
              </a:solidFill>
            </a:endParaRPr>
          </a:p>
          <a:p>
            <a:pPr marL="457200" indent="-457200" algn="l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八进制不能直接转换为十六进制，必须用其它进制作为过渡，一般选择</a:t>
            </a:r>
            <a:r>
              <a:rPr lang="zh-CN" altLang="en-US" sz="2600" b="1" dirty="0" smtClean="0">
                <a:solidFill>
                  <a:srgbClr val="F85208"/>
                </a:solidFill>
              </a:rPr>
              <a:t>二进制</a:t>
            </a:r>
            <a:r>
              <a:rPr lang="zh-CN" altLang="en-US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作为过渡进制</a:t>
            </a:r>
            <a:endParaRPr lang="zh-CN" altLang="en-US" sz="2600" b="1" dirty="0" smtClean="0">
              <a:solidFill>
                <a:schemeClr val="accent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083310" y="1335723"/>
            <a:ext cx="8288655" cy="6940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57200" indent="-457200" algn="l">
              <a:lnSpc>
                <a:spcPct val="140000"/>
              </a:lnSpc>
              <a:buFont typeface="Wingdings" panose="05000000000000000000" charset="0"/>
              <a:buChar char="p"/>
            </a:pP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问题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：八进制和十六进制间如何转化？</a:t>
            </a:r>
            <a:endParaRPr lang="zh-CN" altLang="en-US" sz="2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MH_SubTitle_3"/>
          <p:cNvSpPr/>
          <p:nvPr>
            <p:custDataLst>
              <p:tags r:id="rId1"/>
            </p:custDataLst>
          </p:nvPr>
        </p:nvSpPr>
        <p:spPr>
          <a:xfrm>
            <a:off x="0" y="250190"/>
            <a:ext cx="3656330" cy="388620"/>
          </a:xfrm>
          <a:prstGeom prst="homePlate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进制转换总结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34060" y="1466470"/>
            <a:ext cx="6198235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457200" indent="-457200" algn="l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例：（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715.2</a:t>
            </a:r>
            <a:r>
              <a:rPr 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r>
              <a:rPr lang="en-US" altLang="zh-CN" sz="2800" b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（                    ）</a:t>
            </a:r>
            <a:r>
              <a:rPr lang="en-US" altLang="zh-CN" sz="2800" b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H</a:t>
            </a:r>
            <a:endParaRPr lang="en-US" altLang="zh-CN" sz="2800" b="1" baseline="-25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8175" y="2261490"/>
            <a:ext cx="5406390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indent="0" algn="l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第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步：</a:t>
            </a:r>
            <a:r>
              <a:rPr 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（   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7     1     5   .   2  </a:t>
            </a:r>
            <a:r>
              <a:rPr 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r>
              <a:rPr lang="en-US" altLang="zh-CN" sz="2800" b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</a:t>
            </a:r>
            <a:endParaRPr lang="en-US" altLang="zh-CN" sz="2800" b="1" baseline="-25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451735" y="2722245"/>
            <a:ext cx="746760" cy="891540"/>
            <a:chOff x="4075" y="6504"/>
            <a:chExt cx="1176" cy="1404"/>
          </a:xfrm>
        </p:grpSpPr>
        <p:sp>
          <p:nvSpPr>
            <p:cNvPr id="11" name="文本框 10"/>
            <p:cNvSpPr txBox="1"/>
            <p:nvPr/>
          </p:nvSpPr>
          <p:spPr>
            <a:xfrm>
              <a:off x="4075" y="7068"/>
              <a:ext cx="1176" cy="8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 u="sng" dirty="0" smtClean="0">
                  <a:solidFill>
                    <a:schemeClr val="accent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111</a:t>
              </a:r>
              <a:endParaRPr lang="en-US" altLang="zh-CN" sz="2400" b="1" u="sng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" name="直接箭头连接符 11"/>
            <p:cNvCxnSpPr/>
            <p:nvPr/>
          </p:nvCxnSpPr>
          <p:spPr>
            <a:xfrm flipH="1">
              <a:off x="4662" y="6504"/>
              <a:ext cx="1" cy="655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3198495" y="2721610"/>
            <a:ext cx="746760" cy="892175"/>
            <a:chOff x="4075" y="6504"/>
            <a:chExt cx="1176" cy="1405"/>
          </a:xfrm>
        </p:grpSpPr>
        <p:sp>
          <p:nvSpPr>
            <p:cNvPr id="18" name="文本框 17"/>
            <p:cNvSpPr txBox="1"/>
            <p:nvPr/>
          </p:nvSpPr>
          <p:spPr>
            <a:xfrm>
              <a:off x="4075" y="7068"/>
              <a:ext cx="1176" cy="8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 u="sng" dirty="0" smtClean="0">
                  <a:solidFill>
                    <a:schemeClr val="accent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001</a:t>
              </a:r>
              <a:endParaRPr lang="en-US" altLang="zh-CN" sz="2400" b="1" u="sng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9" name="直接箭头连接符 18"/>
            <p:cNvCxnSpPr/>
            <p:nvPr/>
          </p:nvCxnSpPr>
          <p:spPr>
            <a:xfrm flipH="1">
              <a:off x="4662" y="6504"/>
              <a:ext cx="1" cy="655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/>
          <p:cNvGrpSpPr/>
          <p:nvPr/>
        </p:nvGrpSpPr>
        <p:grpSpPr>
          <a:xfrm>
            <a:off x="3848100" y="2722245"/>
            <a:ext cx="746760" cy="892175"/>
            <a:chOff x="4075" y="6504"/>
            <a:chExt cx="1176" cy="1405"/>
          </a:xfrm>
        </p:grpSpPr>
        <p:sp>
          <p:nvSpPr>
            <p:cNvPr id="21" name="文本框 20"/>
            <p:cNvSpPr txBox="1"/>
            <p:nvPr/>
          </p:nvSpPr>
          <p:spPr>
            <a:xfrm>
              <a:off x="4075" y="7068"/>
              <a:ext cx="1176" cy="8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 u="sng" dirty="0" smtClean="0">
                  <a:solidFill>
                    <a:schemeClr val="accent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101</a:t>
              </a:r>
              <a:endParaRPr lang="en-US" altLang="zh-CN" sz="2400" b="1" u="sng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2" name="直接箭头连接符 21"/>
            <p:cNvCxnSpPr/>
            <p:nvPr/>
          </p:nvCxnSpPr>
          <p:spPr>
            <a:xfrm flipH="1">
              <a:off x="4662" y="6504"/>
              <a:ext cx="1" cy="655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/>
          <p:nvPr/>
        </p:nvGrpSpPr>
        <p:grpSpPr>
          <a:xfrm>
            <a:off x="4777740" y="2721610"/>
            <a:ext cx="746760" cy="892175"/>
            <a:chOff x="4075" y="6504"/>
            <a:chExt cx="1176" cy="1405"/>
          </a:xfrm>
        </p:grpSpPr>
        <p:sp>
          <p:nvSpPr>
            <p:cNvPr id="24" name="文本框 23"/>
            <p:cNvSpPr txBox="1"/>
            <p:nvPr/>
          </p:nvSpPr>
          <p:spPr>
            <a:xfrm>
              <a:off x="4075" y="7068"/>
              <a:ext cx="1176" cy="8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 u="sng" dirty="0" smtClean="0">
                  <a:solidFill>
                    <a:schemeClr val="accent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010</a:t>
              </a:r>
              <a:endParaRPr lang="en-US" altLang="zh-CN" sz="2400" b="1" u="sng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6" name="直接箭头连接符 25"/>
            <p:cNvCxnSpPr/>
            <p:nvPr/>
          </p:nvCxnSpPr>
          <p:spPr>
            <a:xfrm flipH="1">
              <a:off x="4662" y="6504"/>
              <a:ext cx="1" cy="655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26"/>
          <p:cNvSpPr txBox="1"/>
          <p:nvPr/>
        </p:nvSpPr>
        <p:spPr>
          <a:xfrm>
            <a:off x="6029325" y="2321180"/>
            <a:ext cx="3877310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indent="0" algn="l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（  </a:t>
            </a: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111001101.01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r>
              <a:rPr lang="en-US" altLang="zh-CN" sz="2800" b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</a:t>
            </a:r>
            <a:endParaRPr lang="en-US" altLang="zh-CN" sz="2800" b="1" baseline="-25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4060" y="3614040"/>
            <a:ext cx="6241415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indent="0" algn="l">
              <a:lnSpc>
                <a:spcPct val="120000"/>
              </a:lnSpc>
              <a:buFont typeface="Wingdings" panose="05000000000000000000" charset="0"/>
              <a:buNone/>
            </a:pPr>
            <a:r>
              <a:rPr 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第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步：</a:t>
            </a:r>
            <a:r>
              <a:rPr 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（        </a:t>
            </a: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1 1100 1101 . 01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  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</a:t>
            </a:r>
            <a:r>
              <a:rPr 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r>
              <a:rPr lang="en-US" altLang="zh-CN" sz="2800" b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</a:t>
            </a:r>
            <a:endParaRPr lang="en-US" altLang="zh-CN" sz="2800" b="1" baseline="-25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932295" y="3614675"/>
            <a:ext cx="2870200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indent="0" algn="l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（   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1CD.4</a:t>
            </a:r>
            <a:r>
              <a:rPr 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）</a:t>
            </a:r>
            <a:r>
              <a:rPr lang="en-US" altLang="zh-CN" sz="2800" b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</a:t>
            </a:r>
            <a:endParaRPr lang="en-US" altLang="zh-CN" sz="2800" b="1" baseline="-25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1" name="直接连接符 30"/>
          <p:cNvCxnSpPr/>
          <p:nvPr/>
        </p:nvCxnSpPr>
        <p:spPr>
          <a:xfrm flipH="1" flipV="1">
            <a:off x="3568700" y="4110355"/>
            <a:ext cx="803275" cy="952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H="1" flipV="1">
            <a:off x="2574290" y="4119880"/>
            <a:ext cx="803275" cy="952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2451735" y="3584893"/>
            <a:ext cx="840105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F852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</a:t>
            </a:r>
            <a:endParaRPr lang="en-US" altLang="zh-CN" sz="2800" b="1" dirty="0" smtClean="0">
              <a:solidFill>
                <a:srgbClr val="F852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 flipH="1" flipV="1">
            <a:off x="4450080" y="4100830"/>
            <a:ext cx="803275" cy="952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H="1" flipV="1">
            <a:off x="5441950" y="4119880"/>
            <a:ext cx="803275" cy="952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785485" y="3588068"/>
            <a:ext cx="621030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F852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en-US" altLang="zh-CN" sz="2800" b="1" dirty="0" smtClean="0">
              <a:solidFill>
                <a:srgbClr val="F852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662045" y="4092893"/>
            <a:ext cx="422275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en-US" altLang="zh-CN" sz="28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670810" y="4092893"/>
            <a:ext cx="401955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8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4619625" y="4100513"/>
            <a:ext cx="464185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en-US" altLang="zh-CN" sz="28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627370" y="4092893"/>
            <a:ext cx="401955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8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235200" y="4873245"/>
            <a:ext cx="4947285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indent="0" algn="l">
              <a:lnSpc>
                <a:spcPct val="120000"/>
              </a:lnSpc>
              <a:buFont typeface="Wingdings" panose="05000000000000000000" charset="0"/>
              <a:buNone/>
            </a:pPr>
            <a:r>
              <a:rPr 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（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715.2</a:t>
            </a:r>
            <a:r>
              <a:rPr 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r>
              <a:rPr lang="en-US" altLang="zh-CN" sz="2800" b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（     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1CD.4</a:t>
            </a:r>
            <a:r>
              <a:rPr 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    ）</a:t>
            </a:r>
            <a:r>
              <a:rPr lang="en-US" altLang="zh-CN" sz="2800" b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H</a:t>
            </a:r>
            <a:endParaRPr lang="en-US" altLang="zh-CN" sz="2800" b="1" baseline="-25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7" grpId="0"/>
      <p:bldP spid="4" grpId="0"/>
      <p:bldP spid="30" grpId="0"/>
      <p:bldP spid="35" grpId="0"/>
      <p:bldP spid="38" grpId="0"/>
      <p:bldP spid="39" grpId="0"/>
      <p:bldP spid="40" grpId="0"/>
      <p:bldP spid="42" grpId="0"/>
      <p:bldP spid="43" grpId="0"/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924693" y="120457"/>
            <a:ext cx="7716583" cy="6076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sz="28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进制转换总结</a:t>
            </a:r>
            <a:endParaRPr lang="zh-CN" sz="2800" spc="300" dirty="0">
              <a:solidFill>
                <a:schemeClr val="tx1">
                  <a:lumMod val="75000"/>
                  <a:lumOff val="25000"/>
                </a:schemeClr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2270" y="1039178"/>
            <a:ext cx="6508750" cy="12966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57200" indent="-457200" algn="l">
              <a:lnSpc>
                <a:spcPct val="140000"/>
              </a:lnSpc>
              <a:buFont typeface="Wingdings" panose="05000000000000000000" charset="0"/>
              <a:buChar char="p"/>
            </a:pP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问题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：十进制数如何快速的转换为二进制、八进制和十六进制呢？</a:t>
            </a:r>
            <a:endParaRPr lang="zh-CN" altLang="en-US" sz="2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2270" y="2577466"/>
            <a:ext cx="6508750" cy="11245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indent="0" algn="l">
              <a:lnSpc>
                <a:spcPct val="140000"/>
              </a:lnSpc>
              <a:buFont typeface="Wingdings" panose="05000000000000000000" charset="0"/>
              <a:buNone/>
            </a:pP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法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：根据十进制向非十进制转换规则分别将十进制转化为二进制、八进制和十六进制</a:t>
            </a:r>
            <a:endParaRPr lang="zh-CN" altLang="en-US" sz="24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382270" y="4056380"/>
            <a:ext cx="2070100" cy="1495425"/>
            <a:chOff x="602" y="6388"/>
            <a:chExt cx="3260" cy="2355"/>
          </a:xfrm>
        </p:grpSpPr>
        <p:sp>
          <p:nvSpPr>
            <p:cNvPr id="5" name="文本框 4"/>
            <p:cNvSpPr txBox="1"/>
            <p:nvPr/>
          </p:nvSpPr>
          <p:spPr>
            <a:xfrm>
              <a:off x="602" y="6388"/>
              <a:ext cx="1793" cy="95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indent="0" algn="l">
                <a:lnSpc>
                  <a:spcPct val="140000"/>
                </a:lnSpc>
                <a:buFont typeface="Wingdings" panose="05000000000000000000" charset="0"/>
                <a:buNone/>
              </a:pPr>
              <a:r>
                <a:rPr lang="zh-CN" altLang="en-US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法</a:t>
              </a:r>
              <a:r>
                <a: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</a:t>
              </a:r>
              <a:r>
                <a:rPr lang="zh-CN" altLang="en-US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：</a:t>
              </a:r>
              <a:endPara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602" y="7345"/>
              <a:ext cx="3260" cy="1398"/>
              <a:chOff x="672" y="7483"/>
              <a:chExt cx="3012" cy="1398"/>
            </a:xfrm>
          </p:grpSpPr>
          <p:grpSp>
            <p:nvGrpSpPr>
              <p:cNvPr id="41" name="组合 40"/>
              <p:cNvGrpSpPr/>
              <p:nvPr/>
            </p:nvGrpSpPr>
            <p:grpSpPr>
              <a:xfrm>
                <a:off x="672" y="7483"/>
                <a:ext cx="3012" cy="1398"/>
                <a:chOff x="825" y="5045"/>
                <a:chExt cx="3012" cy="1398"/>
              </a:xfrm>
            </p:grpSpPr>
            <p:grpSp>
              <p:nvGrpSpPr>
                <p:cNvPr id="21" name="组合 20"/>
                <p:cNvGrpSpPr/>
                <p:nvPr/>
              </p:nvGrpSpPr>
              <p:grpSpPr>
                <a:xfrm>
                  <a:off x="825" y="5486"/>
                  <a:ext cx="3012" cy="957"/>
                  <a:chOff x="1111" y="4616"/>
                  <a:chExt cx="2363" cy="957"/>
                </a:xfrm>
              </p:grpSpPr>
              <p:sp>
                <p:nvSpPr>
                  <p:cNvPr id="14" name="文本框 13"/>
                  <p:cNvSpPr txBox="1"/>
                  <p:nvPr/>
                </p:nvSpPr>
                <p:spPr>
                  <a:xfrm>
                    <a:off x="1111" y="4616"/>
                    <a:ext cx="615" cy="84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indent="0" algn="l">
                      <a:lnSpc>
                        <a:spcPct val="120000"/>
                      </a:lnSpc>
                      <a:buFont typeface="Wingdings" panose="05000000000000000000" charset="0"/>
                      <a:buNone/>
                    </a:pPr>
                    <a:r>
                      <a:rPr lang="zh-CN" altLang="en-US" sz="2400" b="1" dirty="0" smtClean="0">
                        <a:solidFill>
                          <a:srgbClr val="C00000"/>
                        </a:solidFill>
                      </a:rPr>
                      <a:t>十    </a:t>
                    </a:r>
                    <a:endParaRPr lang="zh-CN" altLang="en-US" sz="2400" b="1" dirty="0" smtClean="0">
                      <a:solidFill>
                        <a:srgbClr val="C00000"/>
                      </a:solidFill>
                    </a:endParaRPr>
                  </a:p>
                </p:txBody>
              </p:sp>
              <p:sp>
                <p:nvSpPr>
                  <p:cNvPr id="23" name="文本框 22"/>
                  <p:cNvSpPr txBox="1"/>
                  <p:nvPr/>
                </p:nvSpPr>
                <p:spPr>
                  <a:xfrm>
                    <a:off x="2817" y="4616"/>
                    <a:ext cx="657" cy="957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indent="0" algn="l">
                      <a:lnSpc>
                        <a:spcPct val="120000"/>
                      </a:lnSpc>
                      <a:buFont typeface="Wingdings" panose="05000000000000000000" charset="0"/>
                      <a:buNone/>
                    </a:pPr>
                    <a:r>
                      <a:rPr lang="zh-CN" altLang="en-US" sz="2400" b="1" dirty="0" smtClean="0">
                        <a:solidFill>
                          <a:srgbClr val="C00000"/>
                        </a:solidFill>
                      </a:rPr>
                      <a:t>八</a:t>
                    </a:r>
                    <a:r>
                      <a:rPr lang="zh-CN" altLang="en-US" sz="2800" b="1" dirty="0" smtClean="0">
                        <a:solidFill>
                          <a:srgbClr val="C00000"/>
                        </a:solidFill>
                      </a:rPr>
                      <a:t>    </a:t>
                    </a:r>
                    <a:endParaRPr lang="zh-CN" altLang="en-US" sz="2800" b="1" dirty="0" smtClean="0">
                      <a:solidFill>
                        <a:srgbClr val="C00000"/>
                      </a:solidFill>
                    </a:endParaRPr>
                  </a:p>
                </p:txBody>
              </p:sp>
            </p:grpSp>
            <p:sp>
              <p:nvSpPr>
                <p:cNvPr id="7" name="文本框 6"/>
                <p:cNvSpPr txBox="1"/>
                <p:nvPr/>
              </p:nvSpPr>
              <p:spPr>
                <a:xfrm>
                  <a:off x="1679" y="5045"/>
                  <a:ext cx="1391" cy="783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2200" b="1" dirty="0" smtClean="0">
                      <a:solidFill>
                        <a:srgbClr val="F85208"/>
                      </a:solidFill>
                    </a:rPr>
                    <a:t>规则</a:t>
                  </a:r>
                  <a:endParaRPr lang="zh-CN" altLang="en-US" sz="2200" b="1" dirty="0" smtClean="0">
                    <a:solidFill>
                      <a:srgbClr val="F85208"/>
                    </a:solidFill>
                  </a:endParaRPr>
                </a:p>
              </p:txBody>
            </p:sp>
          </p:grpSp>
          <p:cxnSp>
            <p:nvCxnSpPr>
              <p:cNvPr id="11" name="直接箭头连接符 10"/>
              <p:cNvCxnSpPr>
                <a:endCxn id="23" idx="1"/>
              </p:cNvCxnSpPr>
              <p:nvPr/>
            </p:nvCxnSpPr>
            <p:spPr>
              <a:xfrm flipV="1">
                <a:off x="1595" y="8403"/>
                <a:ext cx="1252" cy="14"/>
              </a:xfrm>
              <a:prstGeom prst="straightConnector1">
                <a:avLst/>
              </a:prstGeom>
              <a:ln w="38100">
                <a:solidFill>
                  <a:schemeClr val="accent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" name="组合 12"/>
          <p:cNvGrpSpPr/>
          <p:nvPr/>
        </p:nvGrpSpPr>
        <p:grpSpPr>
          <a:xfrm>
            <a:off x="2452579" y="4665345"/>
            <a:ext cx="2005524" cy="886460"/>
            <a:chOff x="1526" y="7485"/>
            <a:chExt cx="2918" cy="1396"/>
          </a:xfrm>
        </p:grpSpPr>
        <p:grpSp>
          <p:nvGrpSpPr>
            <p:cNvPr id="17" name="组合 16"/>
            <p:cNvGrpSpPr/>
            <p:nvPr/>
          </p:nvGrpSpPr>
          <p:grpSpPr>
            <a:xfrm>
              <a:off x="1526" y="7485"/>
              <a:ext cx="2918" cy="1396"/>
              <a:chOff x="1679" y="5047"/>
              <a:chExt cx="2918" cy="1396"/>
            </a:xfrm>
          </p:grpSpPr>
          <p:sp>
            <p:nvSpPr>
              <p:cNvPr id="20" name="文本框 19"/>
              <p:cNvSpPr txBox="1"/>
              <p:nvPr/>
            </p:nvSpPr>
            <p:spPr>
              <a:xfrm>
                <a:off x="3760" y="5486"/>
                <a:ext cx="837" cy="95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indent="0" algn="l">
                  <a:lnSpc>
                    <a:spcPct val="120000"/>
                  </a:lnSpc>
                  <a:buFont typeface="Wingdings" panose="05000000000000000000" charset="0"/>
                  <a:buNone/>
                </a:pPr>
                <a:r>
                  <a:rPr lang="zh-CN" altLang="en-US" sz="2400" b="1" dirty="0" smtClean="0">
                    <a:solidFill>
                      <a:srgbClr val="C00000"/>
                    </a:solidFill>
                  </a:rPr>
                  <a:t>二</a:t>
                </a:r>
                <a:r>
                  <a:rPr lang="zh-CN" altLang="en-US" sz="2800" b="1" dirty="0" smtClean="0">
                    <a:solidFill>
                      <a:srgbClr val="C00000"/>
                    </a:solidFill>
                  </a:rPr>
                  <a:t>    </a:t>
                </a:r>
                <a:endParaRPr lang="zh-CN" altLang="en-US" sz="2800" b="1" dirty="0" smtClean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1679" y="5047"/>
                <a:ext cx="2489" cy="78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200" b="1" dirty="0" smtClean="0">
                    <a:solidFill>
                      <a:srgbClr val="F85208"/>
                    </a:solidFill>
                  </a:rPr>
                  <a:t>一位拆三位</a:t>
                </a:r>
                <a:endParaRPr lang="zh-CN" altLang="en-US" sz="2200" b="1" dirty="0" smtClean="0">
                  <a:solidFill>
                    <a:srgbClr val="F85208"/>
                  </a:solidFill>
                </a:endParaRPr>
              </a:p>
            </p:txBody>
          </p:sp>
        </p:grpSp>
        <p:cxnSp>
          <p:nvCxnSpPr>
            <p:cNvPr id="24" name="直接箭头连接符 23"/>
            <p:cNvCxnSpPr>
              <a:stCxn id="23" idx="3"/>
              <a:endCxn id="20" idx="1"/>
            </p:cNvCxnSpPr>
            <p:nvPr/>
          </p:nvCxnSpPr>
          <p:spPr>
            <a:xfrm>
              <a:off x="1526" y="8403"/>
              <a:ext cx="2082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/>
          <p:cNvGrpSpPr/>
          <p:nvPr/>
        </p:nvGrpSpPr>
        <p:grpSpPr>
          <a:xfrm>
            <a:off x="4600732" y="4664075"/>
            <a:ext cx="2291438" cy="886460"/>
            <a:chOff x="1525" y="7485"/>
            <a:chExt cx="3334" cy="1396"/>
          </a:xfrm>
        </p:grpSpPr>
        <p:grpSp>
          <p:nvGrpSpPr>
            <p:cNvPr id="26" name="组合 25"/>
            <p:cNvGrpSpPr/>
            <p:nvPr/>
          </p:nvGrpSpPr>
          <p:grpSpPr>
            <a:xfrm>
              <a:off x="1526" y="7485"/>
              <a:ext cx="3333" cy="1396"/>
              <a:chOff x="1679" y="5047"/>
              <a:chExt cx="3333" cy="1396"/>
            </a:xfrm>
          </p:grpSpPr>
          <p:sp>
            <p:nvSpPr>
              <p:cNvPr id="27" name="文本框 26"/>
              <p:cNvSpPr txBox="1"/>
              <p:nvPr/>
            </p:nvSpPr>
            <p:spPr>
              <a:xfrm>
                <a:off x="3760" y="5486"/>
                <a:ext cx="1252" cy="95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indent="0" algn="l">
                  <a:lnSpc>
                    <a:spcPct val="120000"/>
                  </a:lnSpc>
                  <a:buFont typeface="Wingdings" panose="05000000000000000000" charset="0"/>
                  <a:buNone/>
                </a:pPr>
                <a:r>
                  <a:rPr lang="zh-CN" altLang="en-US" sz="2400" b="1" dirty="0" smtClean="0">
                    <a:solidFill>
                      <a:srgbClr val="C00000"/>
                    </a:solidFill>
                  </a:rPr>
                  <a:t>十六</a:t>
                </a:r>
                <a:r>
                  <a:rPr lang="zh-CN" altLang="en-US" sz="2800" b="1" dirty="0" smtClean="0">
                    <a:solidFill>
                      <a:srgbClr val="C00000"/>
                    </a:solidFill>
                  </a:rPr>
                  <a:t>    </a:t>
                </a:r>
                <a:endParaRPr lang="zh-CN" altLang="en-US" sz="2800" b="1" dirty="0" smtClean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1679" y="5047"/>
                <a:ext cx="2489" cy="78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200" b="1" dirty="0" smtClean="0">
                    <a:solidFill>
                      <a:srgbClr val="F85208"/>
                    </a:solidFill>
                  </a:rPr>
                  <a:t>四位并一位</a:t>
                </a:r>
                <a:endParaRPr lang="zh-CN" altLang="en-US" sz="2200" b="1" dirty="0" smtClean="0">
                  <a:solidFill>
                    <a:srgbClr val="F85208"/>
                  </a:solidFill>
                </a:endParaRPr>
              </a:p>
            </p:txBody>
          </p:sp>
        </p:grpSp>
        <p:cxnSp>
          <p:nvCxnSpPr>
            <p:cNvPr id="29" name="直接箭头连接符 28"/>
            <p:cNvCxnSpPr>
              <a:endCxn id="27" idx="1"/>
            </p:cNvCxnSpPr>
            <p:nvPr/>
          </p:nvCxnSpPr>
          <p:spPr>
            <a:xfrm>
              <a:off x="1525" y="8403"/>
              <a:ext cx="2082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0" grpId="2"/>
      <p:bldP spid="10" grpId="3"/>
      <p:bldP spid="10" grpId="4"/>
      <p:bldP spid="10" grpId="5"/>
      <p:bldP spid="10" grpId="6"/>
      <p:bldP spid="10" grpId="7"/>
      <p:bldP spid="10" grpId="8"/>
      <p:bldP spid="10" grpId="9"/>
      <p:bldP spid="10" grpId="10"/>
      <p:bldP spid="10" grpId="11"/>
      <p:bldP spid="10" grpId="12"/>
      <p:bldP spid="10" grpId="13"/>
      <p:bldP spid="10" grpId="14"/>
      <p:bldP spid="10" grpId="15"/>
      <p:bldP spid="10" grpId="16"/>
      <p:bldP spid="10" grpId="17"/>
      <p:bldP spid="10" grpId="18"/>
      <p:bldP spid="2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MH_SubTitle_3"/>
          <p:cNvSpPr/>
          <p:nvPr>
            <p:custDataLst>
              <p:tags r:id="rId1"/>
            </p:custDataLst>
          </p:nvPr>
        </p:nvSpPr>
        <p:spPr>
          <a:xfrm>
            <a:off x="0" y="250190"/>
            <a:ext cx="3656330" cy="388620"/>
          </a:xfrm>
          <a:prstGeom prst="homePlate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进制转换总结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96290" y="2114550"/>
            <a:ext cx="8550275" cy="6076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indent="0" algn="l">
              <a:lnSpc>
                <a:spcPct val="120000"/>
              </a:lnSpc>
              <a:buFont typeface="Wingdings" panose="05000000000000000000" charset="0"/>
              <a:buNone/>
            </a:pP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例：（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86.625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）</a:t>
            </a:r>
            <a:r>
              <a:rPr lang="en-US" altLang="zh-CN" sz="2800" b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D 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=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（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 </a:t>
            </a:r>
            <a:r>
              <a:rPr lang="zh-CN" altLang="en-US" sz="2800" b="1" dirty="0" smtClean="0">
                <a:solidFill>
                  <a:srgbClr val="C00000"/>
                </a:solidFill>
                <a:sym typeface="+mn-ea"/>
              </a:rPr>
              <a:t>？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）</a:t>
            </a:r>
            <a:r>
              <a:rPr lang="en-US" altLang="zh-CN" sz="2800" b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B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=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（ </a:t>
            </a:r>
            <a:r>
              <a:rPr lang="zh-CN" altLang="en-US" sz="2800" b="1" dirty="0" smtClean="0">
                <a:solidFill>
                  <a:srgbClr val="C00000"/>
                </a:solidFill>
                <a:sym typeface="+mn-ea"/>
              </a:rPr>
              <a:t>？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）</a:t>
            </a:r>
            <a:r>
              <a:rPr lang="en-US" altLang="zh-CN" sz="2800" b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O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=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（</a:t>
            </a:r>
            <a:r>
              <a:rPr lang="zh-CN" altLang="en-US" sz="2800" b="1" dirty="0" smtClean="0">
                <a:solidFill>
                  <a:srgbClr val="C00000"/>
                </a:solidFill>
                <a:sym typeface="+mn-ea"/>
              </a:rPr>
              <a:t> ？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）</a:t>
            </a:r>
            <a:r>
              <a:rPr lang="en-US" altLang="zh-CN" sz="2800" b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H</a:t>
            </a:r>
            <a:endParaRPr lang="zh-CN" altLang="en-US" sz="2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1156970" y="1161415"/>
            <a:ext cx="6509385" cy="887730"/>
            <a:chOff x="602" y="7345"/>
            <a:chExt cx="10251" cy="1398"/>
          </a:xfrm>
        </p:grpSpPr>
        <p:grpSp>
          <p:nvGrpSpPr>
            <p:cNvPr id="15" name="组合 14"/>
            <p:cNvGrpSpPr/>
            <p:nvPr/>
          </p:nvGrpSpPr>
          <p:grpSpPr>
            <a:xfrm>
              <a:off x="602" y="7345"/>
              <a:ext cx="3260" cy="1398"/>
              <a:chOff x="672" y="7483"/>
              <a:chExt cx="3012" cy="1398"/>
            </a:xfrm>
          </p:grpSpPr>
          <p:grpSp>
            <p:nvGrpSpPr>
              <p:cNvPr id="41" name="组合 40"/>
              <p:cNvGrpSpPr/>
              <p:nvPr/>
            </p:nvGrpSpPr>
            <p:grpSpPr>
              <a:xfrm>
                <a:off x="672" y="7483"/>
                <a:ext cx="3012" cy="1398"/>
                <a:chOff x="825" y="5045"/>
                <a:chExt cx="3012" cy="1398"/>
              </a:xfrm>
            </p:grpSpPr>
            <p:grpSp>
              <p:nvGrpSpPr>
                <p:cNvPr id="21" name="组合 20"/>
                <p:cNvGrpSpPr/>
                <p:nvPr/>
              </p:nvGrpSpPr>
              <p:grpSpPr>
                <a:xfrm>
                  <a:off x="825" y="5486"/>
                  <a:ext cx="3012" cy="957"/>
                  <a:chOff x="1111" y="4616"/>
                  <a:chExt cx="2363" cy="957"/>
                </a:xfrm>
              </p:grpSpPr>
              <p:sp>
                <p:nvSpPr>
                  <p:cNvPr id="17" name="文本框 16"/>
                  <p:cNvSpPr txBox="1"/>
                  <p:nvPr/>
                </p:nvSpPr>
                <p:spPr>
                  <a:xfrm>
                    <a:off x="1111" y="4616"/>
                    <a:ext cx="615" cy="84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indent="0" algn="l">
                      <a:lnSpc>
                        <a:spcPct val="120000"/>
                      </a:lnSpc>
                      <a:buFont typeface="Wingdings" panose="05000000000000000000" charset="0"/>
                      <a:buNone/>
                    </a:pPr>
                    <a:r>
                      <a:rPr lang="zh-CN" altLang="en-US" sz="2400" b="1" dirty="0" smtClean="0">
                        <a:solidFill>
                          <a:srgbClr val="C00000"/>
                        </a:solidFill>
                      </a:rPr>
                      <a:t>十    </a:t>
                    </a:r>
                    <a:endParaRPr lang="zh-CN" altLang="en-US" sz="2400" b="1" dirty="0" smtClean="0">
                      <a:solidFill>
                        <a:srgbClr val="C00000"/>
                      </a:solidFill>
                    </a:endParaRPr>
                  </a:p>
                </p:txBody>
              </p:sp>
              <p:sp>
                <p:nvSpPr>
                  <p:cNvPr id="23" name="文本框 22"/>
                  <p:cNvSpPr txBox="1"/>
                  <p:nvPr/>
                </p:nvSpPr>
                <p:spPr>
                  <a:xfrm>
                    <a:off x="2817" y="4616"/>
                    <a:ext cx="657" cy="957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indent="0" algn="l">
                      <a:lnSpc>
                        <a:spcPct val="120000"/>
                      </a:lnSpc>
                      <a:buFont typeface="Wingdings" panose="05000000000000000000" charset="0"/>
                      <a:buNone/>
                    </a:pPr>
                    <a:r>
                      <a:rPr lang="zh-CN" altLang="en-US" sz="2400" b="1" dirty="0" smtClean="0">
                        <a:solidFill>
                          <a:srgbClr val="C00000"/>
                        </a:solidFill>
                      </a:rPr>
                      <a:t>八</a:t>
                    </a:r>
                    <a:r>
                      <a:rPr lang="zh-CN" altLang="en-US" sz="2800" b="1" dirty="0" smtClean="0">
                        <a:solidFill>
                          <a:srgbClr val="C00000"/>
                        </a:solidFill>
                      </a:rPr>
                      <a:t>    </a:t>
                    </a:r>
                    <a:endParaRPr lang="zh-CN" altLang="en-US" sz="2800" b="1" dirty="0" smtClean="0">
                      <a:solidFill>
                        <a:srgbClr val="C00000"/>
                      </a:solidFill>
                    </a:endParaRPr>
                  </a:p>
                </p:txBody>
              </p:sp>
            </p:grpSp>
            <p:sp>
              <p:nvSpPr>
                <p:cNvPr id="18" name="文本框 17"/>
                <p:cNvSpPr txBox="1"/>
                <p:nvPr/>
              </p:nvSpPr>
              <p:spPr>
                <a:xfrm>
                  <a:off x="1679" y="5045"/>
                  <a:ext cx="1391" cy="783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2200" b="1" dirty="0" smtClean="0">
                      <a:solidFill>
                        <a:srgbClr val="F85208"/>
                      </a:solidFill>
                    </a:rPr>
                    <a:t>规则</a:t>
                  </a:r>
                  <a:endParaRPr lang="zh-CN" altLang="en-US" sz="2200" b="1" dirty="0" smtClean="0">
                    <a:solidFill>
                      <a:srgbClr val="F85208"/>
                    </a:solidFill>
                  </a:endParaRPr>
                </a:p>
              </p:txBody>
            </p:sp>
          </p:grpSp>
          <p:cxnSp>
            <p:nvCxnSpPr>
              <p:cNvPr id="19" name="直接箭头连接符 18"/>
              <p:cNvCxnSpPr>
                <a:endCxn id="23" idx="1"/>
              </p:cNvCxnSpPr>
              <p:nvPr/>
            </p:nvCxnSpPr>
            <p:spPr>
              <a:xfrm flipV="1">
                <a:off x="1595" y="8403"/>
                <a:ext cx="1252" cy="14"/>
              </a:xfrm>
              <a:prstGeom prst="straightConnector1">
                <a:avLst/>
              </a:prstGeom>
              <a:ln w="38100">
                <a:solidFill>
                  <a:schemeClr val="accent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组合 19"/>
            <p:cNvGrpSpPr/>
            <p:nvPr/>
          </p:nvGrpSpPr>
          <p:grpSpPr>
            <a:xfrm>
              <a:off x="3862" y="7347"/>
              <a:ext cx="3158" cy="1396"/>
              <a:chOff x="1526" y="7485"/>
              <a:chExt cx="2918" cy="1396"/>
            </a:xfrm>
          </p:grpSpPr>
          <p:grpSp>
            <p:nvGrpSpPr>
              <p:cNvPr id="22" name="组合 21"/>
              <p:cNvGrpSpPr/>
              <p:nvPr/>
            </p:nvGrpSpPr>
            <p:grpSpPr>
              <a:xfrm>
                <a:off x="1526" y="7485"/>
                <a:ext cx="2918" cy="1396"/>
                <a:chOff x="1679" y="5047"/>
                <a:chExt cx="2918" cy="1396"/>
              </a:xfrm>
            </p:grpSpPr>
            <p:sp>
              <p:nvSpPr>
                <p:cNvPr id="24" name="文本框 23"/>
                <p:cNvSpPr txBox="1"/>
                <p:nvPr/>
              </p:nvSpPr>
              <p:spPr>
                <a:xfrm>
                  <a:off x="3760" y="5486"/>
                  <a:ext cx="837" cy="957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indent="0" algn="l">
                    <a:lnSpc>
                      <a:spcPct val="120000"/>
                    </a:lnSpc>
                    <a:buFont typeface="Wingdings" panose="05000000000000000000" charset="0"/>
                    <a:buNone/>
                  </a:pPr>
                  <a:r>
                    <a:rPr lang="zh-CN" altLang="en-US" sz="2400" b="1" dirty="0" smtClean="0">
                      <a:solidFill>
                        <a:srgbClr val="C00000"/>
                      </a:solidFill>
                    </a:rPr>
                    <a:t>二</a:t>
                  </a:r>
                  <a:r>
                    <a:rPr lang="zh-CN" altLang="en-US" sz="2800" b="1" dirty="0" smtClean="0">
                      <a:solidFill>
                        <a:srgbClr val="C00000"/>
                      </a:solidFill>
                    </a:rPr>
                    <a:t>    </a:t>
                  </a:r>
                  <a:endParaRPr lang="zh-CN" altLang="en-US" sz="2800" b="1" dirty="0" smtClean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25" name="文本框 24"/>
                <p:cNvSpPr txBox="1"/>
                <p:nvPr/>
              </p:nvSpPr>
              <p:spPr>
                <a:xfrm>
                  <a:off x="1679" y="5047"/>
                  <a:ext cx="2489" cy="783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2200" b="1" dirty="0" smtClean="0">
                      <a:solidFill>
                        <a:srgbClr val="F85208"/>
                      </a:solidFill>
                    </a:rPr>
                    <a:t>一位拆三位</a:t>
                  </a:r>
                  <a:endParaRPr lang="zh-CN" altLang="en-US" sz="2200" b="1" dirty="0" smtClean="0">
                    <a:solidFill>
                      <a:srgbClr val="F85208"/>
                    </a:solidFill>
                  </a:endParaRPr>
                </a:p>
              </p:txBody>
            </p:sp>
          </p:grpSp>
          <p:cxnSp>
            <p:nvCxnSpPr>
              <p:cNvPr id="26" name="直接箭头连接符 25"/>
              <p:cNvCxnSpPr>
                <a:stCxn id="23" idx="3"/>
                <a:endCxn id="24" idx="1"/>
              </p:cNvCxnSpPr>
              <p:nvPr/>
            </p:nvCxnSpPr>
            <p:spPr>
              <a:xfrm>
                <a:off x="1526" y="8403"/>
                <a:ext cx="2082" cy="0"/>
              </a:xfrm>
              <a:prstGeom prst="straightConnector1">
                <a:avLst/>
              </a:prstGeom>
              <a:ln w="38100">
                <a:solidFill>
                  <a:schemeClr val="accent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组合 26"/>
            <p:cNvGrpSpPr/>
            <p:nvPr/>
          </p:nvGrpSpPr>
          <p:grpSpPr>
            <a:xfrm>
              <a:off x="7245" y="7345"/>
              <a:ext cx="3609" cy="1396"/>
              <a:chOff x="1525" y="7485"/>
              <a:chExt cx="3334" cy="1396"/>
            </a:xfrm>
          </p:grpSpPr>
          <p:grpSp>
            <p:nvGrpSpPr>
              <p:cNvPr id="31" name="组合 30"/>
              <p:cNvGrpSpPr/>
              <p:nvPr/>
            </p:nvGrpSpPr>
            <p:grpSpPr>
              <a:xfrm>
                <a:off x="1526" y="7485"/>
                <a:ext cx="3333" cy="1396"/>
                <a:chOff x="1679" y="5047"/>
                <a:chExt cx="3333" cy="1396"/>
              </a:xfrm>
            </p:grpSpPr>
            <p:sp>
              <p:nvSpPr>
                <p:cNvPr id="32" name="文本框 31"/>
                <p:cNvSpPr txBox="1"/>
                <p:nvPr/>
              </p:nvSpPr>
              <p:spPr>
                <a:xfrm>
                  <a:off x="3760" y="5486"/>
                  <a:ext cx="1252" cy="957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indent="0" algn="l">
                    <a:lnSpc>
                      <a:spcPct val="120000"/>
                    </a:lnSpc>
                    <a:buFont typeface="Wingdings" panose="05000000000000000000" charset="0"/>
                    <a:buNone/>
                  </a:pPr>
                  <a:r>
                    <a:rPr lang="zh-CN" altLang="en-US" sz="2400" b="1" dirty="0" smtClean="0">
                      <a:solidFill>
                        <a:srgbClr val="C00000"/>
                      </a:solidFill>
                    </a:rPr>
                    <a:t>十六</a:t>
                  </a:r>
                  <a:r>
                    <a:rPr lang="zh-CN" altLang="en-US" sz="2800" b="1" dirty="0" smtClean="0">
                      <a:solidFill>
                        <a:srgbClr val="C00000"/>
                      </a:solidFill>
                    </a:rPr>
                    <a:t>    </a:t>
                  </a:r>
                  <a:endParaRPr lang="zh-CN" altLang="en-US" sz="2800" b="1" dirty="0" smtClean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35" name="文本框 34"/>
                <p:cNvSpPr txBox="1"/>
                <p:nvPr/>
              </p:nvSpPr>
              <p:spPr>
                <a:xfrm>
                  <a:off x="1679" y="5047"/>
                  <a:ext cx="2489" cy="783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2200" b="1" dirty="0" smtClean="0">
                      <a:solidFill>
                        <a:srgbClr val="F85208"/>
                      </a:solidFill>
                    </a:rPr>
                    <a:t>四位并一位</a:t>
                  </a:r>
                  <a:endParaRPr lang="zh-CN" altLang="en-US" sz="2200" b="1" dirty="0" smtClean="0">
                    <a:solidFill>
                      <a:srgbClr val="F85208"/>
                    </a:solidFill>
                  </a:endParaRPr>
                </a:p>
              </p:txBody>
            </p:sp>
          </p:grpSp>
          <p:cxnSp>
            <p:nvCxnSpPr>
              <p:cNvPr id="36" name="直接箭头连接符 35"/>
              <p:cNvCxnSpPr>
                <a:endCxn id="32" idx="1"/>
              </p:cNvCxnSpPr>
              <p:nvPr/>
            </p:nvCxnSpPr>
            <p:spPr>
              <a:xfrm>
                <a:off x="1525" y="8403"/>
                <a:ext cx="2082" cy="0"/>
              </a:xfrm>
              <a:prstGeom prst="straightConnector1">
                <a:avLst/>
              </a:prstGeom>
              <a:ln w="38100">
                <a:solidFill>
                  <a:schemeClr val="accent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4" name="组合 43"/>
          <p:cNvGrpSpPr/>
          <p:nvPr/>
        </p:nvGrpSpPr>
        <p:grpSpPr>
          <a:xfrm>
            <a:off x="2399030" y="3321685"/>
            <a:ext cx="825500" cy="534035"/>
            <a:chOff x="6125" y="4428"/>
            <a:chExt cx="1300" cy="841"/>
          </a:xfrm>
        </p:grpSpPr>
        <p:cxnSp>
          <p:nvCxnSpPr>
            <p:cNvPr id="45" name="直接连接符 44"/>
            <p:cNvCxnSpPr/>
            <p:nvPr/>
          </p:nvCxnSpPr>
          <p:spPr>
            <a:xfrm flipV="1">
              <a:off x="6125" y="4842"/>
              <a:ext cx="671" cy="1"/>
            </a:xfrm>
            <a:prstGeom prst="line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/>
            <p:cNvSpPr txBox="1"/>
            <p:nvPr/>
          </p:nvSpPr>
          <p:spPr>
            <a:xfrm>
              <a:off x="6841" y="4428"/>
              <a:ext cx="584" cy="8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1413510" y="3339783"/>
            <a:ext cx="740410" cy="53403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1 0</a:t>
            </a:r>
            <a:endParaRPr lang="en-US" altLang="zh-CN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786130" y="3321685"/>
            <a:ext cx="1681480" cy="544830"/>
            <a:chOff x="3111" y="5230"/>
            <a:chExt cx="2648" cy="858"/>
          </a:xfrm>
        </p:grpSpPr>
        <p:grpSp>
          <p:nvGrpSpPr>
            <p:cNvPr id="49" name="组合 10"/>
            <p:cNvGrpSpPr/>
            <p:nvPr/>
          </p:nvGrpSpPr>
          <p:grpSpPr>
            <a:xfrm>
              <a:off x="4025" y="5246"/>
              <a:ext cx="1734" cy="842"/>
              <a:chOff x="1874982" y="3205017"/>
              <a:chExt cx="831273" cy="360219"/>
            </a:xfrm>
          </p:grpSpPr>
          <p:cxnSp>
            <p:nvCxnSpPr>
              <p:cNvPr id="50" name="直接连接符 49"/>
              <p:cNvCxnSpPr/>
              <p:nvPr/>
            </p:nvCxnSpPr>
            <p:spPr>
              <a:xfrm rot="16200000" flipH="1">
                <a:off x="1713930" y="3375605"/>
                <a:ext cx="341177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flipV="1">
                <a:off x="1874982" y="3555715"/>
                <a:ext cx="831273" cy="9521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文本框 51"/>
            <p:cNvSpPr txBox="1"/>
            <p:nvPr/>
          </p:nvSpPr>
          <p:spPr>
            <a:xfrm>
              <a:off x="3111" y="5230"/>
              <a:ext cx="584" cy="8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endPara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2339975" y="3883660"/>
            <a:ext cx="884555" cy="534035"/>
            <a:chOff x="6125" y="5375"/>
            <a:chExt cx="1393" cy="841"/>
          </a:xfrm>
        </p:grpSpPr>
        <p:cxnSp>
          <p:nvCxnSpPr>
            <p:cNvPr id="54" name="直接连接符 53"/>
            <p:cNvCxnSpPr/>
            <p:nvPr/>
          </p:nvCxnSpPr>
          <p:spPr>
            <a:xfrm>
              <a:off x="6125" y="5800"/>
              <a:ext cx="716" cy="11"/>
            </a:xfrm>
            <a:prstGeom prst="line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本框 54"/>
            <p:cNvSpPr txBox="1"/>
            <p:nvPr/>
          </p:nvSpPr>
          <p:spPr>
            <a:xfrm>
              <a:off x="6934" y="5375"/>
              <a:ext cx="584" cy="8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1770380" y="3883343"/>
            <a:ext cx="370840" cy="53403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endParaRPr lang="en-US" altLang="zh-CN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796290" y="3818890"/>
            <a:ext cx="1670685" cy="561975"/>
            <a:chOff x="3127" y="6013"/>
            <a:chExt cx="2631" cy="885"/>
          </a:xfrm>
        </p:grpSpPr>
        <p:grpSp>
          <p:nvGrpSpPr>
            <p:cNvPr id="58" name="组合 10"/>
            <p:cNvGrpSpPr/>
            <p:nvPr/>
          </p:nvGrpSpPr>
          <p:grpSpPr>
            <a:xfrm>
              <a:off x="4149" y="6071"/>
              <a:ext cx="1609" cy="827"/>
              <a:chOff x="1874982" y="3205017"/>
              <a:chExt cx="831273" cy="360219"/>
            </a:xfrm>
          </p:grpSpPr>
          <p:cxnSp>
            <p:nvCxnSpPr>
              <p:cNvPr id="59" name="直接连接符 58"/>
              <p:cNvCxnSpPr/>
              <p:nvPr/>
            </p:nvCxnSpPr>
            <p:spPr>
              <a:xfrm rot="16200000" flipH="1">
                <a:off x="1713930" y="3375605"/>
                <a:ext cx="341177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flipV="1">
                <a:off x="1874982" y="3555715"/>
                <a:ext cx="831273" cy="9521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文本框 60"/>
            <p:cNvSpPr txBox="1"/>
            <p:nvPr/>
          </p:nvSpPr>
          <p:spPr>
            <a:xfrm>
              <a:off x="3127" y="6013"/>
              <a:ext cx="584" cy="8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endPara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2339975" y="4417695"/>
            <a:ext cx="884555" cy="534035"/>
            <a:chOff x="6125" y="6245"/>
            <a:chExt cx="1393" cy="841"/>
          </a:xfrm>
        </p:grpSpPr>
        <p:cxnSp>
          <p:nvCxnSpPr>
            <p:cNvPr id="64" name="直接连接符 63"/>
            <p:cNvCxnSpPr/>
            <p:nvPr/>
          </p:nvCxnSpPr>
          <p:spPr>
            <a:xfrm flipV="1">
              <a:off x="6125" y="6663"/>
              <a:ext cx="747" cy="3"/>
            </a:xfrm>
            <a:prstGeom prst="line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文本框 64"/>
            <p:cNvSpPr txBox="1"/>
            <p:nvPr/>
          </p:nvSpPr>
          <p:spPr>
            <a:xfrm>
              <a:off x="6934" y="6245"/>
              <a:ext cx="584" cy="8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6" name="文本框 65"/>
          <p:cNvSpPr txBox="1"/>
          <p:nvPr/>
        </p:nvSpPr>
        <p:spPr>
          <a:xfrm>
            <a:off x="1725295" y="4417378"/>
            <a:ext cx="461645" cy="53403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</a:t>
            </a:r>
            <a:endParaRPr lang="en-US" altLang="zh-CN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796290" y="2722245"/>
            <a:ext cx="1681480" cy="608965"/>
            <a:chOff x="1254" y="4287"/>
            <a:chExt cx="2648" cy="959"/>
          </a:xfrm>
        </p:grpSpPr>
        <p:grpSp>
          <p:nvGrpSpPr>
            <p:cNvPr id="38" name="组合 37"/>
            <p:cNvGrpSpPr/>
            <p:nvPr/>
          </p:nvGrpSpPr>
          <p:grpSpPr>
            <a:xfrm>
              <a:off x="1254" y="4378"/>
              <a:ext cx="2648" cy="869"/>
              <a:chOff x="3109" y="4404"/>
              <a:chExt cx="2648" cy="869"/>
            </a:xfrm>
          </p:grpSpPr>
          <p:grpSp>
            <p:nvGrpSpPr>
              <p:cNvPr id="88067" name="组合 10"/>
              <p:cNvGrpSpPr/>
              <p:nvPr/>
            </p:nvGrpSpPr>
            <p:grpSpPr>
              <a:xfrm>
                <a:off x="3809" y="4404"/>
                <a:ext cx="1948" cy="842"/>
                <a:chOff x="1874982" y="3205017"/>
                <a:chExt cx="831273" cy="360219"/>
              </a:xfrm>
            </p:grpSpPr>
            <p:cxnSp>
              <p:nvCxnSpPr>
                <p:cNvPr id="39" name="直接连接符 38"/>
                <p:cNvCxnSpPr/>
                <p:nvPr/>
              </p:nvCxnSpPr>
              <p:spPr>
                <a:xfrm rot="16200000" flipH="1">
                  <a:off x="1713930" y="3375605"/>
                  <a:ext cx="34117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 flipV="1">
                  <a:off x="1874982" y="3555715"/>
                  <a:ext cx="831273" cy="952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文本框 41"/>
              <p:cNvSpPr txBox="1"/>
              <p:nvPr/>
            </p:nvSpPr>
            <p:spPr>
              <a:xfrm>
                <a:off x="3109" y="4432"/>
                <a:ext cx="584" cy="84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4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</a:t>
                </a:r>
                <a:endPara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9" name="文本框 68"/>
            <p:cNvSpPr txBox="1"/>
            <p:nvPr/>
          </p:nvSpPr>
          <p:spPr>
            <a:xfrm>
              <a:off x="1940" y="4287"/>
              <a:ext cx="1452" cy="8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8 6</a:t>
              </a:r>
              <a:endPara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9" name="文本框 88"/>
          <p:cNvSpPr txBox="1"/>
          <p:nvPr/>
        </p:nvSpPr>
        <p:spPr>
          <a:xfrm>
            <a:off x="3357880" y="3302000"/>
            <a:ext cx="1473200" cy="5340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0.625  </a:t>
            </a:r>
            <a:endParaRPr lang="en-US" altLang="zh-CN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0" name="组合 89"/>
          <p:cNvGrpSpPr/>
          <p:nvPr/>
        </p:nvGrpSpPr>
        <p:grpSpPr>
          <a:xfrm>
            <a:off x="3224524" y="3832860"/>
            <a:ext cx="1532497" cy="534035"/>
            <a:chOff x="2268" y="5609"/>
            <a:chExt cx="1950" cy="841"/>
          </a:xfrm>
        </p:grpSpPr>
        <p:sp>
          <p:nvSpPr>
            <p:cNvPr id="91" name="文本框 90"/>
            <p:cNvSpPr txBox="1"/>
            <p:nvPr/>
          </p:nvSpPr>
          <p:spPr>
            <a:xfrm>
              <a:off x="2268" y="5609"/>
              <a:ext cx="1950" cy="84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2400" b="1" dirty="0" smtClean="0">
                  <a:solidFill>
                    <a:srgbClr val="F85208"/>
                  </a:solidFill>
                  <a:sym typeface="+mn-ea"/>
                </a:rPr>
                <a:t>×</a:t>
              </a:r>
              <a:r>
                <a: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8</a:t>
              </a:r>
              <a:endPara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2" name="直接连接符 91"/>
            <p:cNvCxnSpPr/>
            <p:nvPr/>
          </p:nvCxnSpPr>
          <p:spPr>
            <a:xfrm>
              <a:off x="2481" y="6426"/>
              <a:ext cx="1366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文本框 92"/>
          <p:cNvSpPr txBox="1"/>
          <p:nvPr/>
        </p:nvSpPr>
        <p:spPr>
          <a:xfrm>
            <a:off x="3392170" y="4380865"/>
            <a:ext cx="2287270" cy="5340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0.000  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··· 5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6" grpId="0"/>
      <p:bldP spid="66" grpId="0"/>
      <p:bldP spid="89" grpId="0"/>
      <p:bldP spid="9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MH_SubTitle_3"/>
          <p:cNvSpPr/>
          <p:nvPr>
            <p:custDataLst>
              <p:tags r:id="rId1"/>
            </p:custDataLst>
          </p:nvPr>
        </p:nvSpPr>
        <p:spPr>
          <a:xfrm>
            <a:off x="0" y="250190"/>
            <a:ext cx="3656330" cy="388620"/>
          </a:xfrm>
          <a:prstGeom prst="homePlate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进制转换总结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96290" y="2114550"/>
            <a:ext cx="8550275" cy="6076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indent="0" algn="l">
              <a:lnSpc>
                <a:spcPct val="120000"/>
              </a:lnSpc>
              <a:buFont typeface="Wingdings" panose="05000000000000000000" charset="0"/>
              <a:buNone/>
            </a:pP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例：（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86.625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）</a:t>
            </a:r>
            <a:r>
              <a:rPr lang="en-US" altLang="zh-CN" sz="2800" b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D 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=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（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 </a:t>
            </a:r>
            <a:r>
              <a:rPr lang="zh-CN" altLang="en-US" sz="2800" b="1" dirty="0" smtClean="0">
                <a:solidFill>
                  <a:srgbClr val="C00000"/>
                </a:solidFill>
                <a:sym typeface="+mn-ea"/>
              </a:rPr>
              <a:t>？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）</a:t>
            </a:r>
            <a:r>
              <a:rPr lang="en-US" altLang="zh-CN" sz="2800" b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B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=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（ </a:t>
            </a:r>
            <a:r>
              <a:rPr lang="zh-CN" altLang="en-US" sz="2800" b="1" dirty="0" smtClean="0">
                <a:solidFill>
                  <a:srgbClr val="C00000"/>
                </a:solidFill>
                <a:sym typeface="+mn-ea"/>
              </a:rPr>
              <a:t>？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）</a:t>
            </a:r>
            <a:r>
              <a:rPr lang="en-US" altLang="zh-CN" sz="2800" b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O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=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（</a:t>
            </a:r>
            <a:r>
              <a:rPr lang="zh-CN" altLang="en-US" sz="2800" b="1" dirty="0" smtClean="0">
                <a:solidFill>
                  <a:srgbClr val="C00000"/>
                </a:solidFill>
                <a:sym typeface="+mn-ea"/>
              </a:rPr>
              <a:t> ？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）</a:t>
            </a:r>
            <a:r>
              <a:rPr lang="en-US" altLang="zh-CN" sz="2800" b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H</a:t>
            </a:r>
            <a:endParaRPr lang="zh-CN" altLang="en-US" sz="2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1156970" y="1161415"/>
            <a:ext cx="6509385" cy="887730"/>
            <a:chOff x="602" y="7345"/>
            <a:chExt cx="10251" cy="1398"/>
          </a:xfrm>
        </p:grpSpPr>
        <p:grpSp>
          <p:nvGrpSpPr>
            <p:cNvPr id="15" name="组合 14"/>
            <p:cNvGrpSpPr/>
            <p:nvPr/>
          </p:nvGrpSpPr>
          <p:grpSpPr>
            <a:xfrm>
              <a:off x="602" y="7345"/>
              <a:ext cx="3260" cy="1398"/>
              <a:chOff x="672" y="7483"/>
              <a:chExt cx="3012" cy="1398"/>
            </a:xfrm>
          </p:grpSpPr>
          <p:grpSp>
            <p:nvGrpSpPr>
              <p:cNvPr id="41" name="组合 40"/>
              <p:cNvGrpSpPr/>
              <p:nvPr/>
            </p:nvGrpSpPr>
            <p:grpSpPr>
              <a:xfrm>
                <a:off x="672" y="7483"/>
                <a:ext cx="3012" cy="1398"/>
                <a:chOff x="825" y="5045"/>
                <a:chExt cx="3012" cy="1398"/>
              </a:xfrm>
            </p:grpSpPr>
            <p:grpSp>
              <p:nvGrpSpPr>
                <p:cNvPr id="21" name="组合 20"/>
                <p:cNvGrpSpPr/>
                <p:nvPr/>
              </p:nvGrpSpPr>
              <p:grpSpPr>
                <a:xfrm>
                  <a:off x="825" y="5486"/>
                  <a:ext cx="3012" cy="957"/>
                  <a:chOff x="1111" y="4616"/>
                  <a:chExt cx="2363" cy="957"/>
                </a:xfrm>
              </p:grpSpPr>
              <p:sp>
                <p:nvSpPr>
                  <p:cNvPr id="17" name="文本框 16"/>
                  <p:cNvSpPr txBox="1"/>
                  <p:nvPr/>
                </p:nvSpPr>
                <p:spPr>
                  <a:xfrm>
                    <a:off x="1111" y="4616"/>
                    <a:ext cx="615" cy="84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indent="0" algn="l">
                      <a:lnSpc>
                        <a:spcPct val="120000"/>
                      </a:lnSpc>
                      <a:buFont typeface="Wingdings" panose="05000000000000000000" charset="0"/>
                      <a:buNone/>
                    </a:pPr>
                    <a:r>
                      <a:rPr lang="zh-CN" altLang="en-US" sz="2400" b="1" dirty="0" smtClean="0">
                        <a:solidFill>
                          <a:srgbClr val="C00000"/>
                        </a:solidFill>
                      </a:rPr>
                      <a:t>十    </a:t>
                    </a:r>
                    <a:endParaRPr lang="zh-CN" altLang="en-US" sz="2400" b="1" dirty="0" smtClean="0">
                      <a:solidFill>
                        <a:srgbClr val="C00000"/>
                      </a:solidFill>
                    </a:endParaRPr>
                  </a:p>
                </p:txBody>
              </p:sp>
              <p:sp>
                <p:nvSpPr>
                  <p:cNvPr id="23" name="文本框 22"/>
                  <p:cNvSpPr txBox="1"/>
                  <p:nvPr/>
                </p:nvSpPr>
                <p:spPr>
                  <a:xfrm>
                    <a:off x="2817" y="4616"/>
                    <a:ext cx="657" cy="957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indent="0" algn="l">
                      <a:lnSpc>
                        <a:spcPct val="120000"/>
                      </a:lnSpc>
                      <a:buFont typeface="Wingdings" panose="05000000000000000000" charset="0"/>
                      <a:buNone/>
                    </a:pPr>
                    <a:r>
                      <a:rPr lang="zh-CN" altLang="en-US" sz="2400" b="1" dirty="0" smtClean="0">
                        <a:solidFill>
                          <a:srgbClr val="C00000"/>
                        </a:solidFill>
                      </a:rPr>
                      <a:t>八</a:t>
                    </a:r>
                    <a:r>
                      <a:rPr lang="zh-CN" altLang="en-US" sz="2800" b="1" dirty="0" smtClean="0">
                        <a:solidFill>
                          <a:srgbClr val="C00000"/>
                        </a:solidFill>
                      </a:rPr>
                      <a:t>    </a:t>
                    </a:r>
                    <a:endParaRPr lang="zh-CN" altLang="en-US" sz="2800" b="1" dirty="0" smtClean="0">
                      <a:solidFill>
                        <a:srgbClr val="C00000"/>
                      </a:solidFill>
                    </a:endParaRPr>
                  </a:p>
                </p:txBody>
              </p:sp>
            </p:grpSp>
            <p:sp>
              <p:nvSpPr>
                <p:cNvPr id="18" name="文本框 17"/>
                <p:cNvSpPr txBox="1"/>
                <p:nvPr/>
              </p:nvSpPr>
              <p:spPr>
                <a:xfrm>
                  <a:off x="1679" y="5045"/>
                  <a:ext cx="1391" cy="783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2200" b="1" dirty="0" smtClean="0">
                      <a:solidFill>
                        <a:srgbClr val="F85208"/>
                      </a:solidFill>
                    </a:rPr>
                    <a:t>规则</a:t>
                  </a:r>
                  <a:endParaRPr lang="zh-CN" altLang="en-US" sz="2200" b="1" dirty="0" smtClean="0">
                    <a:solidFill>
                      <a:srgbClr val="F85208"/>
                    </a:solidFill>
                  </a:endParaRPr>
                </a:p>
              </p:txBody>
            </p:sp>
          </p:grpSp>
          <p:cxnSp>
            <p:nvCxnSpPr>
              <p:cNvPr id="19" name="直接箭头连接符 18"/>
              <p:cNvCxnSpPr>
                <a:endCxn id="23" idx="1"/>
              </p:cNvCxnSpPr>
              <p:nvPr/>
            </p:nvCxnSpPr>
            <p:spPr>
              <a:xfrm flipV="1">
                <a:off x="1595" y="8403"/>
                <a:ext cx="1252" cy="14"/>
              </a:xfrm>
              <a:prstGeom prst="straightConnector1">
                <a:avLst/>
              </a:prstGeom>
              <a:ln w="38100">
                <a:solidFill>
                  <a:schemeClr val="accent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组合 19"/>
            <p:cNvGrpSpPr/>
            <p:nvPr/>
          </p:nvGrpSpPr>
          <p:grpSpPr>
            <a:xfrm>
              <a:off x="3862" y="7347"/>
              <a:ext cx="3158" cy="1396"/>
              <a:chOff x="1526" y="7485"/>
              <a:chExt cx="2918" cy="1396"/>
            </a:xfrm>
          </p:grpSpPr>
          <p:grpSp>
            <p:nvGrpSpPr>
              <p:cNvPr id="22" name="组合 21"/>
              <p:cNvGrpSpPr/>
              <p:nvPr/>
            </p:nvGrpSpPr>
            <p:grpSpPr>
              <a:xfrm>
                <a:off x="1526" y="7485"/>
                <a:ext cx="2918" cy="1396"/>
                <a:chOff x="1679" y="5047"/>
                <a:chExt cx="2918" cy="1396"/>
              </a:xfrm>
            </p:grpSpPr>
            <p:sp>
              <p:nvSpPr>
                <p:cNvPr id="24" name="文本框 23"/>
                <p:cNvSpPr txBox="1"/>
                <p:nvPr/>
              </p:nvSpPr>
              <p:spPr>
                <a:xfrm>
                  <a:off x="3760" y="5486"/>
                  <a:ext cx="837" cy="957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indent="0" algn="l">
                    <a:lnSpc>
                      <a:spcPct val="120000"/>
                    </a:lnSpc>
                    <a:buFont typeface="Wingdings" panose="05000000000000000000" charset="0"/>
                    <a:buNone/>
                  </a:pPr>
                  <a:r>
                    <a:rPr lang="zh-CN" altLang="en-US" sz="2400" b="1" dirty="0" smtClean="0">
                      <a:solidFill>
                        <a:srgbClr val="C00000"/>
                      </a:solidFill>
                    </a:rPr>
                    <a:t>二</a:t>
                  </a:r>
                  <a:r>
                    <a:rPr lang="zh-CN" altLang="en-US" sz="2800" b="1" dirty="0" smtClean="0">
                      <a:solidFill>
                        <a:srgbClr val="C00000"/>
                      </a:solidFill>
                    </a:rPr>
                    <a:t>    </a:t>
                  </a:r>
                  <a:endParaRPr lang="zh-CN" altLang="en-US" sz="2800" b="1" dirty="0" smtClean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25" name="文本框 24"/>
                <p:cNvSpPr txBox="1"/>
                <p:nvPr/>
              </p:nvSpPr>
              <p:spPr>
                <a:xfrm>
                  <a:off x="1679" y="5047"/>
                  <a:ext cx="2489" cy="783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2200" b="1" dirty="0" smtClean="0">
                      <a:solidFill>
                        <a:srgbClr val="F85208"/>
                      </a:solidFill>
                    </a:rPr>
                    <a:t>一位拆三位</a:t>
                  </a:r>
                  <a:endParaRPr lang="zh-CN" altLang="en-US" sz="2200" b="1" dirty="0" smtClean="0">
                    <a:solidFill>
                      <a:srgbClr val="F85208"/>
                    </a:solidFill>
                  </a:endParaRPr>
                </a:p>
              </p:txBody>
            </p:sp>
          </p:grpSp>
          <p:cxnSp>
            <p:nvCxnSpPr>
              <p:cNvPr id="26" name="直接箭头连接符 25"/>
              <p:cNvCxnSpPr>
                <a:stCxn id="23" idx="3"/>
                <a:endCxn id="24" idx="1"/>
              </p:cNvCxnSpPr>
              <p:nvPr/>
            </p:nvCxnSpPr>
            <p:spPr>
              <a:xfrm>
                <a:off x="1526" y="8403"/>
                <a:ext cx="2082" cy="0"/>
              </a:xfrm>
              <a:prstGeom prst="straightConnector1">
                <a:avLst/>
              </a:prstGeom>
              <a:ln w="38100">
                <a:solidFill>
                  <a:schemeClr val="accent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组合 26"/>
            <p:cNvGrpSpPr/>
            <p:nvPr/>
          </p:nvGrpSpPr>
          <p:grpSpPr>
            <a:xfrm>
              <a:off x="7245" y="7345"/>
              <a:ext cx="3609" cy="1396"/>
              <a:chOff x="1525" y="7485"/>
              <a:chExt cx="3334" cy="1396"/>
            </a:xfrm>
          </p:grpSpPr>
          <p:grpSp>
            <p:nvGrpSpPr>
              <p:cNvPr id="31" name="组合 30"/>
              <p:cNvGrpSpPr/>
              <p:nvPr/>
            </p:nvGrpSpPr>
            <p:grpSpPr>
              <a:xfrm>
                <a:off x="1526" y="7485"/>
                <a:ext cx="3333" cy="1396"/>
                <a:chOff x="1679" y="5047"/>
                <a:chExt cx="3333" cy="1396"/>
              </a:xfrm>
            </p:grpSpPr>
            <p:sp>
              <p:nvSpPr>
                <p:cNvPr id="32" name="文本框 31"/>
                <p:cNvSpPr txBox="1"/>
                <p:nvPr/>
              </p:nvSpPr>
              <p:spPr>
                <a:xfrm>
                  <a:off x="3760" y="5486"/>
                  <a:ext cx="1252" cy="957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indent="0" algn="l">
                    <a:lnSpc>
                      <a:spcPct val="120000"/>
                    </a:lnSpc>
                    <a:buFont typeface="Wingdings" panose="05000000000000000000" charset="0"/>
                    <a:buNone/>
                  </a:pPr>
                  <a:r>
                    <a:rPr lang="zh-CN" altLang="en-US" sz="2400" b="1" dirty="0" smtClean="0">
                      <a:solidFill>
                        <a:srgbClr val="C00000"/>
                      </a:solidFill>
                    </a:rPr>
                    <a:t>十六</a:t>
                  </a:r>
                  <a:r>
                    <a:rPr lang="zh-CN" altLang="en-US" sz="2800" b="1" dirty="0" smtClean="0">
                      <a:solidFill>
                        <a:srgbClr val="C00000"/>
                      </a:solidFill>
                    </a:rPr>
                    <a:t>    </a:t>
                  </a:r>
                  <a:endParaRPr lang="zh-CN" altLang="en-US" sz="2800" b="1" dirty="0" smtClean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35" name="文本框 34"/>
                <p:cNvSpPr txBox="1"/>
                <p:nvPr/>
              </p:nvSpPr>
              <p:spPr>
                <a:xfrm>
                  <a:off x="1679" y="5047"/>
                  <a:ext cx="2489" cy="783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2200" b="1" dirty="0" smtClean="0">
                      <a:solidFill>
                        <a:srgbClr val="F85208"/>
                      </a:solidFill>
                    </a:rPr>
                    <a:t>四位并一位</a:t>
                  </a:r>
                  <a:endParaRPr lang="zh-CN" altLang="en-US" sz="2200" b="1" dirty="0" smtClean="0">
                    <a:solidFill>
                      <a:srgbClr val="F85208"/>
                    </a:solidFill>
                  </a:endParaRPr>
                </a:p>
              </p:txBody>
            </p:sp>
          </p:grpSp>
          <p:cxnSp>
            <p:nvCxnSpPr>
              <p:cNvPr id="36" name="直接箭头连接符 35"/>
              <p:cNvCxnSpPr>
                <a:endCxn id="32" idx="1"/>
              </p:cNvCxnSpPr>
              <p:nvPr/>
            </p:nvCxnSpPr>
            <p:spPr>
              <a:xfrm>
                <a:off x="1525" y="8403"/>
                <a:ext cx="2082" cy="0"/>
              </a:xfrm>
              <a:prstGeom prst="straightConnector1">
                <a:avLst/>
              </a:prstGeom>
              <a:ln w="38100">
                <a:solidFill>
                  <a:schemeClr val="accent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4" name="组合 43"/>
          <p:cNvGrpSpPr/>
          <p:nvPr/>
        </p:nvGrpSpPr>
        <p:grpSpPr>
          <a:xfrm>
            <a:off x="2399030" y="3321685"/>
            <a:ext cx="825500" cy="534035"/>
            <a:chOff x="6125" y="4428"/>
            <a:chExt cx="1300" cy="841"/>
          </a:xfrm>
        </p:grpSpPr>
        <p:cxnSp>
          <p:nvCxnSpPr>
            <p:cNvPr id="45" name="直接连接符 44"/>
            <p:cNvCxnSpPr/>
            <p:nvPr/>
          </p:nvCxnSpPr>
          <p:spPr>
            <a:xfrm flipV="1">
              <a:off x="6125" y="4842"/>
              <a:ext cx="671" cy="1"/>
            </a:xfrm>
            <a:prstGeom prst="line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/>
            <p:cNvSpPr txBox="1"/>
            <p:nvPr/>
          </p:nvSpPr>
          <p:spPr>
            <a:xfrm>
              <a:off x="6841" y="4428"/>
              <a:ext cx="584" cy="8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1413510" y="3339783"/>
            <a:ext cx="740410" cy="53403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1 0</a:t>
            </a:r>
            <a:endParaRPr lang="en-US" altLang="zh-CN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786130" y="3321685"/>
            <a:ext cx="1681480" cy="544830"/>
            <a:chOff x="3111" y="5230"/>
            <a:chExt cx="2648" cy="858"/>
          </a:xfrm>
        </p:grpSpPr>
        <p:grpSp>
          <p:nvGrpSpPr>
            <p:cNvPr id="49" name="组合 10"/>
            <p:cNvGrpSpPr/>
            <p:nvPr/>
          </p:nvGrpSpPr>
          <p:grpSpPr>
            <a:xfrm>
              <a:off x="4025" y="5246"/>
              <a:ext cx="1734" cy="842"/>
              <a:chOff x="1874982" y="3205017"/>
              <a:chExt cx="831273" cy="360219"/>
            </a:xfrm>
          </p:grpSpPr>
          <p:cxnSp>
            <p:nvCxnSpPr>
              <p:cNvPr id="50" name="直接连接符 49"/>
              <p:cNvCxnSpPr/>
              <p:nvPr/>
            </p:nvCxnSpPr>
            <p:spPr>
              <a:xfrm rot="16200000" flipH="1">
                <a:off x="1713930" y="3375605"/>
                <a:ext cx="341177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 flipV="1">
                <a:off x="1874982" y="3555715"/>
                <a:ext cx="831273" cy="9521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文本框 51"/>
            <p:cNvSpPr txBox="1"/>
            <p:nvPr/>
          </p:nvSpPr>
          <p:spPr>
            <a:xfrm>
              <a:off x="3111" y="5230"/>
              <a:ext cx="584" cy="8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endPara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2339975" y="3883660"/>
            <a:ext cx="884555" cy="534035"/>
            <a:chOff x="6125" y="5375"/>
            <a:chExt cx="1393" cy="841"/>
          </a:xfrm>
        </p:grpSpPr>
        <p:cxnSp>
          <p:nvCxnSpPr>
            <p:cNvPr id="54" name="直接连接符 53"/>
            <p:cNvCxnSpPr/>
            <p:nvPr/>
          </p:nvCxnSpPr>
          <p:spPr>
            <a:xfrm>
              <a:off x="6125" y="5800"/>
              <a:ext cx="716" cy="11"/>
            </a:xfrm>
            <a:prstGeom prst="line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本框 54"/>
            <p:cNvSpPr txBox="1"/>
            <p:nvPr/>
          </p:nvSpPr>
          <p:spPr>
            <a:xfrm>
              <a:off x="6934" y="5375"/>
              <a:ext cx="584" cy="8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1770380" y="3883343"/>
            <a:ext cx="370840" cy="53403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endParaRPr lang="en-US" altLang="zh-CN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796290" y="3818890"/>
            <a:ext cx="1670685" cy="561975"/>
            <a:chOff x="3127" y="6013"/>
            <a:chExt cx="2631" cy="885"/>
          </a:xfrm>
        </p:grpSpPr>
        <p:grpSp>
          <p:nvGrpSpPr>
            <p:cNvPr id="58" name="组合 10"/>
            <p:cNvGrpSpPr/>
            <p:nvPr/>
          </p:nvGrpSpPr>
          <p:grpSpPr>
            <a:xfrm>
              <a:off x="4149" y="6071"/>
              <a:ext cx="1609" cy="827"/>
              <a:chOff x="1874982" y="3205017"/>
              <a:chExt cx="831273" cy="360219"/>
            </a:xfrm>
          </p:grpSpPr>
          <p:cxnSp>
            <p:nvCxnSpPr>
              <p:cNvPr id="59" name="直接连接符 58"/>
              <p:cNvCxnSpPr/>
              <p:nvPr/>
            </p:nvCxnSpPr>
            <p:spPr>
              <a:xfrm rot="16200000" flipH="1">
                <a:off x="1713930" y="3375605"/>
                <a:ext cx="341177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flipV="1">
                <a:off x="1874982" y="3555715"/>
                <a:ext cx="831273" cy="9521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文本框 60"/>
            <p:cNvSpPr txBox="1"/>
            <p:nvPr/>
          </p:nvSpPr>
          <p:spPr>
            <a:xfrm>
              <a:off x="3127" y="6013"/>
              <a:ext cx="584" cy="8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endPara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2339975" y="4417695"/>
            <a:ext cx="884555" cy="534035"/>
            <a:chOff x="6125" y="6245"/>
            <a:chExt cx="1393" cy="841"/>
          </a:xfrm>
        </p:grpSpPr>
        <p:cxnSp>
          <p:nvCxnSpPr>
            <p:cNvPr id="64" name="直接连接符 63"/>
            <p:cNvCxnSpPr/>
            <p:nvPr/>
          </p:nvCxnSpPr>
          <p:spPr>
            <a:xfrm flipV="1">
              <a:off x="6125" y="6663"/>
              <a:ext cx="747" cy="3"/>
            </a:xfrm>
            <a:prstGeom prst="line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文本框 64"/>
            <p:cNvSpPr txBox="1"/>
            <p:nvPr/>
          </p:nvSpPr>
          <p:spPr>
            <a:xfrm>
              <a:off x="6934" y="6245"/>
              <a:ext cx="584" cy="8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6" name="文本框 65"/>
          <p:cNvSpPr txBox="1"/>
          <p:nvPr/>
        </p:nvSpPr>
        <p:spPr>
          <a:xfrm>
            <a:off x="1725295" y="4417378"/>
            <a:ext cx="461645" cy="53403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</a:t>
            </a:r>
            <a:endParaRPr lang="en-US" altLang="zh-CN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7" name="直接箭头连接符 66"/>
          <p:cNvCxnSpPr/>
          <p:nvPr/>
        </p:nvCxnSpPr>
        <p:spPr>
          <a:xfrm flipH="1" flipV="1">
            <a:off x="3227070" y="3430270"/>
            <a:ext cx="13970" cy="134747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组合 107"/>
          <p:cNvGrpSpPr/>
          <p:nvPr/>
        </p:nvGrpSpPr>
        <p:grpSpPr>
          <a:xfrm>
            <a:off x="796290" y="2722245"/>
            <a:ext cx="1681480" cy="608965"/>
            <a:chOff x="1254" y="4287"/>
            <a:chExt cx="2648" cy="959"/>
          </a:xfrm>
        </p:grpSpPr>
        <p:grpSp>
          <p:nvGrpSpPr>
            <p:cNvPr id="38" name="组合 37"/>
            <p:cNvGrpSpPr/>
            <p:nvPr/>
          </p:nvGrpSpPr>
          <p:grpSpPr>
            <a:xfrm>
              <a:off x="1254" y="4378"/>
              <a:ext cx="2648" cy="869"/>
              <a:chOff x="3109" y="4404"/>
              <a:chExt cx="2648" cy="869"/>
            </a:xfrm>
          </p:grpSpPr>
          <p:grpSp>
            <p:nvGrpSpPr>
              <p:cNvPr id="88067" name="组合 10"/>
              <p:cNvGrpSpPr/>
              <p:nvPr/>
            </p:nvGrpSpPr>
            <p:grpSpPr>
              <a:xfrm>
                <a:off x="3809" y="4404"/>
                <a:ext cx="1948" cy="842"/>
                <a:chOff x="1874982" y="3205017"/>
                <a:chExt cx="831273" cy="360219"/>
              </a:xfrm>
            </p:grpSpPr>
            <p:cxnSp>
              <p:nvCxnSpPr>
                <p:cNvPr id="39" name="直接连接符 38"/>
                <p:cNvCxnSpPr/>
                <p:nvPr/>
              </p:nvCxnSpPr>
              <p:spPr>
                <a:xfrm rot="16200000" flipH="1">
                  <a:off x="1713930" y="3375605"/>
                  <a:ext cx="34117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>
                <a:xfrm flipV="1">
                  <a:off x="1874982" y="3555715"/>
                  <a:ext cx="831273" cy="952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文本框 41"/>
              <p:cNvSpPr txBox="1"/>
              <p:nvPr/>
            </p:nvSpPr>
            <p:spPr>
              <a:xfrm>
                <a:off x="3109" y="4432"/>
                <a:ext cx="584" cy="84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4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</a:t>
                </a:r>
                <a:endPara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9" name="文本框 68"/>
            <p:cNvSpPr txBox="1"/>
            <p:nvPr/>
          </p:nvSpPr>
          <p:spPr>
            <a:xfrm>
              <a:off x="1940" y="4287"/>
              <a:ext cx="1452" cy="8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8 6</a:t>
              </a:r>
              <a:endPara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9" name="文本框 88"/>
          <p:cNvSpPr txBox="1"/>
          <p:nvPr/>
        </p:nvSpPr>
        <p:spPr>
          <a:xfrm>
            <a:off x="3357880" y="3302000"/>
            <a:ext cx="1473200" cy="5340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0.625  </a:t>
            </a:r>
            <a:endParaRPr lang="en-US" altLang="zh-CN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0" name="组合 89"/>
          <p:cNvGrpSpPr/>
          <p:nvPr/>
        </p:nvGrpSpPr>
        <p:grpSpPr>
          <a:xfrm>
            <a:off x="3224524" y="3832860"/>
            <a:ext cx="1532497" cy="534035"/>
            <a:chOff x="2268" y="5609"/>
            <a:chExt cx="1950" cy="841"/>
          </a:xfrm>
        </p:grpSpPr>
        <p:sp>
          <p:nvSpPr>
            <p:cNvPr id="91" name="文本框 90"/>
            <p:cNvSpPr txBox="1"/>
            <p:nvPr/>
          </p:nvSpPr>
          <p:spPr>
            <a:xfrm>
              <a:off x="2268" y="5609"/>
              <a:ext cx="1950" cy="84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2400" b="1" dirty="0" smtClean="0">
                  <a:solidFill>
                    <a:srgbClr val="F85208"/>
                  </a:solidFill>
                  <a:sym typeface="+mn-ea"/>
                </a:rPr>
                <a:t>×</a:t>
              </a:r>
              <a:r>
                <a: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8</a:t>
              </a:r>
              <a:endPara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2" name="直接连接符 91"/>
            <p:cNvCxnSpPr/>
            <p:nvPr/>
          </p:nvCxnSpPr>
          <p:spPr>
            <a:xfrm>
              <a:off x="2481" y="6426"/>
              <a:ext cx="1366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文本框 92"/>
          <p:cNvSpPr txBox="1"/>
          <p:nvPr/>
        </p:nvSpPr>
        <p:spPr>
          <a:xfrm>
            <a:off x="3392170" y="4380865"/>
            <a:ext cx="2287270" cy="5340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0.000  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··· 5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9" name="直接箭头连接符 98"/>
          <p:cNvCxnSpPr/>
          <p:nvPr/>
        </p:nvCxnSpPr>
        <p:spPr>
          <a:xfrm>
            <a:off x="5375910" y="4267200"/>
            <a:ext cx="0" cy="581025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6337300" y="2819400"/>
            <a:ext cx="4338320" cy="26752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indent="0" algn="l">
              <a:lnSpc>
                <a:spcPct val="120000"/>
              </a:lnSpc>
              <a:buFont typeface="Wingdings" panose="05000000000000000000" charset="0"/>
              <a:buNone/>
            </a:pP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（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86.625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）</a:t>
            </a:r>
            <a:r>
              <a:rPr lang="en-US" altLang="zh-CN" sz="2800" b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D </a:t>
            </a:r>
            <a:endParaRPr lang="en-US" altLang="zh-CN" sz="2800" b="1" baseline="-25000" dirty="0" smtClean="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indent="0" algn="l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=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（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 126.5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）</a:t>
            </a:r>
            <a:r>
              <a:rPr lang="en-US" altLang="zh-CN" sz="2800" b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O</a:t>
            </a:r>
            <a:endParaRPr lang="en-US" altLang="zh-CN" sz="2800" b="1" baseline="-25000" dirty="0" smtClean="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indent="0" algn="l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=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（ </a:t>
            </a:r>
            <a:r>
              <a:rPr lang="en-US" altLang="zh-CN" sz="2800" b="1" u="sng" dirty="0" smtClean="0">
                <a:solidFill>
                  <a:srgbClr val="C00000"/>
                </a:solidFill>
                <a:sym typeface="+mn-ea"/>
              </a:rPr>
              <a:t>00</a:t>
            </a:r>
            <a:r>
              <a:rPr lang="en-US" altLang="zh-CN" sz="2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1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  </a:t>
            </a:r>
            <a:r>
              <a:rPr lang="en-US" altLang="zh-CN" sz="2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010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 </a:t>
            </a:r>
            <a:r>
              <a:rPr lang="en-US" altLang="zh-CN" sz="2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110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.</a:t>
            </a:r>
            <a:r>
              <a:rPr lang="en-US" altLang="zh-CN" sz="2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101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）</a:t>
            </a:r>
            <a:r>
              <a:rPr lang="en-US" altLang="zh-CN" sz="2800" b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B</a:t>
            </a:r>
            <a:endParaRPr lang="en-US" altLang="zh-CN" sz="2800" b="1" baseline="-25000" dirty="0" smtClean="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indent="0" algn="l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=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（</a:t>
            </a:r>
            <a:r>
              <a:rPr lang="zh-CN" altLang="en-US" sz="2800" b="1" dirty="0" smtClean="0">
                <a:solidFill>
                  <a:srgbClr val="C00000"/>
                </a:solidFill>
                <a:sym typeface="+mn-ea"/>
              </a:rPr>
              <a:t> </a:t>
            </a:r>
            <a:r>
              <a:rPr lang="en-US" altLang="zh-CN" sz="2800" b="1" u="sng" dirty="0" smtClean="0">
                <a:solidFill>
                  <a:srgbClr val="C00000"/>
                </a:solidFill>
                <a:sym typeface="+mn-ea"/>
              </a:rPr>
              <a:t>0</a:t>
            </a:r>
            <a:r>
              <a:rPr lang="en-US" altLang="zh-CN" sz="2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101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  </a:t>
            </a:r>
            <a:r>
              <a:rPr lang="en-US" altLang="zh-CN" sz="2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0110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 . </a:t>
            </a:r>
            <a:r>
              <a:rPr lang="en-US" altLang="zh-CN" sz="2800" b="1" u="sng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101</a:t>
            </a:r>
            <a:r>
              <a:rPr lang="en-US" altLang="zh-CN" sz="2800" b="1" u="sng" dirty="0" smtClean="0">
                <a:solidFill>
                  <a:srgbClr val="C00000"/>
                </a:solidFill>
                <a:sym typeface="+mn-ea"/>
              </a:rPr>
              <a:t>0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）</a:t>
            </a:r>
            <a:r>
              <a:rPr lang="en-US" sz="2800" b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B</a:t>
            </a:r>
            <a:endParaRPr lang="en-US" sz="2800" b="1" baseline="-25000" dirty="0" smtClean="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indent="0" algn="l">
              <a:lnSpc>
                <a:spcPct val="120000"/>
              </a:lnSpc>
              <a:buFont typeface="Wingdings" panose="05000000000000000000" charset="0"/>
              <a:buNone/>
            </a:pP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=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（ 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5  6 . a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）</a:t>
            </a:r>
            <a:r>
              <a:rPr lang="en-US" sz="2800" b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H</a:t>
            </a:r>
            <a:endParaRPr lang="en-US" sz="2800" b="1" baseline="-25000" dirty="0" smtClean="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Par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924693" y="120457"/>
            <a:ext cx="7716583" cy="6076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sz="28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二进制数的算术运算</a:t>
            </a:r>
            <a:endParaRPr lang="zh-CN" sz="2800" spc="300" dirty="0">
              <a:solidFill>
                <a:schemeClr val="tx1">
                  <a:lumMod val="75000"/>
                  <a:lumOff val="25000"/>
                </a:schemeClr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2430" y="1308100"/>
            <a:ext cx="5686425" cy="25019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57200" indent="-457200" algn="l">
              <a:lnSpc>
                <a:spcPct val="140000"/>
              </a:lnSpc>
              <a:buFont typeface="Wingdings" panose="05000000000000000000" charset="0"/>
              <a:buChar char="p"/>
            </a:pP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二进制数与十进制数只是数据的表示形式不同</a:t>
            </a:r>
            <a:endParaRPr lang="zh-CN" altLang="en-US" sz="2800" b="1" dirty="0" smtClean="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marL="457200" indent="-457200" algn="l">
              <a:lnSpc>
                <a:spcPct val="140000"/>
              </a:lnSpc>
              <a:buFont typeface="Wingdings" panose="05000000000000000000" charset="0"/>
              <a:buChar char="p"/>
            </a:pP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二进制数也可以进行算术运算</a:t>
            </a:r>
            <a:endParaRPr lang="zh-CN" altLang="en-US" sz="2800" b="1" dirty="0" smtClean="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marL="457200" indent="-457200" algn="l">
              <a:lnSpc>
                <a:spcPct val="140000"/>
              </a:lnSpc>
              <a:buFont typeface="Wingdings" panose="05000000000000000000" charset="0"/>
              <a:buChar char="p"/>
            </a:pP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二进制的加减乘除运算法则</a:t>
            </a:r>
            <a:endParaRPr lang="zh-CN" altLang="en-US" sz="2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0" grpId="2"/>
      <p:bldP spid="10" grpId="3"/>
      <p:bldP spid="10" grpId="4"/>
      <p:bldP spid="10" grpId="5"/>
      <p:bldP spid="10" grpId="6"/>
      <p:bldP spid="10" grpId="7"/>
      <p:bldP spid="10" grpId="8"/>
      <p:bldP spid="10" grpId="9"/>
      <p:bldP spid="10" grpId="10"/>
      <p:bldP spid="10" grpId="11"/>
      <p:bldP spid="10" grpId="12"/>
      <p:bldP spid="10" grpId="13"/>
      <p:bldP spid="10" grpId="14"/>
      <p:bldP spid="10" grpId="15"/>
      <p:bldP spid="10" grpId="16"/>
      <p:bldP spid="10" grpId="17"/>
      <p:bldP spid="10" grpId="18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963295" y="3246120"/>
            <a:ext cx="3477895" cy="2244090"/>
            <a:chOff x="10607" y="5262"/>
            <a:chExt cx="5477" cy="3534"/>
          </a:xfrm>
        </p:grpSpPr>
        <p:cxnSp>
          <p:nvCxnSpPr>
            <p:cNvPr id="28" name="直接连接符 27"/>
            <p:cNvCxnSpPr/>
            <p:nvPr/>
          </p:nvCxnSpPr>
          <p:spPr>
            <a:xfrm flipH="1" flipV="1">
              <a:off x="12130" y="7889"/>
              <a:ext cx="3595" cy="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本框 28"/>
            <p:cNvSpPr txBox="1"/>
            <p:nvPr/>
          </p:nvSpPr>
          <p:spPr>
            <a:xfrm>
              <a:off x="10607" y="5262"/>
              <a:ext cx="5477" cy="353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342900" marR="0" lvl="0" indent="-342900" algn="l" defTabSz="914400" rtl="0" eaLnBrk="0" fontAlgn="base" latinLnBrk="0" hangingPunct="0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8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被加数</a:t>
              </a:r>
              <a:r>
                <a:rPr lang="en-US" sz="28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  (1 0 1 0 )</a:t>
              </a:r>
              <a:r>
                <a:rPr lang="en-US" sz="2800" b="1" kern="0" baseline="-2500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B</a:t>
              </a:r>
              <a:r>
                <a:rPr lang="zh-CN" altLang="en-US" sz="2800" b="1" kern="0" baseline="-2500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</a:t>
              </a:r>
              <a:r>
                <a:rPr lang="en-US" sz="28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</a:t>
              </a:r>
              <a:endPara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8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加数</a:t>
              </a:r>
              <a:r>
                <a:rPr lang="en-US" sz="28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     (0 0 1 1 )</a:t>
              </a:r>
              <a:r>
                <a:rPr lang="en-US" sz="2800" b="1" kern="0" baseline="-2500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B </a:t>
              </a:r>
              <a:endPara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8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进位</a:t>
              </a:r>
              <a:r>
                <a:rPr lang="en-US" sz="28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+</a:t>
              </a:r>
              <a:r>
                <a:rPr lang="en-US" sz="2800" b="1" kern="0" noProof="0" dirty="0" smtClean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                     </a:t>
              </a:r>
              <a:endPara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8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和数</a:t>
              </a:r>
              <a:r>
                <a:rPr lang="en-US" sz="28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(                 )</a:t>
              </a:r>
              <a:r>
                <a:rPr lang="en-US" sz="2800" b="1" kern="0" baseline="-2500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B</a:t>
              </a:r>
              <a:endParaRPr lang="en-US" altLang="zh-CN" sz="2800" b="1" kern="0" baseline="-2500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63" name="MH_SubTitle_3"/>
          <p:cNvSpPr/>
          <p:nvPr>
            <p:custDataLst>
              <p:tags r:id="rId1"/>
            </p:custDataLst>
          </p:nvPr>
        </p:nvSpPr>
        <p:spPr>
          <a:xfrm>
            <a:off x="0" y="250190"/>
            <a:ext cx="3656330" cy="388620"/>
          </a:xfrm>
          <a:prstGeom prst="homePlate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二进制的算术运算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7065" y="1205485"/>
            <a:ext cx="2062480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457200" indent="-457200" algn="l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加法运算</a:t>
            </a:r>
            <a:endParaRPr lang="zh-CN" sz="2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31215" y="1910715"/>
            <a:ext cx="9932670" cy="5708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57200" indent="-457200" algn="l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规则：</a:t>
            </a:r>
            <a:r>
              <a:rPr lang="en-US" altLang="zh-CN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0+0=0   0+1=1  1+0=1  1+1=10</a:t>
            </a:r>
            <a:r>
              <a:rPr lang="zh-CN" altLang="en-US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（逢二进一）</a:t>
            </a:r>
            <a:endParaRPr lang="zh-CN" altLang="en-US" sz="2600" b="1" dirty="0" smtClean="0">
              <a:solidFill>
                <a:schemeClr val="accent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02995" y="2552320"/>
            <a:ext cx="6369050" cy="694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 （</a:t>
            </a:r>
            <a:r>
              <a:rPr lang="en-US" sz="28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1010)</a:t>
            </a:r>
            <a:r>
              <a:rPr lang="en-US" sz="2800" b="1" kern="0" baseline="-2500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</a:t>
            </a:r>
            <a:r>
              <a:rPr lang="en-US" sz="28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+(0011)</a:t>
            </a:r>
            <a:r>
              <a:rPr lang="en-US" sz="2800" b="1" kern="0" baseline="-2500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</a:t>
            </a:r>
            <a:r>
              <a:rPr lang="en-US" sz="28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=( </a:t>
            </a:r>
            <a:r>
              <a:rPr lang="en-US" sz="2800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</a:t>
            </a:r>
            <a:r>
              <a:rPr lang="en-US" sz="28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)</a:t>
            </a:r>
            <a:r>
              <a:rPr lang="en-US" sz="2800" b="1" kern="0" baseline="-2500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</a:t>
            </a:r>
            <a:endParaRPr lang="en-US" altLang="zh-CN" sz="2800" b="1" kern="0" baseline="-2500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656330" y="4903788"/>
            <a:ext cx="401955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8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54375" y="4902518"/>
            <a:ext cx="401955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8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24175" y="4296093"/>
            <a:ext cx="401955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8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923540" y="4903788"/>
            <a:ext cx="330835" cy="6076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8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521585" y="4903788"/>
            <a:ext cx="401955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8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566410" y="2594928"/>
            <a:ext cx="1059180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1101</a:t>
            </a:r>
            <a:endParaRPr lang="en-US" altLang="zh-CN" sz="28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486275" y="3238818"/>
            <a:ext cx="2622550" cy="27222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····  </a:t>
            </a:r>
            <a:r>
              <a:rPr lang="en-US" sz="2800" b="1" kern="0" noProof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( 1 0  )</a:t>
            </a:r>
            <a:r>
              <a:rPr lang="en-US" sz="2800" b="1" kern="0" baseline="-25000" noProof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D</a:t>
            </a:r>
            <a:r>
              <a:rPr lang="en-US" sz="2800" b="1" kern="0" noProof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····  </a:t>
            </a:r>
            <a:r>
              <a:rPr lang="en-US" sz="2800" b="1" kern="0" noProof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(    3 )</a:t>
            </a:r>
            <a:r>
              <a:rPr lang="en-US" sz="2800" b="1" kern="0" baseline="-25000" noProof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D</a:t>
            </a:r>
            <a:endParaRPr lang="en-US" sz="2800" b="1" kern="0" baseline="-25000" noProof="0" dirty="0" smtClean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2800" b="1" kern="0" baseline="-25000" noProof="0" dirty="0" smtClean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····  </a:t>
            </a:r>
            <a:r>
              <a:rPr lang="en-US" sz="2800" b="1" kern="0" noProof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(  1 3 )</a:t>
            </a:r>
            <a:r>
              <a:rPr lang="en-US" sz="2800" b="1" kern="0" baseline="-25000" noProof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D</a:t>
            </a:r>
            <a:r>
              <a:rPr lang="en-US" sz="2800" b="1" kern="0" noProof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uiExpand="1" build="p"/>
      <p:bldP spid="3" grpId="0"/>
      <p:bldP spid="43" grpId="0"/>
      <p:bldP spid="5" grpId="0"/>
      <p:bldP spid="6" grpId="0"/>
      <p:bldP spid="7" grpId="0"/>
      <p:bldP spid="9" grpId="0"/>
      <p:bldP spid="16" grpId="0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984885" y="3256280"/>
            <a:ext cx="3477895" cy="2244090"/>
            <a:chOff x="10614" y="5294"/>
            <a:chExt cx="5477" cy="3534"/>
          </a:xfrm>
        </p:grpSpPr>
        <p:sp>
          <p:nvSpPr>
            <p:cNvPr id="29" name="文本框 28"/>
            <p:cNvSpPr txBox="1"/>
            <p:nvPr/>
          </p:nvSpPr>
          <p:spPr>
            <a:xfrm>
              <a:off x="10614" y="5294"/>
              <a:ext cx="5477" cy="353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342900" marR="0" lvl="0" indent="-342900" algn="l" defTabSz="914400" rtl="0" eaLnBrk="0" fontAlgn="base" latinLnBrk="0" hangingPunct="0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8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被减数</a:t>
              </a:r>
              <a:r>
                <a:rPr lang="en-US" sz="28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  (1 1 0 1 )</a:t>
              </a:r>
              <a:r>
                <a:rPr lang="en-US" sz="2800" b="1" kern="0" baseline="-2500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B</a:t>
              </a:r>
              <a:r>
                <a:rPr lang="zh-CN" altLang="en-US" sz="2800" b="1" kern="0" baseline="-2500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</a:t>
              </a:r>
              <a:r>
                <a:rPr lang="en-US" sz="28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</a:t>
              </a:r>
              <a:endPara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8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减数</a:t>
              </a:r>
              <a:r>
                <a:rPr lang="en-US" sz="28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     (0 0 1 0 )</a:t>
              </a:r>
              <a:r>
                <a:rPr lang="en-US" sz="2800" b="1" kern="0" baseline="-2500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B </a:t>
              </a:r>
              <a:endPara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8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借位</a:t>
              </a:r>
              <a:r>
                <a:rPr lang="en-US" sz="28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-                       </a:t>
              </a:r>
              <a:endPara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8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差数</a:t>
              </a:r>
              <a:r>
                <a:rPr lang="en-US" sz="28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(                 )</a:t>
              </a:r>
              <a:r>
                <a:rPr lang="en-US" sz="2800" b="1" kern="0" baseline="-2500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B</a:t>
              </a:r>
              <a:endParaRPr lang="en-US" altLang="zh-CN" sz="2800" b="1" kern="0" baseline="-2500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>
            <a:xfrm flipH="1" flipV="1">
              <a:off x="12130" y="7889"/>
              <a:ext cx="3595" cy="2"/>
            </a:xfrm>
            <a:prstGeom prst="line">
              <a:avLst/>
            </a:prstGeom>
            <a:ln w="381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MH_SubTitle_3"/>
          <p:cNvSpPr/>
          <p:nvPr>
            <p:custDataLst>
              <p:tags r:id="rId1"/>
            </p:custDataLst>
          </p:nvPr>
        </p:nvSpPr>
        <p:spPr>
          <a:xfrm>
            <a:off x="0" y="250190"/>
            <a:ext cx="3656330" cy="388620"/>
          </a:xfrm>
          <a:prstGeom prst="homePlate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二进制的算术运算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7065" y="1205485"/>
            <a:ext cx="2062480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457200" indent="-457200" algn="l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减法运算</a:t>
            </a:r>
            <a:endParaRPr lang="zh-CN" sz="2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31215" y="1950403"/>
            <a:ext cx="9932670" cy="4914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lang="zh-CN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规则：</a:t>
            </a:r>
            <a:r>
              <a:rPr lang="zh-CN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  <a:sym typeface="+mn-ea"/>
              </a:rPr>
              <a:t>0-0=0； 1-0=1； 1-1=0 ；10-1=1</a:t>
            </a:r>
            <a:r>
              <a:rPr lang="zh-CN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（借</a:t>
            </a:r>
            <a:r>
              <a:rPr lang="zh-CN" altLang="en-US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一当二）</a:t>
            </a:r>
            <a:endParaRPr lang="zh-CN" altLang="en-US" sz="2600" b="1" dirty="0" smtClean="0">
              <a:solidFill>
                <a:schemeClr val="accent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02995" y="2552320"/>
            <a:ext cx="6359525" cy="6940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 （</a:t>
            </a:r>
            <a:r>
              <a:rPr lang="en-US" sz="28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1101)</a:t>
            </a:r>
            <a:r>
              <a:rPr lang="en-US" sz="2800" b="1" kern="0" baseline="-2500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</a:t>
            </a:r>
            <a:r>
              <a:rPr lang="en-US" sz="28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- (0110)</a:t>
            </a:r>
            <a:r>
              <a:rPr lang="en-US" sz="2800" b="1" kern="0" baseline="-2500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</a:t>
            </a:r>
            <a:r>
              <a:rPr lang="en-US" sz="28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=(                 )</a:t>
            </a:r>
            <a:r>
              <a:rPr lang="en-US" sz="2800" b="1" kern="0" baseline="-2500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</a:t>
            </a:r>
            <a:endParaRPr lang="en-US" altLang="zh-CN" sz="2800" b="1" kern="0" baseline="-25000" noProof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656330" y="4903788"/>
            <a:ext cx="401955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8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54375" y="4902518"/>
            <a:ext cx="401955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8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24175" y="4296093"/>
            <a:ext cx="401955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8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923540" y="4903788"/>
            <a:ext cx="330835" cy="6076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8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521585" y="4903788"/>
            <a:ext cx="401955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8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676265" y="2551748"/>
            <a:ext cx="1059180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1011</a:t>
            </a:r>
            <a:endParaRPr lang="en-US" altLang="zh-CN" sz="28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486275" y="3238818"/>
            <a:ext cx="2622550" cy="272224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····  </a:t>
            </a:r>
            <a:r>
              <a:rPr lang="en-US" sz="2800" b="1" kern="0" noProof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( 1 3  )</a:t>
            </a:r>
            <a:r>
              <a:rPr lang="en-US" sz="2800" b="1" kern="0" baseline="-25000" noProof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D</a:t>
            </a:r>
            <a:r>
              <a:rPr lang="en-US" sz="2800" b="1" kern="0" noProof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····  </a:t>
            </a:r>
            <a:r>
              <a:rPr lang="en-US" sz="2800" b="1" kern="0" noProof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(    2 )</a:t>
            </a:r>
            <a:r>
              <a:rPr lang="en-US" sz="2800" b="1" kern="0" baseline="-25000" noProof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D</a:t>
            </a:r>
            <a:endParaRPr lang="en-US" sz="2800" b="1" kern="0" baseline="-25000" noProof="0" dirty="0" smtClean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2800" b="1" kern="0" baseline="-25000" noProof="0" dirty="0" smtClean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····  </a:t>
            </a:r>
            <a:r>
              <a:rPr lang="en-US" sz="2800" b="1" kern="0" noProof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(  1 1 )</a:t>
            </a:r>
            <a:r>
              <a:rPr lang="en-US" sz="2800" b="1" kern="0" baseline="-25000" noProof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D</a:t>
            </a:r>
            <a:r>
              <a:rPr lang="en-US" sz="2800" b="1" kern="0" noProof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uiExpand="1" build="p"/>
      <p:bldP spid="3" grpId="0"/>
      <p:bldP spid="43" grpId="0"/>
      <p:bldP spid="5" grpId="0"/>
      <p:bldP spid="6" grpId="0"/>
      <p:bldP spid="7" grpId="0"/>
      <p:bldP spid="9" grpId="0"/>
      <p:bldP spid="16" grpId="0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MH_SubTitle_3"/>
          <p:cNvSpPr/>
          <p:nvPr>
            <p:custDataLst>
              <p:tags r:id="rId1"/>
            </p:custDataLst>
          </p:nvPr>
        </p:nvSpPr>
        <p:spPr>
          <a:xfrm>
            <a:off x="0" y="250190"/>
            <a:ext cx="3656330" cy="388620"/>
          </a:xfrm>
          <a:prstGeom prst="homePlate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  <a:sym typeface="+mn-ea"/>
              </a:rPr>
              <a:t>二进制的算术运算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7065" y="1205485"/>
            <a:ext cx="3484880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457200" indent="-457200" algn="l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乘法运算（了解）</a:t>
            </a:r>
            <a:endParaRPr lang="zh-CN" sz="2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31215" y="1950403"/>
            <a:ext cx="9932670" cy="4914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marR="0" indent="-342900" defTabSz="914400" eaLnBrk="0" hangingPunct="0">
              <a:spcBef>
                <a:spcPct val="20000"/>
              </a:spcBef>
              <a:buClrTx/>
              <a:buSzTx/>
              <a:defRPr/>
            </a:pPr>
            <a:r>
              <a:rPr lang="zh-CN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规则：</a:t>
            </a:r>
            <a:r>
              <a:rPr lang="zh-CN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  <a:sym typeface="+mn-ea"/>
              </a:rPr>
              <a:t>0×0=0 ；0×1=0 ；1×0=0 ；1×1=1 ；</a:t>
            </a:r>
            <a:endParaRPr lang="zh-CN" sz="2600" b="1" dirty="0" smtClean="0">
              <a:solidFill>
                <a:schemeClr val="accent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35050" y="2407852"/>
            <a:ext cx="6680200" cy="9652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</a:t>
            </a:r>
            <a:r>
              <a:rPr lang="en-US" sz="28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8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sz="28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1101)</a:t>
            </a:r>
            <a:r>
              <a:rPr lang="en-US" sz="2800" b="1" kern="0" baseline="-2500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</a:t>
            </a:r>
            <a:r>
              <a:rPr lang="en-US" altLang="zh-CN" sz="28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×</a:t>
            </a:r>
            <a:r>
              <a:rPr lang="en-US" sz="28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(110)</a:t>
            </a:r>
            <a:r>
              <a:rPr lang="en-US" sz="2800" b="1" kern="0" baseline="-2500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</a:t>
            </a:r>
            <a:r>
              <a:rPr lang="en-US" sz="28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=(                       )</a:t>
            </a:r>
            <a:r>
              <a:rPr lang="en-US" sz="2800" b="1" kern="0" baseline="-2500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2400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endParaRPr lang="en-US" altLang="zh-CN" sz="2400" b="1" baseline="-250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244147" y="2370449"/>
            <a:ext cx="1716405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800" b="1" kern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1001110</a:t>
            </a:r>
            <a:endParaRPr lang="en-US" altLang="zh-CN" sz="2800" b="1" kern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849120" y="2847329"/>
            <a:ext cx="3232150" cy="903605"/>
            <a:chOff x="2912" y="4979"/>
            <a:chExt cx="5090" cy="1423"/>
          </a:xfrm>
        </p:grpSpPr>
        <p:cxnSp>
          <p:nvCxnSpPr>
            <p:cNvPr id="28" name="直接连接符 27"/>
            <p:cNvCxnSpPr/>
            <p:nvPr/>
          </p:nvCxnSpPr>
          <p:spPr>
            <a:xfrm flipH="1" flipV="1">
              <a:off x="4121" y="6400"/>
              <a:ext cx="3595" cy="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文本框 3"/>
            <p:cNvSpPr txBox="1"/>
            <p:nvPr/>
          </p:nvSpPr>
          <p:spPr>
            <a:xfrm>
              <a:off x="2912" y="4979"/>
              <a:ext cx="5090" cy="1423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被乘数     </a:t>
              </a:r>
              <a:r>
                <a:rPr lang="en-US" altLang="zh-CN" sz="24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( 1 1 0 1 ) </a:t>
              </a:r>
              <a:r>
                <a:rPr lang="en-US" sz="2400" b="1" kern="0" baseline="-2500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B </a:t>
              </a:r>
              <a:r>
                <a:rPr lang="en-US" sz="24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</a:t>
              </a:r>
              <a:endParaRPr lang="en-US" sz="24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乘数   </a:t>
              </a:r>
              <a:r>
                <a:rPr lang="en-US" altLang="zh-CN" sz="24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×   (    1 1 0 ) </a:t>
              </a:r>
              <a:r>
                <a:rPr lang="en-US" sz="2400" b="1" kern="0" baseline="-2500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B</a:t>
              </a:r>
              <a:r>
                <a:rPr lang="en-US" sz="2400" b="1" kern="0" noProof="0" dirty="0" smtClean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 </a:t>
              </a:r>
              <a:endParaRPr lang="en-US" altLang="zh-CN" sz="2400" b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849120" y="3797289"/>
            <a:ext cx="2973070" cy="1348105"/>
            <a:chOff x="2912" y="4630"/>
            <a:chExt cx="4682" cy="2123"/>
          </a:xfrm>
        </p:grpSpPr>
        <p:cxnSp>
          <p:nvCxnSpPr>
            <p:cNvPr id="12" name="直接连接符 11"/>
            <p:cNvCxnSpPr/>
            <p:nvPr/>
          </p:nvCxnSpPr>
          <p:spPr>
            <a:xfrm flipH="1" flipV="1">
              <a:off x="3999" y="6751"/>
              <a:ext cx="3595" cy="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2912" y="4630"/>
              <a:ext cx="4475" cy="212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               </a:t>
              </a:r>
              <a:r>
                <a:rPr lang="en-US" altLang="zh-CN" sz="24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0 0 0 0 </a:t>
              </a:r>
              <a:r>
                <a:rPr lang="en-US" sz="24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</a:t>
              </a:r>
              <a:endParaRPr lang="en-US" sz="24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             1 1 0 1</a:t>
              </a:r>
              <a:endParaRPr lang="en-US" altLang="zh-CN" sz="24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b="1" kern="0" noProof="0" dirty="0" smtClean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          1 1 0 1</a:t>
              </a:r>
              <a:r>
                <a:rPr lang="en-US" altLang="zh-CN" sz="2400" b="1" kern="0" noProof="0" dirty="0" smtClean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</a:t>
              </a:r>
              <a:r>
                <a:rPr lang="en-US" sz="2400" b="1" kern="0" noProof="0" dirty="0" smtClean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 </a:t>
              </a:r>
              <a:endParaRPr lang="en-US" altLang="zh-CN" sz="2400" b="1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1771015" y="5144124"/>
            <a:ext cx="3388995" cy="4603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乘积 </a:t>
            </a:r>
            <a:r>
              <a:rPr lang="en-US" altLang="zh-CN" sz="2400" b="1" kern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( 1 0 0 1 1 1 0 ) </a:t>
            </a:r>
            <a:r>
              <a:rPr lang="en-US" sz="2400" b="1" kern="0" baseline="-2500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</a:t>
            </a:r>
            <a:r>
              <a:rPr lang="en-US" altLang="zh-CN" sz="2400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2400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endParaRPr lang="en-US" altLang="zh-CN" sz="2400" b="1" baseline="-250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uiExpand="1" build="p"/>
      <p:bldP spid="3" grpId="0"/>
      <p:bldP spid="16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MH_SubTitle_3"/>
          <p:cNvSpPr/>
          <p:nvPr>
            <p:custDataLst>
              <p:tags r:id="rId1"/>
            </p:custDataLst>
          </p:nvPr>
        </p:nvSpPr>
        <p:spPr>
          <a:xfrm>
            <a:off x="0" y="250190"/>
            <a:ext cx="3656330" cy="388620"/>
          </a:xfrm>
          <a:prstGeom prst="homePlate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  <a:sym typeface="+mn-ea"/>
              </a:rPr>
              <a:t>二进制的算术运算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7065" y="1205485"/>
            <a:ext cx="3484880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457200" indent="-457200" algn="l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除法运算（了解）</a:t>
            </a:r>
            <a:endParaRPr lang="zh-CN" sz="2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31215" y="1950403"/>
            <a:ext cx="9932670" cy="4914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marR="0" indent="-342900" defTabSz="914400" eaLnBrk="0" hangingPunct="0">
              <a:spcBef>
                <a:spcPct val="20000"/>
              </a:spcBef>
              <a:buClrTx/>
              <a:buSzTx/>
              <a:defRPr/>
            </a:pPr>
            <a:r>
              <a:rPr lang="zh-CN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规则：</a:t>
            </a:r>
            <a:r>
              <a:rPr lang="en-US" sz="2600" kern="0" noProof="0" dirty="0" smtClean="0">
                <a:ln>
                  <a:noFill/>
                </a:ln>
                <a:effectLst/>
                <a:uLnTx/>
                <a:uFillTx/>
                <a:latin typeface="+mn-ea"/>
                <a:sym typeface="+mn-ea"/>
              </a:rPr>
              <a:t> </a:t>
            </a:r>
            <a:r>
              <a:rPr lang="zh-CN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  <a:sym typeface="+mn-ea"/>
              </a:rPr>
              <a:t>0÷1=0；1÷1=1</a:t>
            </a:r>
            <a:endParaRPr lang="zh-CN" sz="2600" b="1" dirty="0" smtClean="0">
              <a:solidFill>
                <a:schemeClr val="accent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82980" y="2485328"/>
            <a:ext cx="4129405" cy="52197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</a:t>
            </a:r>
            <a:r>
              <a:rPr lang="en-US" sz="2800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800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sz="2800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1101)</a:t>
            </a:r>
            <a:r>
              <a:rPr lang="en-US" sz="2800" b="1" kern="0" baseline="-2500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</a:t>
            </a:r>
            <a:r>
              <a:rPr lang="en-US" altLang="zh-CN" sz="2800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÷</a:t>
            </a:r>
            <a:r>
              <a:rPr lang="zh-CN" altLang="en-US" sz="2800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sz="2800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110)</a:t>
            </a:r>
            <a:r>
              <a:rPr lang="en-US" sz="2800" b="1" kern="0" baseline="-2500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</a:t>
            </a:r>
            <a:r>
              <a:rPr lang="en-US" sz="2800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=</a:t>
            </a:r>
            <a:r>
              <a:rPr lang="en-US" sz="2400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endParaRPr lang="en-US" altLang="zh-CN" sz="2400" b="1" baseline="-250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137785" y="2399348"/>
            <a:ext cx="2785745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sz="2800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10)</a:t>
            </a:r>
            <a:r>
              <a:rPr lang="en-US" sz="2800" b="1" kern="0" baseline="-2500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 </a:t>
            </a:r>
            <a:r>
              <a:rPr lang="zh-CN" altLang="en-US" sz="2800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余（</a:t>
            </a:r>
            <a:r>
              <a:rPr lang="en-US" altLang="zh-CN" sz="2800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800" b="1" kern="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sz="2800" b="1" kern="0" baseline="-25000" noProof="0" dirty="0" smtClean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</a:t>
            </a:r>
            <a:endParaRPr lang="en-US" altLang="zh-CN" sz="2800" b="1" kern="0" baseline="-2500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1523365" y="3571240"/>
            <a:ext cx="2781300" cy="736600"/>
            <a:chOff x="1415" y="5683"/>
            <a:chExt cx="4380" cy="1160"/>
          </a:xfrm>
        </p:grpSpPr>
        <p:sp>
          <p:nvSpPr>
            <p:cNvPr id="20484" name="TextBox 6"/>
            <p:cNvSpPr txBox="1"/>
            <p:nvPr/>
          </p:nvSpPr>
          <p:spPr>
            <a:xfrm>
              <a:off x="1415" y="5683"/>
              <a:ext cx="4380" cy="11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defTabSz="914400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         </a:t>
              </a:r>
              <a:endPara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defTabSz="914400"/>
              <a:r>
                <a:rPr lang="en-US" altLang="zh-CN" sz="22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</a:t>
              </a:r>
              <a:r>
                <a:rPr lang="en-US" altLang="zh-CN" sz="2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1 1 0    1 1 0 1 </a:t>
              </a:r>
              <a:r>
                <a:rPr lang="en-US" altLang="zh-CN" sz="22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</a:t>
              </a:r>
              <a:endParaRPr lang="en-US" altLang="zh-CN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3542" y="6054"/>
              <a:ext cx="1632" cy="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弧形 4"/>
            <p:cNvSpPr/>
            <p:nvPr/>
          </p:nvSpPr>
          <p:spPr>
            <a:xfrm rot="3600000">
              <a:off x="2820" y="5961"/>
              <a:ext cx="911" cy="844"/>
            </a:xfrm>
            <a:prstGeom prst="arc">
              <a:avLst>
                <a:gd name="adj1" fmla="val 15376176"/>
                <a:gd name="adj2" fmla="val 0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3486785" y="3276283"/>
            <a:ext cx="370840" cy="53403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2794635" y="4141470"/>
            <a:ext cx="1195070" cy="533400"/>
            <a:chOff x="3417" y="6581"/>
            <a:chExt cx="1882" cy="840"/>
          </a:xfrm>
        </p:grpSpPr>
        <p:cxnSp>
          <p:nvCxnSpPr>
            <p:cNvPr id="7" name="直接连接符 6"/>
            <p:cNvCxnSpPr/>
            <p:nvPr/>
          </p:nvCxnSpPr>
          <p:spPr>
            <a:xfrm flipV="1">
              <a:off x="3417" y="7279"/>
              <a:ext cx="1883" cy="18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/>
          </p:nvSpPr>
          <p:spPr>
            <a:xfrm>
              <a:off x="3607" y="6581"/>
              <a:ext cx="1462" cy="84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1 1 0</a:t>
              </a:r>
              <a:endPara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3738880" y="4594225"/>
            <a:ext cx="370205" cy="5340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738880" y="3276600"/>
            <a:ext cx="370205" cy="5340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uiExpand="1" build="p"/>
      <p:bldP spid="3" grpId="0"/>
      <p:bldP spid="16" grpId="0"/>
      <p:bldP spid="8" grpId="0"/>
      <p:bldP spid="18" grpId="0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924693" y="120457"/>
            <a:ext cx="7716583" cy="6076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sz="28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二进制的逻辑运算</a:t>
            </a:r>
            <a:endParaRPr lang="zh-CN" sz="2800" spc="300" dirty="0">
              <a:solidFill>
                <a:schemeClr val="tx1">
                  <a:lumMod val="75000"/>
                  <a:lumOff val="25000"/>
                </a:schemeClr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6715" y="1055053"/>
            <a:ext cx="6431280" cy="42259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57200" indent="-457200" algn="l">
              <a:lnSpc>
                <a:spcPct val="120000"/>
              </a:lnSpc>
              <a:buFont typeface="Wingdings" panose="05000000000000000000" charset="0"/>
              <a:buChar char="p"/>
            </a:pP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布尔代数是电子计算机电路设计的理论基础，它以表示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“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真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”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和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“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假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”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的逻辑量为研究对象，有着独特的运算规则</a:t>
            </a:r>
            <a:endParaRPr lang="zh-CN" altLang="en-US" sz="2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 algn="l">
              <a:lnSpc>
                <a:spcPct val="120000"/>
              </a:lnSpc>
              <a:buFont typeface="Wingdings" panose="05000000000000000000" charset="0"/>
              <a:buChar char="p"/>
            </a:pP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计算机中一般使用二进制的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“1”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和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“0”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来表示逻辑量的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“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真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”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和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“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假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”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，运算时，位与位相互独立，没有进位和错位，运算的结果也是逻辑数据</a:t>
            </a:r>
            <a:endParaRPr lang="zh-CN" altLang="en-US" sz="2800" b="1" dirty="0" smtClean="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marL="457200" indent="-457200" algn="l">
              <a:lnSpc>
                <a:spcPct val="120000"/>
              </a:lnSpc>
              <a:buFont typeface="Wingdings" panose="05000000000000000000" charset="0"/>
              <a:buChar char="p"/>
            </a:pP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常用逻辑运算：与、或、非</a:t>
            </a:r>
            <a:endParaRPr lang="zh-CN" altLang="en-US" sz="2800" b="1" dirty="0" smtClean="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0" grpId="2"/>
      <p:bldP spid="10" grpId="3"/>
      <p:bldP spid="10" grpId="4"/>
      <p:bldP spid="10" grpId="5"/>
      <p:bldP spid="10" grpId="6"/>
      <p:bldP spid="10" grpId="7"/>
      <p:bldP spid="10" grpId="8"/>
      <p:bldP spid="10" grpId="9"/>
      <p:bldP spid="10" grpId="10"/>
      <p:bldP spid="10" grpId="11"/>
      <p:bldP spid="10" grpId="12"/>
      <p:bldP spid="10" grpId="13"/>
      <p:bldP spid="10" grpId="14"/>
      <p:bldP spid="10" grpId="15"/>
      <p:bldP spid="10" grpId="16"/>
      <p:bldP spid="10" grpId="17"/>
      <p:bldP spid="10" grpId="18"/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MH_SubTitle_3"/>
          <p:cNvSpPr/>
          <p:nvPr>
            <p:custDataLst>
              <p:tags r:id="rId1"/>
            </p:custDataLst>
          </p:nvPr>
        </p:nvSpPr>
        <p:spPr>
          <a:xfrm>
            <a:off x="0" y="250190"/>
            <a:ext cx="3656330" cy="388620"/>
          </a:xfrm>
          <a:prstGeom prst="homePlate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二进制的逻辑运算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7065" y="1205485"/>
            <a:ext cx="1870710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457200" indent="-457200" algn="l">
              <a:lnSpc>
                <a:spcPct val="120000"/>
              </a:lnSpc>
              <a:buFont typeface="Wingdings" panose="05000000000000000000" charset="0"/>
              <a:buChar char="p"/>
            </a:pP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逻辑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“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与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”</a:t>
            </a:r>
            <a:endParaRPr lang="en-US" altLang="zh-CN" sz="2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02005" y="1812925"/>
            <a:ext cx="9932670" cy="152971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57200" indent="-457200" algn="l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en-US" altLang="zh-CN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运算符有“∧”或者“∩”，均读为“与”。</a:t>
            </a:r>
            <a:endParaRPr lang="en-US" altLang="zh-CN" sz="2600" b="1" dirty="0" smtClean="0">
              <a:solidFill>
                <a:schemeClr val="accent1">
                  <a:lumMod val="90000"/>
                  <a:lumOff val="10000"/>
                </a:schemeClr>
              </a:solidFill>
            </a:endParaRPr>
          </a:p>
          <a:p>
            <a:pPr marL="457200" indent="-457200" algn="l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en-US" altLang="zh-CN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运算规则</a:t>
            </a:r>
            <a:r>
              <a:rPr lang="zh-CN" altLang="en-US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：</a:t>
            </a:r>
            <a:r>
              <a:rPr lang="en-US" altLang="zh-CN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只有参加运算的两个数都是1时，“与”的结果才为1；否则，结果为0。</a:t>
            </a:r>
            <a:r>
              <a:rPr lang="zh-CN" altLang="en-US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0∧1=0；0∧0=0 ；1∧1=1；1∧0=0；</a:t>
            </a:r>
            <a:endParaRPr lang="zh-CN" altLang="en-US" sz="2600" b="1" dirty="0" smtClean="0">
              <a:solidFill>
                <a:schemeClr val="accent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44295" y="3388678"/>
            <a:ext cx="2840355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例  1100∧1011=</a:t>
            </a:r>
            <a:endParaRPr lang="zh-CN" altLang="en-US" sz="2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228725" y="3959860"/>
            <a:ext cx="2514600" cy="976630"/>
            <a:chOff x="1935" y="6236"/>
            <a:chExt cx="3960" cy="1538"/>
          </a:xfrm>
        </p:grpSpPr>
        <p:sp>
          <p:nvSpPr>
            <p:cNvPr id="5" name="文本框 4"/>
            <p:cNvSpPr txBox="1"/>
            <p:nvPr/>
          </p:nvSpPr>
          <p:spPr>
            <a:xfrm>
              <a:off x="2164" y="6236"/>
              <a:ext cx="3594" cy="153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    1　1　0　0</a:t>
              </a:r>
              <a:endPara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zh-CN" altLang="en-US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∧  1　0　1　1</a:t>
              </a:r>
              <a:endPara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1935" y="7693"/>
              <a:ext cx="3961" cy="0"/>
            </a:xfrm>
            <a:prstGeom prst="line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文本框 42"/>
          <p:cNvSpPr txBox="1"/>
          <p:nvPr/>
        </p:nvSpPr>
        <p:spPr>
          <a:xfrm>
            <a:off x="3254375" y="4938078"/>
            <a:ext cx="401955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8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88285" y="4938078"/>
            <a:ext cx="401955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8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320925" y="4938078"/>
            <a:ext cx="330835" cy="6076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8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804670" y="4938078"/>
            <a:ext cx="401955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8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184650" y="3388678"/>
            <a:ext cx="972820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0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00</a:t>
            </a:r>
            <a:endParaRPr lang="zh-CN" altLang="en-US" sz="2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uild="p"/>
      <p:bldP spid="4" grpId="0"/>
      <p:bldP spid="43" grpId="0"/>
      <p:bldP spid="8" grpId="0"/>
      <p:bldP spid="9" grpId="0"/>
      <p:bldP spid="10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MH_SubTitle_3"/>
          <p:cNvSpPr/>
          <p:nvPr>
            <p:custDataLst>
              <p:tags r:id="rId1"/>
            </p:custDataLst>
          </p:nvPr>
        </p:nvSpPr>
        <p:spPr>
          <a:xfrm>
            <a:off x="0" y="250190"/>
            <a:ext cx="3656330" cy="388620"/>
          </a:xfrm>
          <a:prstGeom prst="homePlate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二进制的逻辑运算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7065" y="1205485"/>
            <a:ext cx="2062480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457200" indent="-457200" algn="l">
              <a:lnSpc>
                <a:spcPct val="120000"/>
              </a:lnSpc>
              <a:buFont typeface="Wingdings" panose="05000000000000000000" charset="0"/>
              <a:buChar char="p"/>
            </a:pP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逻辑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“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或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”</a:t>
            </a:r>
            <a:endParaRPr lang="en-US" altLang="zh-CN" sz="2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73430" y="1812925"/>
            <a:ext cx="9932670" cy="2009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57200" indent="-457200" algn="l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en-US" altLang="zh-CN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运算符有“∨”或者“∪”，均读为“或”。</a:t>
            </a:r>
            <a:endParaRPr lang="en-US" altLang="zh-CN" sz="2600" b="1" dirty="0" smtClean="0">
              <a:solidFill>
                <a:schemeClr val="accent1">
                  <a:lumMod val="90000"/>
                  <a:lumOff val="10000"/>
                </a:schemeClr>
              </a:solidFill>
            </a:endParaRPr>
          </a:p>
          <a:p>
            <a:pPr marL="457200" indent="-457200" algn="l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en-US" altLang="zh-CN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运算规则</a:t>
            </a:r>
            <a:r>
              <a:rPr lang="zh-CN" altLang="en-US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：</a:t>
            </a:r>
            <a:r>
              <a:rPr lang="en-US" altLang="zh-CN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参加运算的两个数中至少有一个为1时，“或”的结果为1；当两个数同时为0时，结果为0</a:t>
            </a:r>
            <a:endParaRPr lang="en-US" altLang="zh-CN" sz="2600" b="1" dirty="0" smtClean="0">
              <a:solidFill>
                <a:schemeClr val="accent1">
                  <a:lumMod val="90000"/>
                  <a:lumOff val="10000"/>
                </a:schemeClr>
              </a:solidFill>
            </a:endParaRPr>
          </a:p>
          <a:p>
            <a:pPr indent="0" algn="l">
              <a:lnSpc>
                <a:spcPct val="120000"/>
              </a:lnSpc>
              <a:buFont typeface="Wingdings" panose="05000000000000000000" charset="0"/>
              <a:buNone/>
            </a:pPr>
            <a:r>
              <a:rPr lang="zh-CN" altLang="en-US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    0∨0=0 ；0∨1=1 ；1∨0=1； 1∨1=1 ；</a:t>
            </a:r>
            <a:endParaRPr lang="zh-CN" altLang="en-US" sz="2600" b="1" dirty="0" smtClean="0">
              <a:solidFill>
                <a:schemeClr val="accent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31925" y="3776028"/>
            <a:ext cx="2860040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例  1001∨1101=</a:t>
            </a:r>
            <a:endParaRPr lang="zh-CN" altLang="en-US" sz="2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316355" y="4204330"/>
            <a:ext cx="2515235" cy="977265"/>
            <a:chOff x="1935" y="6236"/>
            <a:chExt cx="3961" cy="1539"/>
          </a:xfrm>
        </p:grpSpPr>
        <p:sp>
          <p:nvSpPr>
            <p:cNvPr id="5" name="文本框 4"/>
            <p:cNvSpPr txBox="1"/>
            <p:nvPr/>
          </p:nvSpPr>
          <p:spPr>
            <a:xfrm>
              <a:off x="2164" y="6236"/>
              <a:ext cx="3594" cy="153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    1　</a:t>
              </a:r>
              <a:r>
                <a: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</a:t>
              </a:r>
              <a:r>
                <a:rPr lang="zh-CN" altLang="en-US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　0　</a:t>
              </a:r>
              <a:r>
                <a: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</a:t>
              </a:r>
              <a:endPara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zh-CN" altLang="en-US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rPr>
                <a:t>∨</a:t>
              </a:r>
              <a:r>
                <a:rPr lang="zh-CN" altLang="en-US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1　</a:t>
              </a:r>
              <a:r>
                <a: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</a:t>
              </a:r>
              <a:r>
                <a:rPr lang="zh-CN" altLang="en-US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　</a:t>
              </a:r>
              <a:r>
                <a: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0</a:t>
              </a:r>
              <a:r>
                <a:rPr lang="zh-CN" altLang="en-US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　1</a:t>
              </a:r>
              <a:endPara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1935" y="7693"/>
              <a:ext cx="3961" cy="0"/>
            </a:xfrm>
            <a:prstGeom prst="line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文本框 42"/>
          <p:cNvSpPr txBox="1"/>
          <p:nvPr/>
        </p:nvSpPr>
        <p:spPr>
          <a:xfrm>
            <a:off x="3342005" y="5155528"/>
            <a:ext cx="373820" cy="49795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4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75915" y="5155528"/>
            <a:ext cx="373820" cy="49795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4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08555" y="5155528"/>
            <a:ext cx="330835" cy="4979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4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892300" y="5155528"/>
            <a:ext cx="373820" cy="49795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4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272280" y="3776028"/>
            <a:ext cx="972820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0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en-US" altLang="zh-CN" sz="2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uiExpand="1" build="p"/>
      <p:bldP spid="4" grpId="0"/>
      <p:bldP spid="43" grpId="0"/>
      <p:bldP spid="8" grpId="0"/>
      <p:bldP spid="9" grpId="0"/>
      <p:bldP spid="10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MH_SubTitle_3"/>
          <p:cNvSpPr/>
          <p:nvPr>
            <p:custDataLst>
              <p:tags r:id="rId1"/>
            </p:custDataLst>
          </p:nvPr>
        </p:nvSpPr>
        <p:spPr>
          <a:xfrm>
            <a:off x="0" y="250190"/>
            <a:ext cx="3656330" cy="388620"/>
          </a:xfrm>
          <a:prstGeom prst="homePlate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二进制的逻辑运算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7065" y="1205485"/>
            <a:ext cx="2062480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457200" indent="-457200" algn="l">
              <a:lnSpc>
                <a:spcPct val="120000"/>
              </a:lnSpc>
              <a:buFont typeface="Wingdings" panose="05000000000000000000" charset="0"/>
              <a:buChar char="p"/>
            </a:pP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逻辑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“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非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”</a:t>
            </a:r>
            <a:endParaRPr lang="en-US" altLang="zh-CN" sz="2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73430" y="1812925"/>
            <a:ext cx="9932670" cy="2009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57200" indent="-457200" algn="l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en-US" altLang="zh-CN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运算符“～”，称为“非”号。</a:t>
            </a:r>
            <a:endParaRPr lang="en-US" altLang="zh-CN" sz="2600" b="1" dirty="0" smtClean="0">
              <a:solidFill>
                <a:schemeClr val="accent1">
                  <a:lumMod val="90000"/>
                  <a:lumOff val="10000"/>
                </a:schemeClr>
              </a:solidFill>
            </a:endParaRPr>
          </a:p>
          <a:p>
            <a:pPr marL="457200" indent="-457200" algn="l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en-US" altLang="zh-CN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运算规则</a:t>
            </a:r>
            <a:r>
              <a:rPr lang="zh-CN" altLang="en-US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：</a:t>
            </a:r>
            <a:r>
              <a:rPr lang="en-US" altLang="zh-CN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当逻辑数位的值为1时，“非”运算的结果为0；逻辑数位的值为0时，“非”运算的结果为1。</a:t>
            </a:r>
            <a:endParaRPr lang="en-US" altLang="zh-CN" sz="2600" b="1" dirty="0" smtClean="0">
              <a:solidFill>
                <a:schemeClr val="accent1">
                  <a:lumMod val="90000"/>
                  <a:lumOff val="10000"/>
                </a:schemeClr>
              </a:solidFill>
            </a:endParaRPr>
          </a:p>
          <a:p>
            <a:pPr indent="0" algn="l">
              <a:lnSpc>
                <a:spcPct val="120000"/>
              </a:lnSpc>
              <a:buFont typeface="Wingdings" panose="05000000000000000000" charset="0"/>
              <a:buNone/>
            </a:pPr>
            <a:r>
              <a:rPr lang="zh-CN" altLang="en-US" sz="26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     ～0=1；～1=0</a:t>
            </a:r>
            <a:endParaRPr lang="zh-CN" altLang="en-US" sz="2600" b="1" dirty="0" smtClean="0">
              <a:solidFill>
                <a:schemeClr val="accent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16355" y="3885883"/>
            <a:ext cx="3839210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例  设X=1001，则～X=</a:t>
            </a:r>
            <a:endParaRPr lang="zh-CN" altLang="en-US" sz="2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542280" y="3885883"/>
            <a:ext cx="953135" cy="60769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0110</a:t>
            </a:r>
            <a:endParaRPr lang="en-US" sz="2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uiExpand="1" build="p"/>
      <p:bldP spid="4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3675" y="1496695"/>
            <a:ext cx="6846570" cy="26752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57200" indent="-457200" algn="l">
              <a:lnSpc>
                <a:spcPct val="120000"/>
              </a:lnSpc>
              <a:buFont typeface="Wingdings" panose="05000000000000000000" charset="0"/>
              <a:buChar char="p"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或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非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是最基本的逻辑运算，其他复杂的逻辑关系，如异或、同或、或非等，都可以由这三种基本关系组成</a:t>
            </a:r>
            <a:endParaRPr lang="zh-CN" altLang="en-US" sz="2800" dirty="0"/>
          </a:p>
          <a:p>
            <a:pPr marL="457200" indent="-457200" algn="l">
              <a:lnSpc>
                <a:spcPct val="120000"/>
              </a:lnSpc>
              <a:buFont typeface="Wingdings" panose="05000000000000000000" charset="0"/>
              <a:buChar char="p"/>
            </a:pPr>
            <a:endParaRPr lang="zh-CN" altLang="en-US" sz="2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框 9"/>
          <p:cNvSpPr txBox="1"/>
          <p:nvPr/>
        </p:nvSpPr>
        <p:spPr>
          <a:xfrm>
            <a:off x="924693" y="120457"/>
            <a:ext cx="7716583" cy="6076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sz="28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二进制的逻辑运算</a:t>
            </a:r>
            <a:endParaRPr lang="zh-CN" sz="2800" spc="300" dirty="0">
              <a:solidFill>
                <a:schemeClr val="tx1">
                  <a:lumMod val="75000"/>
                  <a:lumOff val="25000"/>
                </a:schemeClr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4" grpId="2"/>
      <p:bldP spid="4" grpId="3"/>
      <p:bldP spid="4" grpId="4"/>
      <p:bldP spid="4" grpId="5"/>
      <p:bldP spid="4" grpId="6"/>
      <p:bldP spid="4" grpId="7"/>
      <p:bldP spid="4" grpId="8"/>
      <p:bldP spid="4" grpId="9"/>
      <p:bldP spid="4" grpId="10"/>
      <p:bldP spid="4" grpId="11"/>
      <p:bldP spid="4" grpId="12"/>
      <p:bldP spid="4" grpId="13"/>
      <p:bldP spid="4" grpId="14"/>
      <p:bldP spid="4" grpId="15"/>
      <p:bldP spid="4" grpId="16"/>
      <p:bldP spid="4" grpId="17"/>
      <p:bldP spid="4" grpId="18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组合 200"/>
          <p:cNvGrpSpPr/>
          <p:nvPr/>
        </p:nvGrpSpPr>
        <p:grpSpPr>
          <a:xfrm>
            <a:off x="819601" y="1254238"/>
            <a:ext cx="740963" cy="702851"/>
            <a:chOff x="7755806" y="382713"/>
            <a:chExt cx="910025" cy="910025"/>
          </a:xfrm>
        </p:grpSpPr>
        <p:grpSp>
          <p:nvGrpSpPr>
            <p:cNvPr id="39" name="组合 38"/>
            <p:cNvGrpSpPr/>
            <p:nvPr/>
          </p:nvGrpSpPr>
          <p:grpSpPr>
            <a:xfrm>
              <a:off x="7755806" y="382713"/>
              <a:ext cx="910025" cy="910025"/>
              <a:chOff x="2646157" y="1103874"/>
              <a:chExt cx="910025" cy="910025"/>
            </a:xfrm>
            <a:solidFill>
              <a:schemeClr val="accent1"/>
            </a:solidFill>
          </p:grpSpPr>
          <p:grpSp>
            <p:nvGrpSpPr>
              <p:cNvPr id="40" name="组合 39"/>
              <p:cNvGrpSpPr/>
              <p:nvPr/>
            </p:nvGrpSpPr>
            <p:grpSpPr>
              <a:xfrm>
                <a:off x="2646157" y="1103874"/>
                <a:ext cx="910025" cy="910025"/>
                <a:chOff x="1236675" y="2423160"/>
                <a:chExt cx="1950720" cy="1950720"/>
              </a:xfrm>
              <a:grpFill/>
            </p:grpSpPr>
            <p:sp>
              <p:nvSpPr>
                <p:cNvPr id="42" name="椭圆 41"/>
                <p:cNvSpPr/>
                <p:nvPr/>
              </p:nvSpPr>
              <p:spPr>
                <a:xfrm>
                  <a:off x="1236675" y="2423160"/>
                  <a:ext cx="1950720" cy="1950720"/>
                </a:xfrm>
                <a:prstGeom prst="ellipse">
                  <a:avLst/>
                </a:prstGeom>
                <a:grpFill/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zh-CN" altLang="en-US" sz="2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43" name="椭圆 42"/>
                <p:cNvSpPr/>
                <p:nvPr/>
              </p:nvSpPr>
              <p:spPr>
                <a:xfrm>
                  <a:off x="1426863" y="2613348"/>
                  <a:ext cx="1570349" cy="1570349"/>
                </a:xfrm>
                <a:prstGeom prst="ellipse">
                  <a:avLst/>
                </a:prstGeom>
                <a:grpFill/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zh-CN" altLang="en-US" sz="2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endParaRPr>
                </a:p>
              </p:txBody>
            </p:sp>
          </p:grpSp>
          <p:sp>
            <p:nvSpPr>
              <p:cNvPr id="41" name="椭圆 40"/>
              <p:cNvSpPr/>
              <p:nvPr/>
            </p:nvSpPr>
            <p:spPr>
              <a:xfrm>
                <a:off x="2792045" y="1249762"/>
                <a:ext cx="618249" cy="618249"/>
              </a:xfrm>
              <a:prstGeom prst="ellipse">
                <a:avLst/>
              </a:prstGeom>
              <a:grpFill/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 sz="2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61" name="组合 60"/>
            <p:cNvGrpSpPr/>
            <p:nvPr/>
          </p:nvGrpSpPr>
          <p:grpSpPr>
            <a:xfrm>
              <a:off x="8032697" y="672233"/>
              <a:ext cx="386167" cy="390399"/>
              <a:chOff x="4383281" y="1858180"/>
              <a:chExt cx="684119" cy="785482"/>
            </a:xfrm>
            <a:solidFill>
              <a:schemeClr val="bg1"/>
            </a:solidFill>
          </p:grpSpPr>
          <p:sp>
            <p:nvSpPr>
              <p:cNvPr id="62" name="Freeform 244"/>
              <p:cNvSpPr/>
              <p:nvPr/>
            </p:nvSpPr>
            <p:spPr bwMode="auto">
              <a:xfrm>
                <a:off x="4681370" y="1858180"/>
                <a:ext cx="97079" cy="106787"/>
              </a:xfrm>
              <a:custGeom>
                <a:avLst/>
                <a:gdLst>
                  <a:gd name="T0" fmla="*/ 19 w 144"/>
                  <a:gd name="T1" fmla="*/ 105 h 158"/>
                  <a:gd name="T2" fmla="*/ 73 w 144"/>
                  <a:gd name="T3" fmla="*/ 158 h 158"/>
                  <a:gd name="T4" fmla="*/ 125 w 144"/>
                  <a:gd name="T5" fmla="*/ 104 h 158"/>
                  <a:gd name="T6" fmla="*/ 141 w 144"/>
                  <a:gd name="T7" fmla="*/ 87 h 158"/>
                  <a:gd name="T8" fmla="*/ 132 w 144"/>
                  <a:gd name="T9" fmla="*/ 61 h 158"/>
                  <a:gd name="T10" fmla="*/ 72 w 144"/>
                  <a:gd name="T11" fmla="*/ 0 h 158"/>
                  <a:gd name="T12" fmla="*/ 11 w 144"/>
                  <a:gd name="T13" fmla="*/ 61 h 158"/>
                  <a:gd name="T14" fmla="*/ 3 w 144"/>
                  <a:gd name="T15" fmla="*/ 87 h 158"/>
                  <a:gd name="T16" fmla="*/ 19 w 144"/>
                  <a:gd name="T17" fmla="*/ 105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4" h="158">
                    <a:moveTo>
                      <a:pt x="19" y="105"/>
                    </a:moveTo>
                    <a:cubicBezTo>
                      <a:pt x="30" y="132"/>
                      <a:pt x="51" y="158"/>
                      <a:pt x="73" y="158"/>
                    </a:cubicBezTo>
                    <a:cubicBezTo>
                      <a:pt x="96" y="158"/>
                      <a:pt x="115" y="132"/>
                      <a:pt x="125" y="104"/>
                    </a:cubicBezTo>
                    <a:cubicBezTo>
                      <a:pt x="131" y="104"/>
                      <a:pt x="138" y="97"/>
                      <a:pt x="141" y="87"/>
                    </a:cubicBezTo>
                    <a:cubicBezTo>
                      <a:pt x="144" y="75"/>
                      <a:pt x="140" y="64"/>
                      <a:pt x="132" y="61"/>
                    </a:cubicBezTo>
                    <a:cubicBezTo>
                      <a:pt x="130" y="27"/>
                      <a:pt x="104" y="0"/>
                      <a:pt x="72" y="0"/>
                    </a:cubicBezTo>
                    <a:cubicBezTo>
                      <a:pt x="40" y="0"/>
                      <a:pt x="13" y="27"/>
                      <a:pt x="11" y="61"/>
                    </a:cubicBezTo>
                    <a:cubicBezTo>
                      <a:pt x="4" y="64"/>
                      <a:pt x="0" y="75"/>
                      <a:pt x="3" y="87"/>
                    </a:cubicBezTo>
                    <a:cubicBezTo>
                      <a:pt x="5" y="97"/>
                      <a:pt x="12" y="104"/>
                      <a:pt x="19" y="10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63" name="Freeform 245"/>
              <p:cNvSpPr/>
              <p:nvPr/>
            </p:nvSpPr>
            <p:spPr bwMode="auto">
              <a:xfrm>
                <a:off x="4653102" y="1960113"/>
                <a:ext cx="153042" cy="149330"/>
              </a:xfrm>
              <a:custGeom>
                <a:avLst/>
                <a:gdLst>
                  <a:gd name="T0" fmla="*/ 95 w 227"/>
                  <a:gd name="T1" fmla="*/ 191 h 221"/>
                  <a:gd name="T2" fmla="*/ 95 w 227"/>
                  <a:gd name="T3" fmla="*/ 221 h 221"/>
                  <a:gd name="T4" fmla="*/ 116 w 227"/>
                  <a:gd name="T5" fmla="*/ 220 h 221"/>
                  <a:gd name="T6" fmla="*/ 138 w 227"/>
                  <a:gd name="T7" fmla="*/ 221 h 221"/>
                  <a:gd name="T8" fmla="*/ 138 w 227"/>
                  <a:gd name="T9" fmla="*/ 191 h 221"/>
                  <a:gd name="T10" fmla="*/ 227 w 227"/>
                  <a:gd name="T11" fmla="*/ 173 h 221"/>
                  <a:gd name="T12" fmla="*/ 227 w 227"/>
                  <a:gd name="T13" fmla="*/ 173 h 221"/>
                  <a:gd name="T14" fmla="*/ 227 w 227"/>
                  <a:gd name="T15" fmla="*/ 54 h 221"/>
                  <a:gd name="T16" fmla="*/ 226 w 227"/>
                  <a:gd name="T17" fmla="*/ 54 h 221"/>
                  <a:gd name="T18" fmla="*/ 176 w 227"/>
                  <a:gd name="T19" fmla="*/ 0 h 221"/>
                  <a:gd name="T20" fmla="*/ 127 w 227"/>
                  <a:gd name="T21" fmla="*/ 82 h 221"/>
                  <a:gd name="T22" fmla="*/ 121 w 227"/>
                  <a:gd name="T23" fmla="*/ 45 h 221"/>
                  <a:gd name="T24" fmla="*/ 127 w 227"/>
                  <a:gd name="T25" fmla="*/ 33 h 221"/>
                  <a:gd name="T26" fmla="*/ 113 w 227"/>
                  <a:gd name="T27" fmla="*/ 19 h 221"/>
                  <a:gd name="T28" fmla="*/ 99 w 227"/>
                  <a:gd name="T29" fmla="*/ 33 h 221"/>
                  <a:gd name="T30" fmla="*/ 106 w 227"/>
                  <a:gd name="T31" fmla="*/ 45 h 221"/>
                  <a:gd name="T32" fmla="*/ 100 w 227"/>
                  <a:gd name="T33" fmla="*/ 81 h 221"/>
                  <a:gd name="T34" fmla="*/ 52 w 227"/>
                  <a:gd name="T35" fmla="*/ 0 h 221"/>
                  <a:gd name="T36" fmla="*/ 1 w 227"/>
                  <a:gd name="T37" fmla="*/ 54 h 221"/>
                  <a:gd name="T38" fmla="*/ 0 w 227"/>
                  <a:gd name="T39" fmla="*/ 54 h 221"/>
                  <a:gd name="T40" fmla="*/ 0 w 227"/>
                  <a:gd name="T41" fmla="*/ 173 h 221"/>
                  <a:gd name="T42" fmla="*/ 1 w 227"/>
                  <a:gd name="T43" fmla="*/ 173 h 221"/>
                  <a:gd name="T44" fmla="*/ 95 w 227"/>
                  <a:gd name="T45" fmla="*/ 191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27" h="221">
                    <a:moveTo>
                      <a:pt x="95" y="191"/>
                    </a:moveTo>
                    <a:cubicBezTo>
                      <a:pt x="95" y="221"/>
                      <a:pt x="95" y="221"/>
                      <a:pt x="95" y="221"/>
                    </a:cubicBezTo>
                    <a:cubicBezTo>
                      <a:pt x="102" y="220"/>
                      <a:pt x="109" y="220"/>
                      <a:pt x="116" y="220"/>
                    </a:cubicBezTo>
                    <a:cubicBezTo>
                      <a:pt x="123" y="220"/>
                      <a:pt x="131" y="220"/>
                      <a:pt x="138" y="221"/>
                    </a:cubicBezTo>
                    <a:cubicBezTo>
                      <a:pt x="138" y="191"/>
                      <a:pt x="138" y="191"/>
                      <a:pt x="138" y="191"/>
                    </a:cubicBezTo>
                    <a:cubicBezTo>
                      <a:pt x="186" y="189"/>
                      <a:pt x="222" y="182"/>
                      <a:pt x="227" y="173"/>
                    </a:cubicBezTo>
                    <a:cubicBezTo>
                      <a:pt x="227" y="173"/>
                      <a:pt x="227" y="173"/>
                      <a:pt x="227" y="173"/>
                    </a:cubicBezTo>
                    <a:cubicBezTo>
                      <a:pt x="227" y="54"/>
                      <a:pt x="227" y="54"/>
                      <a:pt x="227" y="54"/>
                    </a:cubicBezTo>
                    <a:cubicBezTo>
                      <a:pt x="226" y="54"/>
                      <a:pt x="226" y="54"/>
                      <a:pt x="226" y="54"/>
                    </a:cubicBezTo>
                    <a:cubicBezTo>
                      <a:pt x="222" y="31"/>
                      <a:pt x="203" y="12"/>
                      <a:pt x="176" y="0"/>
                    </a:cubicBezTo>
                    <a:cubicBezTo>
                      <a:pt x="127" y="82"/>
                      <a:pt x="127" y="82"/>
                      <a:pt x="127" y="82"/>
                    </a:cubicBezTo>
                    <a:cubicBezTo>
                      <a:pt x="121" y="45"/>
                      <a:pt x="121" y="45"/>
                      <a:pt x="121" y="45"/>
                    </a:cubicBezTo>
                    <a:cubicBezTo>
                      <a:pt x="125" y="43"/>
                      <a:pt x="127" y="38"/>
                      <a:pt x="127" y="33"/>
                    </a:cubicBezTo>
                    <a:cubicBezTo>
                      <a:pt x="127" y="26"/>
                      <a:pt x="121" y="19"/>
                      <a:pt x="113" y="19"/>
                    </a:cubicBezTo>
                    <a:cubicBezTo>
                      <a:pt x="106" y="19"/>
                      <a:pt x="99" y="26"/>
                      <a:pt x="99" y="33"/>
                    </a:cubicBezTo>
                    <a:cubicBezTo>
                      <a:pt x="99" y="38"/>
                      <a:pt x="102" y="43"/>
                      <a:pt x="106" y="45"/>
                    </a:cubicBezTo>
                    <a:cubicBezTo>
                      <a:pt x="100" y="81"/>
                      <a:pt x="100" y="81"/>
                      <a:pt x="100" y="81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24" y="12"/>
                      <a:pt x="5" y="31"/>
                      <a:pt x="1" y="5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173"/>
                      <a:pt x="0" y="173"/>
                      <a:pt x="0" y="173"/>
                    </a:cubicBezTo>
                    <a:cubicBezTo>
                      <a:pt x="1" y="173"/>
                      <a:pt x="1" y="173"/>
                      <a:pt x="1" y="173"/>
                    </a:cubicBezTo>
                    <a:cubicBezTo>
                      <a:pt x="5" y="182"/>
                      <a:pt x="45" y="190"/>
                      <a:pt x="95" y="19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64" name="Freeform 246"/>
              <p:cNvSpPr/>
              <p:nvPr/>
            </p:nvSpPr>
            <p:spPr bwMode="auto">
              <a:xfrm>
                <a:off x="4653673" y="2514890"/>
                <a:ext cx="153327" cy="128772"/>
              </a:xfrm>
              <a:custGeom>
                <a:avLst/>
                <a:gdLst>
                  <a:gd name="T0" fmla="*/ 175 w 227"/>
                  <a:gd name="T1" fmla="*/ 0 h 191"/>
                  <a:gd name="T2" fmla="*/ 127 w 227"/>
                  <a:gd name="T3" fmla="*/ 82 h 191"/>
                  <a:gd name="T4" fmla="*/ 121 w 227"/>
                  <a:gd name="T5" fmla="*/ 45 h 191"/>
                  <a:gd name="T6" fmla="*/ 127 w 227"/>
                  <a:gd name="T7" fmla="*/ 33 h 191"/>
                  <a:gd name="T8" fmla="*/ 113 w 227"/>
                  <a:gd name="T9" fmla="*/ 19 h 191"/>
                  <a:gd name="T10" fmla="*/ 99 w 227"/>
                  <a:gd name="T11" fmla="*/ 33 h 191"/>
                  <a:gd name="T12" fmla="*/ 106 w 227"/>
                  <a:gd name="T13" fmla="*/ 45 h 191"/>
                  <a:gd name="T14" fmla="*/ 100 w 227"/>
                  <a:gd name="T15" fmla="*/ 82 h 191"/>
                  <a:gd name="T16" fmla="*/ 52 w 227"/>
                  <a:gd name="T17" fmla="*/ 0 h 191"/>
                  <a:gd name="T18" fmla="*/ 1 w 227"/>
                  <a:gd name="T19" fmla="*/ 54 h 191"/>
                  <a:gd name="T20" fmla="*/ 0 w 227"/>
                  <a:gd name="T21" fmla="*/ 54 h 191"/>
                  <a:gd name="T22" fmla="*/ 0 w 227"/>
                  <a:gd name="T23" fmla="*/ 174 h 191"/>
                  <a:gd name="T24" fmla="*/ 0 w 227"/>
                  <a:gd name="T25" fmla="*/ 174 h 191"/>
                  <a:gd name="T26" fmla="*/ 114 w 227"/>
                  <a:gd name="T27" fmla="*/ 191 h 191"/>
                  <a:gd name="T28" fmla="*/ 227 w 227"/>
                  <a:gd name="T29" fmla="*/ 174 h 191"/>
                  <a:gd name="T30" fmla="*/ 227 w 227"/>
                  <a:gd name="T31" fmla="*/ 174 h 191"/>
                  <a:gd name="T32" fmla="*/ 227 w 227"/>
                  <a:gd name="T33" fmla="*/ 54 h 191"/>
                  <a:gd name="T34" fmla="*/ 226 w 227"/>
                  <a:gd name="T35" fmla="*/ 54 h 191"/>
                  <a:gd name="T36" fmla="*/ 175 w 227"/>
                  <a:gd name="T37" fmla="*/ 0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27" h="191">
                    <a:moveTo>
                      <a:pt x="175" y="0"/>
                    </a:moveTo>
                    <a:cubicBezTo>
                      <a:pt x="127" y="82"/>
                      <a:pt x="127" y="82"/>
                      <a:pt x="127" y="82"/>
                    </a:cubicBezTo>
                    <a:cubicBezTo>
                      <a:pt x="121" y="45"/>
                      <a:pt x="121" y="45"/>
                      <a:pt x="121" y="45"/>
                    </a:cubicBezTo>
                    <a:cubicBezTo>
                      <a:pt x="125" y="43"/>
                      <a:pt x="127" y="38"/>
                      <a:pt x="127" y="33"/>
                    </a:cubicBezTo>
                    <a:cubicBezTo>
                      <a:pt x="127" y="26"/>
                      <a:pt x="121" y="19"/>
                      <a:pt x="113" y="19"/>
                    </a:cubicBezTo>
                    <a:cubicBezTo>
                      <a:pt x="106" y="19"/>
                      <a:pt x="99" y="26"/>
                      <a:pt x="99" y="33"/>
                    </a:cubicBezTo>
                    <a:cubicBezTo>
                      <a:pt x="99" y="38"/>
                      <a:pt x="102" y="43"/>
                      <a:pt x="106" y="45"/>
                    </a:cubicBezTo>
                    <a:cubicBezTo>
                      <a:pt x="100" y="82"/>
                      <a:pt x="100" y="82"/>
                      <a:pt x="100" y="82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24" y="12"/>
                      <a:pt x="5" y="31"/>
                      <a:pt x="1" y="5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174"/>
                      <a:pt x="0" y="174"/>
                      <a:pt x="0" y="174"/>
                    </a:cubicBezTo>
                    <a:cubicBezTo>
                      <a:pt x="0" y="174"/>
                      <a:pt x="0" y="174"/>
                      <a:pt x="0" y="174"/>
                    </a:cubicBezTo>
                    <a:cubicBezTo>
                      <a:pt x="6" y="184"/>
                      <a:pt x="54" y="191"/>
                      <a:pt x="114" y="191"/>
                    </a:cubicBezTo>
                    <a:cubicBezTo>
                      <a:pt x="173" y="191"/>
                      <a:pt x="221" y="184"/>
                      <a:pt x="227" y="174"/>
                    </a:cubicBezTo>
                    <a:cubicBezTo>
                      <a:pt x="227" y="174"/>
                      <a:pt x="227" y="174"/>
                      <a:pt x="227" y="174"/>
                    </a:cubicBezTo>
                    <a:cubicBezTo>
                      <a:pt x="227" y="54"/>
                      <a:pt x="227" y="54"/>
                      <a:pt x="227" y="54"/>
                    </a:cubicBezTo>
                    <a:cubicBezTo>
                      <a:pt x="226" y="54"/>
                      <a:pt x="226" y="54"/>
                      <a:pt x="226" y="54"/>
                    </a:cubicBezTo>
                    <a:cubicBezTo>
                      <a:pt x="222" y="31"/>
                      <a:pt x="203" y="12"/>
                      <a:pt x="17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65" name="Freeform 247"/>
              <p:cNvSpPr/>
              <p:nvPr/>
            </p:nvSpPr>
            <p:spPr bwMode="auto">
              <a:xfrm>
                <a:off x="4411547" y="2091169"/>
                <a:ext cx="96508" cy="107072"/>
              </a:xfrm>
              <a:custGeom>
                <a:avLst/>
                <a:gdLst>
                  <a:gd name="T0" fmla="*/ 19 w 143"/>
                  <a:gd name="T1" fmla="*/ 105 h 159"/>
                  <a:gd name="T2" fmla="*/ 73 w 143"/>
                  <a:gd name="T3" fmla="*/ 159 h 159"/>
                  <a:gd name="T4" fmla="*/ 124 w 143"/>
                  <a:gd name="T5" fmla="*/ 105 h 159"/>
                  <a:gd name="T6" fmla="*/ 140 w 143"/>
                  <a:gd name="T7" fmla="*/ 88 h 159"/>
                  <a:gd name="T8" fmla="*/ 132 w 143"/>
                  <a:gd name="T9" fmla="*/ 62 h 159"/>
                  <a:gd name="T10" fmla="*/ 72 w 143"/>
                  <a:gd name="T11" fmla="*/ 0 h 159"/>
                  <a:gd name="T12" fmla="*/ 11 w 143"/>
                  <a:gd name="T13" fmla="*/ 62 h 159"/>
                  <a:gd name="T14" fmla="*/ 3 w 143"/>
                  <a:gd name="T15" fmla="*/ 88 h 159"/>
                  <a:gd name="T16" fmla="*/ 19 w 143"/>
                  <a:gd name="T17" fmla="*/ 105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3" h="159">
                    <a:moveTo>
                      <a:pt x="19" y="105"/>
                    </a:moveTo>
                    <a:cubicBezTo>
                      <a:pt x="30" y="133"/>
                      <a:pt x="51" y="159"/>
                      <a:pt x="73" y="159"/>
                    </a:cubicBezTo>
                    <a:cubicBezTo>
                      <a:pt x="96" y="159"/>
                      <a:pt x="115" y="133"/>
                      <a:pt x="124" y="105"/>
                    </a:cubicBezTo>
                    <a:cubicBezTo>
                      <a:pt x="131" y="105"/>
                      <a:pt x="138" y="98"/>
                      <a:pt x="140" y="88"/>
                    </a:cubicBezTo>
                    <a:cubicBezTo>
                      <a:pt x="143" y="76"/>
                      <a:pt x="140" y="65"/>
                      <a:pt x="132" y="62"/>
                    </a:cubicBezTo>
                    <a:cubicBezTo>
                      <a:pt x="130" y="27"/>
                      <a:pt x="104" y="0"/>
                      <a:pt x="72" y="0"/>
                    </a:cubicBezTo>
                    <a:cubicBezTo>
                      <a:pt x="39" y="0"/>
                      <a:pt x="13" y="27"/>
                      <a:pt x="11" y="62"/>
                    </a:cubicBezTo>
                    <a:cubicBezTo>
                      <a:pt x="3" y="65"/>
                      <a:pt x="0" y="76"/>
                      <a:pt x="3" y="88"/>
                    </a:cubicBezTo>
                    <a:cubicBezTo>
                      <a:pt x="5" y="98"/>
                      <a:pt x="12" y="105"/>
                      <a:pt x="19" y="10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66" name="Freeform 248"/>
              <p:cNvSpPr/>
              <p:nvPr/>
            </p:nvSpPr>
            <p:spPr bwMode="auto">
              <a:xfrm>
                <a:off x="4942626" y="2097736"/>
                <a:ext cx="96222" cy="106787"/>
              </a:xfrm>
              <a:custGeom>
                <a:avLst/>
                <a:gdLst>
                  <a:gd name="T0" fmla="*/ 19 w 143"/>
                  <a:gd name="T1" fmla="*/ 105 h 158"/>
                  <a:gd name="T2" fmla="*/ 73 w 143"/>
                  <a:gd name="T3" fmla="*/ 158 h 158"/>
                  <a:gd name="T4" fmla="*/ 124 w 143"/>
                  <a:gd name="T5" fmla="*/ 105 h 158"/>
                  <a:gd name="T6" fmla="*/ 140 w 143"/>
                  <a:gd name="T7" fmla="*/ 87 h 158"/>
                  <a:gd name="T8" fmla="*/ 132 w 143"/>
                  <a:gd name="T9" fmla="*/ 61 h 158"/>
                  <a:gd name="T10" fmla="*/ 72 w 143"/>
                  <a:gd name="T11" fmla="*/ 0 h 158"/>
                  <a:gd name="T12" fmla="*/ 11 w 143"/>
                  <a:gd name="T13" fmla="*/ 61 h 158"/>
                  <a:gd name="T14" fmla="*/ 3 w 143"/>
                  <a:gd name="T15" fmla="*/ 87 h 158"/>
                  <a:gd name="T16" fmla="*/ 19 w 143"/>
                  <a:gd name="T17" fmla="*/ 105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3" h="158">
                    <a:moveTo>
                      <a:pt x="19" y="105"/>
                    </a:moveTo>
                    <a:cubicBezTo>
                      <a:pt x="30" y="133"/>
                      <a:pt x="51" y="158"/>
                      <a:pt x="73" y="158"/>
                    </a:cubicBezTo>
                    <a:cubicBezTo>
                      <a:pt x="96" y="158"/>
                      <a:pt x="115" y="133"/>
                      <a:pt x="124" y="105"/>
                    </a:cubicBezTo>
                    <a:cubicBezTo>
                      <a:pt x="131" y="104"/>
                      <a:pt x="138" y="97"/>
                      <a:pt x="140" y="87"/>
                    </a:cubicBezTo>
                    <a:cubicBezTo>
                      <a:pt x="143" y="76"/>
                      <a:pt x="140" y="64"/>
                      <a:pt x="132" y="61"/>
                    </a:cubicBezTo>
                    <a:cubicBezTo>
                      <a:pt x="130" y="27"/>
                      <a:pt x="104" y="0"/>
                      <a:pt x="72" y="0"/>
                    </a:cubicBezTo>
                    <a:cubicBezTo>
                      <a:pt x="39" y="0"/>
                      <a:pt x="13" y="27"/>
                      <a:pt x="11" y="61"/>
                    </a:cubicBezTo>
                    <a:cubicBezTo>
                      <a:pt x="3" y="64"/>
                      <a:pt x="0" y="76"/>
                      <a:pt x="3" y="87"/>
                    </a:cubicBezTo>
                    <a:cubicBezTo>
                      <a:pt x="5" y="98"/>
                      <a:pt x="12" y="105"/>
                      <a:pt x="19" y="10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67" name="Freeform 249"/>
              <p:cNvSpPr/>
              <p:nvPr/>
            </p:nvSpPr>
            <p:spPr bwMode="auto">
              <a:xfrm>
                <a:off x="4874385" y="2199669"/>
                <a:ext cx="193015" cy="129058"/>
              </a:xfrm>
              <a:custGeom>
                <a:avLst/>
                <a:gdLst>
                  <a:gd name="T0" fmla="*/ 285 w 286"/>
                  <a:gd name="T1" fmla="*/ 54 h 191"/>
                  <a:gd name="T2" fmla="*/ 234 w 286"/>
                  <a:gd name="T3" fmla="*/ 0 h 191"/>
                  <a:gd name="T4" fmla="*/ 186 w 286"/>
                  <a:gd name="T5" fmla="*/ 82 h 191"/>
                  <a:gd name="T6" fmla="*/ 180 w 286"/>
                  <a:gd name="T7" fmla="*/ 45 h 191"/>
                  <a:gd name="T8" fmla="*/ 186 w 286"/>
                  <a:gd name="T9" fmla="*/ 34 h 191"/>
                  <a:gd name="T10" fmla="*/ 172 w 286"/>
                  <a:gd name="T11" fmla="*/ 20 h 191"/>
                  <a:gd name="T12" fmla="*/ 158 w 286"/>
                  <a:gd name="T13" fmla="*/ 34 h 191"/>
                  <a:gd name="T14" fmla="*/ 165 w 286"/>
                  <a:gd name="T15" fmla="*/ 45 h 191"/>
                  <a:gd name="T16" fmla="*/ 159 w 286"/>
                  <a:gd name="T17" fmla="*/ 82 h 191"/>
                  <a:gd name="T18" fmla="*/ 111 w 286"/>
                  <a:gd name="T19" fmla="*/ 0 h 191"/>
                  <a:gd name="T20" fmla="*/ 60 w 286"/>
                  <a:gd name="T21" fmla="*/ 54 h 191"/>
                  <a:gd name="T22" fmla="*/ 59 w 286"/>
                  <a:gd name="T23" fmla="*/ 54 h 191"/>
                  <a:gd name="T24" fmla="*/ 59 w 286"/>
                  <a:gd name="T25" fmla="*/ 68 h 191"/>
                  <a:gd name="T26" fmla="*/ 2 w 286"/>
                  <a:gd name="T27" fmla="*/ 68 h 191"/>
                  <a:gd name="T28" fmla="*/ 2 w 286"/>
                  <a:gd name="T29" fmla="*/ 80 h 191"/>
                  <a:gd name="T30" fmla="*/ 0 w 286"/>
                  <a:gd name="T31" fmla="*/ 110 h 191"/>
                  <a:gd name="T32" fmla="*/ 59 w 286"/>
                  <a:gd name="T33" fmla="*/ 110 h 191"/>
                  <a:gd name="T34" fmla="*/ 59 w 286"/>
                  <a:gd name="T35" fmla="*/ 174 h 191"/>
                  <a:gd name="T36" fmla="*/ 59 w 286"/>
                  <a:gd name="T37" fmla="*/ 174 h 191"/>
                  <a:gd name="T38" fmla="*/ 173 w 286"/>
                  <a:gd name="T39" fmla="*/ 191 h 191"/>
                  <a:gd name="T40" fmla="*/ 286 w 286"/>
                  <a:gd name="T41" fmla="*/ 174 h 191"/>
                  <a:gd name="T42" fmla="*/ 286 w 286"/>
                  <a:gd name="T43" fmla="*/ 174 h 191"/>
                  <a:gd name="T44" fmla="*/ 286 w 286"/>
                  <a:gd name="T45" fmla="*/ 54 h 191"/>
                  <a:gd name="T46" fmla="*/ 285 w 286"/>
                  <a:gd name="T47" fmla="*/ 54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86" h="191">
                    <a:moveTo>
                      <a:pt x="285" y="54"/>
                    </a:moveTo>
                    <a:cubicBezTo>
                      <a:pt x="281" y="32"/>
                      <a:pt x="262" y="12"/>
                      <a:pt x="234" y="0"/>
                    </a:cubicBezTo>
                    <a:cubicBezTo>
                      <a:pt x="186" y="82"/>
                      <a:pt x="186" y="82"/>
                      <a:pt x="186" y="82"/>
                    </a:cubicBezTo>
                    <a:cubicBezTo>
                      <a:pt x="180" y="45"/>
                      <a:pt x="180" y="45"/>
                      <a:pt x="180" y="45"/>
                    </a:cubicBezTo>
                    <a:cubicBezTo>
                      <a:pt x="184" y="43"/>
                      <a:pt x="186" y="39"/>
                      <a:pt x="186" y="34"/>
                    </a:cubicBezTo>
                    <a:cubicBezTo>
                      <a:pt x="186" y="26"/>
                      <a:pt x="180" y="20"/>
                      <a:pt x="172" y="20"/>
                    </a:cubicBezTo>
                    <a:cubicBezTo>
                      <a:pt x="165" y="20"/>
                      <a:pt x="158" y="26"/>
                      <a:pt x="158" y="34"/>
                    </a:cubicBezTo>
                    <a:cubicBezTo>
                      <a:pt x="158" y="39"/>
                      <a:pt x="161" y="43"/>
                      <a:pt x="165" y="45"/>
                    </a:cubicBezTo>
                    <a:cubicBezTo>
                      <a:pt x="159" y="82"/>
                      <a:pt x="159" y="82"/>
                      <a:pt x="159" y="82"/>
                    </a:cubicBezTo>
                    <a:cubicBezTo>
                      <a:pt x="111" y="0"/>
                      <a:pt x="111" y="0"/>
                      <a:pt x="111" y="0"/>
                    </a:cubicBezTo>
                    <a:cubicBezTo>
                      <a:pt x="83" y="12"/>
                      <a:pt x="64" y="32"/>
                      <a:pt x="60" y="54"/>
                    </a:cubicBezTo>
                    <a:cubicBezTo>
                      <a:pt x="59" y="54"/>
                      <a:pt x="59" y="54"/>
                      <a:pt x="59" y="54"/>
                    </a:cubicBezTo>
                    <a:cubicBezTo>
                      <a:pt x="59" y="68"/>
                      <a:pt x="59" y="68"/>
                      <a:pt x="59" y="68"/>
                    </a:cubicBezTo>
                    <a:cubicBezTo>
                      <a:pt x="2" y="68"/>
                      <a:pt x="2" y="68"/>
                      <a:pt x="2" y="68"/>
                    </a:cubicBezTo>
                    <a:cubicBezTo>
                      <a:pt x="2" y="72"/>
                      <a:pt x="2" y="76"/>
                      <a:pt x="2" y="80"/>
                    </a:cubicBezTo>
                    <a:cubicBezTo>
                      <a:pt x="2" y="90"/>
                      <a:pt x="1" y="100"/>
                      <a:pt x="0" y="110"/>
                    </a:cubicBezTo>
                    <a:cubicBezTo>
                      <a:pt x="59" y="110"/>
                      <a:pt x="59" y="110"/>
                      <a:pt x="59" y="110"/>
                    </a:cubicBezTo>
                    <a:cubicBezTo>
                      <a:pt x="59" y="174"/>
                      <a:pt x="59" y="174"/>
                      <a:pt x="59" y="174"/>
                    </a:cubicBezTo>
                    <a:cubicBezTo>
                      <a:pt x="59" y="174"/>
                      <a:pt x="59" y="174"/>
                      <a:pt x="59" y="174"/>
                    </a:cubicBezTo>
                    <a:cubicBezTo>
                      <a:pt x="65" y="184"/>
                      <a:pt x="113" y="191"/>
                      <a:pt x="173" y="191"/>
                    </a:cubicBezTo>
                    <a:cubicBezTo>
                      <a:pt x="232" y="191"/>
                      <a:pt x="280" y="184"/>
                      <a:pt x="286" y="174"/>
                    </a:cubicBezTo>
                    <a:cubicBezTo>
                      <a:pt x="286" y="174"/>
                      <a:pt x="286" y="174"/>
                      <a:pt x="286" y="174"/>
                    </a:cubicBezTo>
                    <a:cubicBezTo>
                      <a:pt x="286" y="54"/>
                      <a:pt x="286" y="54"/>
                      <a:pt x="286" y="54"/>
                    </a:cubicBezTo>
                    <a:lnTo>
                      <a:pt x="285" y="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68" name="Freeform 250"/>
              <p:cNvSpPr>
                <a:spLocks noEditPoints="1"/>
              </p:cNvSpPr>
              <p:nvPr/>
            </p:nvSpPr>
            <p:spPr bwMode="auto">
              <a:xfrm>
                <a:off x="4593142" y="2114582"/>
                <a:ext cx="275818" cy="278102"/>
              </a:xfrm>
              <a:custGeom>
                <a:avLst/>
                <a:gdLst>
                  <a:gd name="T0" fmla="*/ 205 w 409"/>
                  <a:gd name="T1" fmla="*/ 0 h 412"/>
                  <a:gd name="T2" fmla="*/ 0 w 409"/>
                  <a:gd name="T3" fmla="*/ 206 h 412"/>
                  <a:gd name="T4" fmla="*/ 205 w 409"/>
                  <a:gd name="T5" fmla="*/ 412 h 412"/>
                  <a:gd name="T6" fmla="*/ 409 w 409"/>
                  <a:gd name="T7" fmla="*/ 206 h 412"/>
                  <a:gd name="T8" fmla="*/ 205 w 409"/>
                  <a:gd name="T9" fmla="*/ 0 h 412"/>
                  <a:gd name="T10" fmla="*/ 205 w 409"/>
                  <a:gd name="T11" fmla="*/ 363 h 412"/>
                  <a:gd name="T12" fmla="*/ 49 w 409"/>
                  <a:gd name="T13" fmla="*/ 206 h 412"/>
                  <a:gd name="T14" fmla="*/ 205 w 409"/>
                  <a:gd name="T15" fmla="*/ 49 h 412"/>
                  <a:gd name="T16" fmla="*/ 360 w 409"/>
                  <a:gd name="T17" fmla="*/ 206 h 412"/>
                  <a:gd name="T18" fmla="*/ 205 w 409"/>
                  <a:gd name="T19" fmla="*/ 363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09" h="412">
                    <a:moveTo>
                      <a:pt x="205" y="0"/>
                    </a:moveTo>
                    <a:cubicBezTo>
                      <a:pt x="92" y="0"/>
                      <a:pt x="0" y="92"/>
                      <a:pt x="0" y="206"/>
                    </a:cubicBezTo>
                    <a:cubicBezTo>
                      <a:pt x="0" y="320"/>
                      <a:pt x="92" y="412"/>
                      <a:pt x="205" y="412"/>
                    </a:cubicBezTo>
                    <a:cubicBezTo>
                      <a:pt x="318" y="412"/>
                      <a:pt x="409" y="320"/>
                      <a:pt x="409" y="206"/>
                    </a:cubicBezTo>
                    <a:cubicBezTo>
                      <a:pt x="409" y="92"/>
                      <a:pt x="318" y="0"/>
                      <a:pt x="205" y="0"/>
                    </a:cubicBezTo>
                    <a:close/>
                    <a:moveTo>
                      <a:pt x="205" y="363"/>
                    </a:moveTo>
                    <a:cubicBezTo>
                      <a:pt x="119" y="363"/>
                      <a:pt x="49" y="293"/>
                      <a:pt x="49" y="206"/>
                    </a:cubicBezTo>
                    <a:cubicBezTo>
                      <a:pt x="49" y="120"/>
                      <a:pt x="119" y="49"/>
                      <a:pt x="205" y="49"/>
                    </a:cubicBezTo>
                    <a:cubicBezTo>
                      <a:pt x="291" y="49"/>
                      <a:pt x="360" y="120"/>
                      <a:pt x="360" y="206"/>
                    </a:cubicBezTo>
                    <a:cubicBezTo>
                      <a:pt x="360" y="293"/>
                      <a:pt x="291" y="363"/>
                      <a:pt x="205" y="36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69" name="Freeform 251"/>
              <p:cNvSpPr/>
              <p:nvPr/>
            </p:nvSpPr>
            <p:spPr bwMode="auto">
              <a:xfrm>
                <a:off x="4383281" y="2193673"/>
                <a:ext cx="205008" cy="128772"/>
              </a:xfrm>
              <a:custGeom>
                <a:avLst/>
                <a:gdLst>
                  <a:gd name="T0" fmla="*/ 302 w 304"/>
                  <a:gd name="T1" fmla="*/ 77 h 191"/>
                  <a:gd name="T2" fmla="*/ 227 w 304"/>
                  <a:gd name="T3" fmla="*/ 77 h 191"/>
                  <a:gd name="T4" fmla="*/ 227 w 304"/>
                  <a:gd name="T5" fmla="*/ 54 h 191"/>
                  <a:gd name="T6" fmla="*/ 226 w 304"/>
                  <a:gd name="T7" fmla="*/ 54 h 191"/>
                  <a:gd name="T8" fmla="*/ 175 w 304"/>
                  <a:gd name="T9" fmla="*/ 0 h 191"/>
                  <a:gd name="T10" fmla="*/ 127 w 304"/>
                  <a:gd name="T11" fmla="*/ 82 h 191"/>
                  <a:gd name="T12" fmla="*/ 121 w 304"/>
                  <a:gd name="T13" fmla="*/ 45 h 191"/>
                  <a:gd name="T14" fmla="*/ 127 w 304"/>
                  <a:gd name="T15" fmla="*/ 33 h 191"/>
                  <a:gd name="T16" fmla="*/ 113 w 304"/>
                  <a:gd name="T17" fmla="*/ 19 h 191"/>
                  <a:gd name="T18" fmla="*/ 99 w 304"/>
                  <a:gd name="T19" fmla="*/ 33 h 191"/>
                  <a:gd name="T20" fmla="*/ 106 w 304"/>
                  <a:gd name="T21" fmla="*/ 45 h 191"/>
                  <a:gd name="T22" fmla="*/ 100 w 304"/>
                  <a:gd name="T23" fmla="*/ 81 h 191"/>
                  <a:gd name="T24" fmla="*/ 52 w 304"/>
                  <a:gd name="T25" fmla="*/ 0 h 191"/>
                  <a:gd name="T26" fmla="*/ 1 w 304"/>
                  <a:gd name="T27" fmla="*/ 54 h 191"/>
                  <a:gd name="T28" fmla="*/ 0 w 304"/>
                  <a:gd name="T29" fmla="*/ 54 h 191"/>
                  <a:gd name="T30" fmla="*/ 0 w 304"/>
                  <a:gd name="T31" fmla="*/ 173 h 191"/>
                  <a:gd name="T32" fmla="*/ 0 w 304"/>
                  <a:gd name="T33" fmla="*/ 173 h 191"/>
                  <a:gd name="T34" fmla="*/ 114 w 304"/>
                  <a:gd name="T35" fmla="*/ 191 h 191"/>
                  <a:gd name="T36" fmla="*/ 227 w 304"/>
                  <a:gd name="T37" fmla="*/ 173 h 191"/>
                  <a:gd name="T38" fmla="*/ 227 w 304"/>
                  <a:gd name="T39" fmla="*/ 173 h 191"/>
                  <a:gd name="T40" fmla="*/ 227 w 304"/>
                  <a:gd name="T41" fmla="*/ 119 h 191"/>
                  <a:gd name="T42" fmla="*/ 304 w 304"/>
                  <a:gd name="T43" fmla="*/ 119 h 191"/>
                  <a:gd name="T44" fmla="*/ 302 w 304"/>
                  <a:gd name="T45" fmla="*/ 89 h 191"/>
                  <a:gd name="T46" fmla="*/ 302 w 304"/>
                  <a:gd name="T47" fmla="*/ 77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04" h="191">
                    <a:moveTo>
                      <a:pt x="302" y="77"/>
                    </a:moveTo>
                    <a:cubicBezTo>
                      <a:pt x="227" y="77"/>
                      <a:pt x="227" y="77"/>
                      <a:pt x="227" y="77"/>
                    </a:cubicBezTo>
                    <a:cubicBezTo>
                      <a:pt x="227" y="54"/>
                      <a:pt x="227" y="54"/>
                      <a:pt x="227" y="54"/>
                    </a:cubicBezTo>
                    <a:cubicBezTo>
                      <a:pt x="226" y="54"/>
                      <a:pt x="226" y="54"/>
                      <a:pt x="226" y="54"/>
                    </a:cubicBezTo>
                    <a:cubicBezTo>
                      <a:pt x="222" y="31"/>
                      <a:pt x="203" y="12"/>
                      <a:pt x="175" y="0"/>
                    </a:cubicBezTo>
                    <a:cubicBezTo>
                      <a:pt x="127" y="82"/>
                      <a:pt x="127" y="82"/>
                      <a:pt x="127" y="82"/>
                    </a:cubicBezTo>
                    <a:cubicBezTo>
                      <a:pt x="121" y="45"/>
                      <a:pt x="121" y="45"/>
                      <a:pt x="121" y="45"/>
                    </a:cubicBezTo>
                    <a:cubicBezTo>
                      <a:pt x="125" y="42"/>
                      <a:pt x="127" y="38"/>
                      <a:pt x="127" y="33"/>
                    </a:cubicBezTo>
                    <a:cubicBezTo>
                      <a:pt x="127" y="25"/>
                      <a:pt x="121" y="19"/>
                      <a:pt x="113" y="19"/>
                    </a:cubicBezTo>
                    <a:cubicBezTo>
                      <a:pt x="106" y="19"/>
                      <a:pt x="99" y="25"/>
                      <a:pt x="99" y="33"/>
                    </a:cubicBezTo>
                    <a:cubicBezTo>
                      <a:pt x="99" y="38"/>
                      <a:pt x="102" y="42"/>
                      <a:pt x="106" y="45"/>
                    </a:cubicBezTo>
                    <a:cubicBezTo>
                      <a:pt x="100" y="81"/>
                      <a:pt x="100" y="81"/>
                      <a:pt x="100" y="81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24" y="12"/>
                      <a:pt x="5" y="31"/>
                      <a:pt x="1" y="5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173"/>
                      <a:pt x="0" y="173"/>
                      <a:pt x="0" y="173"/>
                    </a:cubicBezTo>
                    <a:cubicBezTo>
                      <a:pt x="0" y="173"/>
                      <a:pt x="0" y="173"/>
                      <a:pt x="0" y="173"/>
                    </a:cubicBezTo>
                    <a:cubicBezTo>
                      <a:pt x="6" y="183"/>
                      <a:pt x="54" y="191"/>
                      <a:pt x="114" y="191"/>
                    </a:cubicBezTo>
                    <a:cubicBezTo>
                      <a:pt x="173" y="191"/>
                      <a:pt x="221" y="183"/>
                      <a:pt x="227" y="173"/>
                    </a:cubicBezTo>
                    <a:cubicBezTo>
                      <a:pt x="227" y="173"/>
                      <a:pt x="227" y="173"/>
                      <a:pt x="227" y="173"/>
                    </a:cubicBezTo>
                    <a:cubicBezTo>
                      <a:pt x="227" y="119"/>
                      <a:pt x="227" y="119"/>
                      <a:pt x="227" y="119"/>
                    </a:cubicBezTo>
                    <a:cubicBezTo>
                      <a:pt x="304" y="119"/>
                      <a:pt x="304" y="119"/>
                      <a:pt x="304" y="119"/>
                    </a:cubicBezTo>
                    <a:cubicBezTo>
                      <a:pt x="302" y="109"/>
                      <a:pt x="302" y="99"/>
                      <a:pt x="302" y="89"/>
                    </a:cubicBezTo>
                    <a:cubicBezTo>
                      <a:pt x="302" y="85"/>
                      <a:pt x="302" y="81"/>
                      <a:pt x="302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70" name="Freeform 252"/>
              <p:cNvSpPr/>
              <p:nvPr/>
            </p:nvSpPr>
            <p:spPr bwMode="auto">
              <a:xfrm>
                <a:off x="4681941" y="2398681"/>
                <a:ext cx="96508" cy="120778"/>
              </a:xfrm>
              <a:custGeom>
                <a:avLst/>
                <a:gdLst>
                  <a:gd name="T0" fmla="*/ 73 w 143"/>
                  <a:gd name="T1" fmla="*/ 1 h 179"/>
                  <a:gd name="T2" fmla="*/ 52 w 143"/>
                  <a:gd name="T3" fmla="*/ 0 h 179"/>
                  <a:gd name="T4" fmla="*/ 52 w 143"/>
                  <a:gd name="T5" fmla="*/ 24 h 179"/>
                  <a:gd name="T6" fmla="*/ 11 w 143"/>
                  <a:gd name="T7" fmla="*/ 82 h 179"/>
                  <a:gd name="T8" fmla="*/ 3 w 143"/>
                  <a:gd name="T9" fmla="*/ 108 h 179"/>
                  <a:gd name="T10" fmla="*/ 19 w 143"/>
                  <a:gd name="T11" fmla="*/ 126 h 179"/>
                  <a:gd name="T12" fmla="*/ 73 w 143"/>
                  <a:gd name="T13" fmla="*/ 179 h 179"/>
                  <a:gd name="T14" fmla="*/ 125 w 143"/>
                  <a:gd name="T15" fmla="*/ 126 h 179"/>
                  <a:gd name="T16" fmla="*/ 140 w 143"/>
                  <a:gd name="T17" fmla="*/ 108 h 179"/>
                  <a:gd name="T18" fmla="*/ 132 w 143"/>
                  <a:gd name="T19" fmla="*/ 82 h 179"/>
                  <a:gd name="T20" fmla="*/ 95 w 143"/>
                  <a:gd name="T21" fmla="*/ 26 h 179"/>
                  <a:gd name="T22" fmla="*/ 95 w 143"/>
                  <a:gd name="T23" fmla="*/ 0 h 179"/>
                  <a:gd name="T24" fmla="*/ 73 w 143"/>
                  <a:gd name="T25" fmla="*/ 1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3" h="179">
                    <a:moveTo>
                      <a:pt x="73" y="1"/>
                    </a:moveTo>
                    <a:cubicBezTo>
                      <a:pt x="66" y="1"/>
                      <a:pt x="59" y="1"/>
                      <a:pt x="52" y="0"/>
                    </a:cubicBezTo>
                    <a:cubicBezTo>
                      <a:pt x="52" y="24"/>
                      <a:pt x="52" y="24"/>
                      <a:pt x="52" y="24"/>
                    </a:cubicBezTo>
                    <a:cubicBezTo>
                      <a:pt x="30" y="33"/>
                      <a:pt x="13" y="55"/>
                      <a:pt x="11" y="82"/>
                    </a:cubicBezTo>
                    <a:cubicBezTo>
                      <a:pt x="3" y="85"/>
                      <a:pt x="0" y="97"/>
                      <a:pt x="3" y="108"/>
                    </a:cubicBezTo>
                    <a:cubicBezTo>
                      <a:pt x="5" y="119"/>
                      <a:pt x="12" y="126"/>
                      <a:pt x="19" y="126"/>
                    </a:cubicBezTo>
                    <a:cubicBezTo>
                      <a:pt x="30" y="153"/>
                      <a:pt x="51" y="179"/>
                      <a:pt x="73" y="179"/>
                    </a:cubicBezTo>
                    <a:cubicBezTo>
                      <a:pt x="96" y="179"/>
                      <a:pt x="115" y="153"/>
                      <a:pt x="125" y="126"/>
                    </a:cubicBezTo>
                    <a:cubicBezTo>
                      <a:pt x="131" y="125"/>
                      <a:pt x="138" y="118"/>
                      <a:pt x="140" y="108"/>
                    </a:cubicBezTo>
                    <a:cubicBezTo>
                      <a:pt x="143" y="97"/>
                      <a:pt x="140" y="85"/>
                      <a:pt x="132" y="82"/>
                    </a:cubicBezTo>
                    <a:cubicBezTo>
                      <a:pt x="130" y="57"/>
                      <a:pt x="116" y="35"/>
                      <a:pt x="95" y="26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88" y="1"/>
                      <a:pt x="80" y="1"/>
                      <a:pt x="73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71" name="Freeform 253"/>
              <p:cNvSpPr/>
              <p:nvPr/>
            </p:nvSpPr>
            <p:spPr bwMode="auto">
              <a:xfrm>
                <a:off x="4690792" y="2178255"/>
                <a:ext cx="83088" cy="151614"/>
              </a:xfrm>
              <a:custGeom>
                <a:avLst/>
                <a:gdLst>
                  <a:gd name="T0" fmla="*/ 78 w 123"/>
                  <a:gd name="T1" fmla="*/ 94 h 225"/>
                  <a:gd name="T2" fmla="*/ 44 w 123"/>
                  <a:gd name="T3" fmla="*/ 71 h 225"/>
                  <a:gd name="T4" fmla="*/ 68 w 123"/>
                  <a:gd name="T5" fmla="*/ 55 h 225"/>
                  <a:gd name="T6" fmla="*/ 108 w 123"/>
                  <a:gd name="T7" fmla="*/ 65 h 225"/>
                  <a:gd name="T8" fmla="*/ 116 w 123"/>
                  <a:gd name="T9" fmla="*/ 33 h 225"/>
                  <a:gd name="T10" fmla="*/ 76 w 123"/>
                  <a:gd name="T11" fmla="*/ 24 h 225"/>
                  <a:gd name="T12" fmla="*/ 76 w 123"/>
                  <a:gd name="T13" fmla="*/ 0 h 225"/>
                  <a:gd name="T14" fmla="*/ 49 w 123"/>
                  <a:gd name="T15" fmla="*/ 0 h 225"/>
                  <a:gd name="T16" fmla="*/ 49 w 123"/>
                  <a:gd name="T17" fmla="*/ 26 h 225"/>
                  <a:gd name="T18" fmla="*/ 2 w 123"/>
                  <a:gd name="T19" fmla="*/ 75 h 225"/>
                  <a:gd name="T20" fmla="*/ 52 w 123"/>
                  <a:gd name="T21" fmla="*/ 126 h 225"/>
                  <a:gd name="T22" fmla="*/ 81 w 123"/>
                  <a:gd name="T23" fmla="*/ 150 h 225"/>
                  <a:gd name="T24" fmla="*/ 54 w 123"/>
                  <a:gd name="T25" fmla="*/ 167 h 225"/>
                  <a:gd name="T26" fmla="*/ 9 w 123"/>
                  <a:gd name="T27" fmla="*/ 155 h 225"/>
                  <a:gd name="T28" fmla="*/ 0 w 123"/>
                  <a:gd name="T29" fmla="*/ 187 h 225"/>
                  <a:gd name="T30" fmla="*/ 47 w 123"/>
                  <a:gd name="T31" fmla="*/ 199 h 225"/>
                  <a:gd name="T32" fmla="*/ 47 w 123"/>
                  <a:gd name="T33" fmla="*/ 225 h 225"/>
                  <a:gd name="T34" fmla="*/ 74 w 123"/>
                  <a:gd name="T35" fmla="*/ 225 h 225"/>
                  <a:gd name="T36" fmla="*/ 74 w 123"/>
                  <a:gd name="T37" fmla="*/ 196 h 225"/>
                  <a:gd name="T38" fmla="*/ 123 w 123"/>
                  <a:gd name="T39" fmla="*/ 146 h 225"/>
                  <a:gd name="T40" fmla="*/ 78 w 123"/>
                  <a:gd name="T41" fmla="*/ 94 h 2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23" h="225">
                    <a:moveTo>
                      <a:pt x="78" y="94"/>
                    </a:moveTo>
                    <a:cubicBezTo>
                      <a:pt x="54" y="85"/>
                      <a:pt x="44" y="79"/>
                      <a:pt x="44" y="71"/>
                    </a:cubicBezTo>
                    <a:cubicBezTo>
                      <a:pt x="44" y="63"/>
                      <a:pt x="50" y="55"/>
                      <a:pt x="68" y="55"/>
                    </a:cubicBezTo>
                    <a:cubicBezTo>
                      <a:pt x="88" y="55"/>
                      <a:pt x="101" y="61"/>
                      <a:pt x="108" y="65"/>
                    </a:cubicBezTo>
                    <a:cubicBezTo>
                      <a:pt x="116" y="33"/>
                      <a:pt x="116" y="33"/>
                      <a:pt x="116" y="33"/>
                    </a:cubicBezTo>
                    <a:cubicBezTo>
                      <a:pt x="106" y="29"/>
                      <a:pt x="94" y="25"/>
                      <a:pt x="76" y="24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49" y="26"/>
                      <a:pt x="49" y="26"/>
                      <a:pt x="49" y="26"/>
                    </a:cubicBezTo>
                    <a:cubicBezTo>
                      <a:pt x="19" y="32"/>
                      <a:pt x="2" y="51"/>
                      <a:pt x="2" y="75"/>
                    </a:cubicBezTo>
                    <a:cubicBezTo>
                      <a:pt x="2" y="102"/>
                      <a:pt x="22" y="116"/>
                      <a:pt x="52" y="126"/>
                    </a:cubicBezTo>
                    <a:cubicBezTo>
                      <a:pt x="72" y="133"/>
                      <a:pt x="81" y="139"/>
                      <a:pt x="81" y="150"/>
                    </a:cubicBezTo>
                    <a:cubicBezTo>
                      <a:pt x="81" y="160"/>
                      <a:pt x="70" y="167"/>
                      <a:pt x="54" y="167"/>
                    </a:cubicBezTo>
                    <a:cubicBezTo>
                      <a:pt x="36" y="167"/>
                      <a:pt x="20" y="161"/>
                      <a:pt x="9" y="155"/>
                    </a:cubicBezTo>
                    <a:cubicBezTo>
                      <a:pt x="0" y="187"/>
                      <a:pt x="0" y="187"/>
                      <a:pt x="0" y="187"/>
                    </a:cubicBezTo>
                    <a:cubicBezTo>
                      <a:pt x="11" y="193"/>
                      <a:pt x="29" y="198"/>
                      <a:pt x="47" y="199"/>
                    </a:cubicBezTo>
                    <a:cubicBezTo>
                      <a:pt x="47" y="225"/>
                      <a:pt x="47" y="225"/>
                      <a:pt x="47" y="225"/>
                    </a:cubicBezTo>
                    <a:cubicBezTo>
                      <a:pt x="74" y="225"/>
                      <a:pt x="74" y="225"/>
                      <a:pt x="74" y="225"/>
                    </a:cubicBezTo>
                    <a:cubicBezTo>
                      <a:pt x="74" y="196"/>
                      <a:pt x="74" y="196"/>
                      <a:pt x="74" y="196"/>
                    </a:cubicBezTo>
                    <a:cubicBezTo>
                      <a:pt x="106" y="191"/>
                      <a:pt x="123" y="170"/>
                      <a:pt x="123" y="146"/>
                    </a:cubicBezTo>
                    <a:cubicBezTo>
                      <a:pt x="123" y="121"/>
                      <a:pt x="110" y="106"/>
                      <a:pt x="78" y="9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</p:grpSp>
      <p:grpSp>
        <p:nvGrpSpPr>
          <p:cNvPr id="204" name="组合 203"/>
          <p:cNvGrpSpPr/>
          <p:nvPr/>
        </p:nvGrpSpPr>
        <p:grpSpPr>
          <a:xfrm>
            <a:off x="857814" y="2073603"/>
            <a:ext cx="691787" cy="665342"/>
            <a:chOff x="7755806" y="4115145"/>
            <a:chExt cx="910025" cy="910025"/>
          </a:xfrm>
        </p:grpSpPr>
        <p:grpSp>
          <p:nvGrpSpPr>
            <p:cNvPr id="49" name="组合 48"/>
            <p:cNvGrpSpPr/>
            <p:nvPr/>
          </p:nvGrpSpPr>
          <p:grpSpPr>
            <a:xfrm>
              <a:off x="7755806" y="4115145"/>
              <a:ext cx="910025" cy="910025"/>
              <a:chOff x="2646157" y="1103874"/>
              <a:chExt cx="910025" cy="910025"/>
            </a:xfrm>
            <a:solidFill>
              <a:schemeClr val="accent3"/>
            </a:solidFill>
          </p:grpSpPr>
          <p:grpSp>
            <p:nvGrpSpPr>
              <p:cNvPr id="50" name="组合 49"/>
              <p:cNvGrpSpPr/>
              <p:nvPr/>
            </p:nvGrpSpPr>
            <p:grpSpPr>
              <a:xfrm>
                <a:off x="2646157" y="1103874"/>
                <a:ext cx="910025" cy="910025"/>
                <a:chOff x="1236675" y="2423160"/>
                <a:chExt cx="1950720" cy="1950720"/>
              </a:xfrm>
              <a:grpFill/>
            </p:grpSpPr>
            <p:sp>
              <p:nvSpPr>
                <p:cNvPr id="52" name="椭圆 51"/>
                <p:cNvSpPr/>
                <p:nvPr/>
              </p:nvSpPr>
              <p:spPr>
                <a:xfrm>
                  <a:off x="1236675" y="2423160"/>
                  <a:ext cx="1950720" cy="1950720"/>
                </a:xfrm>
                <a:prstGeom prst="ellipse">
                  <a:avLst/>
                </a:prstGeom>
                <a:grpFill/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zh-CN" altLang="en-US" sz="2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53" name="椭圆 52"/>
                <p:cNvSpPr/>
                <p:nvPr/>
              </p:nvSpPr>
              <p:spPr>
                <a:xfrm>
                  <a:off x="1426863" y="2613348"/>
                  <a:ext cx="1570349" cy="1570349"/>
                </a:xfrm>
                <a:prstGeom prst="ellipse">
                  <a:avLst/>
                </a:prstGeom>
                <a:grpFill/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zh-CN" altLang="en-US" sz="2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endParaRPr>
                </a:p>
              </p:txBody>
            </p:sp>
          </p:grpSp>
          <p:sp>
            <p:nvSpPr>
              <p:cNvPr id="51" name="椭圆 50"/>
              <p:cNvSpPr/>
              <p:nvPr/>
            </p:nvSpPr>
            <p:spPr>
              <a:xfrm>
                <a:off x="2792045" y="1249762"/>
                <a:ext cx="618249" cy="618249"/>
              </a:xfrm>
              <a:prstGeom prst="ellipse">
                <a:avLst/>
              </a:prstGeom>
              <a:grpFill/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 sz="2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94" name="组合 93"/>
            <p:cNvGrpSpPr/>
            <p:nvPr/>
          </p:nvGrpSpPr>
          <p:grpSpPr>
            <a:xfrm>
              <a:off x="8007232" y="4467689"/>
              <a:ext cx="437098" cy="239500"/>
              <a:chOff x="3085851" y="4418205"/>
              <a:chExt cx="774347" cy="424290"/>
            </a:xfrm>
            <a:solidFill>
              <a:schemeClr val="bg1"/>
            </a:solidFill>
          </p:grpSpPr>
          <p:sp>
            <p:nvSpPr>
              <p:cNvPr id="95" name="Freeform 439"/>
              <p:cNvSpPr/>
              <p:nvPr/>
            </p:nvSpPr>
            <p:spPr bwMode="auto">
              <a:xfrm>
                <a:off x="3676890" y="4518139"/>
                <a:ext cx="183308" cy="97650"/>
              </a:xfrm>
              <a:custGeom>
                <a:avLst/>
                <a:gdLst>
                  <a:gd name="T0" fmla="*/ 272 w 272"/>
                  <a:gd name="T1" fmla="*/ 71 h 145"/>
                  <a:gd name="T2" fmla="*/ 179 w 272"/>
                  <a:gd name="T3" fmla="*/ 0 h 145"/>
                  <a:gd name="T4" fmla="*/ 179 w 272"/>
                  <a:gd name="T5" fmla="*/ 51 h 145"/>
                  <a:gd name="T6" fmla="*/ 0 w 272"/>
                  <a:gd name="T7" fmla="*/ 51 h 145"/>
                  <a:gd name="T8" fmla="*/ 12 w 272"/>
                  <a:gd name="T9" fmla="*/ 94 h 145"/>
                  <a:gd name="T10" fmla="*/ 179 w 272"/>
                  <a:gd name="T11" fmla="*/ 94 h 145"/>
                  <a:gd name="T12" fmla="*/ 179 w 272"/>
                  <a:gd name="T13" fmla="*/ 145 h 145"/>
                  <a:gd name="T14" fmla="*/ 272 w 272"/>
                  <a:gd name="T15" fmla="*/ 71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2" h="145">
                    <a:moveTo>
                      <a:pt x="272" y="71"/>
                    </a:moveTo>
                    <a:cubicBezTo>
                      <a:pt x="179" y="0"/>
                      <a:pt x="179" y="0"/>
                      <a:pt x="179" y="0"/>
                    </a:cubicBezTo>
                    <a:cubicBezTo>
                      <a:pt x="179" y="51"/>
                      <a:pt x="179" y="51"/>
                      <a:pt x="179" y="51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5" y="65"/>
                      <a:pt x="9" y="79"/>
                      <a:pt x="12" y="94"/>
                    </a:cubicBezTo>
                    <a:cubicBezTo>
                      <a:pt x="179" y="94"/>
                      <a:pt x="179" y="94"/>
                      <a:pt x="179" y="94"/>
                    </a:cubicBezTo>
                    <a:cubicBezTo>
                      <a:pt x="179" y="145"/>
                      <a:pt x="179" y="145"/>
                      <a:pt x="179" y="145"/>
                    </a:cubicBezTo>
                    <a:lnTo>
                      <a:pt x="272" y="7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96" name="Freeform 440"/>
              <p:cNvSpPr>
                <a:spLocks noEditPoints="1"/>
              </p:cNvSpPr>
              <p:nvPr/>
            </p:nvSpPr>
            <p:spPr bwMode="auto">
              <a:xfrm>
                <a:off x="3286005" y="4423630"/>
                <a:ext cx="393455" cy="396024"/>
              </a:xfrm>
              <a:custGeom>
                <a:avLst/>
                <a:gdLst>
                  <a:gd name="T0" fmla="*/ 291 w 583"/>
                  <a:gd name="T1" fmla="*/ 0 h 587"/>
                  <a:gd name="T2" fmla="*/ 0 w 583"/>
                  <a:gd name="T3" fmla="*/ 294 h 587"/>
                  <a:gd name="T4" fmla="*/ 291 w 583"/>
                  <a:gd name="T5" fmla="*/ 587 h 587"/>
                  <a:gd name="T6" fmla="*/ 583 w 583"/>
                  <a:gd name="T7" fmla="*/ 294 h 587"/>
                  <a:gd name="T8" fmla="*/ 291 w 583"/>
                  <a:gd name="T9" fmla="*/ 0 h 587"/>
                  <a:gd name="T10" fmla="*/ 291 w 583"/>
                  <a:gd name="T11" fmla="*/ 517 h 587"/>
                  <a:gd name="T12" fmla="*/ 70 w 583"/>
                  <a:gd name="T13" fmla="*/ 294 h 587"/>
                  <a:gd name="T14" fmla="*/ 291 w 583"/>
                  <a:gd name="T15" fmla="*/ 70 h 587"/>
                  <a:gd name="T16" fmla="*/ 513 w 583"/>
                  <a:gd name="T17" fmla="*/ 294 h 587"/>
                  <a:gd name="T18" fmla="*/ 291 w 583"/>
                  <a:gd name="T19" fmla="*/ 517 h 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3" h="587">
                    <a:moveTo>
                      <a:pt x="291" y="0"/>
                    </a:moveTo>
                    <a:cubicBezTo>
                      <a:pt x="130" y="0"/>
                      <a:pt x="0" y="132"/>
                      <a:pt x="0" y="294"/>
                    </a:cubicBezTo>
                    <a:cubicBezTo>
                      <a:pt x="0" y="456"/>
                      <a:pt x="130" y="587"/>
                      <a:pt x="291" y="587"/>
                    </a:cubicBezTo>
                    <a:cubicBezTo>
                      <a:pt x="452" y="587"/>
                      <a:pt x="583" y="456"/>
                      <a:pt x="583" y="294"/>
                    </a:cubicBezTo>
                    <a:cubicBezTo>
                      <a:pt x="583" y="132"/>
                      <a:pt x="452" y="0"/>
                      <a:pt x="291" y="0"/>
                    </a:cubicBezTo>
                    <a:close/>
                    <a:moveTo>
                      <a:pt x="291" y="517"/>
                    </a:moveTo>
                    <a:cubicBezTo>
                      <a:pt x="169" y="517"/>
                      <a:pt x="70" y="417"/>
                      <a:pt x="70" y="294"/>
                    </a:cubicBezTo>
                    <a:cubicBezTo>
                      <a:pt x="70" y="170"/>
                      <a:pt x="169" y="70"/>
                      <a:pt x="291" y="70"/>
                    </a:cubicBezTo>
                    <a:cubicBezTo>
                      <a:pt x="413" y="70"/>
                      <a:pt x="513" y="170"/>
                      <a:pt x="513" y="294"/>
                    </a:cubicBezTo>
                    <a:cubicBezTo>
                      <a:pt x="513" y="417"/>
                      <a:pt x="413" y="517"/>
                      <a:pt x="291" y="5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97" name="Freeform 441"/>
              <p:cNvSpPr/>
              <p:nvPr/>
            </p:nvSpPr>
            <p:spPr bwMode="auto">
              <a:xfrm>
                <a:off x="3367094" y="4553829"/>
                <a:ext cx="147046" cy="100505"/>
              </a:xfrm>
              <a:custGeom>
                <a:avLst/>
                <a:gdLst>
                  <a:gd name="T0" fmla="*/ 185 w 218"/>
                  <a:gd name="T1" fmla="*/ 54 h 149"/>
                  <a:gd name="T2" fmla="*/ 185 w 218"/>
                  <a:gd name="T3" fmla="*/ 14 h 149"/>
                  <a:gd name="T4" fmla="*/ 171 w 218"/>
                  <a:gd name="T5" fmla="*/ 0 h 149"/>
                  <a:gd name="T6" fmla="*/ 157 w 218"/>
                  <a:gd name="T7" fmla="*/ 14 h 149"/>
                  <a:gd name="T8" fmla="*/ 157 w 218"/>
                  <a:gd name="T9" fmla="*/ 54 h 149"/>
                  <a:gd name="T10" fmla="*/ 126 w 218"/>
                  <a:gd name="T11" fmla="*/ 91 h 149"/>
                  <a:gd name="T12" fmla="*/ 10 w 218"/>
                  <a:gd name="T13" fmla="*/ 102 h 149"/>
                  <a:gd name="T14" fmla="*/ 1 w 218"/>
                  <a:gd name="T15" fmla="*/ 114 h 149"/>
                  <a:gd name="T16" fmla="*/ 12 w 218"/>
                  <a:gd name="T17" fmla="*/ 123 h 149"/>
                  <a:gd name="T18" fmla="*/ 126 w 218"/>
                  <a:gd name="T19" fmla="*/ 112 h 149"/>
                  <a:gd name="T20" fmla="*/ 171 w 218"/>
                  <a:gd name="T21" fmla="*/ 149 h 149"/>
                  <a:gd name="T22" fmla="*/ 218 w 218"/>
                  <a:gd name="T23" fmla="*/ 101 h 149"/>
                  <a:gd name="T24" fmla="*/ 185 w 218"/>
                  <a:gd name="T25" fmla="*/ 54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8" h="149">
                    <a:moveTo>
                      <a:pt x="185" y="54"/>
                    </a:moveTo>
                    <a:cubicBezTo>
                      <a:pt x="185" y="14"/>
                      <a:pt x="185" y="14"/>
                      <a:pt x="185" y="14"/>
                    </a:cubicBezTo>
                    <a:cubicBezTo>
                      <a:pt x="185" y="6"/>
                      <a:pt x="179" y="0"/>
                      <a:pt x="171" y="0"/>
                    </a:cubicBezTo>
                    <a:cubicBezTo>
                      <a:pt x="163" y="0"/>
                      <a:pt x="157" y="6"/>
                      <a:pt x="157" y="14"/>
                    </a:cubicBezTo>
                    <a:cubicBezTo>
                      <a:pt x="157" y="54"/>
                      <a:pt x="157" y="54"/>
                      <a:pt x="157" y="54"/>
                    </a:cubicBezTo>
                    <a:cubicBezTo>
                      <a:pt x="141" y="60"/>
                      <a:pt x="129" y="74"/>
                      <a:pt x="126" y="91"/>
                    </a:cubicBezTo>
                    <a:cubicBezTo>
                      <a:pt x="10" y="102"/>
                      <a:pt x="10" y="102"/>
                      <a:pt x="10" y="102"/>
                    </a:cubicBezTo>
                    <a:cubicBezTo>
                      <a:pt x="5" y="103"/>
                      <a:pt x="0" y="108"/>
                      <a:pt x="1" y="114"/>
                    </a:cubicBezTo>
                    <a:cubicBezTo>
                      <a:pt x="1" y="120"/>
                      <a:pt x="7" y="124"/>
                      <a:pt x="12" y="123"/>
                    </a:cubicBezTo>
                    <a:cubicBezTo>
                      <a:pt x="126" y="112"/>
                      <a:pt x="126" y="112"/>
                      <a:pt x="126" y="112"/>
                    </a:cubicBezTo>
                    <a:cubicBezTo>
                      <a:pt x="131" y="133"/>
                      <a:pt x="149" y="149"/>
                      <a:pt x="171" y="149"/>
                    </a:cubicBezTo>
                    <a:cubicBezTo>
                      <a:pt x="197" y="149"/>
                      <a:pt x="218" y="127"/>
                      <a:pt x="218" y="101"/>
                    </a:cubicBezTo>
                    <a:cubicBezTo>
                      <a:pt x="218" y="79"/>
                      <a:pt x="204" y="61"/>
                      <a:pt x="185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98" name="Freeform 442"/>
              <p:cNvSpPr/>
              <p:nvPr/>
            </p:nvSpPr>
            <p:spPr bwMode="auto">
              <a:xfrm>
                <a:off x="3458748" y="4489015"/>
                <a:ext cx="13705" cy="39117"/>
              </a:xfrm>
              <a:custGeom>
                <a:avLst/>
                <a:gdLst>
                  <a:gd name="T0" fmla="*/ 29 w 48"/>
                  <a:gd name="T1" fmla="*/ 17 h 137"/>
                  <a:gd name="T2" fmla="*/ 29 w 48"/>
                  <a:gd name="T3" fmla="*/ 17 h 137"/>
                  <a:gd name="T4" fmla="*/ 29 w 48"/>
                  <a:gd name="T5" fmla="*/ 137 h 137"/>
                  <a:gd name="T6" fmla="*/ 48 w 48"/>
                  <a:gd name="T7" fmla="*/ 137 h 137"/>
                  <a:gd name="T8" fmla="*/ 48 w 48"/>
                  <a:gd name="T9" fmla="*/ 0 h 137"/>
                  <a:gd name="T10" fmla="*/ 31 w 48"/>
                  <a:gd name="T11" fmla="*/ 0 h 137"/>
                  <a:gd name="T12" fmla="*/ 0 w 48"/>
                  <a:gd name="T13" fmla="*/ 17 h 137"/>
                  <a:gd name="T14" fmla="*/ 5 w 48"/>
                  <a:gd name="T15" fmla="*/ 31 h 137"/>
                  <a:gd name="T16" fmla="*/ 29 w 48"/>
                  <a:gd name="T17" fmla="*/ 1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37">
                    <a:moveTo>
                      <a:pt x="29" y="17"/>
                    </a:moveTo>
                    <a:lnTo>
                      <a:pt x="29" y="17"/>
                    </a:lnTo>
                    <a:lnTo>
                      <a:pt x="29" y="137"/>
                    </a:lnTo>
                    <a:lnTo>
                      <a:pt x="48" y="137"/>
                    </a:lnTo>
                    <a:lnTo>
                      <a:pt x="48" y="0"/>
                    </a:lnTo>
                    <a:lnTo>
                      <a:pt x="31" y="0"/>
                    </a:lnTo>
                    <a:lnTo>
                      <a:pt x="0" y="17"/>
                    </a:lnTo>
                    <a:lnTo>
                      <a:pt x="5" y="31"/>
                    </a:lnTo>
                    <a:lnTo>
                      <a:pt x="29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99" name="Freeform 443"/>
              <p:cNvSpPr/>
              <p:nvPr/>
            </p:nvSpPr>
            <p:spPr bwMode="auto">
              <a:xfrm>
                <a:off x="3476450" y="4488444"/>
                <a:ext cx="24841" cy="39688"/>
              </a:xfrm>
              <a:custGeom>
                <a:avLst/>
                <a:gdLst>
                  <a:gd name="T0" fmla="*/ 37 w 37"/>
                  <a:gd name="T1" fmla="*/ 52 h 59"/>
                  <a:gd name="T2" fmla="*/ 11 w 37"/>
                  <a:gd name="T3" fmla="*/ 52 h 59"/>
                  <a:gd name="T4" fmla="*/ 11 w 37"/>
                  <a:gd name="T5" fmla="*/ 52 h 59"/>
                  <a:gd name="T6" fmla="*/ 16 w 37"/>
                  <a:gd name="T7" fmla="*/ 48 h 59"/>
                  <a:gd name="T8" fmla="*/ 36 w 37"/>
                  <a:gd name="T9" fmla="*/ 17 h 59"/>
                  <a:gd name="T10" fmla="*/ 18 w 37"/>
                  <a:gd name="T11" fmla="*/ 0 h 59"/>
                  <a:gd name="T12" fmla="*/ 2 w 37"/>
                  <a:gd name="T13" fmla="*/ 6 h 59"/>
                  <a:gd name="T14" fmla="*/ 4 w 37"/>
                  <a:gd name="T15" fmla="*/ 11 h 59"/>
                  <a:gd name="T16" fmla="*/ 17 w 37"/>
                  <a:gd name="T17" fmla="*/ 7 h 59"/>
                  <a:gd name="T18" fmla="*/ 28 w 37"/>
                  <a:gd name="T19" fmla="*/ 18 h 59"/>
                  <a:gd name="T20" fmla="*/ 7 w 37"/>
                  <a:gd name="T21" fmla="*/ 48 h 59"/>
                  <a:gd name="T22" fmla="*/ 0 w 37"/>
                  <a:gd name="T23" fmla="*/ 54 h 59"/>
                  <a:gd name="T24" fmla="*/ 0 w 37"/>
                  <a:gd name="T25" fmla="*/ 59 h 59"/>
                  <a:gd name="T26" fmla="*/ 37 w 37"/>
                  <a:gd name="T27" fmla="*/ 59 h 59"/>
                  <a:gd name="T28" fmla="*/ 37 w 37"/>
                  <a:gd name="T29" fmla="*/ 52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7" h="59">
                    <a:moveTo>
                      <a:pt x="37" y="52"/>
                    </a:move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28" y="36"/>
                      <a:pt x="36" y="27"/>
                      <a:pt x="36" y="17"/>
                    </a:cubicBezTo>
                    <a:cubicBezTo>
                      <a:pt x="36" y="9"/>
                      <a:pt x="31" y="0"/>
                      <a:pt x="18" y="0"/>
                    </a:cubicBezTo>
                    <a:cubicBezTo>
                      <a:pt x="12" y="0"/>
                      <a:pt x="6" y="3"/>
                      <a:pt x="2" y="6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7" y="9"/>
                      <a:pt x="11" y="7"/>
                      <a:pt x="17" y="7"/>
                    </a:cubicBezTo>
                    <a:cubicBezTo>
                      <a:pt x="25" y="7"/>
                      <a:pt x="28" y="12"/>
                      <a:pt x="28" y="18"/>
                    </a:cubicBezTo>
                    <a:cubicBezTo>
                      <a:pt x="28" y="26"/>
                      <a:pt x="21" y="34"/>
                      <a:pt x="7" y="48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37" y="59"/>
                      <a:pt x="37" y="59"/>
                      <a:pt x="37" y="59"/>
                    </a:cubicBezTo>
                    <a:lnTo>
                      <a:pt x="37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00" name="Freeform 444"/>
              <p:cNvSpPr/>
              <p:nvPr/>
            </p:nvSpPr>
            <p:spPr bwMode="auto">
              <a:xfrm>
                <a:off x="3590375" y="4605795"/>
                <a:ext cx="24270" cy="39688"/>
              </a:xfrm>
              <a:custGeom>
                <a:avLst/>
                <a:gdLst>
                  <a:gd name="T0" fmla="*/ 36 w 36"/>
                  <a:gd name="T1" fmla="*/ 42 h 59"/>
                  <a:gd name="T2" fmla="*/ 23 w 36"/>
                  <a:gd name="T3" fmla="*/ 27 h 59"/>
                  <a:gd name="T4" fmla="*/ 23 w 36"/>
                  <a:gd name="T5" fmla="*/ 27 h 59"/>
                  <a:gd name="T6" fmla="*/ 34 w 36"/>
                  <a:gd name="T7" fmla="*/ 14 h 59"/>
                  <a:gd name="T8" fmla="*/ 17 w 36"/>
                  <a:gd name="T9" fmla="*/ 0 h 59"/>
                  <a:gd name="T10" fmla="*/ 2 w 36"/>
                  <a:gd name="T11" fmla="*/ 4 h 59"/>
                  <a:gd name="T12" fmla="*/ 4 w 36"/>
                  <a:gd name="T13" fmla="*/ 10 h 59"/>
                  <a:gd name="T14" fmla="*/ 16 w 36"/>
                  <a:gd name="T15" fmla="*/ 6 h 59"/>
                  <a:gd name="T16" fmla="*/ 26 w 36"/>
                  <a:gd name="T17" fmla="*/ 15 h 59"/>
                  <a:gd name="T18" fmla="*/ 13 w 36"/>
                  <a:gd name="T19" fmla="*/ 25 h 59"/>
                  <a:gd name="T20" fmla="*/ 9 w 36"/>
                  <a:gd name="T21" fmla="*/ 25 h 59"/>
                  <a:gd name="T22" fmla="*/ 9 w 36"/>
                  <a:gd name="T23" fmla="*/ 31 h 59"/>
                  <a:gd name="T24" fmla="*/ 13 w 36"/>
                  <a:gd name="T25" fmla="*/ 31 h 59"/>
                  <a:gd name="T26" fmla="*/ 28 w 36"/>
                  <a:gd name="T27" fmla="*/ 42 h 59"/>
                  <a:gd name="T28" fmla="*/ 15 w 36"/>
                  <a:gd name="T29" fmla="*/ 53 h 59"/>
                  <a:gd name="T30" fmla="*/ 2 w 36"/>
                  <a:gd name="T31" fmla="*/ 50 h 59"/>
                  <a:gd name="T32" fmla="*/ 0 w 36"/>
                  <a:gd name="T33" fmla="*/ 56 h 59"/>
                  <a:gd name="T34" fmla="*/ 15 w 36"/>
                  <a:gd name="T35" fmla="*/ 59 h 59"/>
                  <a:gd name="T36" fmla="*/ 36 w 36"/>
                  <a:gd name="T37" fmla="*/ 42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6" h="59">
                    <a:moveTo>
                      <a:pt x="36" y="42"/>
                    </a:moveTo>
                    <a:cubicBezTo>
                      <a:pt x="36" y="34"/>
                      <a:pt x="30" y="29"/>
                      <a:pt x="23" y="27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30" y="25"/>
                      <a:pt x="34" y="20"/>
                      <a:pt x="34" y="14"/>
                    </a:cubicBezTo>
                    <a:cubicBezTo>
                      <a:pt x="34" y="7"/>
                      <a:pt x="29" y="0"/>
                      <a:pt x="17" y="0"/>
                    </a:cubicBezTo>
                    <a:cubicBezTo>
                      <a:pt x="11" y="0"/>
                      <a:pt x="5" y="2"/>
                      <a:pt x="2" y="4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7" y="8"/>
                      <a:pt x="11" y="6"/>
                      <a:pt x="16" y="6"/>
                    </a:cubicBezTo>
                    <a:cubicBezTo>
                      <a:pt x="23" y="6"/>
                      <a:pt x="26" y="10"/>
                      <a:pt x="26" y="15"/>
                    </a:cubicBezTo>
                    <a:cubicBezTo>
                      <a:pt x="26" y="22"/>
                      <a:pt x="19" y="25"/>
                      <a:pt x="13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31"/>
                      <a:pt x="9" y="31"/>
                      <a:pt x="9" y="31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21" y="31"/>
                      <a:pt x="28" y="34"/>
                      <a:pt x="28" y="42"/>
                    </a:cubicBezTo>
                    <a:cubicBezTo>
                      <a:pt x="28" y="47"/>
                      <a:pt x="25" y="53"/>
                      <a:pt x="15" y="53"/>
                    </a:cubicBezTo>
                    <a:cubicBezTo>
                      <a:pt x="10" y="53"/>
                      <a:pt x="5" y="51"/>
                      <a:pt x="2" y="50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3" y="57"/>
                      <a:pt x="9" y="59"/>
                      <a:pt x="15" y="59"/>
                    </a:cubicBezTo>
                    <a:cubicBezTo>
                      <a:pt x="29" y="59"/>
                      <a:pt x="36" y="51"/>
                      <a:pt x="36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01" name="Freeform 445"/>
              <p:cNvSpPr>
                <a:spLocks noEditPoints="1"/>
              </p:cNvSpPr>
              <p:nvPr/>
            </p:nvSpPr>
            <p:spPr bwMode="auto">
              <a:xfrm>
                <a:off x="3469027" y="4710869"/>
                <a:ext cx="26839" cy="40545"/>
              </a:xfrm>
              <a:custGeom>
                <a:avLst/>
                <a:gdLst>
                  <a:gd name="T0" fmla="*/ 23 w 40"/>
                  <a:gd name="T1" fmla="*/ 21 h 60"/>
                  <a:gd name="T2" fmla="*/ 9 w 40"/>
                  <a:gd name="T3" fmla="*/ 28 h 60"/>
                  <a:gd name="T4" fmla="*/ 8 w 40"/>
                  <a:gd name="T5" fmla="*/ 28 h 60"/>
                  <a:gd name="T6" fmla="*/ 28 w 40"/>
                  <a:gd name="T7" fmla="*/ 7 h 60"/>
                  <a:gd name="T8" fmla="*/ 34 w 40"/>
                  <a:gd name="T9" fmla="*/ 7 h 60"/>
                  <a:gd name="T10" fmla="*/ 34 w 40"/>
                  <a:gd name="T11" fmla="*/ 0 h 60"/>
                  <a:gd name="T12" fmla="*/ 29 w 40"/>
                  <a:gd name="T13" fmla="*/ 1 h 60"/>
                  <a:gd name="T14" fmla="*/ 10 w 40"/>
                  <a:gd name="T15" fmla="*/ 9 h 60"/>
                  <a:gd name="T16" fmla="*/ 0 w 40"/>
                  <a:gd name="T17" fmla="*/ 35 h 60"/>
                  <a:gd name="T18" fmla="*/ 21 w 40"/>
                  <a:gd name="T19" fmla="*/ 60 h 60"/>
                  <a:gd name="T20" fmla="*/ 40 w 40"/>
                  <a:gd name="T21" fmla="*/ 39 h 60"/>
                  <a:gd name="T22" fmla="*/ 23 w 40"/>
                  <a:gd name="T23" fmla="*/ 21 h 60"/>
                  <a:gd name="T24" fmla="*/ 21 w 40"/>
                  <a:gd name="T25" fmla="*/ 54 h 60"/>
                  <a:gd name="T26" fmla="*/ 8 w 40"/>
                  <a:gd name="T27" fmla="*/ 37 h 60"/>
                  <a:gd name="T28" fmla="*/ 9 w 40"/>
                  <a:gd name="T29" fmla="*/ 34 h 60"/>
                  <a:gd name="T30" fmla="*/ 20 w 40"/>
                  <a:gd name="T31" fmla="*/ 27 h 60"/>
                  <a:gd name="T32" fmla="*/ 32 w 40"/>
                  <a:gd name="T33" fmla="*/ 40 h 60"/>
                  <a:gd name="T34" fmla="*/ 21 w 40"/>
                  <a:gd name="T35" fmla="*/ 5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0" h="60">
                    <a:moveTo>
                      <a:pt x="23" y="21"/>
                    </a:moveTo>
                    <a:cubicBezTo>
                      <a:pt x="16" y="21"/>
                      <a:pt x="11" y="24"/>
                      <a:pt x="9" y="28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18"/>
                      <a:pt x="16" y="9"/>
                      <a:pt x="28" y="7"/>
                    </a:cubicBezTo>
                    <a:cubicBezTo>
                      <a:pt x="31" y="7"/>
                      <a:pt x="33" y="7"/>
                      <a:pt x="34" y="7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3" y="0"/>
                      <a:pt x="31" y="1"/>
                      <a:pt x="29" y="1"/>
                    </a:cubicBezTo>
                    <a:cubicBezTo>
                      <a:pt x="21" y="2"/>
                      <a:pt x="15" y="5"/>
                      <a:pt x="10" y="9"/>
                    </a:cubicBezTo>
                    <a:cubicBezTo>
                      <a:pt x="5" y="15"/>
                      <a:pt x="0" y="24"/>
                      <a:pt x="0" y="35"/>
                    </a:cubicBezTo>
                    <a:cubicBezTo>
                      <a:pt x="0" y="50"/>
                      <a:pt x="9" y="60"/>
                      <a:pt x="21" y="60"/>
                    </a:cubicBezTo>
                    <a:cubicBezTo>
                      <a:pt x="33" y="60"/>
                      <a:pt x="40" y="50"/>
                      <a:pt x="40" y="39"/>
                    </a:cubicBezTo>
                    <a:cubicBezTo>
                      <a:pt x="40" y="28"/>
                      <a:pt x="33" y="21"/>
                      <a:pt x="23" y="21"/>
                    </a:cubicBezTo>
                    <a:close/>
                    <a:moveTo>
                      <a:pt x="21" y="54"/>
                    </a:moveTo>
                    <a:cubicBezTo>
                      <a:pt x="13" y="54"/>
                      <a:pt x="8" y="47"/>
                      <a:pt x="8" y="37"/>
                    </a:cubicBezTo>
                    <a:cubicBezTo>
                      <a:pt x="8" y="36"/>
                      <a:pt x="9" y="35"/>
                      <a:pt x="9" y="34"/>
                    </a:cubicBezTo>
                    <a:cubicBezTo>
                      <a:pt x="11" y="30"/>
                      <a:pt x="15" y="27"/>
                      <a:pt x="20" y="27"/>
                    </a:cubicBezTo>
                    <a:cubicBezTo>
                      <a:pt x="27" y="27"/>
                      <a:pt x="32" y="32"/>
                      <a:pt x="32" y="40"/>
                    </a:cubicBezTo>
                    <a:cubicBezTo>
                      <a:pt x="32" y="48"/>
                      <a:pt x="28" y="54"/>
                      <a:pt x="21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02" name="Freeform 446"/>
              <p:cNvSpPr>
                <a:spLocks noEditPoints="1"/>
              </p:cNvSpPr>
              <p:nvPr/>
            </p:nvSpPr>
            <p:spPr bwMode="auto">
              <a:xfrm>
                <a:off x="3339398" y="4606366"/>
                <a:ext cx="25697" cy="39974"/>
              </a:xfrm>
              <a:custGeom>
                <a:avLst/>
                <a:gdLst>
                  <a:gd name="T0" fmla="*/ 19 w 38"/>
                  <a:gd name="T1" fmla="*/ 0 h 59"/>
                  <a:gd name="T2" fmla="*/ 0 w 38"/>
                  <a:gd name="T3" fmla="*/ 20 h 59"/>
                  <a:gd name="T4" fmla="*/ 17 w 38"/>
                  <a:gd name="T5" fmla="*/ 38 h 59"/>
                  <a:gd name="T6" fmla="*/ 30 w 38"/>
                  <a:gd name="T7" fmla="*/ 32 h 59"/>
                  <a:gd name="T8" fmla="*/ 30 w 38"/>
                  <a:gd name="T9" fmla="*/ 32 h 59"/>
                  <a:gd name="T10" fmla="*/ 23 w 38"/>
                  <a:gd name="T11" fmla="*/ 47 h 59"/>
                  <a:gd name="T12" fmla="*/ 11 w 38"/>
                  <a:gd name="T13" fmla="*/ 53 h 59"/>
                  <a:gd name="T14" fmla="*/ 5 w 38"/>
                  <a:gd name="T15" fmla="*/ 53 h 59"/>
                  <a:gd name="T16" fmla="*/ 5 w 38"/>
                  <a:gd name="T17" fmla="*/ 59 h 59"/>
                  <a:gd name="T18" fmla="*/ 12 w 38"/>
                  <a:gd name="T19" fmla="*/ 59 h 59"/>
                  <a:gd name="T20" fmla="*/ 28 w 38"/>
                  <a:gd name="T21" fmla="*/ 51 h 59"/>
                  <a:gd name="T22" fmla="*/ 38 w 38"/>
                  <a:gd name="T23" fmla="*/ 24 h 59"/>
                  <a:gd name="T24" fmla="*/ 19 w 38"/>
                  <a:gd name="T25" fmla="*/ 0 h 59"/>
                  <a:gd name="T26" fmla="*/ 30 w 38"/>
                  <a:gd name="T27" fmla="*/ 26 h 59"/>
                  <a:gd name="T28" fmla="*/ 18 w 38"/>
                  <a:gd name="T29" fmla="*/ 32 h 59"/>
                  <a:gd name="T30" fmla="*/ 7 w 38"/>
                  <a:gd name="T31" fmla="*/ 20 h 59"/>
                  <a:gd name="T32" fmla="*/ 19 w 38"/>
                  <a:gd name="T33" fmla="*/ 6 h 59"/>
                  <a:gd name="T34" fmla="*/ 30 w 38"/>
                  <a:gd name="T35" fmla="*/ 23 h 59"/>
                  <a:gd name="T36" fmla="*/ 30 w 38"/>
                  <a:gd name="T37" fmla="*/ 26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8" h="59">
                    <a:moveTo>
                      <a:pt x="19" y="0"/>
                    </a:moveTo>
                    <a:cubicBezTo>
                      <a:pt x="8" y="0"/>
                      <a:pt x="0" y="10"/>
                      <a:pt x="0" y="20"/>
                    </a:cubicBezTo>
                    <a:cubicBezTo>
                      <a:pt x="0" y="30"/>
                      <a:pt x="6" y="38"/>
                      <a:pt x="17" y="38"/>
                    </a:cubicBezTo>
                    <a:cubicBezTo>
                      <a:pt x="22" y="38"/>
                      <a:pt x="27" y="36"/>
                      <a:pt x="30" y="32"/>
                    </a:cubicBezTo>
                    <a:cubicBezTo>
                      <a:pt x="30" y="32"/>
                      <a:pt x="30" y="32"/>
                      <a:pt x="30" y="32"/>
                    </a:cubicBezTo>
                    <a:cubicBezTo>
                      <a:pt x="29" y="39"/>
                      <a:pt x="27" y="44"/>
                      <a:pt x="23" y="47"/>
                    </a:cubicBezTo>
                    <a:cubicBezTo>
                      <a:pt x="20" y="50"/>
                      <a:pt x="15" y="52"/>
                      <a:pt x="11" y="53"/>
                    </a:cubicBezTo>
                    <a:cubicBezTo>
                      <a:pt x="8" y="53"/>
                      <a:pt x="6" y="53"/>
                      <a:pt x="5" y="53"/>
                    </a:cubicBezTo>
                    <a:cubicBezTo>
                      <a:pt x="5" y="59"/>
                      <a:pt x="5" y="59"/>
                      <a:pt x="5" y="59"/>
                    </a:cubicBezTo>
                    <a:cubicBezTo>
                      <a:pt x="6" y="59"/>
                      <a:pt x="9" y="59"/>
                      <a:pt x="12" y="59"/>
                    </a:cubicBezTo>
                    <a:cubicBezTo>
                      <a:pt x="18" y="58"/>
                      <a:pt x="24" y="56"/>
                      <a:pt x="28" y="51"/>
                    </a:cubicBezTo>
                    <a:cubicBezTo>
                      <a:pt x="34" y="46"/>
                      <a:pt x="38" y="37"/>
                      <a:pt x="38" y="24"/>
                    </a:cubicBezTo>
                    <a:cubicBezTo>
                      <a:pt x="38" y="9"/>
                      <a:pt x="31" y="0"/>
                      <a:pt x="19" y="0"/>
                    </a:cubicBezTo>
                    <a:close/>
                    <a:moveTo>
                      <a:pt x="30" y="26"/>
                    </a:moveTo>
                    <a:cubicBezTo>
                      <a:pt x="28" y="30"/>
                      <a:pt x="24" y="32"/>
                      <a:pt x="18" y="32"/>
                    </a:cubicBezTo>
                    <a:cubicBezTo>
                      <a:pt x="12" y="32"/>
                      <a:pt x="7" y="27"/>
                      <a:pt x="7" y="20"/>
                    </a:cubicBezTo>
                    <a:cubicBezTo>
                      <a:pt x="7" y="12"/>
                      <a:pt x="12" y="6"/>
                      <a:pt x="19" y="6"/>
                    </a:cubicBezTo>
                    <a:cubicBezTo>
                      <a:pt x="27" y="6"/>
                      <a:pt x="30" y="13"/>
                      <a:pt x="30" y="23"/>
                    </a:cubicBezTo>
                    <a:cubicBezTo>
                      <a:pt x="30" y="25"/>
                      <a:pt x="30" y="25"/>
                      <a:pt x="30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03" name="Oval 447"/>
              <p:cNvSpPr>
                <a:spLocks noChangeArrowheads="1"/>
              </p:cNvSpPr>
              <p:nvPr/>
            </p:nvSpPr>
            <p:spPr bwMode="auto">
              <a:xfrm>
                <a:off x="3388794" y="4539553"/>
                <a:ext cx="18845" cy="1827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04" name="Oval 448"/>
              <p:cNvSpPr>
                <a:spLocks noChangeArrowheads="1"/>
              </p:cNvSpPr>
              <p:nvPr/>
            </p:nvSpPr>
            <p:spPr bwMode="auto">
              <a:xfrm>
                <a:off x="3552686" y="4539553"/>
                <a:ext cx="19416" cy="18274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05" name="Oval 449"/>
              <p:cNvSpPr>
                <a:spLocks noChangeArrowheads="1"/>
              </p:cNvSpPr>
              <p:nvPr/>
            </p:nvSpPr>
            <p:spPr bwMode="auto">
              <a:xfrm>
                <a:off x="3552686" y="4695450"/>
                <a:ext cx="19416" cy="1770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06" name="Freeform 450"/>
              <p:cNvSpPr/>
              <p:nvPr/>
            </p:nvSpPr>
            <p:spPr bwMode="auto">
              <a:xfrm>
                <a:off x="3085851" y="4650337"/>
                <a:ext cx="211860" cy="97650"/>
              </a:xfrm>
              <a:custGeom>
                <a:avLst/>
                <a:gdLst>
                  <a:gd name="T0" fmla="*/ 92 w 314"/>
                  <a:gd name="T1" fmla="*/ 51 h 145"/>
                  <a:gd name="T2" fmla="*/ 92 w 314"/>
                  <a:gd name="T3" fmla="*/ 0 h 145"/>
                  <a:gd name="T4" fmla="*/ 0 w 314"/>
                  <a:gd name="T5" fmla="*/ 71 h 145"/>
                  <a:gd name="T6" fmla="*/ 92 w 314"/>
                  <a:gd name="T7" fmla="*/ 145 h 145"/>
                  <a:gd name="T8" fmla="*/ 92 w 314"/>
                  <a:gd name="T9" fmla="*/ 94 h 145"/>
                  <a:gd name="T10" fmla="*/ 314 w 314"/>
                  <a:gd name="T11" fmla="*/ 94 h 145"/>
                  <a:gd name="T12" fmla="*/ 297 w 314"/>
                  <a:gd name="T13" fmla="*/ 51 h 145"/>
                  <a:gd name="T14" fmla="*/ 92 w 314"/>
                  <a:gd name="T15" fmla="*/ 51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14" h="145">
                    <a:moveTo>
                      <a:pt x="92" y="51"/>
                    </a:moveTo>
                    <a:cubicBezTo>
                      <a:pt x="92" y="0"/>
                      <a:pt x="92" y="0"/>
                      <a:pt x="92" y="0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92" y="145"/>
                      <a:pt x="92" y="145"/>
                      <a:pt x="92" y="145"/>
                    </a:cubicBezTo>
                    <a:cubicBezTo>
                      <a:pt x="92" y="94"/>
                      <a:pt x="92" y="94"/>
                      <a:pt x="92" y="94"/>
                    </a:cubicBezTo>
                    <a:cubicBezTo>
                      <a:pt x="314" y="94"/>
                      <a:pt x="314" y="94"/>
                      <a:pt x="314" y="94"/>
                    </a:cubicBezTo>
                    <a:cubicBezTo>
                      <a:pt x="308" y="80"/>
                      <a:pt x="302" y="66"/>
                      <a:pt x="297" y="51"/>
                    </a:cubicBezTo>
                    <a:lnTo>
                      <a:pt x="92" y="5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07" name="Oval 451"/>
              <p:cNvSpPr>
                <a:spLocks noChangeArrowheads="1"/>
              </p:cNvSpPr>
              <p:nvPr/>
            </p:nvSpPr>
            <p:spPr bwMode="auto">
              <a:xfrm>
                <a:off x="3388794" y="4696021"/>
                <a:ext cx="18845" cy="1770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08" name="Freeform 452"/>
              <p:cNvSpPr/>
              <p:nvPr/>
            </p:nvSpPr>
            <p:spPr bwMode="auto">
              <a:xfrm>
                <a:off x="3698304" y="4718292"/>
                <a:ext cx="35120" cy="60246"/>
              </a:xfrm>
              <a:custGeom>
                <a:avLst/>
                <a:gdLst>
                  <a:gd name="T0" fmla="*/ 0 w 52"/>
                  <a:gd name="T1" fmla="*/ 0 h 89"/>
                  <a:gd name="T2" fmla="*/ 0 w 52"/>
                  <a:gd name="T3" fmla="*/ 78 h 89"/>
                  <a:gd name="T4" fmla="*/ 26 w 52"/>
                  <a:gd name="T5" fmla="*/ 89 h 89"/>
                  <a:gd name="T6" fmla="*/ 52 w 52"/>
                  <a:gd name="T7" fmla="*/ 78 h 89"/>
                  <a:gd name="T8" fmla="*/ 52 w 52"/>
                  <a:gd name="T9" fmla="*/ 0 h 89"/>
                  <a:gd name="T10" fmla="*/ 26 w 52"/>
                  <a:gd name="T11" fmla="*/ 6 h 89"/>
                  <a:gd name="T12" fmla="*/ 0 w 52"/>
                  <a:gd name="T13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89">
                    <a:moveTo>
                      <a:pt x="0" y="0"/>
                    </a:moveTo>
                    <a:cubicBezTo>
                      <a:pt x="0" y="78"/>
                      <a:pt x="0" y="78"/>
                      <a:pt x="0" y="78"/>
                    </a:cubicBezTo>
                    <a:cubicBezTo>
                      <a:pt x="0" y="84"/>
                      <a:pt x="11" y="89"/>
                      <a:pt x="26" y="89"/>
                    </a:cubicBezTo>
                    <a:cubicBezTo>
                      <a:pt x="40" y="89"/>
                      <a:pt x="52" y="84"/>
                      <a:pt x="52" y="78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46" y="4"/>
                      <a:pt x="35" y="6"/>
                      <a:pt x="26" y="6"/>
                    </a:cubicBezTo>
                    <a:cubicBezTo>
                      <a:pt x="16" y="6"/>
                      <a:pt x="5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09" name="Oval 453"/>
              <p:cNvSpPr>
                <a:spLocks noChangeArrowheads="1"/>
              </p:cNvSpPr>
              <p:nvPr/>
            </p:nvSpPr>
            <p:spPr bwMode="auto">
              <a:xfrm>
                <a:off x="3698304" y="4704873"/>
                <a:ext cx="35120" cy="1427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10" name="Freeform 454"/>
              <p:cNvSpPr/>
              <p:nvPr/>
            </p:nvSpPr>
            <p:spPr bwMode="auto">
              <a:xfrm>
                <a:off x="3748271" y="4695450"/>
                <a:ext cx="35120" cy="83088"/>
              </a:xfrm>
              <a:custGeom>
                <a:avLst/>
                <a:gdLst>
                  <a:gd name="T0" fmla="*/ 0 w 52"/>
                  <a:gd name="T1" fmla="*/ 0 h 123"/>
                  <a:gd name="T2" fmla="*/ 0 w 52"/>
                  <a:gd name="T3" fmla="*/ 110 h 123"/>
                  <a:gd name="T4" fmla="*/ 0 w 52"/>
                  <a:gd name="T5" fmla="*/ 112 h 123"/>
                  <a:gd name="T6" fmla="*/ 26 w 52"/>
                  <a:gd name="T7" fmla="*/ 123 h 123"/>
                  <a:gd name="T8" fmla="*/ 52 w 52"/>
                  <a:gd name="T9" fmla="*/ 112 h 123"/>
                  <a:gd name="T10" fmla="*/ 52 w 52"/>
                  <a:gd name="T11" fmla="*/ 112 h 123"/>
                  <a:gd name="T12" fmla="*/ 52 w 52"/>
                  <a:gd name="T13" fmla="*/ 0 h 123"/>
                  <a:gd name="T14" fmla="*/ 26 w 52"/>
                  <a:gd name="T15" fmla="*/ 6 h 123"/>
                  <a:gd name="T16" fmla="*/ 0 w 52"/>
                  <a:gd name="T17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" h="123">
                    <a:moveTo>
                      <a:pt x="0" y="0"/>
                    </a:move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2"/>
                    </a:cubicBezTo>
                    <a:cubicBezTo>
                      <a:pt x="0" y="118"/>
                      <a:pt x="11" y="123"/>
                      <a:pt x="26" y="123"/>
                    </a:cubicBezTo>
                    <a:cubicBezTo>
                      <a:pt x="40" y="123"/>
                      <a:pt x="52" y="118"/>
                      <a:pt x="52" y="112"/>
                    </a:cubicBezTo>
                    <a:cubicBezTo>
                      <a:pt x="52" y="112"/>
                      <a:pt x="52" y="112"/>
                      <a:pt x="52" y="112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46" y="4"/>
                      <a:pt x="36" y="6"/>
                      <a:pt x="26" y="6"/>
                    </a:cubicBezTo>
                    <a:cubicBezTo>
                      <a:pt x="16" y="6"/>
                      <a:pt x="6" y="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11" name="Oval 455"/>
              <p:cNvSpPr>
                <a:spLocks noChangeArrowheads="1"/>
              </p:cNvSpPr>
              <p:nvPr/>
            </p:nvSpPr>
            <p:spPr bwMode="auto">
              <a:xfrm>
                <a:off x="3748271" y="4682030"/>
                <a:ext cx="35120" cy="1399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12" name="Freeform 456"/>
              <p:cNvSpPr/>
              <p:nvPr/>
            </p:nvSpPr>
            <p:spPr bwMode="auto">
              <a:xfrm>
                <a:off x="3797667" y="4644912"/>
                <a:ext cx="35691" cy="133626"/>
              </a:xfrm>
              <a:custGeom>
                <a:avLst/>
                <a:gdLst>
                  <a:gd name="T0" fmla="*/ 0 w 53"/>
                  <a:gd name="T1" fmla="*/ 0 h 198"/>
                  <a:gd name="T2" fmla="*/ 0 w 53"/>
                  <a:gd name="T3" fmla="*/ 187 h 198"/>
                  <a:gd name="T4" fmla="*/ 26 w 53"/>
                  <a:gd name="T5" fmla="*/ 198 h 198"/>
                  <a:gd name="T6" fmla="*/ 53 w 53"/>
                  <a:gd name="T7" fmla="*/ 187 h 198"/>
                  <a:gd name="T8" fmla="*/ 53 w 53"/>
                  <a:gd name="T9" fmla="*/ 0 h 198"/>
                  <a:gd name="T10" fmla="*/ 26 w 53"/>
                  <a:gd name="T11" fmla="*/ 7 h 198"/>
                  <a:gd name="T12" fmla="*/ 0 w 53"/>
                  <a:gd name="T13" fmla="*/ 0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" h="198">
                    <a:moveTo>
                      <a:pt x="0" y="0"/>
                    </a:moveTo>
                    <a:cubicBezTo>
                      <a:pt x="0" y="187"/>
                      <a:pt x="0" y="187"/>
                      <a:pt x="0" y="187"/>
                    </a:cubicBezTo>
                    <a:cubicBezTo>
                      <a:pt x="0" y="193"/>
                      <a:pt x="12" y="198"/>
                      <a:pt x="26" y="198"/>
                    </a:cubicBezTo>
                    <a:cubicBezTo>
                      <a:pt x="41" y="198"/>
                      <a:pt x="53" y="193"/>
                      <a:pt x="53" y="187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47" y="5"/>
                      <a:pt x="36" y="7"/>
                      <a:pt x="26" y="7"/>
                    </a:cubicBezTo>
                    <a:cubicBezTo>
                      <a:pt x="17" y="7"/>
                      <a:pt x="6" y="5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13" name="Oval 457"/>
              <p:cNvSpPr>
                <a:spLocks noChangeArrowheads="1"/>
              </p:cNvSpPr>
              <p:nvPr/>
            </p:nvSpPr>
            <p:spPr bwMode="auto">
              <a:xfrm>
                <a:off x="3797667" y="4631492"/>
                <a:ext cx="35691" cy="1484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14" name="Freeform 458"/>
              <p:cNvSpPr/>
              <p:nvPr/>
            </p:nvSpPr>
            <p:spPr bwMode="auto">
              <a:xfrm>
                <a:off x="3222047" y="4588093"/>
                <a:ext cx="35120" cy="60246"/>
              </a:xfrm>
              <a:custGeom>
                <a:avLst/>
                <a:gdLst>
                  <a:gd name="T0" fmla="*/ 26 w 52"/>
                  <a:gd name="T1" fmla="*/ 89 h 89"/>
                  <a:gd name="T2" fmla="*/ 52 w 52"/>
                  <a:gd name="T3" fmla="*/ 78 h 89"/>
                  <a:gd name="T4" fmla="*/ 52 w 52"/>
                  <a:gd name="T5" fmla="*/ 0 h 89"/>
                  <a:gd name="T6" fmla="*/ 26 w 52"/>
                  <a:gd name="T7" fmla="*/ 6 h 89"/>
                  <a:gd name="T8" fmla="*/ 0 w 52"/>
                  <a:gd name="T9" fmla="*/ 0 h 89"/>
                  <a:gd name="T10" fmla="*/ 0 w 52"/>
                  <a:gd name="T11" fmla="*/ 78 h 89"/>
                  <a:gd name="T12" fmla="*/ 26 w 52"/>
                  <a:gd name="T13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89">
                    <a:moveTo>
                      <a:pt x="26" y="89"/>
                    </a:moveTo>
                    <a:cubicBezTo>
                      <a:pt x="40" y="89"/>
                      <a:pt x="52" y="84"/>
                      <a:pt x="52" y="78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46" y="4"/>
                      <a:pt x="36" y="6"/>
                      <a:pt x="26" y="6"/>
                    </a:cubicBezTo>
                    <a:cubicBezTo>
                      <a:pt x="16" y="6"/>
                      <a:pt x="6" y="4"/>
                      <a:pt x="0" y="0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0" y="84"/>
                      <a:pt x="11" y="89"/>
                      <a:pt x="26" y="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15" name="Oval 459"/>
              <p:cNvSpPr>
                <a:spLocks noChangeArrowheads="1"/>
              </p:cNvSpPr>
              <p:nvPr/>
            </p:nvSpPr>
            <p:spPr bwMode="auto">
              <a:xfrm>
                <a:off x="3222047" y="4574673"/>
                <a:ext cx="35120" cy="1427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16" name="Freeform 460"/>
              <p:cNvSpPr/>
              <p:nvPr/>
            </p:nvSpPr>
            <p:spPr bwMode="auto">
              <a:xfrm>
                <a:off x="3171509" y="4565250"/>
                <a:ext cx="35691" cy="83088"/>
              </a:xfrm>
              <a:custGeom>
                <a:avLst/>
                <a:gdLst>
                  <a:gd name="T0" fmla="*/ 26 w 53"/>
                  <a:gd name="T1" fmla="*/ 123 h 123"/>
                  <a:gd name="T2" fmla="*/ 53 w 53"/>
                  <a:gd name="T3" fmla="*/ 112 h 123"/>
                  <a:gd name="T4" fmla="*/ 52 w 53"/>
                  <a:gd name="T5" fmla="*/ 110 h 123"/>
                  <a:gd name="T6" fmla="*/ 52 w 53"/>
                  <a:gd name="T7" fmla="*/ 0 h 123"/>
                  <a:gd name="T8" fmla="*/ 26 w 53"/>
                  <a:gd name="T9" fmla="*/ 6 h 123"/>
                  <a:gd name="T10" fmla="*/ 0 w 53"/>
                  <a:gd name="T11" fmla="*/ 0 h 123"/>
                  <a:gd name="T12" fmla="*/ 0 w 53"/>
                  <a:gd name="T13" fmla="*/ 112 h 123"/>
                  <a:gd name="T14" fmla="*/ 0 w 53"/>
                  <a:gd name="T15" fmla="*/ 112 h 123"/>
                  <a:gd name="T16" fmla="*/ 26 w 53"/>
                  <a:gd name="T17" fmla="*/ 123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3" h="123">
                    <a:moveTo>
                      <a:pt x="26" y="123"/>
                    </a:moveTo>
                    <a:cubicBezTo>
                      <a:pt x="41" y="123"/>
                      <a:pt x="53" y="118"/>
                      <a:pt x="53" y="112"/>
                    </a:cubicBezTo>
                    <a:cubicBezTo>
                      <a:pt x="53" y="111"/>
                      <a:pt x="52" y="111"/>
                      <a:pt x="52" y="11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46" y="4"/>
                      <a:pt x="36" y="6"/>
                      <a:pt x="26" y="6"/>
                    </a:cubicBezTo>
                    <a:cubicBezTo>
                      <a:pt x="16" y="6"/>
                      <a:pt x="6" y="4"/>
                      <a:pt x="0" y="0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118"/>
                      <a:pt x="12" y="123"/>
                      <a:pt x="26" y="1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17" name="Oval 461"/>
              <p:cNvSpPr>
                <a:spLocks noChangeArrowheads="1"/>
              </p:cNvSpPr>
              <p:nvPr/>
            </p:nvSpPr>
            <p:spPr bwMode="auto">
              <a:xfrm>
                <a:off x="3171509" y="4551831"/>
                <a:ext cx="35120" cy="1399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18" name="Freeform 462"/>
              <p:cNvSpPr/>
              <p:nvPr/>
            </p:nvSpPr>
            <p:spPr bwMode="auto">
              <a:xfrm>
                <a:off x="3122113" y="4514712"/>
                <a:ext cx="35120" cy="133626"/>
              </a:xfrm>
              <a:custGeom>
                <a:avLst/>
                <a:gdLst>
                  <a:gd name="T0" fmla="*/ 26 w 52"/>
                  <a:gd name="T1" fmla="*/ 198 h 198"/>
                  <a:gd name="T2" fmla="*/ 52 w 52"/>
                  <a:gd name="T3" fmla="*/ 187 h 198"/>
                  <a:gd name="T4" fmla="*/ 52 w 52"/>
                  <a:gd name="T5" fmla="*/ 0 h 198"/>
                  <a:gd name="T6" fmla="*/ 26 w 52"/>
                  <a:gd name="T7" fmla="*/ 7 h 198"/>
                  <a:gd name="T8" fmla="*/ 0 w 52"/>
                  <a:gd name="T9" fmla="*/ 0 h 198"/>
                  <a:gd name="T10" fmla="*/ 0 w 52"/>
                  <a:gd name="T11" fmla="*/ 187 h 198"/>
                  <a:gd name="T12" fmla="*/ 26 w 52"/>
                  <a:gd name="T13" fmla="*/ 198 h 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198">
                    <a:moveTo>
                      <a:pt x="26" y="198"/>
                    </a:moveTo>
                    <a:cubicBezTo>
                      <a:pt x="40" y="198"/>
                      <a:pt x="52" y="193"/>
                      <a:pt x="52" y="187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46" y="5"/>
                      <a:pt x="36" y="7"/>
                      <a:pt x="26" y="7"/>
                    </a:cubicBezTo>
                    <a:cubicBezTo>
                      <a:pt x="16" y="7"/>
                      <a:pt x="6" y="5"/>
                      <a:pt x="0" y="0"/>
                    </a:cubicBezTo>
                    <a:cubicBezTo>
                      <a:pt x="0" y="187"/>
                      <a:pt x="0" y="187"/>
                      <a:pt x="0" y="187"/>
                    </a:cubicBezTo>
                    <a:cubicBezTo>
                      <a:pt x="0" y="193"/>
                      <a:pt x="11" y="198"/>
                      <a:pt x="26" y="1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19" name="Oval 463"/>
              <p:cNvSpPr>
                <a:spLocks noChangeArrowheads="1"/>
              </p:cNvSpPr>
              <p:nvPr/>
            </p:nvSpPr>
            <p:spPr bwMode="auto">
              <a:xfrm>
                <a:off x="3122113" y="4501293"/>
                <a:ext cx="35120" cy="1484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20" name="Freeform 464"/>
              <p:cNvSpPr>
                <a:spLocks noEditPoints="1"/>
              </p:cNvSpPr>
              <p:nvPr/>
            </p:nvSpPr>
            <p:spPr bwMode="auto">
              <a:xfrm>
                <a:off x="3156661" y="4726572"/>
                <a:ext cx="115352" cy="115923"/>
              </a:xfrm>
              <a:custGeom>
                <a:avLst/>
                <a:gdLst>
                  <a:gd name="T0" fmla="*/ 85 w 171"/>
                  <a:gd name="T1" fmla="*/ 0 h 172"/>
                  <a:gd name="T2" fmla="*/ 0 w 171"/>
                  <a:gd name="T3" fmla="*/ 86 h 172"/>
                  <a:gd name="T4" fmla="*/ 85 w 171"/>
                  <a:gd name="T5" fmla="*/ 172 h 172"/>
                  <a:gd name="T6" fmla="*/ 171 w 171"/>
                  <a:gd name="T7" fmla="*/ 86 h 172"/>
                  <a:gd name="T8" fmla="*/ 85 w 171"/>
                  <a:gd name="T9" fmla="*/ 0 h 172"/>
                  <a:gd name="T10" fmla="*/ 85 w 171"/>
                  <a:gd name="T11" fmla="*/ 151 h 172"/>
                  <a:gd name="T12" fmla="*/ 21 w 171"/>
                  <a:gd name="T13" fmla="*/ 86 h 172"/>
                  <a:gd name="T14" fmla="*/ 85 w 171"/>
                  <a:gd name="T15" fmla="*/ 21 h 172"/>
                  <a:gd name="T16" fmla="*/ 150 w 171"/>
                  <a:gd name="T17" fmla="*/ 86 h 172"/>
                  <a:gd name="T18" fmla="*/ 85 w 171"/>
                  <a:gd name="T19" fmla="*/ 151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72">
                    <a:moveTo>
                      <a:pt x="85" y="0"/>
                    </a:moveTo>
                    <a:cubicBezTo>
                      <a:pt x="38" y="0"/>
                      <a:pt x="0" y="39"/>
                      <a:pt x="0" y="86"/>
                    </a:cubicBezTo>
                    <a:cubicBezTo>
                      <a:pt x="0" y="133"/>
                      <a:pt x="38" y="172"/>
                      <a:pt x="85" y="172"/>
                    </a:cubicBezTo>
                    <a:cubicBezTo>
                      <a:pt x="132" y="172"/>
                      <a:pt x="171" y="133"/>
                      <a:pt x="171" y="86"/>
                    </a:cubicBezTo>
                    <a:cubicBezTo>
                      <a:pt x="171" y="39"/>
                      <a:pt x="132" y="0"/>
                      <a:pt x="85" y="0"/>
                    </a:cubicBezTo>
                    <a:close/>
                    <a:moveTo>
                      <a:pt x="85" y="151"/>
                    </a:moveTo>
                    <a:cubicBezTo>
                      <a:pt x="50" y="151"/>
                      <a:pt x="21" y="122"/>
                      <a:pt x="21" y="86"/>
                    </a:cubicBezTo>
                    <a:cubicBezTo>
                      <a:pt x="21" y="50"/>
                      <a:pt x="50" y="21"/>
                      <a:pt x="85" y="21"/>
                    </a:cubicBezTo>
                    <a:cubicBezTo>
                      <a:pt x="121" y="21"/>
                      <a:pt x="150" y="50"/>
                      <a:pt x="150" y="86"/>
                    </a:cubicBezTo>
                    <a:cubicBezTo>
                      <a:pt x="150" y="122"/>
                      <a:pt x="121" y="151"/>
                      <a:pt x="85" y="1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21" name="Freeform 465"/>
              <p:cNvSpPr/>
              <p:nvPr/>
            </p:nvSpPr>
            <p:spPr bwMode="auto">
              <a:xfrm>
                <a:off x="3196349" y="4752841"/>
                <a:ext cx="34549" cy="63387"/>
              </a:xfrm>
              <a:custGeom>
                <a:avLst/>
                <a:gdLst>
                  <a:gd name="T0" fmla="*/ 32 w 51"/>
                  <a:gd name="T1" fmla="*/ 39 h 94"/>
                  <a:gd name="T2" fmla="*/ 18 w 51"/>
                  <a:gd name="T3" fmla="*/ 30 h 94"/>
                  <a:gd name="T4" fmla="*/ 28 w 51"/>
                  <a:gd name="T5" fmla="*/ 23 h 94"/>
                  <a:gd name="T6" fmla="*/ 44 w 51"/>
                  <a:gd name="T7" fmla="*/ 27 h 94"/>
                  <a:gd name="T8" fmla="*/ 48 w 51"/>
                  <a:gd name="T9" fmla="*/ 14 h 94"/>
                  <a:gd name="T10" fmla="*/ 31 w 51"/>
                  <a:gd name="T11" fmla="*/ 10 h 94"/>
                  <a:gd name="T12" fmla="*/ 31 w 51"/>
                  <a:gd name="T13" fmla="*/ 0 h 94"/>
                  <a:gd name="T14" fmla="*/ 20 w 51"/>
                  <a:gd name="T15" fmla="*/ 0 h 94"/>
                  <a:gd name="T16" fmla="*/ 20 w 51"/>
                  <a:gd name="T17" fmla="*/ 11 h 94"/>
                  <a:gd name="T18" fmla="*/ 0 w 51"/>
                  <a:gd name="T19" fmla="*/ 32 h 94"/>
                  <a:gd name="T20" fmla="*/ 21 w 51"/>
                  <a:gd name="T21" fmla="*/ 53 h 94"/>
                  <a:gd name="T22" fmla="*/ 33 w 51"/>
                  <a:gd name="T23" fmla="*/ 62 h 94"/>
                  <a:gd name="T24" fmla="*/ 22 w 51"/>
                  <a:gd name="T25" fmla="*/ 70 h 94"/>
                  <a:gd name="T26" fmla="*/ 3 w 51"/>
                  <a:gd name="T27" fmla="*/ 65 h 94"/>
                  <a:gd name="T28" fmla="*/ 0 w 51"/>
                  <a:gd name="T29" fmla="*/ 78 h 94"/>
                  <a:gd name="T30" fmla="*/ 19 w 51"/>
                  <a:gd name="T31" fmla="*/ 83 h 94"/>
                  <a:gd name="T32" fmla="*/ 19 w 51"/>
                  <a:gd name="T33" fmla="*/ 94 h 94"/>
                  <a:gd name="T34" fmla="*/ 30 w 51"/>
                  <a:gd name="T35" fmla="*/ 94 h 94"/>
                  <a:gd name="T36" fmla="*/ 30 w 51"/>
                  <a:gd name="T37" fmla="*/ 82 h 94"/>
                  <a:gd name="T38" fmla="*/ 51 w 51"/>
                  <a:gd name="T39" fmla="*/ 61 h 94"/>
                  <a:gd name="T40" fmla="*/ 32 w 51"/>
                  <a:gd name="T41" fmla="*/ 39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1" h="94">
                    <a:moveTo>
                      <a:pt x="32" y="39"/>
                    </a:moveTo>
                    <a:cubicBezTo>
                      <a:pt x="22" y="36"/>
                      <a:pt x="18" y="33"/>
                      <a:pt x="18" y="30"/>
                    </a:cubicBezTo>
                    <a:cubicBezTo>
                      <a:pt x="18" y="26"/>
                      <a:pt x="20" y="23"/>
                      <a:pt x="28" y="23"/>
                    </a:cubicBezTo>
                    <a:cubicBezTo>
                      <a:pt x="36" y="23"/>
                      <a:pt x="41" y="26"/>
                      <a:pt x="44" y="27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4" y="12"/>
                      <a:pt x="38" y="11"/>
                      <a:pt x="31" y="1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11"/>
                      <a:pt x="20" y="11"/>
                      <a:pt x="20" y="11"/>
                    </a:cubicBezTo>
                    <a:cubicBezTo>
                      <a:pt x="7" y="13"/>
                      <a:pt x="0" y="21"/>
                      <a:pt x="0" y="32"/>
                    </a:cubicBezTo>
                    <a:cubicBezTo>
                      <a:pt x="0" y="43"/>
                      <a:pt x="9" y="48"/>
                      <a:pt x="21" y="53"/>
                    </a:cubicBezTo>
                    <a:cubicBezTo>
                      <a:pt x="30" y="55"/>
                      <a:pt x="33" y="58"/>
                      <a:pt x="33" y="62"/>
                    </a:cubicBezTo>
                    <a:cubicBezTo>
                      <a:pt x="33" y="67"/>
                      <a:pt x="29" y="70"/>
                      <a:pt x="22" y="70"/>
                    </a:cubicBezTo>
                    <a:cubicBezTo>
                      <a:pt x="15" y="70"/>
                      <a:pt x="8" y="67"/>
                      <a:pt x="3" y="65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80"/>
                      <a:pt x="11" y="83"/>
                      <a:pt x="19" y="83"/>
                    </a:cubicBezTo>
                    <a:cubicBezTo>
                      <a:pt x="19" y="94"/>
                      <a:pt x="19" y="94"/>
                      <a:pt x="19" y="94"/>
                    </a:cubicBezTo>
                    <a:cubicBezTo>
                      <a:pt x="30" y="94"/>
                      <a:pt x="30" y="94"/>
                      <a:pt x="30" y="94"/>
                    </a:cubicBezTo>
                    <a:cubicBezTo>
                      <a:pt x="30" y="82"/>
                      <a:pt x="30" y="82"/>
                      <a:pt x="30" y="82"/>
                    </a:cubicBezTo>
                    <a:cubicBezTo>
                      <a:pt x="44" y="80"/>
                      <a:pt x="51" y="71"/>
                      <a:pt x="51" y="61"/>
                    </a:cubicBezTo>
                    <a:cubicBezTo>
                      <a:pt x="51" y="50"/>
                      <a:pt x="45" y="44"/>
                      <a:pt x="32" y="3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22" name="Freeform 466"/>
              <p:cNvSpPr>
                <a:spLocks noEditPoints="1"/>
              </p:cNvSpPr>
              <p:nvPr/>
            </p:nvSpPr>
            <p:spPr bwMode="auto">
              <a:xfrm>
                <a:off x="3679459" y="4418205"/>
                <a:ext cx="115352" cy="115352"/>
              </a:xfrm>
              <a:custGeom>
                <a:avLst/>
                <a:gdLst>
                  <a:gd name="T0" fmla="*/ 85 w 171"/>
                  <a:gd name="T1" fmla="*/ 171 h 171"/>
                  <a:gd name="T2" fmla="*/ 171 w 171"/>
                  <a:gd name="T3" fmla="*/ 85 h 171"/>
                  <a:gd name="T4" fmla="*/ 85 w 171"/>
                  <a:gd name="T5" fmla="*/ 0 h 171"/>
                  <a:gd name="T6" fmla="*/ 0 w 171"/>
                  <a:gd name="T7" fmla="*/ 85 h 171"/>
                  <a:gd name="T8" fmla="*/ 85 w 171"/>
                  <a:gd name="T9" fmla="*/ 171 h 171"/>
                  <a:gd name="T10" fmla="*/ 85 w 171"/>
                  <a:gd name="T11" fmla="*/ 20 h 171"/>
                  <a:gd name="T12" fmla="*/ 150 w 171"/>
                  <a:gd name="T13" fmla="*/ 85 h 171"/>
                  <a:gd name="T14" fmla="*/ 85 w 171"/>
                  <a:gd name="T15" fmla="*/ 151 h 171"/>
                  <a:gd name="T16" fmla="*/ 21 w 171"/>
                  <a:gd name="T17" fmla="*/ 85 h 171"/>
                  <a:gd name="T18" fmla="*/ 85 w 171"/>
                  <a:gd name="T19" fmla="*/ 20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71">
                    <a:moveTo>
                      <a:pt x="85" y="171"/>
                    </a:moveTo>
                    <a:cubicBezTo>
                      <a:pt x="132" y="171"/>
                      <a:pt x="171" y="133"/>
                      <a:pt x="171" y="85"/>
                    </a:cubicBezTo>
                    <a:cubicBezTo>
                      <a:pt x="171" y="38"/>
                      <a:pt x="132" y="0"/>
                      <a:pt x="85" y="0"/>
                    </a:cubicBezTo>
                    <a:cubicBezTo>
                      <a:pt x="38" y="0"/>
                      <a:pt x="0" y="38"/>
                      <a:pt x="0" y="85"/>
                    </a:cubicBezTo>
                    <a:cubicBezTo>
                      <a:pt x="0" y="133"/>
                      <a:pt x="38" y="171"/>
                      <a:pt x="85" y="171"/>
                    </a:cubicBezTo>
                    <a:close/>
                    <a:moveTo>
                      <a:pt x="85" y="20"/>
                    </a:moveTo>
                    <a:cubicBezTo>
                      <a:pt x="121" y="20"/>
                      <a:pt x="150" y="49"/>
                      <a:pt x="150" y="85"/>
                    </a:cubicBezTo>
                    <a:cubicBezTo>
                      <a:pt x="150" y="121"/>
                      <a:pt x="121" y="151"/>
                      <a:pt x="85" y="151"/>
                    </a:cubicBezTo>
                    <a:cubicBezTo>
                      <a:pt x="50" y="151"/>
                      <a:pt x="21" y="121"/>
                      <a:pt x="21" y="85"/>
                    </a:cubicBezTo>
                    <a:cubicBezTo>
                      <a:pt x="21" y="49"/>
                      <a:pt x="50" y="20"/>
                      <a:pt x="85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23" name="Freeform 467"/>
              <p:cNvSpPr/>
              <p:nvPr/>
            </p:nvSpPr>
            <p:spPr bwMode="auto">
              <a:xfrm>
                <a:off x="3711153" y="4447043"/>
                <a:ext cx="41116" cy="58247"/>
              </a:xfrm>
              <a:custGeom>
                <a:avLst/>
                <a:gdLst>
                  <a:gd name="T0" fmla="*/ 50 w 61"/>
                  <a:gd name="T1" fmla="*/ 86 h 86"/>
                  <a:gd name="T2" fmla="*/ 59 w 61"/>
                  <a:gd name="T3" fmla="*/ 85 h 86"/>
                  <a:gd name="T4" fmla="*/ 61 w 61"/>
                  <a:gd name="T5" fmla="*/ 85 h 86"/>
                  <a:gd name="T6" fmla="*/ 61 w 61"/>
                  <a:gd name="T7" fmla="*/ 68 h 86"/>
                  <a:gd name="T8" fmla="*/ 57 w 61"/>
                  <a:gd name="T9" fmla="*/ 69 h 86"/>
                  <a:gd name="T10" fmla="*/ 50 w 61"/>
                  <a:gd name="T11" fmla="*/ 70 h 86"/>
                  <a:gd name="T12" fmla="*/ 26 w 61"/>
                  <a:gd name="T13" fmla="*/ 56 h 86"/>
                  <a:gd name="T14" fmla="*/ 37 w 61"/>
                  <a:gd name="T15" fmla="*/ 56 h 86"/>
                  <a:gd name="T16" fmla="*/ 37 w 61"/>
                  <a:gd name="T17" fmla="*/ 46 h 86"/>
                  <a:gd name="T18" fmla="*/ 23 w 61"/>
                  <a:gd name="T19" fmla="*/ 46 h 86"/>
                  <a:gd name="T20" fmla="*/ 23 w 61"/>
                  <a:gd name="T21" fmla="*/ 43 h 86"/>
                  <a:gd name="T22" fmla="*/ 23 w 61"/>
                  <a:gd name="T23" fmla="*/ 42 h 86"/>
                  <a:gd name="T24" fmla="*/ 37 w 61"/>
                  <a:gd name="T25" fmla="*/ 42 h 86"/>
                  <a:gd name="T26" fmla="*/ 37 w 61"/>
                  <a:gd name="T27" fmla="*/ 33 h 86"/>
                  <a:gd name="T28" fmla="*/ 25 w 61"/>
                  <a:gd name="T29" fmla="*/ 33 h 86"/>
                  <a:gd name="T30" fmla="*/ 50 w 61"/>
                  <a:gd name="T31" fmla="*/ 16 h 86"/>
                  <a:gd name="T32" fmla="*/ 57 w 61"/>
                  <a:gd name="T33" fmla="*/ 17 h 86"/>
                  <a:gd name="T34" fmla="*/ 61 w 61"/>
                  <a:gd name="T35" fmla="*/ 18 h 86"/>
                  <a:gd name="T36" fmla="*/ 61 w 61"/>
                  <a:gd name="T37" fmla="*/ 1 h 86"/>
                  <a:gd name="T38" fmla="*/ 59 w 61"/>
                  <a:gd name="T39" fmla="*/ 1 h 86"/>
                  <a:gd name="T40" fmla="*/ 50 w 61"/>
                  <a:gd name="T41" fmla="*/ 0 h 86"/>
                  <a:gd name="T42" fmla="*/ 8 w 61"/>
                  <a:gd name="T43" fmla="*/ 33 h 86"/>
                  <a:gd name="T44" fmla="*/ 0 w 61"/>
                  <a:gd name="T45" fmla="*/ 33 h 86"/>
                  <a:gd name="T46" fmla="*/ 0 w 61"/>
                  <a:gd name="T47" fmla="*/ 42 h 86"/>
                  <a:gd name="T48" fmla="*/ 6 w 61"/>
                  <a:gd name="T49" fmla="*/ 42 h 86"/>
                  <a:gd name="T50" fmla="*/ 6 w 61"/>
                  <a:gd name="T51" fmla="*/ 43 h 86"/>
                  <a:gd name="T52" fmla="*/ 6 w 61"/>
                  <a:gd name="T53" fmla="*/ 46 h 86"/>
                  <a:gd name="T54" fmla="*/ 0 w 61"/>
                  <a:gd name="T55" fmla="*/ 46 h 86"/>
                  <a:gd name="T56" fmla="*/ 0 w 61"/>
                  <a:gd name="T57" fmla="*/ 56 h 86"/>
                  <a:gd name="T58" fmla="*/ 8 w 61"/>
                  <a:gd name="T59" fmla="*/ 56 h 86"/>
                  <a:gd name="T60" fmla="*/ 50 w 61"/>
                  <a:gd name="T61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61" h="86">
                    <a:moveTo>
                      <a:pt x="50" y="86"/>
                    </a:moveTo>
                    <a:cubicBezTo>
                      <a:pt x="53" y="86"/>
                      <a:pt x="56" y="86"/>
                      <a:pt x="59" y="85"/>
                    </a:cubicBezTo>
                    <a:cubicBezTo>
                      <a:pt x="61" y="85"/>
                      <a:pt x="61" y="85"/>
                      <a:pt x="61" y="85"/>
                    </a:cubicBezTo>
                    <a:cubicBezTo>
                      <a:pt x="61" y="68"/>
                      <a:pt x="61" y="68"/>
                      <a:pt x="61" y="68"/>
                    </a:cubicBezTo>
                    <a:cubicBezTo>
                      <a:pt x="57" y="69"/>
                      <a:pt x="57" y="69"/>
                      <a:pt x="57" y="69"/>
                    </a:cubicBezTo>
                    <a:cubicBezTo>
                      <a:pt x="55" y="69"/>
                      <a:pt x="52" y="70"/>
                      <a:pt x="50" y="70"/>
                    </a:cubicBezTo>
                    <a:cubicBezTo>
                      <a:pt x="40" y="70"/>
                      <a:pt x="31" y="64"/>
                      <a:pt x="26" y="56"/>
                    </a:cubicBezTo>
                    <a:cubicBezTo>
                      <a:pt x="37" y="56"/>
                      <a:pt x="37" y="56"/>
                      <a:pt x="37" y="56"/>
                    </a:cubicBezTo>
                    <a:cubicBezTo>
                      <a:pt x="37" y="46"/>
                      <a:pt x="37" y="46"/>
                      <a:pt x="37" y="46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3" y="45"/>
                      <a:pt x="23" y="44"/>
                      <a:pt x="23" y="43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9" y="23"/>
                      <a:pt x="39" y="16"/>
                      <a:pt x="50" y="16"/>
                    </a:cubicBezTo>
                    <a:cubicBezTo>
                      <a:pt x="52" y="16"/>
                      <a:pt x="55" y="16"/>
                      <a:pt x="57" y="17"/>
                    </a:cubicBezTo>
                    <a:cubicBezTo>
                      <a:pt x="61" y="18"/>
                      <a:pt x="61" y="18"/>
                      <a:pt x="61" y="18"/>
                    </a:cubicBezTo>
                    <a:cubicBezTo>
                      <a:pt x="61" y="1"/>
                      <a:pt x="61" y="1"/>
                      <a:pt x="61" y="1"/>
                    </a:cubicBezTo>
                    <a:cubicBezTo>
                      <a:pt x="59" y="1"/>
                      <a:pt x="59" y="1"/>
                      <a:pt x="59" y="1"/>
                    </a:cubicBezTo>
                    <a:cubicBezTo>
                      <a:pt x="56" y="0"/>
                      <a:pt x="53" y="0"/>
                      <a:pt x="50" y="0"/>
                    </a:cubicBezTo>
                    <a:cubicBezTo>
                      <a:pt x="29" y="0"/>
                      <a:pt x="12" y="14"/>
                      <a:pt x="8" y="33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6" y="44"/>
                      <a:pt x="6" y="45"/>
                      <a:pt x="6" y="46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8" y="56"/>
                      <a:pt x="8" y="56"/>
                      <a:pt x="8" y="56"/>
                    </a:cubicBezTo>
                    <a:cubicBezTo>
                      <a:pt x="14" y="73"/>
                      <a:pt x="30" y="86"/>
                      <a:pt x="50" y="8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</p:grpSp>
      <p:grpSp>
        <p:nvGrpSpPr>
          <p:cNvPr id="203" name="组合 202"/>
          <p:cNvGrpSpPr/>
          <p:nvPr/>
        </p:nvGrpSpPr>
        <p:grpSpPr>
          <a:xfrm>
            <a:off x="859189" y="2914468"/>
            <a:ext cx="699729" cy="720949"/>
            <a:chOff x="6067945" y="5936132"/>
            <a:chExt cx="910025" cy="910025"/>
          </a:xfrm>
        </p:grpSpPr>
        <p:grpSp>
          <p:nvGrpSpPr>
            <p:cNvPr id="177" name="组合 176"/>
            <p:cNvGrpSpPr/>
            <p:nvPr/>
          </p:nvGrpSpPr>
          <p:grpSpPr>
            <a:xfrm>
              <a:off x="6067945" y="5936132"/>
              <a:ext cx="910025" cy="910025"/>
              <a:chOff x="2646157" y="1103874"/>
              <a:chExt cx="910025" cy="910025"/>
            </a:xfrm>
            <a:solidFill>
              <a:schemeClr val="accent3"/>
            </a:solidFill>
          </p:grpSpPr>
          <p:grpSp>
            <p:nvGrpSpPr>
              <p:cNvPr id="178" name="组合 177"/>
              <p:cNvGrpSpPr/>
              <p:nvPr/>
            </p:nvGrpSpPr>
            <p:grpSpPr>
              <a:xfrm>
                <a:off x="2646157" y="1103874"/>
                <a:ext cx="910025" cy="910025"/>
                <a:chOff x="1236675" y="2423160"/>
                <a:chExt cx="1950720" cy="1950720"/>
              </a:xfrm>
              <a:grpFill/>
            </p:grpSpPr>
            <p:sp>
              <p:nvSpPr>
                <p:cNvPr id="180" name="椭圆 179"/>
                <p:cNvSpPr/>
                <p:nvPr/>
              </p:nvSpPr>
              <p:spPr>
                <a:xfrm>
                  <a:off x="1236675" y="2423160"/>
                  <a:ext cx="1950720" cy="1950720"/>
                </a:xfrm>
                <a:prstGeom prst="ellipse">
                  <a:avLst/>
                </a:prstGeom>
                <a:grpFill/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zh-CN" altLang="en-US" sz="2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181" name="椭圆 180"/>
                <p:cNvSpPr/>
                <p:nvPr/>
              </p:nvSpPr>
              <p:spPr>
                <a:xfrm>
                  <a:off x="1426863" y="2613348"/>
                  <a:ext cx="1570349" cy="1570349"/>
                </a:xfrm>
                <a:prstGeom prst="ellipse">
                  <a:avLst/>
                </a:prstGeom>
                <a:grpFill/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zh-CN" altLang="en-US" sz="2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endParaRPr>
                </a:p>
              </p:txBody>
            </p:sp>
          </p:grpSp>
          <p:sp>
            <p:nvSpPr>
              <p:cNvPr id="179" name="椭圆 178"/>
              <p:cNvSpPr/>
              <p:nvPr/>
            </p:nvSpPr>
            <p:spPr>
              <a:xfrm>
                <a:off x="2792045" y="1249762"/>
                <a:ext cx="618249" cy="618249"/>
              </a:xfrm>
              <a:prstGeom prst="ellipse">
                <a:avLst/>
              </a:prstGeom>
              <a:grpFill/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 sz="2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182" name="组合 181"/>
            <p:cNvGrpSpPr/>
            <p:nvPr/>
          </p:nvGrpSpPr>
          <p:grpSpPr>
            <a:xfrm>
              <a:off x="6412797" y="6244611"/>
              <a:ext cx="291995" cy="327631"/>
              <a:chOff x="3199776" y="780891"/>
              <a:chExt cx="470261" cy="527652"/>
            </a:xfrm>
            <a:solidFill>
              <a:schemeClr val="bg1"/>
            </a:solidFill>
          </p:grpSpPr>
          <p:sp>
            <p:nvSpPr>
              <p:cNvPr id="183" name="Freeform 433"/>
              <p:cNvSpPr>
                <a:spLocks noEditPoints="1"/>
              </p:cNvSpPr>
              <p:nvPr/>
            </p:nvSpPr>
            <p:spPr bwMode="auto">
              <a:xfrm>
                <a:off x="3262591" y="927080"/>
                <a:ext cx="64814" cy="65671"/>
              </a:xfrm>
              <a:custGeom>
                <a:avLst/>
                <a:gdLst>
                  <a:gd name="T0" fmla="*/ 96 w 96"/>
                  <a:gd name="T1" fmla="*/ 48 h 97"/>
                  <a:gd name="T2" fmla="*/ 48 w 96"/>
                  <a:gd name="T3" fmla="*/ 0 h 97"/>
                  <a:gd name="T4" fmla="*/ 0 w 96"/>
                  <a:gd name="T5" fmla="*/ 48 h 97"/>
                  <a:gd name="T6" fmla="*/ 48 w 96"/>
                  <a:gd name="T7" fmla="*/ 97 h 97"/>
                  <a:gd name="T8" fmla="*/ 96 w 96"/>
                  <a:gd name="T9" fmla="*/ 48 h 97"/>
                  <a:gd name="T10" fmla="*/ 28 w 96"/>
                  <a:gd name="T11" fmla="*/ 71 h 97"/>
                  <a:gd name="T12" fmla="*/ 31 w 96"/>
                  <a:gd name="T13" fmla="*/ 61 h 97"/>
                  <a:gd name="T14" fmla="*/ 45 w 96"/>
                  <a:gd name="T15" fmla="*/ 65 h 97"/>
                  <a:gd name="T16" fmla="*/ 53 w 96"/>
                  <a:gd name="T17" fmla="*/ 60 h 97"/>
                  <a:gd name="T18" fmla="*/ 44 w 96"/>
                  <a:gd name="T19" fmla="*/ 52 h 97"/>
                  <a:gd name="T20" fmla="*/ 29 w 96"/>
                  <a:gd name="T21" fmla="*/ 37 h 97"/>
                  <a:gd name="T22" fmla="*/ 43 w 96"/>
                  <a:gd name="T23" fmla="*/ 21 h 97"/>
                  <a:gd name="T24" fmla="*/ 43 w 96"/>
                  <a:gd name="T25" fmla="*/ 13 h 97"/>
                  <a:gd name="T26" fmla="*/ 52 w 96"/>
                  <a:gd name="T27" fmla="*/ 13 h 97"/>
                  <a:gd name="T28" fmla="*/ 52 w 96"/>
                  <a:gd name="T29" fmla="*/ 21 h 97"/>
                  <a:gd name="T30" fmla="*/ 64 w 96"/>
                  <a:gd name="T31" fmla="*/ 24 h 97"/>
                  <a:gd name="T32" fmla="*/ 62 w 96"/>
                  <a:gd name="T33" fmla="*/ 33 h 97"/>
                  <a:gd name="T34" fmla="*/ 49 w 96"/>
                  <a:gd name="T35" fmla="*/ 30 h 97"/>
                  <a:gd name="T36" fmla="*/ 42 w 96"/>
                  <a:gd name="T37" fmla="*/ 35 h 97"/>
                  <a:gd name="T38" fmla="*/ 52 w 96"/>
                  <a:gd name="T39" fmla="*/ 42 h 97"/>
                  <a:gd name="T40" fmla="*/ 66 w 96"/>
                  <a:gd name="T41" fmla="*/ 58 h 97"/>
                  <a:gd name="T42" fmla="*/ 51 w 96"/>
                  <a:gd name="T43" fmla="*/ 74 h 97"/>
                  <a:gd name="T44" fmla="*/ 51 w 96"/>
                  <a:gd name="T45" fmla="*/ 83 h 97"/>
                  <a:gd name="T46" fmla="*/ 43 w 96"/>
                  <a:gd name="T47" fmla="*/ 83 h 97"/>
                  <a:gd name="T48" fmla="*/ 43 w 96"/>
                  <a:gd name="T49" fmla="*/ 75 h 97"/>
                  <a:gd name="T50" fmla="*/ 28 w 96"/>
                  <a:gd name="T51" fmla="*/ 71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96" h="97">
                    <a:moveTo>
                      <a:pt x="96" y="48"/>
                    </a:moveTo>
                    <a:cubicBezTo>
                      <a:pt x="96" y="21"/>
                      <a:pt x="75" y="0"/>
                      <a:pt x="48" y="0"/>
                    </a:cubicBezTo>
                    <a:cubicBezTo>
                      <a:pt x="22" y="0"/>
                      <a:pt x="0" y="21"/>
                      <a:pt x="0" y="48"/>
                    </a:cubicBezTo>
                    <a:cubicBezTo>
                      <a:pt x="0" y="75"/>
                      <a:pt x="22" y="97"/>
                      <a:pt x="48" y="97"/>
                    </a:cubicBezTo>
                    <a:cubicBezTo>
                      <a:pt x="75" y="97"/>
                      <a:pt x="96" y="75"/>
                      <a:pt x="96" y="48"/>
                    </a:cubicBezTo>
                    <a:close/>
                    <a:moveTo>
                      <a:pt x="28" y="71"/>
                    </a:moveTo>
                    <a:cubicBezTo>
                      <a:pt x="31" y="61"/>
                      <a:pt x="31" y="61"/>
                      <a:pt x="31" y="61"/>
                    </a:cubicBezTo>
                    <a:cubicBezTo>
                      <a:pt x="34" y="63"/>
                      <a:pt x="39" y="65"/>
                      <a:pt x="45" y="65"/>
                    </a:cubicBezTo>
                    <a:cubicBezTo>
                      <a:pt x="50" y="65"/>
                      <a:pt x="53" y="63"/>
                      <a:pt x="53" y="60"/>
                    </a:cubicBezTo>
                    <a:cubicBezTo>
                      <a:pt x="53" y="56"/>
                      <a:pt x="51" y="54"/>
                      <a:pt x="44" y="52"/>
                    </a:cubicBezTo>
                    <a:cubicBezTo>
                      <a:pt x="35" y="49"/>
                      <a:pt x="29" y="45"/>
                      <a:pt x="29" y="37"/>
                    </a:cubicBezTo>
                    <a:cubicBezTo>
                      <a:pt x="29" y="29"/>
                      <a:pt x="34" y="23"/>
                      <a:pt x="43" y="21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52" y="13"/>
                      <a:pt x="52" y="13"/>
                      <a:pt x="52" y="13"/>
                    </a:cubicBezTo>
                    <a:cubicBezTo>
                      <a:pt x="52" y="21"/>
                      <a:pt x="52" y="21"/>
                      <a:pt x="52" y="21"/>
                    </a:cubicBezTo>
                    <a:cubicBezTo>
                      <a:pt x="57" y="21"/>
                      <a:pt x="61" y="22"/>
                      <a:pt x="64" y="24"/>
                    </a:cubicBezTo>
                    <a:cubicBezTo>
                      <a:pt x="62" y="33"/>
                      <a:pt x="62" y="33"/>
                      <a:pt x="62" y="33"/>
                    </a:cubicBezTo>
                    <a:cubicBezTo>
                      <a:pt x="59" y="32"/>
                      <a:pt x="55" y="30"/>
                      <a:pt x="49" y="30"/>
                    </a:cubicBezTo>
                    <a:cubicBezTo>
                      <a:pt x="44" y="30"/>
                      <a:pt x="42" y="33"/>
                      <a:pt x="42" y="35"/>
                    </a:cubicBezTo>
                    <a:cubicBezTo>
                      <a:pt x="42" y="38"/>
                      <a:pt x="45" y="40"/>
                      <a:pt x="52" y="42"/>
                    </a:cubicBezTo>
                    <a:cubicBezTo>
                      <a:pt x="62" y="46"/>
                      <a:pt x="66" y="51"/>
                      <a:pt x="66" y="58"/>
                    </a:cubicBezTo>
                    <a:cubicBezTo>
                      <a:pt x="66" y="66"/>
                      <a:pt x="61" y="73"/>
                      <a:pt x="51" y="74"/>
                    </a:cubicBezTo>
                    <a:cubicBezTo>
                      <a:pt x="51" y="83"/>
                      <a:pt x="51" y="83"/>
                      <a:pt x="51" y="83"/>
                    </a:cubicBezTo>
                    <a:cubicBezTo>
                      <a:pt x="43" y="83"/>
                      <a:pt x="43" y="83"/>
                      <a:pt x="43" y="83"/>
                    </a:cubicBezTo>
                    <a:cubicBezTo>
                      <a:pt x="43" y="75"/>
                      <a:pt x="43" y="75"/>
                      <a:pt x="43" y="75"/>
                    </a:cubicBezTo>
                    <a:cubicBezTo>
                      <a:pt x="37" y="75"/>
                      <a:pt x="32" y="73"/>
                      <a:pt x="28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84" name="Freeform 434"/>
              <p:cNvSpPr>
                <a:spLocks noEditPoints="1"/>
              </p:cNvSpPr>
              <p:nvPr/>
            </p:nvSpPr>
            <p:spPr bwMode="auto">
              <a:xfrm>
                <a:off x="3367094" y="867120"/>
                <a:ext cx="140479" cy="141621"/>
              </a:xfrm>
              <a:custGeom>
                <a:avLst/>
                <a:gdLst>
                  <a:gd name="T0" fmla="*/ 104 w 208"/>
                  <a:gd name="T1" fmla="*/ 0 h 210"/>
                  <a:gd name="T2" fmla="*/ 0 w 208"/>
                  <a:gd name="T3" fmla="*/ 105 h 210"/>
                  <a:gd name="T4" fmla="*/ 104 w 208"/>
                  <a:gd name="T5" fmla="*/ 210 h 210"/>
                  <a:gd name="T6" fmla="*/ 208 w 208"/>
                  <a:gd name="T7" fmla="*/ 105 h 210"/>
                  <a:gd name="T8" fmla="*/ 104 w 208"/>
                  <a:gd name="T9" fmla="*/ 0 h 210"/>
                  <a:gd name="T10" fmla="*/ 111 w 208"/>
                  <a:gd name="T11" fmla="*/ 161 h 210"/>
                  <a:gd name="T12" fmla="*/ 111 w 208"/>
                  <a:gd name="T13" fmla="*/ 180 h 210"/>
                  <a:gd name="T14" fmla="*/ 92 w 208"/>
                  <a:gd name="T15" fmla="*/ 180 h 210"/>
                  <a:gd name="T16" fmla="*/ 92 w 208"/>
                  <a:gd name="T17" fmla="*/ 163 h 210"/>
                  <a:gd name="T18" fmla="*/ 61 w 208"/>
                  <a:gd name="T19" fmla="*/ 155 h 210"/>
                  <a:gd name="T20" fmla="*/ 66 w 208"/>
                  <a:gd name="T21" fmla="*/ 133 h 210"/>
                  <a:gd name="T22" fmla="*/ 97 w 208"/>
                  <a:gd name="T23" fmla="*/ 141 h 210"/>
                  <a:gd name="T24" fmla="*/ 115 w 208"/>
                  <a:gd name="T25" fmla="*/ 130 h 210"/>
                  <a:gd name="T26" fmla="*/ 95 w 208"/>
                  <a:gd name="T27" fmla="*/ 114 h 210"/>
                  <a:gd name="T28" fmla="*/ 62 w 208"/>
                  <a:gd name="T29" fmla="*/ 80 h 210"/>
                  <a:gd name="T30" fmla="*/ 93 w 208"/>
                  <a:gd name="T31" fmla="*/ 47 h 210"/>
                  <a:gd name="T32" fmla="*/ 93 w 208"/>
                  <a:gd name="T33" fmla="*/ 30 h 210"/>
                  <a:gd name="T34" fmla="*/ 111 w 208"/>
                  <a:gd name="T35" fmla="*/ 30 h 210"/>
                  <a:gd name="T36" fmla="*/ 111 w 208"/>
                  <a:gd name="T37" fmla="*/ 46 h 210"/>
                  <a:gd name="T38" fmla="*/ 138 w 208"/>
                  <a:gd name="T39" fmla="*/ 52 h 210"/>
                  <a:gd name="T40" fmla="*/ 133 w 208"/>
                  <a:gd name="T41" fmla="*/ 73 h 210"/>
                  <a:gd name="T42" fmla="*/ 106 w 208"/>
                  <a:gd name="T43" fmla="*/ 66 h 210"/>
                  <a:gd name="T44" fmla="*/ 90 w 208"/>
                  <a:gd name="T45" fmla="*/ 77 h 210"/>
                  <a:gd name="T46" fmla="*/ 113 w 208"/>
                  <a:gd name="T47" fmla="*/ 93 h 210"/>
                  <a:gd name="T48" fmla="*/ 143 w 208"/>
                  <a:gd name="T49" fmla="*/ 127 h 210"/>
                  <a:gd name="T50" fmla="*/ 111 w 208"/>
                  <a:gd name="T51" fmla="*/ 161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08" h="210">
                    <a:moveTo>
                      <a:pt x="104" y="0"/>
                    </a:moveTo>
                    <a:cubicBezTo>
                      <a:pt x="47" y="0"/>
                      <a:pt x="0" y="47"/>
                      <a:pt x="0" y="105"/>
                    </a:cubicBezTo>
                    <a:cubicBezTo>
                      <a:pt x="0" y="163"/>
                      <a:pt x="47" y="210"/>
                      <a:pt x="104" y="210"/>
                    </a:cubicBezTo>
                    <a:cubicBezTo>
                      <a:pt x="162" y="210"/>
                      <a:pt x="208" y="163"/>
                      <a:pt x="208" y="105"/>
                    </a:cubicBezTo>
                    <a:cubicBezTo>
                      <a:pt x="208" y="47"/>
                      <a:pt x="162" y="0"/>
                      <a:pt x="104" y="0"/>
                    </a:cubicBezTo>
                    <a:close/>
                    <a:moveTo>
                      <a:pt x="111" y="161"/>
                    </a:moveTo>
                    <a:cubicBezTo>
                      <a:pt x="111" y="180"/>
                      <a:pt x="111" y="180"/>
                      <a:pt x="111" y="180"/>
                    </a:cubicBezTo>
                    <a:cubicBezTo>
                      <a:pt x="92" y="180"/>
                      <a:pt x="92" y="180"/>
                      <a:pt x="92" y="180"/>
                    </a:cubicBezTo>
                    <a:cubicBezTo>
                      <a:pt x="92" y="163"/>
                      <a:pt x="92" y="163"/>
                      <a:pt x="92" y="163"/>
                    </a:cubicBezTo>
                    <a:cubicBezTo>
                      <a:pt x="80" y="162"/>
                      <a:pt x="68" y="159"/>
                      <a:pt x="61" y="155"/>
                    </a:cubicBezTo>
                    <a:cubicBezTo>
                      <a:pt x="66" y="133"/>
                      <a:pt x="66" y="133"/>
                      <a:pt x="66" y="133"/>
                    </a:cubicBezTo>
                    <a:cubicBezTo>
                      <a:pt x="74" y="138"/>
                      <a:pt x="85" y="141"/>
                      <a:pt x="97" y="141"/>
                    </a:cubicBezTo>
                    <a:cubicBezTo>
                      <a:pt x="108" y="141"/>
                      <a:pt x="115" y="137"/>
                      <a:pt x="115" y="130"/>
                    </a:cubicBezTo>
                    <a:cubicBezTo>
                      <a:pt x="115" y="123"/>
                      <a:pt x="109" y="118"/>
                      <a:pt x="95" y="114"/>
                    </a:cubicBezTo>
                    <a:cubicBezTo>
                      <a:pt x="76" y="107"/>
                      <a:pt x="62" y="98"/>
                      <a:pt x="62" y="80"/>
                    </a:cubicBezTo>
                    <a:cubicBezTo>
                      <a:pt x="62" y="64"/>
                      <a:pt x="74" y="51"/>
                      <a:pt x="93" y="47"/>
                    </a:cubicBezTo>
                    <a:cubicBezTo>
                      <a:pt x="93" y="30"/>
                      <a:pt x="93" y="30"/>
                      <a:pt x="93" y="30"/>
                    </a:cubicBezTo>
                    <a:cubicBezTo>
                      <a:pt x="111" y="30"/>
                      <a:pt x="111" y="30"/>
                      <a:pt x="111" y="30"/>
                    </a:cubicBezTo>
                    <a:cubicBezTo>
                      <a:pt x="111" y="46"/>
                      <a:pt x="111" y="46"/>
                      <a:pt x="111" y="46"/>
                    </a:cubicBezTo>
                    <a:cubicBezTo>
                      <a:pt x="124" y="46"/>
                      <a:pt x="132" y="49"/>
                      <a:pt x="138" y="52"/>
                    </a:cubicBezTo>
                    <a:cubicBezTo>
                      <a:pt x="133" y="73"/>
                      <a:pt x="133" y="73"/>
                      <a:pt x="133" y="73"/>
                    </a:cubicBezTo>
                    <a:cubicBezTo>
                      <a:pt x="128" y="71"/>
                      <a:pt x="120" y="66"/>
                      <a:pt x="106" y="66"/>
                    </a:cubicBezTo>
                    <a:cubicBezTo>
                      <a:pt x="94" y="66"/>
                      <a:pt x="90" y="72"/>
                      <a:pt x="90" y="77"/>
                    </a:cubicBezTo>
                    <a:cubicBezTo>
                      <a:pt x="90" y="83"/>
                      <a:pt x="97" y="87"/>
                      <a:pt x="113" y="93"/>
                    </a:cubicBezTo>
                    <a:cubicBezTo>
                      <a:pt x="135" y="100"/>
                      <a:pt x="143" y="111"/>
                      <a:pt x="143" y="127"/>
                    </a:cubicBezTo>
                    <a:cubicBezTo>
                      <a:pt x="143" y="144"/>
                      <a:pt x="132" y="158"/>
                      <a:pt x="111" y="1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85" name="Freeform 435"/>
              <p:cNvSpPr>
                <a:spLocks noEditPoints="1"/>
              </p:cNvSpPr>
              <p:nvPr/>
            </p:nvSpPr>
            <p:spPr bwMode="auto">
              <a:xfrm>
                <a:off x="3282007" y="1022446"/>
                <a:ext cx="89941" cy="91083"/>
              </a:xfrm>
              <a:custGeom>
                <a:avLst/>
                <a:gdLst>
                  <a:gd name="T0" fmla="*/ 67 w 133"/>
                  <a:gd name="T1" fmla="*/ 0 h 135"/>
                  <a:gd name="T2" fmla="*/ 0 w 133"/>
                  <a:gd name="T3" fmla="*/ 68 h 135"/>
                  <a:gd name="T4" fmla="*/ 67 w 133"/>
                  <a:gd name="T5" fmla="*/ 135 h 135"/>
                  <a:gd name="T6" fmla="*/ 133 w 133"/>
                  <a:gd name="T7" fmla="*/ 68 h 135"/>
                  <a:gd name="T8" fmla="*/ 67 w 133"/>
                  <a:gd name="T9" fmla="*/ 0 h 135"/>
                  <a:gd name="T10" fmla="*/ 71 w 133"/>
                  <a:gd name="T11" fmla="*/ 104 h 135"/>
                  <a:gd name="T12" fmla="*/ 71 w 133"/>
                  <a:gd name="T13" fmla="*/ 116 h 135"/>
                  <a:gd name="T14" fmla="*/ 59 w 133"/>
                  <a:gd name="T15" fmla="*/ 116 h 135"/>
                  <a:gd name="T16" fmla="*/ 59 w 133"/>
                  <a:gd name="T17" fmla="*/ 105 h 135"/>
                  <a:gd name="T18" fmla="*/ 39 w 133"/>
                  <a:gd name="T19" fmla="*/ 100 h 135"/>
                  <a:gd name="T20" fmla="*/ 43 w 133"/>
                  <a:gd name="T21" fmla="*/ 86 h 135"/>
                  <a:gd name="T22" fmla="*/ 62 w 133"/>
                  <a:gd name="T23" fmla="*/ 91 h 135"/>
                  <a:gd name="T24" fmla="*/ 74 w 133"/>
                  <a:gd name="T25" fmla="*/ 84 h 135"/>
                  <a:gd name="T26" fmla="*/ 61 w 133"/>
                  <a:gd name="T27" fmla="*/ 73 h 135"/>
                  <a:gd name="T28" fmla="*/ 40 w 133"/>
                  <a:gd name="T29" fmla="*/ 52 h 135"/>
                  <a:gd name="T30" fmla="*/ 60 w 133"/>
                  <a:gd name="T31" fmla="*/ 31 h 135"/>
                  <a:gd name="T32" fmla="*/ 60 w 133"/>
                  <a:gd name="T33" fmla="*/ 20 h 135"/>
                  <a:gd name="T34" fmla="*/ 72 w 133"/>
                  <a:gd name="T35" fmla="*/ 20 h 135"/>
                  <a:gd name="T36" fmla="*/ 72 w 133"/>
                  <a:gd name="T37" fmla="*/ 30 h 135"/>
                  <a:gd name="T38" fmla="*/ 89 w 133"/>
                  <a:gd name="T39" fmla="*/ 34 h 135"/>
                  <a:gd name="T40" fmla="*/ 85 w 133"/>
                  <a:gd name="T41" fmla="*/ 47 h 135"/>
                  <a:gd name="T42" fmla="*/ 68 w 133"/>
                  <a:gd name="T43" fmla="*/ 43 h 135"/>
                  <a:gd name="T44" fmla="*/ 58 w 133"/>
                  <a:gd name="T45" fmla="*/ 50 h 135"/>
                  <a:gd name="T46" fmla="*/ 72 w 133"/>
                  <a:gd name="T47" fmla="*/ 60 h 135"/>
                  <a:gd name="T48" fmla="*/ 92 w 133"/>
                  <a:gd name="T49" fmla="*/ 82 h 135"/>
                  <a:gd name="T50" fmla="*/ 71 w 133"/>
                  <a:gd name="T51" fmla="*/ 104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33" h="135">
                    <a:moveTo>
                      <a:pt x="67" y="0"/>
                    </a:moveTo>
                    <a:cubicBezTo>
                      <a:pt x="30" y="0"/>
                      <a:pt x="0" y="31"/>
                      <a:pt x="0" y="68"/>
                    </a:cubicBezTo>
                    <a:cubicBezTo>
                      <a:pt x="0" y="105"/>
                      <a:pt x="30" y="135"/>
                      <a:pt x="67" y="135"/>
                    </a:cubicBezTo>
                    <a:cubicBezTo>
                      <a:pt x="104" y="135"/>
                      <a:pt x="133" y="105"/>
                      <a:pt x="133" y="68"/>
                    </a:cubicBezTo>
                    <a:cubicBezTo>
                      <a:pt x="133" y="31"/>
                      <a:pt x="104" y="0"/>
                      <a:pt x="67" y="0"/>
                    </a:cubicBezTo>
                    <a:close/>
                    <a:moveTo>
                      <a:pt x="71" y="104"/>
                    </a:moveTo>
                    <a:cubicBezTo>
                      <a:pt x="71" y="116"/>
                      <a:pt x="71" y="116"/>
                      <a:pt x="71" y="116"/>
                    </a:cubicBezTo>
                    <a:cubicBezTo>
                      <a:pt x="59" y="116"/>
                      <a:pt x="59" y="116"/>
                      <a:pt x="59" y="116"/>
                    </a:cubicBezTo>
                    <a:cubicBezTo>
                      <a:pt x="59" y="105"/>
                      <a:pt x="59" y="105"/>
                      <a:pt x="59" y="105"/>
                    </a:cubicBezTo>
                    <a:cubicBezTo>
                      <a:pt x="51" y="104"/>
                      <a:pt x="44" y="102"/>
                      <a:pt x="39" y="100"/>
                    </a:cubicBezTo>
                    <a:cubicBezTo>
                      <a:pt x="43" y="86"/>
                      <a:pt x="43" y="86"/>
                      <a:pt x="43" y="86"/>
                    </a:cubicBezTo>
                    <a:cubicBezTo>
                      <a:pt x="48" y="88"/>
                      <a:pt x="55" y="91"/>
                      <a:pt x="62" y="91"/>
                    </a:cubicBezTo>
                    <a:cubicBezTo>
                      <a:pt x="69" y="91"/>
                      <a:pt x="74" y="88"/>
                      <a:pt x="74" y="84"/>
                    </a:cubicBezTo>
                    <a:cubicBezTo>
                      <a:pt x="74" y="79"/>
                      <a:pt x="70" y="76"/>
                      <a:pt x="61" y="73"/>
                    </a:cubicBezTo>
                    <a:cubicBezTo>
                      <a:pt x="49" y="69"/>
                      <a:pt x="40" y="63"/>
                      <a:pt x="40" y="52"/>
                    </a:cubicBezTo>
                    <a:cubicBezTo>
                      <a:pt x="40" y="41"/>
                      <a:pt x="47" y="33"/>
                      <a:pt x="60" y="31"/>
                    </a:cubicBezTo>
                    <a:cubicBezTo>
                      <a:pt x="60" y="20"/>
                      <a:pt x="60" y="20"/>
                      <a:pt x="60" y="20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2" y="30"/>
                      <a:pt x="72" y="30"/>
                      <a:pt x="72" y="30"/>
                    </a:cubicBezTo>
                    <a:cubicBezTo>
                      <a:pt x="79" y="30"/>
                      <a:pt x="85" y="32"/>
                      <a:pt x="89" y="34"/>
                    </a:cubicBezTo>
                    <a:cubicBezTo>
                      <a:pt x="85" y="47"/>
                      <a:pt x="85" y="47"/>
                      <a:pt x="85" y="47"/>
                    </a:cubicBezTo>
                    <a:cubicBezTo>
                      <a:pt x="82" y="46"/>
                      <a:pt x="77" y="43"/>
                      <a:pt x="68" y="43"/>
                    </a:cubicBezTo>
                    <a:cubicBezTo>
                      <a:pt x="61" y="43"/>
                      <a:pt x="58" y="46"/>
                      <a:pt x="58" y="50"/>
                    </a:cubicBezTo>
                    <a:cubicBezTo>
                      <a:pt x="58" y="54"/>
                      <a:pt x="62" y="56"/>
                      <a:pt x="72" y="60"/>
                    </a:cubicBezTo>
                    <a:cubicBezTo>
                      <a:pt x="86" y="65"/>
                      <a:pt x="92" y="71"/>
                      <a:pt x="92" y="82"/>
                    </a:cubicBezTo>
                    <a:cubicBezTo>
                      <a:pt x="92" y="93"/>
                      <a:pt x="85" y="101"/>
                      <a:pt x="71" y="10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86" name="Freeform 436"/>
              <p:cNvSpPr>
                <a:spLocks noEditPoints="1"/>
              </p:cNvSpPr>
              <p:nvPr/>
            </p:nvSpPr>
            <p:spPr bwMode="auto">
              <a:xfrm>
                <a:off x="3199776" y="780891"/>
                <a:ext cx="470261" cy="527652"/>
              </a:xfrm>
              <a:custGeom>
                <a:avLst/>
                <a:gdLst>
                  <a:gd name="T0" fmla="*/ 652 w 697"/>
                  <a:gd name="T1" fmla="*/ 426 h 782"/>
                  <a:gd name="T2" fmla="*/ 601 w 697"/>
                  <a:gd name="T3" fmla="*/ 366 h 782"/>
                  <a:gd name="T4" fmla="*/ 603 w 697"/>
                  <a:gd name="T5" fmla="*/ 267 h 782"/>
                  <a:gd name="T6" fmla="*/ 585 w 697"/>
                  <a:gd name="T7" fmla="*/ 182 h 782"/>
                  <a:gd name="T8" fmla="*/ 509 w 697"/>
                  <a:gd name="T9" fmla="*/ 80 h 782"/>
                  <a:gd name="T10" fmla="*/ 298 w 697"/>
                  <a:gd name="T11" fmla="*/ 0 h 782"/>
                  <a:gd name="T12" fmla="*/ 0 w 697"/>
                  <a:gd name="T13" fmla="*/ 273 h 782"/>
                  <a:gd name="T14" fmla="*/ 2 w 697"/>
                  <a:gd name="T15" fmla="*/ 302 h 782"/>
                  <a:gd name="T16" fmla="*/ 82 w 697"/>
                  <a:gd name="T17" fmla="*/ 533 h 782"/>
                  <a:gd name="T18" fmla="*/ 0 w 697"/>
                  <a:gd name="T19" fmla="*/ 781 h 782"/>
                  <a:gd name="T20" fmla="*/ 362 w 697"/>
                  <a:gd name="T21" fmla="*/ 782 h 782"/>
                  <a:gd name="T22" fmla="*/ 433 w 697"/>
                  <a:gd name="T23" fmla="*/ 674 h 782"/>
                  <a:gd name="T24" fmla="*/ 545 w 697"/>
                  <a:gd name="T25" fmla="*/ 675 h 782"/>
                  <a:gd name="T26" fmla="*/ 563 w 697"/>
                  <a:gd name="T27" fmla="*/ 673 h 782"/>
                  <a:gd name="T28" fmla="*/ 564 w 697"/>
                  <a:gd name="T29" fmla="*/ 673 h 782"/>
                  <a:gd name="T30" fmla="*/ 564 w 697"/>
                  <a:gd name="T31" fmla="*/ 673 h 782"/>
                  <a:gd name="T32" fmla="*/ 571 w 697"/>
                  <a:gd name="T33" fmla="*/ 601 h 782"/>
                  <a:gd name="T34" fmla="*/ 595 w 697"/>
                  <a:gd name="T35" fmla="*/ 577 h 782"/>
                  <a:gd name="T36" fmla="*/ 595 w 697"/>
                  <a:gd name="T37" fmla="*/ 575 h 782"/>
                  <a:gd name="T38" fmla="*/ 561 w 697"/>
                  <a:gd name="T39" fmla="*/ 554 h 782"/>
                  <a:gd name="T40" fmla="*/ 570 w 697"/>
                  <a:gd name="T41" fmla="*/ 554 h 782"/>
                  <a:gd name="T42" fmla="*/ 598 w 697"/>
                  <a:gd name="T43" fmla="*/ 536 h 782"/>
                  <a:gd name="T44" fmla="*/ 598 w 697"/>
                  <a:gd name="T45" fmla="*/ 535 h 782"/>
                  <a:gd name="T46" fmla="*/ 595 w 697"/>
                  <a:gd name="T47" fmla="*/ 527 h 782"/>
                  <a:gd name="T48" fmla="*/ 611 w 697"/>
                  <a:gd name="T49" fmla="*/ 461 h 782"/>
                  <a:gd name="T50" fmla="*/ 652 w 697"/>
                  <a:gd name="T51" fmla="*/ 426 h 782"/>
                  <a:gd name="T52" fmla="*/ 78 w 697"/>
                  <a:gd name="T53" fmla="*/ 265 h 782"/>
                  <a:gd name="T54" fmla="*/ 141 w 697"/>
                  <a:gd name="T55" fmla="*/ 201 h 782"/>
                  <a:gd name="T56" fmla="*/ 205 w 697"/>
                  <a:gd name="T57" fmla="*/ 265 h 782"/>
                  <a:gd name="T58" fmla="*/ 141 w 697"/>
                  <a:gd name="T59" fmla="*/ 329 h 782"/>
                  <a:gd name="T60" fmla="*/ 78 w 697"/>
                  <a:gd name="T61" fmla="*/ 265 h 782"/>
                  <a:gd name="T62" fmla="*/ 189 w 697"/>
                  <a:gd name="T63" fmla="*/ 514 h 782"/>
                  <a:gd name="T64" fmla="*/ 101 w 697"/>
                  <a:gd name="T65" fmla="*/ 426 h 782"/>
                  <a:gd name="T66" fmla="*/ 189 w 697"/>
                  <a:gd name="T67" fmla="*/ 337 h 782"/>
                  <a:gd name="T68" fmla="*/ 276 w 697"/>
                  <a:gd name="T69" fmla="*/ 426 h 782"/>
                  <a:gd name="T70" fmla="*/ 189 w 697"/>
                  <a:gd name="T71" fmla="*/ 514 h 782"/>
                  <a:gd name="T72" fmla="*/ 352 w 697"/>
                  <a:gd name="T73" fmla="*/ 371 h 782"/>
                  <a:gd name="T74" fmla="*/ 215 w 697"/>
                  <a:gd name="T75" fmla="*/ 233 h 782"/>
                  <a:gd name="T76" fmla="*/ 352 w 697"/>
                  <a:gd name="T77" fmla="*/ 95 h 782"/>
                  <a:gd name="T78" fmla="*/ 489 w 697"/>
                  <a:gd name="T79" fmla="*/ 233 h 782"/>
                  <a:gd name="T80" fmla="*/ 352 w 697"/>
                  <a:gd name="T81" fmla="*/ 371 h 7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97" h="782">
                    <a:moveTo>
                      <a:pt x="652" y="426"/>
                    </a:moveTo>
                    <a:cubicBezTo>
                      <a:pt x="636" y="408"/>
                      <a:pt x="611" y="388"/>
                      <a:pt x="601" y="366"/>
                    </a:cubicBezTo>
                    <a:cubicBezTo>
                      <a:pt x="587" y="333"/>
                      <a:pt x="603" y="301"/>
                      <a:pt x="603" y="267"/>
                    </a:cubicBezTo>
                    <a:cubicBezTo>
                      <a:pt x="602" y="240"/>
                      <a:pt x="594" y="207"/>
                      <a:pt x="585" y="182"/>
                    </a:cubicBezTo>
                    <a:cubicBezTo>
                      <a:pt x="570" y="141"/>
                      <a:pt x="543" y="107"/>
                      <a:pt x="509" y="80"/>
                    </a:cubicBezTo>
                    <a:cubicBezTo>
                      <a:pt x="456" y="31"/>
                      <a:pt x="381" y="0"/>
                      <a:pt x="298" y="0"/>
                    </a:cubicBezTo>
                    <a:cubicBezTo>
                      <a:pt x="133" y="0"/>
                      <a:pt x="0" y="122"/>
                      <a:pt x="0" y="273"/>
                    </a:cubicBezTo>
                    <a:cubicBezTo>
                      <a:pt x="0" y="283"/>
                      <a:pt x="1" y="293"/>
                      <a:pt x="2" y="302"/>
                    </a:cubicBezTo>
                    <a:cubicBezTo>
                      <a:pt x="3" y="368"/>
                      <a:pt x="23" y="446"/>
                      <a:pt x="82" y="533"/>
                    </a:cubicBezTo>
                    <a:cubicBezTo>
                      <a:pt x="82" y="533"/>
                      <a:pt x="164" y="697"/>
                      <a:pt x="0" y="781"/>
                    </a:cubicBezTo>
                    <a:cubicBezTo>
                      <a:pt x="362" y="782"/>
                      <a:pt x="362" y="782"/>
                      <a:pt x="362" y="782"/>
                    </a:cubicBezTo>
                    <a:cubicBezTo>
                      <a:pt x="362" y="782"/>
                      <a:pt x="389" y="674"/>
                      <a:pt x="433" y="674"/>
                    </a:cubicBezTo>
                    <a:cubicBezTo>
                      <a:pt x="470" y="674"/>
                      <a:pt x="508" y="677"/>
                      <a:pt x="545" y="675"/>
                    </a:cubicBezTo>
                    <a:cubicBezTo>
                      <a:pt x="553" y="676"/>
                      <a:pt x="558" y="675"/>
                      <a:pt x="563" y="673"/>
                    </a:cubicBezTo>
                    <a:cubicBezTo>
                      <a:pt x="564" y="673"/>
                      <a:pt x="564" y="673"/>
                      <a:pt x="564" y="673"/>
                    </a:cubicBezTo>
                    <a:cubicBezTo>
                      <a:pt x="564" y="673"/>
                      <a:pt x="564" y="673"/>
                      <a:pt x="564" y="673"/>
                    </a:cubicBezTo>
                    <a:cubicBezTo>
                      <a:pt x="589" y="660"/>
                      <a:pt x="571" y="601"/>
                      <a:pt x="571" y="601"/>
                    </a:cubicBezTo>
                    <a:cubicBezTo>
                      <a:pt x="586" y="595"/>
                      <a:pt x="595" y="585"/>
                      <a:pt x="595" y="577"/>
                    </a:cubicBezTo>
                    <a:cubicBezTo>
                      <a:pt x="595" y="575"/>
                      <a:pt x="595" y="575"/>
                      <a:pt x="595" y="575"/>
                    </a:cubicBezTo>
                    <a:cubicBezTo>
                      <a:pt x="595" y="565"/>
                      <a:pt x="581" y="557"/>
                      <a:pt x="561" y="554"/>
                    </a:cubicBezTo>
                    <a:cubicBezTo>
                      <a:pt x="570" y="554"/>
                      <a:pt x="570" y="554"/>
                      <a:pt x="570" y="554"/>
                    </a:cubicBezTo>
                    <a:cubicBezTo>
                      <a:pt x="585" y="554"/>
                      <a:pt x="598" y="546"/>
                      <a:pt x="598" y="536"/>
                    </a:cubicBezTo>
                    <a:cubicBezTo>
                      <a:pt x="598" y="535"/>
                      <a:pt x="598" y="535"/>
                      <a:pt x="598" y="535"/>
                    </a:cubicBezTo>
                    <a:cubicBezTo>
                      <a:pt x="598" y="532"/>
                      <a:pt x="597" y="529"/>
                      <a:pt x="595" y="527"/>
                    </a:cubicBezTo>
                    <a:cubicBezTo>
                      <a:pt x="598" y="514"/>
                      <a:pt x="609" y="461"/>
                      <a:pt x="611" y="461"/>
                    </a:cubicBezTo>
                    <a:cubicBezTo>
                      <a:pt x="697" y="457"/>
                      <a:pt x="652" y="426"/>
                      <a:pt x="652" y="426"/>
                    </a:cubicBezTo>
                    <a:close/>
                    <a:moveTo>
                      <a:pt x="78" y="265"/>
                    </a:moveTo>
                    <a:cubicBezTo>
                      <a:pt x="78" y="230"/>
                      <a:pt x="106" y="201"/>
                      <a:pt x="141" y="201"/>
                    </a:cubicBezTo>
                    <a:cubicBezTo>
                      <a:pt x="176" y="201"/>
                      <a:pt x="205" y="230"/>
                      <a:pt x="205" y="265"/>
                    </a:cubicBezTo>
                    <a:cubicBezTo>
                      <a:pt x="205" y="300"/>
                      <a:pt x="176" y="329"/>
                      <a:pt x="141" y="329"/>
                    </a:cubicBezTo>
                    <a:cubicBezTo>
                      <a:pt x="106" y="329"/>
                      <a:pt x="78" y="300"/>
                      <a:pt x="78" y="265"/>
                    </a:cubicBezTo>
                    <a:close/>
                    <a:moveTo>
                      <a:pt x="189" y="514"/>
                    </a:moveTo>
                    <a:cubicBezTo>
                      <a:pt x="141" y="514"/>
                      <a:pt x="101" y="474"/>
                      <a:pt x="101" y="426"/>
                    </a:cubicBezTo>
                    <a:cubicBezTo>
                      <a:pt x="101" y="377"/>
                      <a:pt x="141" y="337"/>
                      <a:pt x="189" y="337"/>
                    </a:cubicBezTo>
                    <a:cubicBezTo>
                      <a:pt x="237" y="337"/>
                      <a:pt x="276" y="377"/>
                      <a:pt x="276" y="426"/>
                    </a:cubicBezTo>
                    <a:cubicBezTo>
                      <a:pt x="276" y="474"/>
                      <a:pt x="237" y="514"/>
                      <a:pt x="189" y="514"/>
                    </a:cubicBezTo>
                    <a:close/>
                    <a:moveTo>
                      <a:pt x="352" y="371"/>
                    </a:moveTo>
                    <a:cubicBezTo>
                      <a:pt x="276" y="371"/>
                      <a:pt x="215" y="309"/>
                      <a:pt x="215" y="233"/>
                    </a:cubicBezTo>
                    <a:cubicBezTo>
                      <a:pt x="215" y="157"/>
                      <a:pt x="276" y="95"/>
                      <a:pt x="352" y="95"/>
                    </a:cubicBezTo>
                    <a:cubicBezTo>
                      <a:pt x="428" y="95"/>
                      <a:pt x="489" y="157"/>
                      <a:pt x="489" y="233"/>
                    </a:cubicBezTo>
                    <a:cubicBezTo>
                      <a:pt x="489" y="309"/>
                      <a:pt x="428" y="371"/>
                      <a:pt x="352" y="3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</p:grpSp>
      <p:grpSp>
        <p:nvGrpSpPr>
          <p:cNvPr id="210" name="组合 209"/>
          <p:cNvGrpSpPr/>
          <p:nvPr/>
        </p:nvGrpSpPr>
        <p:grpSpPr>
          <a:xfrm>
            <a:off x="189865" y="1594485"/>
            <a:ext cx="629920" cy="1667613"/>
            <a:chOff x="610373" y="1602701"/>
            <a:chExt cx="629857" cy="2450749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628151" y="1612033"/>
              <a:ext cx="13969" cy="2409536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626222" y="1602701"/>
              <a:ext cx="614008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V="1">
              <a:off x="615952" y="2737619"/>
              <a:ext cx="624278" cy="4869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/>
          </p:nvCxnSpPr>
          <p:spPr>
            <a:xfrm>
              <a:off x="610373" y="4048241"/>
              <a:ext cx="629857" cy="5209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文本框 4"/>
          <p:cNvSpPr txBox="1"/>
          <p:nvPr/>
        </p:nvSpPr>
        <p:spPr>
          <a:xfrm>
            <a:off x="1626235" y="1367155"/>
            <a:ext cx="2916555" cy="6076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indent="0" algn="l">
              <a:lnSpc>
                <a:spcPct val="120000"/>
              </a:lnSpc>
              <a:buFont typeface="Wingdings" panose="05000000000000000000" charset="0"/>
              <a:buNone/>
            </a:pPr>
            <a:r>
              <a:rPr lang="zh-CN" altLang="en-US" sz="2800" b="1" dirty="0" smtClean="0">
                <a:solidFill>
                  <a:schemeClr val="accent1">
                    <a:lumMod val="90000"/>
                    <a:lumOff val="10000"/>
                  </a:schemeClr>
                </a:solidFill>
                <a:sym typeface="Arial" panose="020B0604020202020204" pitchFamily="34" charset="0"/>
              </a:rPr>
              <a:t>进制转换总结</a:t>
            </a:r>
            <a:r>
              <a:rPr lang="zh-CN" altLang="en-US" sz="28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     </a:t>
            </a:r>
            <a:endParaRPr lang="zh-CN" altLang="en-US" sz="2800" b="1" dirty="0" smtClean="0">
              <a:solidFill>
                <a:schemeClr val="accent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626235" y="2113915"/>
            <a:ext cx="3313430" cy="6076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indent="0" algn="l">
              <a:lnSpc>
                <a:spcPct val="120000"/>
              </a:lnSpc>
              <a:buFont typeface="Wingdings" panose="05000000000000000000" charset="0"/>
              <a:buNone/>
            </a:pPr>
            <a:r>
              <a:rPr lang="zh-CN" altLang="en-US" sz="28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二进制的算术运算   </a:t>
            </a:r>
            <a:endParaRPr lang="zh-CN" altLang="en-US" sz="2800" b="1" dirty="0" smtClean="0">
              <a:solidFill>
                <a:schemeClr val="accent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26235" y="2985135"/>
            <a:ext cx="3054350" cy="6076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indent="0" algn="l">
              <a:lnSpc>
                <a:spcPct val="120000"/>
              </a:lnSpc>
              <a:buFont typeface="Wingdings" panose="05000000000000000000" charset="0"/>
              <a:buNone/>
            </a:pPr>
            <a:r>
              <a:rPr lang="zh-CN" altLang="en-US" sz="2800" b="1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二进制的逻辑运算 </a:t>
            </a:r>
            <a:endParaRPr lang="zh-CN" altLang="en-US" sz="2800" b="1" dirty="0" smtClean="0">
              <a:solidFill>
                <a:schemeClr val="accent1">
                  <a:lumMod val="90000"/>
                  <a:lumOff val="10000"/>
                </a:schemeClr>
              </a:solidFill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444500" y="4152900"/>
            <a:ext cx="2091690" cy="956945"/>
            <a:chOff x="700" y="6540"/>
            <a:chExt cx="3294" cy="1507"/>
          </a:xfrm>
        </p:grpSpPr>
        <p:sp>
          <p:nvSpPr>
            <p:cNvPr id="2" name="文本框 1"/>
            <p:cNvSpPr txBox="1"/>
            <p:nvPr/>
          </p:nvSpPr>
          <p:spPr>
            <a:xfrm>
              <a:off x="700" y="6540"/>
              <a:ext cx="3294" cy="72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0100110......</a:t>
              </a:r>
              <a:endParaRPr lang="en-US" altLang="zh-CN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" name="直接箭头连接符 9"/>
            <p:cNvCxnSpPr/>
            <p:nvPr/>
          </p:nvCxnSpPr>
          <p:spPr>
            <a:xfrm flipV="1">
              <a:off x="700" y="7327"/>
              <a:ext cx="2667" cy="15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/>
          </p:nvSpPr>
          <p:spPr>
            <a:xfrm>
              <a:off x="1404" y="7265"/>
              <a:ext cx="1168" cy="783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输入</a:t>
              </a:r>
              <a:endParaRPr lang="zh-CN" altLang="en-US" sz="22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3513455" y="4152900"/>
            <a:ext cx="2091690" cy="956945"/>
            <a:chOff x="5533" y="6540"/>
            <a:chExt cx="3294" cy="1507"/>
          </a:xfrm>
        </p:grpSpPr>
        <p:sp>
          <p:nvSpPr>
            <p:cNvPr id="32" name="文本框 31"/>
            <p:cNvSpPr txBox="1"/>
            <p:nvPr/>
          </p:nvSpPr>
          <p:spPr>
            <a:xfrm>
              <a:off x="5533" y="6540"/>
              <a:ext cx="3294" cy="72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101110......</a:t>
              </a:r>
              <a:endParaRPr lang="en-US" altLang="zh-CN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3" name="直接箭头连接符 32"/>
            <p:cNvCxnSpPr/>
            <p:nvPr/>
          </p:nvCxnSpPr>
          <p:spPr>
            <a:xfrm flipV="1">
              <a:off x="5533" y="7327"/>
              <a:ext cx="2667" cy="15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33"/>
            <p:cNvSpPr txBox="1"/>
            <p:nvPr/>
          </p:nvSpPr>
          <p:spPr>
            <a:xfrm>
              <a:off x="6237" y="7265"/>
              <a:ext cx="1168" cy="783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输出</a:t>
              </a:r>
              <a:endParaRPr lang="zh-CN" altLang="en-US" sz="22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873885" y="3854450"/>
            <a:ext cx="2086610" cy="2272030"/>
            <a:chOff x="2951" y="6070"/>
            <a:chExt cx="3286" cy="3578"/>
          </a:xfrm>
        </p:grpSpPr>
        <p:pic>
          <p:nvPicPr>
            <p:cNvPr id="3" name="图片 2" descr="0500080021[1]"/>
            <p:cNvPicPr>
              <a:picLocks noChangeAspect="1"/>
            </p:cNvPicPr>
            <p:nvPr/>
          </p:nvPicPr>
          <p:blipFill>
            <a:blip r:embed="rId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9677" t="-17014" r="-4098" b="4839"/>
            <a:stretch>
              <a:fillRect/>
            </a:stretch>
          </p:blipFill>
          <p:spPr>
            <a:xfrm>
              <a:off x="3504" y="6070"/>
              <a:ext cx="2166" cy="2156"/>
            </a:xfrm>
            <a:prstGeom prst="rect">
              <a:avLst/>
            </a:prstGeom>
          </p:spPr>
        </p:pic>
        <p:sp>
          <p:nvSpPr>
            <p:cNvPr id="35" name="文本框 34"/>
            <p:cNvSpPr txBox="1"/>
            <p:nvPr/>
          </p:nvSpPr>
          <p:spPr>
            <a:xfrm>
              <a:off x="2951" y="8226"/>
              <a:ext cx="3286" cy="142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算术运算和逻辑运算</a:t>
              </a:r>
              <a:endParaRPr lang="zh-CN" altLang="en-US" sz="22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1869440" y="3722371"/>
            <a:ext cx="2086610" cy="4972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转化</a:t>
            </a:r>
            <a:endParaRPr lang="zh-CN" altLang="en-US" sz="22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PA" val="v3.2.0"/>
</p:tagLst>
</file>

<file path=ppt/tags/tag3.xml><?xml version="1.0" encoding="utf-8"?>
<p:tagLst xmlns:p="http://schemas.openxmlformats.org/presentationml/2006/main">
  <p:tag name="PA" val="v3.2.0"/>
</p:tagLst>
</file>

<file path=ppt/tags/tag4.xml><?xml version="1.0" encoding="utf-8"?>
<p:tagLst xmlns:p="http://schemas.openxmlformats.org/presentationml/2006/main">
  <p:tag name="PA" val="v3.2.0"/>
</p:tagLst>
</file>

<file path=ppt/tags/tag5.xml><?xml version="1.0" encoding="utf-8"?>
<p:tagLst xmlns:p="http://schemas.openxmlformats.org/presentationml/2006/main">
  <p:tag name="PA" val="v3.2.0"/>
</p:tagLst>
</file>

<file path=ppt/tags/tag6.xml><?xml version="1.0" encoding="utf-8"?>
<p:tagLst xmlns:p="http://schemas.openxmlformats.org/presentationml/2006/main">
  <p:tag name="PA" val="v3.2.0"/>
</p:tagLst>
</file>

<file path=ppt/tags/tag7.xml><?xml version="1.0" encoding="utf-8"?>
<p:tagLst xmlns:p="http://schemas.openxmlformats.org/presentationml/2006/main">
  <p:tag name="PA" val="v3.2.0"/>
</p:tagLst>
</file>

<file path=ppt/tags/tag8.xml><?xml version="1.0" encoding="utf-8"?>
<p:tagLst xmlns:p="http://schemas.openxmlformats.org/presentationml/2006/main">
  <p:tag name="PA" val="v3.2.0"/>
</p:tagLst>
</file>

<file path=ppt/tags/tag9.xml><?xml version="1.0" encoding="utf-8"?>
<p:tagLst xmlns:p="http://schemas.openxmlformats.org/presentationml/2006/main">
  <p:tag name="MH" val="20150908223830"/>
  <p:tag name="MH_LIBRARY" val="GRAPHIC"/>
  <p:tag name="MH_TYPE" val="SubTitle"/>
  <p:tag name="MH_ORDER" val="3"/>
</p:tagLst>
</file>

<file path=ppt/tags/tag10.xml><?xml version="1.0" encoding="utf-8"?>
<p:tagLst xmlns:p="http://schemas.openxmlformats.org/presentationml/2006/main">
  <p:tag name="MH" val="20150908223830"/>
  <p:tag name="MH_LIBRARY" val="GRAPHIC"/>
  <p:tag name="MH_TYPE" val="SubTitle"/>
  <p:tag name="MH_ORDER" val="3"/>
</p:tagLst>
</file>

<file path=ppt/tags/tag11.xml><?xml version="1.0" encoding="utf-8"?>
<p:tagLst xmlns:p="http://schemas.openxmlformats.org/presentationml/2006/main">
  <p:tag name="MH" val="20150908223830"/>
  <p:tag name="MH_LIBRARY" val="GRAPHIC"/>
  <p:tag name="MH_TYPE" val="SubTitle"/>
  <p:tag name="MH_ORDER" val="3"/>
</p:tagLst>
</file>

<file path=ppt/tags/tag12.xml><?xml version="1.0" encoding="utf-8"?>
<p:tagLst xmlns:p="http://schemas.openxmlformats.org/presentationml/2006/main">
  <p:tag name="MH" val="20150908223830"/>
  <p:tag name="MH_LIBRARY" val="GRAPHIC"/>
  <p:tag name="MH_TYPE" val="SubTitle"/>
  <p:tag name="MH_ORDER" val="3"/>
</p:tagLst>
</file>

<file path=ppt/tags/tag13.xml><?xml version="1.0" encoding="utf-8"?>
<p:tagLst xmlns:p="http://schemas.openxmlformats.org/presentationml/2006/main">
  <p:tag name="MH" val="20150908223830"/>
  <p:tag name="MH_LIBRARY" val="GRAPHIC"/>
  <p:tag name="MH_TYPE" val="SubTitle"/>
  <p:tag name="MH_ORDER" val="3"/>
</p:tagLst>
</file>

<file path=ppt/tags/tag14.xml><?xml version="1.0" encoding="utf-8"?>
<p:tagLst xmlns:p="http://schemas.openxmlformats.org/presentationml/2006/main">
  <p:tag name="MH" val="20150908223830"/>
  <p:tag name="MH_LIBRARY" val="GRAPHIC"/>
  <p:tag name="MH_TYPE" val="SubTitle"/>
  <p:tag name="MH_ORDER" val="3"/>
</p:tagLst>
</file>

<file path=ppt/tags/tag15.xml><?xml version="1.0" encoding="utf-8"?>
<p:tagLst xmlns:p="http://schemas.openxmlformats.org/presentationml/2006/main">
  <p:tag name="MH" val="20150908223830"/>
  <p:tag name="MH_LIBRARY" val="GRAPHIC"/>
  <p:tag name="MH_TYPE" val="SubTitle"/>
  <p:tag name="MH_ORDER" val="3"/>
</p:tagLst>
</file>

<file path=ppt/tags/tag16.xml><?xml version="1.0" encoding="utf-8"?>
<p:tagLst xmlns:p="http://schemas.openxmlformats.org/presentationml/2006/main">
  <p:tag name="MH" val="20150908223830"/>
  <p:tag name="MH_LIBRARY" val="GRAPHIC"/>
  <p:tag name="MH_TYPE" val="SubTitle"/>
  <p:tag name="MH_ORDER" val="3"/>
</p:tagLst>
</file>

<file path=ppt/tags/tag17.xml><?xml version="1.0" encoding="utf-8"?>
<p:tagLst xmlns:p="http://schemas.openxmlformats.org/presentationml/2006/main">
  <p:tag name="MH" val="20150908223830"/>
  <p:tag name="MH_LIBRARY" val="GRAPHIC"/>
  <p:tag name="MH_TYPE" val="SubTitle"/>
  <p:tag name="MH_ORDER" val="3"/>
</p:tagLst>
</file>

<file path=ppt/tags/tag18.xml><?xml version="1.0" encoding="utf-8"?>
<p:tagLst xmlns:p="http://schemas.openxmlformats.org/presentationml/2006/main">
  <p:tag name="MH" val="20150908223830"/>
  <p:tag name="MH_LIBRARY" val="GRAPHIC"/>
  <p:tag name="MH_TYPE" val="SubTitle"/>
  <p:tag name="MH_ORDER" val="3"/>
</p:tagLst>
</file>

<file path=ppt/tags/tag19.xml><?xml version="1.0" encoding="utf-8"?>
<p:tagLst xmlns:p="http://schemas.openxmlformats.org/presentationml/2006/main">
  <p:tag name="MH" val="20150908223830"/>
  <p:tag name="MH_LIBRARY" val="GRAPHIC"/>
  <p:tag name="MH_TYPE" val="SubTitle"/>
  <p:tag name="MH_ORDER" val="3"/>
</p:tagLst>
</file>

<file path=ppt/tags/tag20.xml><?xml version="1.0" encoding="utf-8"?>
<p:tagLst xmlns:p="http://schemas.openxmlformats.org/presentationml/2006/main">
  <p:tag name="ISLIDE TOOLS.GUIDESSETTING" val="{&quot;Id&quot;:&quot;GuidesStyle_Normal&quot;,&quot;Name&quot;:&quot;正常&quot;,&quot;HeaderHeight&quot;:10.0,&quot;FooterHeight&quot;:4.0,&quot;SideMargin&quot;:3.0,&quot;TopMargin&quot;:3.0,&quot;BottomMargin&quot;:3.0,&quot;IntervalMargin&quot;:3.0}"/>
</p:tagLst>
</file>

<file path=ppt/theme/theme1.xml><?xml version="1.0" encoding="utf-8"?>
<a:theme xmlns:a="http://schemas.openxmlformats.org/drawingml/2006/main" name="包图网PPT模板-QQ1801380800">
  <a:themeElements>
    <a:clrScheme name="蓝色​​">
      <a:dk1>
        <a:sysClr val="windowText" lastClr="000000"/>
      </a:dk1>
      <a:lt1>
        <a:sysClr val="window" lastClr="FFFFFF"/>
      </a:lt1>
      <a:dk2>
        <a:srgbClr val="122C4D"/>
      </a:dk2>
      <a:lt2>
        <a:srgbClr val="FFFCFF"/>
      </a:lt2>
      <a:accent1>
        <a:srgbClr val="002E59"/>
      </a:accent1>
      <a:accent2>
        <a:srgbClr val="144E84"/>
      </a:accent2>
      <a:accent3>
        <a:srgbClr val="2378C2"/>
      </a:accent3>
      <a:accent4>
        <a:srgbClr val="328FC1"/>
      </a:accent4>
      <a:accent5>
        <a:srgbClr val="55B5E2"/>
      </a:accent5>
      <a:accent6>
        <a:srgbClr val="75E3FF"/>
      </a:accent6>
      <a:hlink>
        <a:srgbClr val="0000FF"/>
      </a:hlink>
      <a:folHlink>
        <a:srgbClr val="800080"/>
      </a:folHlink>
    </a:clrScheme>
    <a:fontScheme name="方正尚酷简体">
      <a:majorFont>
        <a:latin typeface="HelveticaNeueLT Pro 75 Bd"/>
        <a:ea typeface="方正尚酷简体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 anchor="ctr">
        <a:spAutoFit/>
      </a:bodyPr>
      <a:lstStyle>
        <a:defPPr>
          <a:lnSpc>
            <a:spcPct val="120000"/>
          </a:lnSpc>
          <a:defRPr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包图网-QQ1801380800">
  <a:themeElements>
    <a:clrScheme name="蓝色​​">
      <a:dk1>
        <a:sysClr val="windowText" lastClr="000000"/>
      </a:dk1>
      <a:lt1>
        <a:sysClr val="window" lastClr="FFFFFF"/>
      </a:lt1>
      <a:dk2>
        <a:srgbClr val="122C4D"/>
      </a:dk2>
      <a:lt2>
        <a:srgbClr val="FFFCFF"/>
      </a:lt2>
      <a:accent1>
        <a:srgbClr val="002E59"/>
      </a:accent1>
      <a:accent2>
        <a:srgbClr val="144E84"/>
      </a:accent2>
      <a:accent3>
        <a:srgbClr val="2378C2"/>
      </a:accent3>
      <a:accent4>
        <a:srgbClr val="328FC1"/>
      </a:accent4>
      <a:accent5>
        <a:srgbClr val="55B5E2"/>
      </a:accent5>
      <a:accent6>
        <a:srgbClr val="75E3FF"/>
      </a:accent6>
      <a:hlink>
        <a:srgbClr val="0000FF"/>
      </a:hlink>
      <a:folHlink>
        <a:srgbClr val="800080"/>
      </a:folHlink>
    </a:clrScheme>
    <a:fontScheme name="Arial+微软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BT-</Template>
  <TotalTime>0</TotalTime>
  <Words>2785</Words>
  <Application>WPS 演示</Application>
  <PresentationFormat>宽屏</PresentationFormat>
  <Paragraphs>448</Paragraphs>
  <Slides>21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Arial</vt:lpstr>
      <vt:lpstr>宋体</vt:lpstr>
      <vt:lpstr>Wingdings</vt:lpstr>
      <vt:lpstr>方正粗宋简体</vt:lpstr>
      <vt:lpstr>微软雅黑</vt:lpstr>
      <vt:lpstr>Wingdings</vt:lpstr>
      <vt:lpstr>Arial Unicode MS</vt:lpstr>
      <vt:lpstr>等线</vt:lpstr>
      <vt:lpstr>HelveticaNeueLT Pro 75 Bd</vt:lpstr>
      <vt:lpstr>Segoe Print</vt:lpstr>
      <vt:lpstr>Calibri</vt:lpstr>
      <vt:lpstr>汉仪雅酷黑 75W</vt:lpstr>
      <vt:lpstr>包图网PPT模板-QQ1801380800</vt:lpstr>
      <vt:lpstr>包图网-QQ1801380800</vt:lpstr>
      <vt:lpstr>Equation.2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MC</dc:creator>
  <cp:keywords>包图网PPT模板</cp:keywords>
  <cp:category>模板</cp:category>
  <cp:lastModifiedBy>韩咏</cp:lastModifiedBy>
  <cp:revision>116</cp:revision>
  <dcterms:created xsi:type="dcterms:W3CDTF">2017-07-02T10:19:00Z</dcterms:created>
  <dcterms:modified xsi:type="dcterms:W3CDTF">2025-10-13T13:01:43Z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1272343DF1F344C68BDBD9FCDFAA078C_13</vt:lpwstr>
  </property>
</Properties>
</file>